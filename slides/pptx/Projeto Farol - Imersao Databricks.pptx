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Lst>
  <p:notesMasterIdLst>
    <p:notesMasterId r:id="rId1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notesMaster" Target="notesMasters/notesMaster1.xml"/><Relationship Id="rId136" Type="http://schemas.openxmlformats.org/officeDocument/2006/relationships/presProps" Target="presProps.xml"/><Relationship Id="rId137" Type="http://schemas.openxmlformats.org/officeDocument/2006/relationships/viewProps" Target="viewProps.xml"/><Relationship Id="rId138" Type="http://schemas.openxmlformats.org/officeDocument/2006/relationships/theme" Target="theme/theme1.xml"/><Relationship Id="rId1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image" Target="../media/image-25-2.jpeg"/><Relationship Id="rId3" Type="http://schemas.openxmlformats.org/officeDocument/2006/relationships/image" Target="../media/image-25-3.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image" Target="../media/image-26-2.jpe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image" Target="../media/image-30-2.jpeg"/><Relationship Id="rId3" Type="http://schemas.openxmlformats.org/officeDocument/2006/relationships/image" Target="../media/image-30-3.png"/><Relationship Id="rId4" Type="http://schemas.openxmlformats.org/officeDocument/2006/relationships/slideLayout" Target="../slideLayouts/slideLayout1.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image" Target="../media/image-31-2.jpeg"/><Relationship Id="rId3" Type="http://schemas.openxmlformats.org/officeDocument/2006/relationships/image" Target="../media/image-31-3.png"/><Relationship Id="rId4" Type="http://schemas.openxmlformats.org/officeDocument/2006/relationships/slideLayout" Target="../slideLayouts/slideLayout1.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image" Target="../media/image-33-2.jpeg"/><Relationship Id="rId3" Type="http://schemas.openxmlformats.org/officeDocument/2006/relationships/image" Target="../media/image-33-3.png"/><Relationship Id="rId4" Type="http://schemas.openxmlformats.org/officeDocument/2006/relationships/slideLayout" Target="../slideLayouts/slideLayout1.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image" Target="../media/image-35-2.jpeg"/><Relationship Id="rId3" Type="http://schemas.openxmlformats.org/officeDocument/2006/relationships/image" Target="../media/image-35-3.png"/><Relationship Id="rId4" Type="http://schemas.openxmlformats.org/officeDocument/2006/relationships/slideLayout" Target="../slideLayouts/slideLayout1.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png"/><Relationship Id="rId2" Type="http://schemas.openxmlformats.org/officeDocument/2006/relationships/image" Target="../media/image-36-2.jpeg"/><Relationship Id="rId3" Type="http://schemas.openxmlformats.org/officeDocument/2006/relationships/image" Target="../media/image-36-3.png"/><Relationship Id="rId4" Type="http://schemas.openxmlformats.org/officeDocument/2006/relationships/slideLayout" Target="../slideLayouts/slideLayout1.xml"/><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37-image-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Slide-38-image-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Slide-39-image-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Slide-40-image-1.png"/><Relationship Id="rId2" Type="http://schemas.openxmlformats.org/officeDocument/2006/relationships/image" Target="../media/image-40-2.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Slide-41-image-1.png"/><Relationship Id="rId2" Type="http://schemas.openxmlformats.org/officeDocument/2006/relationships/image" Target="../media/image-41-2.jpeg"/><Relationship Id="rId3" Type="http://schemas.openxmlformats.org/officeDocument/2006/relationships/image" Target="../media/image-41-3.png"/><Relationship Id="rId4" Type="http://schemas.openxmlformats.org/officeDocument/2006/relationships/slideLayout" Target="../slideLayouts/slideLayout1.xml"/><Relationship Id="rId5"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Slide-42-image-1.png"/><Relationship Id="rId2" Type="http://schemas.openxmlformats.org/officeDocument/2006/relationships/image" Target="../media/image-42-2.jpeg"/><Relationship Id="rId3" Type="http://schemas.openxmlformats.org/officeDocument/2006/relationships/image" Target="../media/image-42-3.png"/><Relationship Id="rId4" Type="http://schemas.openxmlformats.org/officeDocument/2006/relationships/slideLayout" Target="../slideLayouts/slideLayout1.xml"/><Relationship Id="rId5"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Slide-43-image-1.png"/><Relationship Id="rId2" Type="http://schemas.openxmlformats.org/officeDocument/2006/relationships/image" Target="../media/image-43-2.jpeg"/><Relationship Id="rId3" Type="http://schemas.openxmlformats.org/officeDocument/2006/relationships/image" Target="../media/image-43-3.png"/><Relationship Id="rId4" Type="http://schemas.openxmlformats.org/officeDocument/2006/relationships/slideLayout" Target="../slideLayouts/slideLayout1.xml"/><Relationship Id="rId5"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Slide-44-image-1.png"/><Relationship Id="rId2" Type="http://schemas.openxmlformats.org/officeDocument/2006/relationships/image" Target="../media/image-44-2.png"/><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Slide-45-image-1.png"/><Relationship Id="rId2" Type="http://schemas.openxmlformats.org/officeDocument/2006/relationships/image" Target="../media/image-45-2.pn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Slide-46-image-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Slide-47-image-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Slide-48-image-1.png"/><Relationship Id="rId2" Type="http://schemas.openxmlformats.org/officeDocument/2006/relationships/image" Target="../media/image-48-2.jpeg"/><Relationship Id="rId3" Type="http://schemas.openxmlformats.org/officeDocument/2006/relationships/image" Target="../media/image-48-3.png"/><Relationship Id="rId4" Type="http://schemas.openxmlformats.org/officeDocument/2006/relationships/slideLayout" Target="../slideLayouts/slideLayout1.xml"/><Relationship Id="rId5"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Slide-49-image-1.png"/><Relationship Id="rId2" Type="http://schemas.openxmlformats.org/officeDocument/2006/relationships/image" Target="../media/image-49-2.png"/><Relationship Id="rId3" Type="http://schemas.openxmlformats.org/officeDocument/2006/relationships/slideLayout" Target="../slideLayouts/slideLayout1.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Slide-50-image-1.png"/><Relationship Id="rId2" Type="http://schemas.openxmlformats.org/officeDocument/2006/relationships/image" Target="../media/image-50-2.jpeg"/><Relationship Id="rId3" Type="http://schemas.openxmlformats.org/officeDocument/2006/relationships/image" Target="../media/image-50-3.png"/><Relationship Id="rId4" Type="http://schemas.openxmlformats.org/officeDocument/2006/relationships/slideLayout" Target="../slideLayouts/slideLayout1.xml"/><Relationship Id="rId5"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Slide-51-image-1.png"/><Relationship Id="rId2" Type="http://schemas.openxmlformats.org/officeDocument/2006/relationships/image" Target="../media/image-51-2.jpeg"/><Relationship Id="rId3" Type="http://schemas.openxmlformats.org/officeDocument/2006/relationships/image" Target="../media/image-51-3.png"/><Relationship Id="rId4" Type="http://schemas.openxmlformats.org/officeDocument/2006/relationships/slideLayout" Target="../slideLayouts/slideLayout1.xml"/><Relationship Id="rId5"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Slide-52-image-1.png"/><Relationship Id="rId2" Type="http://schemas.openxmlformats.org/officeDocument/2006/relationships/image" Target="../media/image-52-2.pn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Slide-53-image-1.png"/><Relationship Id="rId2" Type="http://schemas.openxmlformats.org/officeDocument/2006/relationships/image" Target="../media/image-53-2.pn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Slide-54-image-1.png"/><Relationship Id="rId2" Type="http://schemas.openxmlformats.org/officeDocument/2006/relationships/image" Target="../media/image-54-2.png"/><Relationship Id="rId3" Type="http://schemas.openxmlformats.org/officeDocument/2006/relationships/slideLayout" Target="../slideLayouts/slideLayout1.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Slide-55-image-1.png"/><Relationship Id="rId2" Type="http://schemas.openxmlformats.org/officeDocument/2006/relationships/image" Target="../media/image-55-2.png"/><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Slide-56-image-1.png"/><Relationship Id="rId2" Type="http://schemas.openxmlformats.org/officeDocument/2006/relationships/image" Target="../media/image-56-2.png"/><Relationship Id="rId3" Type="http://schemas.openxmlformats.org/officeDocument/2006/relationships/slideLayout" Target="../slideLayouts/slideLayout1.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Slide-57-image-1.png"/><Relationship Id="rId2" Type="http://schemas.openxmlformats.org/officeDocument/2006/relationships/image" Target="../media/image-57-2.png"/><Relationship Id="rId3" Type="http://schemas.openxmlformats.org/officeDocument/2006/relationships/slideLayout" Target="../slideLayouts/slideLayout1.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Slide-58-image-1.png"/><Relationship Id="rId2" Type="http://schemas.openxmlformats.org/officeDocument/2006/relationships/image" Target="../media/image-58-2.png"/><Relationship Id="rId3" Type="http://schemas.openxmlformats.org/officeDocument/2006/relationships/slideLayout" Target="../slideLayouts/slideLayout1.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Slide-59-image-1.png"/><Relationship Id="rId2" Type="http://schemas.openxmlformats.org/officeDocument/2006/relationships/image" Target="../media/image-59-2.png"/><Relationship Id="rId3" Type="http://schemas.openxmlformats.org/officeDocument/2006/relationships/slideLayout" Target="../slideLayouts/slideLayout1.xm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Slide-60-image-1.png"/><Relationship Id="rId2" Type="http://schemas.openxmlformats.org/officeDocument/2006/relationships/image" Target="../media/image-60-2.png"/><Relationship Id="rId3" Type="http://schemas.openxmlformats.org/officeDocument/2006/relationships/slideLayout" Target="../slideLayouts/slideLayout1.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Slide-61-image-1.png"/><Relationship Id="rId2" Type="http://schemas.openxmlformats.org/officeDocument/2006/relationships/image" Target="../media/image-61-2.png"/><Relationship Id="rId3" Type="http://schemas.openxmlformats.org/officeDocument/2006/relationships/slideLayout" Target="../slideLayouts/slideLayout1.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Slide-62-image-1.png"/><Relationship Id="rId2" Type="http://schemas.openxmlformats.org/officeDocument/2006/relationships/image" Target="../media/image-62-2.png"/><Relationship Id="rId3" Type="http://schemas.openxmlformats.org/officeDocument/2006/relationships/slideLayout" Target="../slideLayouts/slideLayout1.xml"/><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Slide-63-image-1.png"/><Relationship Id="rId2" Type="http://schemas.openxmlformats.org/officeDocument/2006/relationships/image" Target="../media/image-63-2.png"/><Relationship Id="rId3" Type="http://schemas.openxmlformats.org/officeDocument/2006/relationships/slideLayout" Target="../slideLayouts/slideLayout1.xml"/><Relationship Id="rId4"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Slide-64-image-1.png"/><Relationship Id="rId2" Type="http://schemas.openxmlformats.org/officeDocument/2006/relationships/image" Target="../media/image-64-2.png"/><Relationship Id="rId3" Type="http://schemas.openxmlformats.org/officeDocument/2006/relationships/slideLayout" Target="../slideLayouts/slideLayout1.xml"/><Relationship Id="rId4"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Slide-65-image-1.png"/><Relationship Id="rId2" Type="http://schemas.openxmlformats.org/officeDocument/2006/relationships/image" Target="../media/image-65-2.png"/><Relationship Id="rId3" Type="http://schemas.openxmlformats.org/officeDocument/2006/relationships/slideLayout" Target="../slideLayouts/slideLayout1.xml"/><Relationship Id="rId4"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Slide-66-image-1.png"/><Relationship Id="rId2" Type="http://schemas.openxmlformats.org/officeDocument/2006/relationships/image" Target="../media/image-66-2.png"/><Relationship Id="rId3" Type="http://schemas.openxmlformats.org/officeDocument/2006/relationships/slideLayout" Target="../slideLayouts/slideLayout1.xml"/><Relationship Id="rId4"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Slide-67-image-1.png"/><Relationship Id="rId2" Type="http://schemas.openxmlformats.org/officeDocument/2006/relationships/image" Target="../media/image-67-2.png"/><Relationship Id="rId3" Type="http://schemas.openxmlformats.org/officeDocument/2006/relationships/slideLayout" Target="../slideLayouts/slideLayout1.xml"/><Relationship Id="rId4"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Slide-68-image-1.png"/><Relationship Id="rId2" Type="http://schemas.openxmlformats.org/officeDocument/2006/relationships/image" Target="../media/image-68-2.png"/><Relationship Id="rId3" Type="http://schemas.openxmlformats.org/officeDocument/2006/relationships/slideLayout" Target="../slideLayouts/slideLayout1.xml"/><Relationship Id="rId4"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Slide-69-image-1.png"/><Relationship Id="rId2" Type="http://schemas.openxmlformats.org/officeDocument/2006/relationships/image" Target="../media/image-69-2.png"/><Relationship Id="rId3" Type="http://schemas.openxmlformats.org/officeDocument/2006/relationships/slideLayout" Target="../slideLayouts/slideLayout1.xml"/><Relationship Id="rId4"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Slide-70-image-1.png"/><Relationship Id="rId2" Type="http://schemas.openxmlformats.org/officeDocument/2006/relationships/image" Target="../media/image-70-2.jpeg"/><Relationship Id="rId3" Type="http://schemas.openxmlformats.org/officeDocument/2006/relationships/image" Target="../media/image-70-3.png"/><Relationship Id="rId4" Type="http://schemas.openxmlformats.org/officeDocument/2006/relationships/slideLayout" Target="../slideLayouts/slideLayout1.xml"/><Relationship Id="rId5"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Slide-71-image-1.png"/><Relationship Id="rId2" Type="http://schemas.openxmlformats.org/officeDocument/2006/relationships/image" Target="../media/image-71-2.png"/><Relationship Id="rId3" Type="http://schemas.openxmlformats.org/officeDocument/2006/relationships/slideLayout" Target="../slideLayouts/slideLayout1.xml"/><Relationship Id="rId4"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Slide-72-image-1.png"/><Relationship Id="rId2" Type="http://schemas.openxmlformats.org/officeDocument/2006/relationships/image" Target="../media/image-72-2.png"/><Relationship Id="rId3" Type="http://schemas.openxmlformats.org/officeDocument/2006/relationships/slideLayout" Target="../slideLayouts/slideLayout1.xml"/><Relationship Id="rId4"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Slide-73-image-1.png"/><Relationship Id="rId2" Type="http://schemas.openxmlformats.org/officeDocument/2006/relationships/image" Target="../media/image-73-2.png"/><Relationship Id="rId3" Type="http://schemas.openxmlformats.org/officeDocument/2006/relationships/slideLayout" Target="../slideLayouts/slideLayout1.xml"/><Relationship Id="rId4"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Slide-74-image-1.png"/><Relationship Id="rId2" Type="http://schemas.openxmlformats.org/officeDocument/2006/relationships/image" Target="../media/image-74-2.jpeg"/><Relationship Id="rId3" Type="http://schemas.openxmlformats.org/officeDocument/2006/relationships/image" Target="../media/image-74-3.jpeg"/><Relationship Id="rId4" Type="http://schemas.openxmlformats.org/officeDocument/2006/relationships/image" Target="../media/image-74-4.png"/><Relationship Id="rId5" Type="http://schemas.openxmlformats.org/officeDocument/2006/relationships/slideLayout" Target="../slideLayouts/slideLayout1.xml"/><Relationship Id="rId6"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Slide-75-image-1.png"/><Relationship Id="rId2" Type="http://schemas.openxmlformats.org/officeDocument/2006/relationships/image" Target="../media/image-75-2.jpeg"/><Relationship Id="rId3" Type="http://schemas.openxmlformats.org/officeDocument/2006/relationships/image" Target="../media/image-75-3.jpeg"/><Relationship Id="rId4" Type="http://schemas.openxmlformats.org/officeDocument/2006/relationships/image" Target="../media/image-75-4.png"/><Relationship Id="rId5" Type="http://schemas.openxmlformats.org/officeDocument/2006/relationships/slideLayout" Target="../slideLayouts/slideLayout1.xml"/><Relationship Id="rId6"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Slide-76-image-1.png"/><Relationship Id="rId2" Type="http://schemas.openxmlformats.org/officeDocument/2006/relationships/image" Target="../media/image-76-2.png"/><Relationship Id="rId3" Type="http://schemas.openxmlformats.org/officeDocument/2006/relationships/slideLayout" Target="../slideLayouts/slideLayout1.xml"/><Relationship Id="rId4"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Slide-77-image-1.png"/><Relationship Id="rId2" Type="http://schemas.openxmlformats.org/officeDocument/2006/relationships/image" Target="../media/image-77-2.jpeg"/><Relationship Id="rId3" Type="http://schemas.openxmlformats.org/officeDocument/2006/relationships/image" Target="../media/image-77-3.png"/><Relationship Id="rId4" Type="http://schemas.openxmlformats.org/officeDocument/2006/relationships/slideLayout" Target="../slideLayouts/slideLayout1.xml"/><Relationship Id="rId5"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Slide-78-image-1.png"/><Relationship Id="rId2" Type="http://schemas.openxmlformats.org/officeDocument/2006/relationships/image" Target="../media/image-78-2.png"/><Relationship Id="rId3" Type="http://schemas.openxmlformats.org/officeDocument/2006/relationships/slideLayout" Target="../slideLayouts/slideLayout1.xml"/><Relationship Id="rId4"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Slide-79-image-1.png"/><Relationship Id="rId2" Type="http://schemas.openxmlformats.org/officeDocument/2006/relationships/image" Target="../media/image-79-2.png"/><Relationship Id="rId3" Type="http://schemas.openxmlformats.org/officeDocument/2006/relationships/slideLayout" Target="../slideLayouts/slideLayout1.xml"/><Relationship Id="rId4"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Slide-80-image-1.png"/><Relationship Id="rId2" Type="http://schemas.openxmlformats.org/officeDocument/2006/relationships/image" Target="../media/image-80-2.png"/><Relationship Id="rId3" Type="http://schemas.openxmlformats.org/officeDocument/2006/relationships/slideLayout" Target="../slideLayouts/slideLayout1.xml"/><Relationship Id="rId4"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Slide-81-image-1.png"/><Relationship Id="rId2" Type="http://schemas.openxmlformats.org/officeDocument/2006/relationships/image" Target="../media/image-81-2.jpeg"/><Relationship Id="rId3" Type="http://schemas.openxmlformats.org/officeDocument/2006/relationships/image" Target="../media/image-81-3.png"/><Relationship Id="rId4" Type="http://schemas.openxmlformats.org/officeDocument/2006/relationships/slideLayout" Target="../slideLayouts/slideLayout1.xml"/><Relationship Id="rId5"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Slide-82-image-1.png"/><Relationship Id="rId2" Type="http://schemas.openxmlformats.org/officeDocument/2006/relationships/image" Target="../media/image-82-2.png"/><Relationship Id="rId3" Type="http://schemas.openxmlformats.org/officeDocument/2006/relationships/slideLayout" Target="../slideLayouts/slideLayout1.xml"/><Relationship Id="rId4"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Slide-83-image-1.png"/><Relationship Id="rId2" Type="http://schemas.openxmlformats.org/officeDocument/2006/relationships/image" Target="../media/image-83-2.jpeg"/><Relationship Id="rId3" Type="http://schemas.openxmlformats.org/officeDocument/2006/relationships/image" Target="../media/image-83-3.png"/><Relationship Id="rId4" Type="http://schemas.openxmlformats.org/officeDocument/2006/relationships/slideLayout" Target="../slideLayouts/slideLayout1.xml"/><Relationship Id="rId5"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Slide-84-image-1.png"/><Relationship Id="rId2" Type="http://schemas.openxmlformats.org/officeDocument/2006/relationships/image" Target="../media/image-84-2.png"/><Relationship Id="rId3" Type="http://schemas.openxmlformats.org/officeDocument/2006/relationships/image" Target="../media/image-84-3.png"/><Relationship Id="rId4" Type="http://schemas.openxmlformats.org/officeDocument/2006/relationships/slideLayout" Target="../slideLayouts/slideLayout1.xml"/><Relationship Id="rId5"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Slide-85-image-1.png"/><Relationship Id="rId2" Type="http://schemas.openxmlformats.org/officeDocument/2006/relationships/image" Target="../media/image-85-2.jpeg"/><Relationship Id="rId3" Type="http://schemas.openxmlformats.org/officeDocument/2006/relationships/image" Target="../media/image-85-3.png"/><Relationship Id="rId4" Type="http://schemas.openxmlformats.org/officeDocument/2006/relationships/slideLayout" Target="../slideLayouts/slideLayout1.xml"/><Relationship Id="rId5"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Slide-86-image-1.png"/><Relationship Id="rId2" Type="http://schemas.openxmlformats.org/officeDocument/2006/relationships/image" Target="../media/image-86-2.jpeg"/><Relationship Id="rId3" Type="http://schemas.openxmlformats.org/officeDocument/2006/relationships/image" Target="../media/image-86-3.png"/><Relationship Id="rId4" Type="http://schemas.openxmlformats.org/officeDocument/2006/relationships/slideLayout" Target="../slideLayouts/slideLayout1.xml"/><Relationship Id="rId5"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Slide-87-image-1.png"/><Relationship Id="rId2" Type="http://schemas.openxmlformats.org/officeDocument/2006/relationships/image" Target="../media/image-87-2.png"/><Relationship Id="rId3" Type="http://schemas.openxmlformats.org/officeDocument/2006/relationships/image" Target="../media/image-87-3.png"/><Relationship Id="rId4" Type="http://schemas.openxmlformats.org/officeDocument/2006/relationships/slideLayout" Target="../slideLayouts/slideLayout1.xml"/><Relationship Id="rId5"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Slide-88-image-1.png"/><Relationship Id="rId2" Type="http://schemas.openxmlformats.org/officeDocument/2006/relationships/image" Target="../media/image-88-2.jpeg"/><Relationship Id="rId3" Type="http://schemas.openxmlformats.org/officeDocument/2006/relationships/image" Target="../media/image-88-3.png"/><Relationship Id="rId4" Type="http://schemas.openxmlformats.org/officeDocument/2006/relationships/slideLayout" Target="../slideLayouts/slideLayout1.xml"/><Relationship Id="rId5"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Slide-89-image-1.png"/><Relationship Id="rId2" Type="http://schemas.openxmlformats.org/officeDocument/2006/relationships/image" Target="../media/image-89-2.png"/><Relationship Id="rId3" Type="http://schemas.openxmlformats.org/officeDocument/2006/relationships/slideLayout" Target="../slideLayouts/slideLayout1.xml"/><Relationship Id="rId4"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Slide-90-image-1.png"/><Relationship Id="rId2" Type="http://schemas.openxmlformats.org/officeDocument/2006/relationships/image" Target="../media/image-90-2.jpeg"/><Relationship Id="rId3" Type="http://schemas.openxmlformats.org/officeDocument/2006/relationships/image" Target="../media/image-90-3.png"/><Relationship Id="rId4" Type="http://schemas.openxmlformats.org/officeDocument/2006/relationships/slideLayout" Target="../slideLayouts/slideLayout1.xml"/><Relationship Id="rId5"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Slide-91-image-1.png"/><Relationship Id="rId2" Type="http://schemas.openxmlformats.org/officeDocument/2006/relationships/image" Target="../media/image-91-2.jpeg"/><Relationship Id="rId3" Type="http://schemas.openxmlformats.org/officeDocument/2006/relationships/image" Target="../media/image-91-3.jpeg"/><Relationship Id="rId4" Type="http://schemas.openxmlformats.org/officeDocument/2006/relationships/image" Target="../media/image-91-4.png"/><Relationship Id="rId5" Type="http://schemas.openxmlformats.org/officeDocument/2006/relationships/slideLayout" Target="../slideLayouts/slideLayout1.xml"/><Relationship Id="rId6"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Slide-92-image-1.png"/><Relationship Id="rId2" Type="http://schemas.openxmlformats.org/officeDocument/2006/relationships/image" Target="../media/image-92-2.jpeg"/><Relationship Id="rId3" Type="http://schemas.openxmlformats.org/officeDocument/2006/relationships/image" Target="../media/image-92-3.png"/><Relationship Id="rId4" Type="http://schemas.openxmlformats.org/officeDocument/2006/relationships/slideLayout" Target="../slideLayouts/slideLayout1.xml"/><Relationship Id="rId5"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Slide-93-image-1.png"/><Relationship Id="rId2" Type="http://schemas.openxmlformats.org/officeDocument/2006/relationships/image" Target="../media/image-93-2.png"/><Relationship Id="rId3" Type="http://schemas.openxmlformats.org/officeDocument/2006/relationships/slideLayout" Target="../slideLayouts/slideLayout1.xml"/><Relationship Id="rId4"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Slide-94-image-1.png"/><Relationship Id="rId2" Type="http://schemas.openxmlformats.org/officeDocument/2006/relationships/image" Target="../media/image-94-2.png"/><Relationship Id="rId3" Type="http://schemas.openxmlformats.org/officeDocument/2006/relationships/slideLayout" Target="../slideLayouts/slideLayout1.xml"/><Relationship Id="rId4"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Slide-95-image-1.png"/><Relationship Id="rId2" Type="http://schemas.openxmlformats.org/officeDocument/2006/relationships/image" Target="../media/image-95-2.jpeg"/><Relationship Id="rId3" Type="http://schemas.openxmlformats.org/officeDocument/2006/relationships/image" Target="../media/image-95-3.png"/><Relationship Id="rId4" Type="http://schemas.openxmlformats.org/officeDocument/2006/relationships/slideLayout" Target="../slideLayouts/slideLayout1.xml"/><Relationship Id="rId5"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Slide-96-image-1.png"/><Relationship Id="rId2" Type="http://schemas.openxmlformats.org/officeDocument/2006/relationships/image" Target="../media/image-96-2.jpeg"/><Relationship Id="rId3" Type="http://schemas.openxmlformats.org/officeDocument/2006/relationships/image" Target="../media/image-96-3.png"/><Relationship Id="rId4" Type="http://schemas.openxmlformats.org/officeDocument/2006/relationships/slideLayout" Target="../slideLayouts/slideLayout1.xml"/><Relationship Id="rId5"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Slide-97-image-1.png"/><Relationship Id="rId2" Type="http://schemas.openxmlformats.org/officeDocument/2006/relationships/image" Target="../media/image-97-2.png"/><Relationship Id="rId3" Type="http://schemas.openxmlformats.org/officeDocument/2006/relationships/slideLayout" Target="../slideLayouts/slideLayout1.xml"/><Relationship Id="rId4"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Slide-98-image-1.png"/><Relationship Id="rId2" Type="http://schemas.openxmlformats.org/officeDocument/2006/relationships/image" Target="../media/image-98-2.jpeg"/><Relationship Id="rId3" Type="http://schemas.openxmlformats.org/officeDocument/2006/relationships/image" Target="../media/image-98-3.png"/><Relationship Id="rId4" Type="http://schemas.openxmlformats.org/officeDocument/2006/relationships/slideLayout" Target="../slideLayouts/slideLayout1.xml"/><Relationship Id="rId5"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Slide-99-image-1.png"/><Relationship Id="rId2" Type="http://schemas.openxmlformats.org/officeDocument/2006/relationships/image" Target="../media/image-99-2.png"/><Relationship Id="rId3" Type="http://schemas.openxmlformats.org/officeDocument/2006/relationships/slideLayout" Target="../slideLayouts/slideLayout1.xml"/><Relationship Id="rId4"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image" Target="../media/Slide-100-image-1.png"/><Relationship Id="rId2" Type="http://schemas.openxmlformats.org/officeDocument/2006/relationships/image" Target="../media/image-100-2.jpeg"/><Relationship Id="rId3" Type="http://schemas.openxmlformats.org/officeDocument/2006/relationships/image" Target="../media/image-100-3.png"/><Relationship Id="rId4" Type="http://schemas.openxmlformats.org/officeDocument/2006/relationships/slideLayout" Target="../slideLayouts/slideLayout1.xml"/><Relationship Id="rId5"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Slide-101-image-1.png"/><Relationship Id="rId2" Type="http://schemas.openxmlformats.org/officeDocument/2006/relationships/image" Target="../media/image-101-2.png"/><Relationship Id="rId3" Type="http://schemas.openxmlformats.org/officeDocument/2006/relationships/slideLayout" Target="../slideLayouts/slideLayout1.xml"/><Relationship Id="rId4"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Slide-102-image-1.png"/><Relationship Id="rId2" Type="http://schemas.openxmlformats.org/officeDocument/2006/relationships/image" Target="../media/image-102-2.jpeg"/><Relationship Id="rId3" Type="http://schemas.openxmlformats.org/officeDocument/2006/relationships/image" Target="../media/image-102-3.jpeg"/><Relationship Id="rId4" Type="http://schemas.openxmlformats.org/officeDocument/2006/relationships/image" Target="../media/image-102-4.png"/><Relationship Id="rId5" Type="http://schemas.openxmlformats.org/officeDocument/2006/relationships/slideLayout" Target="../slideLayouts/slideLayout1.xml"/><Relationship Id="rId6"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image" Target="../media/Slide-103-image-1.png"/><Relationship Id="rId2" Type="http://schemas.openxmlformats.org/officeDocument/2006/relationships/image" Target="../media/image-103-2.jpeg"/><Relationship Id="rId3" Type="http://schemas.openxmlformats.org/officeDocument/2006/relationships/image" Target="../media/image-103-3.png"/><Relationship Id="rId4" Type="http://schemas.openxmlformats.org/officeDocument/2006/relationships/slideLayout" Target="../slideLayouts/slideLayout1.xml"/><Relationship Id="rId5"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image" Target="../media/Slide-104-image-1.png"/><Relationship Id="rId2" Type="http://schemas.openxmlformats.org/officeDocument/2006/relationships/image" Target="../media/image-104-2.jpeg"/><Relationship Id="rId3" Type="http://schemas.openxmlformats.org/officeDocument/2006/relationships/image" Target="../media/image-104-3.png"/><Relationship Id="rId4" Type="http://schemas.openxmlformats.org/officeDocument/2006/relationships/slideLayout" Target="../slideLayouts/slideLayout1.xml"/><Relationship Id="rId5"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Slide-105-image-1.png"/><Relationship Id="rId2" Type="http://schemas.openxmlformats.org/officeDocument/2006/relationships/image" Target="../media/image-105-2.jpeg"/><Relationship Id="rId3" Type="http://schemas.openxmlformats.org/officeDocument/2006/relationships/image" Target="../media/image-105-3.jpeg"/><Relationship Id="rId4" Type="http://schemas.openxmlformats.org/officeDocument/2006/relationships/image" Target="../media/image-105-4.png"/><Relationship Id="rId5" Type="http://schemas.openxmlformats.org/officeDocument/2006/relationships/slideLayout" Target="../slideLayouts/slideLayout1.xml"/><Relationship Id="rId6"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image" Target="../media/Slide-106-image-1.png"/><Relationship Id="rId2" Type="http://schemas.openxmlformats.org/officeDocument/2006/relationships/image" Target="../media/image-106-2.png"/><Relationship Id="rId3" Type="http://schemas.openxmlformats.org/officeDocument/2006/relationships/slideLayout" Target="../slideLayouts/slideLayout1.xml"/><Relationship Id="rId4"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image" Target="../media/Slide-107-image-1.png"/><Relationship Id="rId2" Type="http://schemas.openxmlformats.org/officeDocument/2006/relationships/image" Target="../media/image-107-2.png"/><Relationship Id="rId3" Type="http://schemas.openxmlformats.org/officeDocument/2006/relationships/slideLayout" Target="../slideLayouts/slideLayout1.xml"/><Relationship Id="rId4"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image" Target="../media/Slide-108-image-1.png"/><Relationship Id="rId2" Type="http://schemas.openxmlformats.org/officeDocument/2006/relationships/image" Target="../media/image-108-2.png"/><Relationship Id="rId3" Type="http://schemas.openxmlformats.org/officeDocument/2006/relationships/slideLayout" Target="../slideLayouts/slideLayout1.xml"/><Relationship Id="rId4"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image" Target="../media/Slide-109-image-1.png"/><Relationship Id="rId2" Type="http://schemas.openxmlformats.org/officeDocument/2006/relationships/image" Target="../media/image-109-2.jpeg"/><Relationship Id="rId3" Type="http://schemas.openxmlformats.org/officeDocument/2006/relationships/image" Target="../media/image-109-3.png"/><Relationship Id="rId4" Type="http://schemas.openxmlformats.org/officeDocument/2006/relationships/slideLayout" Target="../slideLayouts/slideLayout1.xml"/><Relationship Id="rId5"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image" Target="../media/Slide-110-image-1.png"/><Relationship Id="rId2" Type="http://schemas.openxmlformats.org/officeDocument/2006/relationships/image" Target="../media/image-110-2.png"/><Relationship Id="rId3" Type="http://schemas.openxmlformats.org/officeDocument/2006/relationships/slideLayout" Target="../slideLayouts/slideLayout1.xml"/><Relationship Id="rId4"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image" Target="../media/Slide-111-image-1.png"/><Relationship Id="rId2" Type="http://schemas.openxmlformats.org/officeDocument/2006/relationships/image" Target="../media/image-111-2.png"/><Relationship Id="rId3" Type="http://schemas.openxmlformats.org/officeDocument/2006/relationships/slideLayout" Target="../slideLayouts/slideLayout1.xml"/><Relationship Id="rId4"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image" Target="../media/Slide-112-image-1.png"/><Relationship Id="rId2" Type="http://schemas.openxmlformats.org/officeDocument/2006/relationships/image" Target="../media/image-112-2.jpeg"/><Relationship Id="rId3" Type="http://schemas.openxmlformats.org/officeDocument/2006/relationships/image" Target="../media/image-112-3.png"/><Relationship Id="rId4" Type="http://schemas.openxmlformats.org/officeDocument/2006/relationships/slideLayout" Target="../slideLayouts/slideLayout1.xml"/><Relationship Id="rId5"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image" Target="../media/Slide-113-image-1.png"/><Relationship Id="rId2" Type="http://schemas.openxmlformats.org/officeDocument/2006/relationships/image" Target="../media/image-113-2.jpeg"/><Relationship Id="rId3" Type="http://schemas.openxmlformats.org/officeDocument/2006/relationships/image" Target="../media/image-113-3.png"/><Relationship Id="rId4" Type="http://schemas.openxmlformats.org/officeDocument/2006/relationships/slideLayout" Target="../slideLayouts/slideLayout1.xml"/><Relationship Id="rId5"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image" Target="../media/Slide-114-image-1.png"/><Relationship Id="rId2" Type="http://schemas.openxmlformats.org/officeDocument/2006/relationships/image" Target="../media/image-114-2.png"/><Relationship Id="rId3" Type="http://schemas.openxmlformats.org/officeDocument/2006/relationships/slideLayout" Target="../slideLayouts/slideLayout1.xml"/><Relationship Id="rId4"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image" Target="../media/Slide-115-image-1.png"/><Relationship Id="rId2" Type="http://schemas.openxmlformats.org/officeDocument/2006/relationships/image" Target="../media/image-115-2.jpeg"/><Relationship Id="rId3" Type="http://schemas.openxmlformats.org/officeDocument/2006/relationships/image" Target="../media/image-115-3.png"/><Relationship Id="rId4" Type="http://schemas.openxmlformats.org/officeDocument/2006/relationships/slideLayout" Target="../slideLayouts/slideLayout1.xml"/><Relationship Id="rId5"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image" Target="../media/Slide-116-image-1.png"/><Relationship Id="rId2" Type="http://schemas.openxmlformats.org/officeDocument/2006/relationships/image" Target="../media/image-116-2.png"/><Relationship Id="rId3" Type="http://schemas.openxmlformats.org/officeDocument/2006/relationships/slideLayout" Target="../slideLayouts/slideLayout1.xml"/><Relationship Id="rId4"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image" Target="../media/Slide-117-image-1.png"/><Relationship Id="rId2" Type="http://schemas.openxmlformats.org/officeDocument/2006/relationships/image" Target="../media/image-117-2.png"/><Relationship Id="rId3" Type="http://schemas.openxmlformats.org/officeDocument/2006/relationships/slideLayout" Target="../slideLayouts/slideLayout1.xml"/><Relationship Id="rId4"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image" Target="../media/Slide-118-image-1.png"/><Relationship Id="rId2" Type="http://schemas.openxmlformats.org/officeDocument/2006/relationships/image" Target="../media/image-118-2.png"/><Relationship Id="rId3" Type="http://schemas.openxmlformats.org/officeDocument/2006/relationships/slideLayout" Target="../slideLayouts/slideLayout1.xml"/><Relationship Id="rId4"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image" Target="../media/Slide-119-image-1.png"/><Relationship Id="rId2" Type="http://schemas.openxmlformats.org/officeDocument/2006/relationships/image" Target="../media/image-119-2.png"/><Relationship Id="rId3" Type="http://schemas.openxmlformats.org/officeDocument/2006/relationships/image" Target="../media/image-119-3.png"/><Relationship Id="rId4" Type="http://schemas.openxmlformats.org/officeDocument/2006/relationships/slideLayout" Target="../slideLayouts/slideLayout1.xml"/><Relationship Id="rId5"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image" Target="../media/Slide-120-image-1.png"/><Relationship Id="rId2" Type="http://schemas.openxmlformats.org/officeDocument/2006/relationships/image" Target="../media/image-120-2.png"/><Relationship Id="rId3" Type="http://schemas.openxmlformats.org/officeDocument/2006/relationships/slideLayout" Target="../slideLayouts/slideLayout1.xml"/><Relationship Id="rId4"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image" Target="../media/Slide-121-image-1.png"/><Relationship Id="rId2" Type="http://schemas.openxmlformats.org/officeDocument/2006/relationships/image" Target="../media/image-121-2.jpeg"/><Relationship Id="rId3" Type="http://schemas.openxmlformats.org/officeDocument/2006/relationships/image" Target="../media/image-121-3.jpeg"/><Relationship Id="rId4" Type="http://schemas.openxmlformats.org/officeDocument/2006/relationships/image" Target="../media/image-121-4.png"/><Relationship Id="rId5" Type="http://schemas.openxmlformats.org/officeDocument/2006/relationships/slideLayout" Target="../slideLayouts/slideLayout1.xml"/><Relationship Id="rId6"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image" Target="../media/Slide-122-image-1.png"/><Relationship Id="rId2" Type="http://schemas.openxmlformats.org/officeDocument/2006/relationships/image" Target="../media/image-122-2.png"/><Relationship Id="rId3" Type="http://schemas.openxmlformats.org/officeDocument/2006/relationships/slideLayout" Target="../slideLayouts/slideLayout1.xml"/><Relationship Id="rId4"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image" Target="../media/Slide-123-image-1.png"/><Relationship Id="rId2" Type="http://schemas.openxmlformats.org/officeDocument/2006/relationships/image" Target="../media/image-123-2.jpeg"/><Relationship Id="rId3" Type="http://schemas.openxmlformats.org/officeDocument/2006/relationships/image" Target="../media/image-123-3.png"/><Relationship Id="rId4" Type="http://schemas.openxmlformats.org/officeDocument/2006/relationships/slideLayout" Target="../slideLayouts/slideLayout1.xml"/><Relationship Id="rId5"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image" Target="../media/Slide-124-image-1.png"/><Relationship Id="rId2" Type="http://schemas.openxmlformats.org/officeDocument/2006/relationships/image" Target="../media/image-124-2.jpeg"/><Relationship Id="rId3" Type="http://schemas.openxmlformats.org/officeDocument/2006/relationships/image" Target="../media/image-124-3.png"/><Relationship Id="rId4" Type="http://schemas.openxmlformats.org/officeDocument/2006/relationships/slideLayout" Target="../slideLayouts/slideLayout1.xml"/><Relationship Id="rId5"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image" Target="../media/Slide-125-image-1.png"/><Relationship Id="rId2" Type="http://schemas.openxmlformats.org/officeDocument/2006/relationships/image" Target="../media/image-125-2.jpeg"/><Relationship Id="rId3" Type="http://schemas.openxmlformats.org/officeDocument/2006/relationships/image" Target="../media/image-125-3.png"/><Relationship Id="rId4" Type="http://schemas.openxmlformats.org/officeDocument/2006/relationships/slideLayout" Target="../slideLayouts/slideLayout1.xml"/><Relationship Id="rId5"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image" Target="../media/Slide-126-image-1.png"/><Relationship Id="rId2" Type="http://schemas.openxmlformats.org/officeDocument/2006/relationships/image" Target="../media/image-126-2.jpeg"/><Relationship Id="rId3" Type="http://schemas.openxmlformats.org/officeDocument/2006/relationships/image" Target="../media/image-126-3.jpeg"/><Relationship Id="rId4" Type="http://schemas.openxmlformats.org/officeDocument/2006/relationships/image" Target="../media/image-126-4.png"/><Relationship Id="rId5" Type="http://schemas.openxmlformats.org/officeDocument/2006/relationships/slideLayout" Target="../slideLayouts/slideLayout1.xml"/><Relationship Id="rId6"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image" Target="../media/Slide-127-image-1.png"/><Relationship Id="rId2" Type="http://schemas.openxmlformats.org/officeDocument/2006/relationships/image" Target="../media/image-127-2.jpeg"/><Relationship Id="rId3" Type="http://schemas.openxmlformats.org/officeDocument/2006/relationships/image" Target="../media/image-127-3.jpeg"/><Relationship Id="rId4" Type="http://schemas.openxmlformats.org/officeDocument/2006/relationships/image" Target="../media/image-127-4.png"/><Relationship Id="rId5" Type="http://schemas.openxmlformats.org/officeDocument/2006/relationships/slideLayout" Target="../slideLayouts/slideLayout1.xml"/><Relationship Id="rId6"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image" Target="../media/Slide-128-image-1.png"/><Relationship Id="rId2" Type="http://schemas.openxmlformats.org/officeDocument/2006/relationships/image" Target="../media/image-128-2.jpeg"/><Relationship Id="rId3" Type="http://schemas.openxmlformats.org/officeDocument/2006/relationships/image" Target="../media/image-128-3.png"/><Relationship Id="rId4" Type="http://schemas.openxmlformats.org/officeDocument/2006/relationships/slideLayout" Target="../slideLayouts/slideLayout1.xml"/><Relationship Id="rId5"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image" Target="../media/Slide-129-image-1.png"/><Relationship Id="rId2" Type="http://schemas.openxmlformats.org/officeDocument/2006/relationships/image" Target="../media/image-129-2.png"/><Relationship Id="rId3" Type="http://schemas.openxmlformats.org/officeDocument/2006/relationships/slideLayout" Target="../slideLayouts/slideLayout1.xml"/><Relationship Id="rId4"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image" Target="../media/Slide-130-image-1.png"/><Relationship Id="rId2" Type="http://schemas.openxmlformats.org/officeDocument/2006/relationships/image" Target="../media/image-130-2.png"/><Relationship Id="rId3" Type="http://schemas.openxmlformats.org/officeDocument/2006/relationships/slideLayout" Target="../slideLayouts/slideLayout1.xml"/><Relationship Id="rId4"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image" Target="../media/Slide-131-image-1.png"/><Relationship Id="rId2" Type="http://schemas.openxmlformats.org/officeDocument/2006/relationships/image" Target="../media/image-131-2.png"/><Relationship Id="rId3" Type="http://schemas.openxmlformats.org/officeDocument/2006/relationships/slideLayout" Target="../slideLayouts/slideLayout1.xml"/><Relationship Id="rId4"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image" Target="../media/Slide-132-image-1.png"/><Relationship Id="rId2" Type="http://schemas.openxmlformats.org/officeDocument/2006/relationships/image" Target="../media/image-132-2.png"/><Relationship Id="rId3" Type="http://schemas.openxmlformats.org/officeDocument/2006/relationships/slideLayout" Target="../slideLayouts/slideLayout1.xml"/><Relationship Id="rId4"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image" Target="../media/Slide-133-image-1.png"/><Relationship Id="rId2" Type="http://schemas.openxmlformats.org/officeDocument/2006/relationships/image" Target="../media/image-133-2.png"/><Relationship Id="rId3" Type="http://schemas.openxmlformats.org/officeDocument/2006/relationships/slideLayout" Target="../slideLayouts/slideLayout1.xml"/><Relationship Id="rId4" Type="http://schemas.openxmlformats.org/officeDocument/2006/relationships/notesSlide" Target="../notesSlides/notesSlide1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rcRect l="0" r="0" t="0" b="0"/>
          <a:stretch/>
        </p:blipFill>
        <p:spPr>
          <a:xfrm>
            <a:off x="0" y="0"/>
            <a:ext cx="12191695" cy="685782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O CASO</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Você é o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único profissional de dados</a:t>
            </a:r>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 da Vértice</a:t>
            </a:r>
            <a:endParaRPr lang="en-US" sz="3100" dirty="0"/>
          </a:p>
        </p:txBody>
      </p:sp>
      <p:sp>
        <p:nvSpPr>
          <p:cNvPr id="4" name="Shape 2"/>
          <p:cNvSpPr/>
          <p:nvPr/>
        </p:nvSpPr>
        <p:spPr>
          <a:xfrm>
            <a:off x="761981" y="1582301"/>
            <a:ext cx="2533587" cy="1702353"/>
          </a:xfrm>
          <a:prstGeom prst="roundRect">
            <a:avLst>
              <a:gd name="adj" fmla="val 8952"/>
            </a:avLst>
          </a:prstGeom>
          <a:solidFill>
            <a:srgbClr val="0059DB"/>
          </a:solidFill>
          <a:ln/>
        </p:spPr>
      </p:sp>
      <p:sp>
        <p:nvSpPr>
          <p:cNvPr id="5" name="Text 3"/>
          <p:cNvSpPr txBox="1"/>
          <p:nvPr/>
        </p:nvSpPr>
        <p:spPr>
          <a:xfrm>
            <a:off x="984225" y="1779146"/>
            <a:ext cx="2172662" cy="419090"/>
          </a:xfrm>
          <a:prstGeom prst="rect">
            <a:avLst/>
          </a:prstGeom>
          <a:noFill/>
          <a:ln/>
        </p:spPr>
        <p:txBody>
          <a:bodyPr wrap="square" lIns="0" tIns="0" rIns="0" bIns="0" rtlCol="0" anchor="t"/>
          <a:lstStyle/>
          <a:p>
            <a:pPr algn="l" indent="0" marL="0">
              <a:lnSpc>
                <a:spcPct val="85470"/>
              </a:lnSpc>
              <a:buNone/>
            </a:pPr>
            <a:r>
              <a:rPr lang="en-US" sz="3300" b="1" spc="-66" kern="0" dirty="0">
                <a:solidFill>
                  <a:srgbClr val="F5F6FC"/>
                </a:solidFill>
                <a:latin typeface="Poppins" pitchFamily="34" charset="0"/>
                <a:ea typeface="Poppins" pitchFamily="34" charset="-122"/>
                <a:cs typeface="Poppins" pitchFamily="34" charset="-120"/>
              </a:rPr>
              <a:t>520</a:t>
            </a:r>
            <a:endParaRPr lang="en-US" sz="3300" dirty="0"/>
          </a:p>
        </p:txBody>
      </p:sp>
      <p:sp>
        <p:nvSpPr>
          <p:cNvPr id="6" name="Text 4"/>
          <p:cNvSpPr txBox="1"/>
          <p:nvPr/>
        </p:nvSpPr>
        <p:spPr>
          <a:xfrm>
            <a:off x="984225" y="2274434"/>
            <a:ext cx="2172662" cy="197143"/>
          </a:xfrm>
          <a:prstGeom prst="rect">
            <a:avLst/>
          </a:prstGeom>
          <a:noFill/>
          <a:ln/>
        </p:spPr>
        <p:txBody>
          <a:bodyPr wrap="square" lIns="0" tIns="0" rIns="0" bIns="0" rtlCol="0" anchor="t"/>
          <a:lstStyle/>
          <a:p>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pessoas</a:t>
            </a:r>
            <a:endParaRPr lang="en-US" sz="1150" dirty="0"/>
          </a:p>
        </p:txBody>
      </p:sp>
      <p:sp>
        <p:nvSpPr>
          <p:cNvPr id="7" name="Shape 5"/>
          <p:cNvSpPr/>
          <p:nvPr/>
        </p:nvSpPr>
        <p:spPr>
          <a:xfrm>
            <a:off x="3473363" y="1582301"/>
            <a:ext cx="2533587" cy="1702353"/>
          </a:xfrm>
          <a:prstGeom prst="roundRect">
            <a:avLst>
              <a:gd name="adj" fmla="val 8952"/>
            </a:avLst>
          </a:prstGeom>
          <a:solidFill>
            <a:srgbClr val="0059DB"/>
          </a:solidFill>
          <a:ln/>
        </p:spPr>
      </p:sp>
      <p:sp>
        <p:nvSpPr>
          <p:cNvPr id="8" name="Text 6"/>
          <p:cNvSpPr txBox="1"/>
          <p:nvPr/>
        </p:nvSpPr>
        <p:spPr>
          <a:xfrm>
            <a:off x="3695608" y="1779146"/>
            <a:ext cx="2172662" cy="419090"/>
          </a:xfrm>
          <a:prstGeom prst="rect">
            <a:avLst/>
          </a:prstGeom>
          <a:noFill/>
          <a:ln/>
        </p:spPr>
        <p:txBody>
          <a:bodyPr wrap="square" lIns="0" tIns="0" rIns="0" bIns="0" rtlCol="0" anchor="t"/>
          <a:lstStyle/>
          <a:p>
            <a:pPr algn="l" indent="0" marL="0">
              <a:lnSpc>
                <a:spcPct val="85470"/>
              </a:lnSpc>
              <a:buNone/>
            </a:pPr>
            <a:r>
              <a:rPr lang="en-US" sz="3300" b="1" spc="-66" kern="0" dirty="0">
                <a:solidFill>
                  <a:srgbClr val="F5F6FC"/>
                </a:solidFill>
                <a:latin typeface="Poppins" pitchFamily="34" charset="0"/>
                <a:ea typeface="Poppins" pitchFamily="34" charset="-122"/>
                <a:cs typeface="Poppins" pitchFamily="34" charset="-120"/>
              </a:rPr>
              <a:t>60</a:t>
            </a:r>
            <a:endParaRPr lang="en-US" sz="3300" dirty="0"/>
          </a:p>
        </p:txBody>
      </p:sp>
      <p:sp>
        <p:nvSpPr>
          <p:cNvPr id="9" name="Text 7"/>
          <p:cNvSpPr txBox="1"/>
          <p:nvPr/>
        </p:nvSpPr>
        <p:spPr>
          <a:xfrm>
            <a:off x="3695608" y="2274434"/>
            <a:ext cx="2172662" cy="394285"/>
          </a:xfrm>
          <a:prstGeom prst="rect">
            <a:avLst/>
          </a:prstGeom>
          <a:noFill/>
          <a:ln/>
        </p:spPr>
        <p:txBody>
          <a:bodyPr wrap="square" lIns="0" tIns="0" rIns="0" bIns="0" rtlCol="0" anchor="t"/>
          <a:lstStyle/>
          <a:p>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projetos de clientes (41 em andamento)</a:t>
            </a:r>
            <a:endParaRPr lang="en-US" sz="1150" dirty="0"/>
          </a:p>
        </p:txBody>
      </p:sp>
      <p:sp>
        <p:nvSpPr>
          <p:cNvPr id="10" name="Shape 8"/>
          <p:cNvSpPr/>
          <p:nvPr/>
        </p:nvSpPr>
        <p:spPr>
          <a:xfrm>
            <a:off x="6184745" y="1582301"/>
            <a:ext cx="2533587" cy="1702353"/>
          </a:xfrm>
          <a:prstGeom prst="roundRect">
            <a:avLst>
              <a:gd name="adj" fmla="val 8952"/>
            </a:avLst>
          </a:prstGeom>
          <a:solidFill>
            <a:srgbClr val="1E1E24"/>
          </a:solidFill>
          <a:ln w="6350">
            <a:solidFill>
              <a:srgbClr val="2F2F39"/>
            </a:solidFill>
            <a:prstDash val="solid"/>
          </a:ln>
        </p:spPr>
      </p:sp>
      <p:sp>
        <p:nvSpPr>
          <p:cNvPr id="11" name="Text 9"/>
          <p:cNvSpPr txBox="1"/>
          <p:nvPr/>
        </p:nvSpPr>
        <p:spPr>
          <a:xfrm>
            <a:off x="6406990" y="1779146"/>
            <a:ext cx="2172662" cy="419090"/>
          </a:xfrm>
          <a:prstGeom prst="rect">
            <a:avLst/>
          </a:prstGeom>
          <a:noFill/>
          <a:ln/>
        </p:spPr>
        <p:txBody>
          <a:bodyPr wrap="square" lIns="0" tIns="0" rIns="0" bIns="0" rtlCol="0" anchor="t"/>
          <a:lstStyle/>
          <a:p>
            <a:pPr algn="l" indent="0" marL="0">
              <a:lnSpc>
                <a:spcPct val="85470"/>
              </a:lnSpc>
              <a:buNone/>
            </a:pPr>
            <a:r>
              <a:rPr lang="en-US" sz="3300" b="1" spc="-66" kern="0" dirty="0">
                <a:solidFill>
                  <a:srgbClr val="F5F6FC"/>
                </a:solidFill>
                <a:latin typeface="Poppins" pitchFamily="34" charset="0"/>
                <a:ea typeface="Poppins" pitchFamily="34" charset="-122"/>
                <a:cs typeface="Poppins" pitchFamily="34" charset="-120"/>
              </a:rPr>
              <a:t>R$ 305 mi</a:t>
            </a:r>
            <a:endParaRPr lang="en-US" sz="3300" dirty="0"/>
          </a:p>
        </p:txBody>
      </p:sp>
      <p:sp>
        <p:nvSpPr>
          <p:cNvPr id="12" name="Text 10"/>
          <p:cNvSpPr txBox="1"/>
          <p:nvPr/>
        </p:nvSpPr>
        <p:spPr>
          <a:xfrm>
            <a:off x="6406990" y="2274434"/>
            <a:ext cx="2172662" cy="197143"/>
          </a:xfrm>
          <a:prstGeom prst="rect">
            <a:avLst/>
          </a:prstGeom>
          <a:noFill/>
          <a:ln/>
        </p:spPr>
        <p:txBody>
          <a:bodyPr wrap="square" lIns="0" tIns="0" rIns="0" bIns="0" rtlCol="0" anchor="t"/>
          <a:lstStyle/>
          <a:p>
            <a:pPr algn="l" indent="0" marL="0">
              <a:lnSpc>
                <a:spcPct val="115385"/>
              </a:lnSpc>
              <a:buNone/>
            </a:pPr>
            <a:r>
              <a:rPr lang="en-US" sz="1150" dirty="0">
                <a:solidFill>
                  <a:srgbClr val="A3A6B4"/>
                </a:solidFill>
                <a:latin typeface="Poppins" pitchFamily="34" charset="0"/>
                <a:ea typeface="Poppins" pitchFamily="34" charset="-122"/>
                <a:cs typeface="Poppins" pitchFamily="34" charset="-120"/>
              </a:rPr>
              <a:t>de carteira contratada</a:t>
            </a:r>
            <a:endParaRPr lang="en-US" sz="1150" dirty="0"/>
          </a:p>
        </p:txBody>
      </p:sp>
      <p:sp>
        <p:nvSpPr>
          <p:cNvPr id="13" name="Shape 11"/>
          <p:cNvSpPr/>
          <p:nvPr/>
        </p:nvSpPr>
        <p:spPr>
          <a:xfrm>
            <a:off x="8896128" y="1582301"/>
            <a:ext cx="2533587" cy="1702353"/>
          </a:xfrm>
          <a:prstGeom prst="roundRect">
            <a:avLst>
              <a:gd name="adj" fmla="val 8952"/>
            </a:avLst>
          </a:prstGeom>
          <a:solidFill>
            <a:srgbClr val="1E1E24"/>
          </a:solidFill>
          <a:ln w="6350">
            <a:solidFill>
              <a:srgbClr val="2F2F39"/>
            </a:solidFill>
            <a:prstDash val="solid"/>
          </a:ln>
        </p:spPr>
      </p:sp>
      <p:pic>
        <p:nvPicPr>
          <p:cNvPr id="14" name="Image 0" descr="preencoded.png">    </p:cNvPr>
          <p:cNvPicPr>
            <a:picLocks noChangeAspect="1"/>
          </p:cNvPicPr>
          <p:nvPr/>
        </p:nvPicPr>
        <p:blipFill>
          <a:blip r:embed="rId2"/>
          <a:stretch>
            <a:fillRect/>
          </a:stretch>
        </p:blipFill>
        <p:spPr>
          <a:xfrm>
            <a:off x="9238424" y="1779146"/>
            <a:ext cx="406390" cy="406390"/>
          </a:xfrm>
          <a:prstGeom prst="rect">
            <a:avLst/>
          </a:prstGeom>
        </p:spPr>
      </p:pic>
      <p:sp>
        <p:nvSpPr>
          <p:cNvPr id="15" name="Text 12"/>
          <p:cNvSpPr txBox="1"/>
          <p:nvPr/>
        </p:nvSpPr>
        <p:spPr>
          <a:xfrm>
            <a:off x="9324841" y="2236335"/>
            <a:ext cx="242897" cy="190495"/>
          </a:xfrm>
          <a:prstGeom prst="rect">
            <a:avLst/>
          </a:prstGeom>
          <a:noFill/>
          <a:ln/>
        </p:spPr>
        <p:txBody>
          <a:bodyPr wrap="square" lIns="0" tIns="0" rIns="0" bIns="0" rtlCol="0" anchor="t"/>
          <a:lstStyle/>
          <a:p>
            <a:pPr algn="l" indent="0" marL="0">
              <a:lnSpc>
                <a:spcPct val="85470"/>
              </a:lnSpc>
              <a:buNone/>
            </a:pPr>
            <a:r>
              <a:rPr lang="en-US" sz="1500" b="1" dirty="0">
                <a:solidFill>
                  <a:srgbClr val="F5F6FC"/>
                </a:solidFill>
                <a:latin typeface="Poppins" pitchFamily="34" charset="0"/>
                <a:ea typeface="Poppins" pitchFamily="34" charset="-122"/>
                <a:cs typeface="Poppins" pitchFamily="34" charset="-120"/>
              </a:rPr>
              <a:t>20</a:t>
            </a:r>
            <a:endParaRPr lang="en-US" sz="1500" dirty="0"/>
          </a:p>
        </p:txBody>
      </p:sp>
      <p:sp>
        <p:nvSpPr>
          <p:cNvPr id="16" name="Text 13"/>
          <p:cNvSpPr txBox="1"/>
          <p:nvPr/>
        </p:nvSpPr>
        <p:spPr>
          <a:xfrm>
            <a:off x="9308570" y="2477629"/>
            <a:ext cx="276742" cy="165096"/>
          </a:xfrm>
          <a:prstGeom prst="rect">
            <a:avLst/>
          </a:prstGeom>
          <a:noFill/>
          <a:ln/>
        </p:spPr>
        <p:txBody>
          <a:bodyPr wrap="square" lIns="0" tIns="0" rIns="0" bIns="0" rtlCol="0" anchor="t"/>
          <a:lstStyle/>
          <a:p>
            <a:pPr algn="l" indent="0" marL="0">
              <a:lnSpc>
                <a:spcPct val="106838"/>
              </a:lnSpc>
              <a:buNone/>
            </a:pPr>
            <a:r>
              <a:rPr lang="en-US" sz="850" dirty="0">
                <a:solidFill>
                  <a:srgbClr val="A3A6B4"/>
                </a:solidFill>
                <a:latin typeface="Poppins" pitchFamily="34" charset="0"/>
                <a:ea typeface="Poppins" pitchFamily="34" charset="-122"/>
                <a:cs typeface="Poppins" pitchFamily="34" charset="-120"/>
              </a:rPr>
              <a:t>Excel</a:t>
            </a:r>
            <a:endParaRPr lang="en-US" sz="850" dirty="0"/>
          </a:p>
        </p:txBody>
      </p:sp>
      <p:pic>
        <p:nvPicPr>
          <p:cNvPr id="17" name="Image 1" descr="preencoded.png">    </p:cNvPr>
          <p:cNvPicPr>
            <a:picLocks noChangeAspect="1"/>
          </p:cNvPicPr>
          <p:nvPr/>
        </p:nvPicPr>
        <p:blipFill>
          <a:blip r:embed="rId3"/>
          <a:stretch>
            <a:fillRect/>
          </a:stretch>
        </p:blipFill>
        <p:spPr>
          <a:xfrm>
            <a:off x="9885115" y="1779146"/>
            <a:ext cx="406390" cy="406390"/>
          </a:xfrm>
          <a:prstGeom prst="rect">
            <a:avLst/>
          </a:prstGeom>
        </p:spPr>
      </p:pic>
      <p:sp>
        <p:nvSpPr>
          <p:cNvPr id="18" name="Text 14"/>
          <p:cNvSpPr txBox="1"/>
          <p:nvPr/>
        </p:nvSpPr>
        <p:spPr>
          <a:xfrm>
            <a:off x="9971632" y="2236335"/>
            <a:ext cx="242588" cy="190495"/>
          </a:xfrm>
          <a:prstGeom prst="rect">
            <a:avLst/>
          </a:prstGeom>
          <a:noFill/>
          <a:ln/>
        </p:spPr>
        <p:txBody>
          <a:bodyPr wrap="square" lIns="0" tIns="0" rIns="0" bIns="0" rtlCol="0" anchor="t"/>
          <a:lstStyle/>
          <a:p>
            <a:pPr algn="l" indent="0" marL="0">
              <a:lnSpc>
                <a:spcPct val="85470"/>
              </a:lnSpc>
              <a:buNone/>
            </a:pPr>
            <a:r>
              <a:rPr lang="en-US" sz="1500" b="1" dirty="0">
                <a:solidFill>
                  <a:srgbClr val="F5F6FC"/>
                </a:solidFill>
                <a:latin typeface="Poppins" pitchFamily="34" charset="0"/>
                <a:ea typeface="Poppins" pitchFamily="34" charset="-122"/>
                <a:cs typeface="Poppins" pitchFamily="34" charset="-120"/>
              </a:rPr>
              <a:t>25</a:t>
            </a:r>
            <a:endParaRPr lang="en-US" sz="1500" dirty="0"/>
          </a:p>
        </p:txBody>
      </p:sp>
      <p:sp>
        <p:nvSpPr>
          <p:cNvPr id="19" name="Text 15"/>
          <p:cNvSpPr txBox="1"/>
          <p:nvPr/>
        </p:nvSpPr>
        <p:spPr>
          <a:xfrm>
            <a:off x="9886604" y="2477629"/>
            <a:ext cx="419550" cy="165096"/>
          </a:xfrm>
          <a:prstGeom prst="rect">
            <a:avLst/>
          </a:prstGeom>
          <a:noFill/>
          <a:ln/>
        </p:spPr>
        <p:txBody>
          <a:bodyPr wrap="square" lIns="0" tIns="0" rIns="0" bIns="0" rtlCol="0" anchor="t"/>
          <a:lstStyle/>
          <a:p>
            <a:pPr algn="l" indent="0" marL="0">
              <a:lnSpc>
                <a:spcPct val="106838"/>
              </a:lnSpc>
              <a:buNone/>
            </a:pPr>
            <a:r>
              <a:rPr lang="en-US" sz="850" dirty="0">
                <a:solidFill>
                  <a:srgbClr val="A3A6B4"/>
                </a:solidFill>
                <a:latin typeface="Poppins" pitchFamily="34" charset="0"/>
                <a:ea typeface="Poppins" pitchFamily="34" charset="-122"/>
                <a:cs typeface="Poppins" pitchFamily="34" charset="-120"/>
              </a:rPr>
              <a:t>ClickUp</a:t>
            </a:r>
            <a:endParaRPr lang="en-US" sz="850" dirty="0"/>
          </a:p>
        </p:txBody>
      </p:sp>
      <p:pic>
        <p:nvPicPr>
          <p:cNvPr id="20" name="Image 2" descr="preencoded.png">    </p:cNvPr>
          <p:cNvPicPr>
            <a:picLocks noChangeAspect="1"/>
          </p:cNvPicPr>
          <p:nvPr/>
        </p:nvPicPr>
        <p:blipFill>
          <a:blip r:embed="rId4"/>
          <a:stretch>
            <a:fillRect/>
          </a:stretch>
        </p:blipFill>
        <p:spPr>
          <a:xfrm>
            <a:off x="10606219" y="1779146"/>
            <a:ext cx="406390" cy="406390"/>
          </a:xfrm>
          <a:prstGeom prst="rect">
            <a:avLst/>
          </a:prstGeom>
        </p:spPr>
      </p:pic>
      <p:sp>
        <p:nvSpPr>
          <p:cNvPr id="21" name="Text 16"/>
          <p:cNvSpPr txBox="1"/>
          <p:nvPr/>
        </p:nvSpPr>
        <p:spPr>
          <a:xfrm>
            <a:off x="10710198" y="2236335"/>
            <a:ext cx="206473" cy="190495"/>
          </a:xfrm>
          <a:prstGeom prst="rect">
            <a:avLst/>
          </a:prstGeom>
          <a:noFill/>
          <a:ln/>
        </p:spPr>
        <p:txBody>
          <a:bodyPr wrap="square" lIns="0" tIns="0" rIns="0" bIns="0" rtlCol="0" anchor="t"/>
          <a:lstStyle/>
          <a:p>
            <a:pPr algn="l" indent="0" marL="0">
              <a:lnSpc>
                <a:spcPct val="85470"/>
              </a:lnSpc>
              <a:buNone/>
            </a:pPr>
            <a:r>
              <a:rPr lang="en-US" sz="1500" b="1" dirty="0">
                <a:solidFill>
                  <a:srgbClr val="F5F6FC"/>
                </a:solidFill>
                <a:latin typeface="Poppins" pitchFamily="34" charset="0"/>
                <a:ea typeface="Poppins" pitchFamily="34" charset="-122"/>
                <a:cs typeface="Poppins" pitchFamily="34" charset="-120"/>
              </a:rPr>
              <a:t>15</a:t>
            </a:r>
            <a:endParaRPr lang="en-US" sz="1500" dirty="0"/>
          </a:p>
        </p:txBody>
      </p:sp>
      <p:sp>
        <p:nvSpPr>
          <p:cNvPr id="22" name="Text 17"/>
          <p:cNvSpPr txBox="1"/>
          <p:nvPr/>
        </p:nvSpPr>
        <p:spPr>
          <a:xfrm>
            <a:off x="10531708" y="2477629"/>
            <a:ext cx="577732" cy="165096"/>
          </a:xfrm>
          <a:prstGeom prst="rect">
            <a:avLst/>
          </a:prstGeom>
          <a:noFill/>
          <a:ln/>
        </p:spPr>
        <p:txBody>
          <a:bodyPr wrap="square" lIns="0" tIns="0" rIns="0" bIns="0" rtlCol="0" anchor="t"/>
          <a:lstStyle/>
          <a:p>
            <a:pPr algn="l" indent="0" marL="0">
              <a:lnSpc>
                <a:spcPct val="106838"/>
              </a:lnSpc>
              <a:buNone/>
            </a:pPr>
            <a:r>
              <a:rPr lang="en-US" sz="850" dirty="0">
                <a:solidFill>
                  <a:srgbClr val="A3A6B4"/>
                </a:solidFill>
                <a:latin typeface="Poppins" pitchFamily="34" charset="0"/>
                <a:ea typeface="Poppins" pitchFamily="34" charset="-122"/>
                <a:cs typeface="Poppins" pitchFamily="34" charset="-120"/>
              </a:rPr>
              <a:t>MS Project</a:t>
            </a:r>
            <a:endParaRPr lang="en-US" sz="850" dirty="0"/>
          </a:p>
        </p:txBody>
      </p:sp>
      <p:sp>
        <p:nvSpPr>
          <p:cNvPr id="23" name="Text 18"/>
          <p:cNvSpPr txBox="1"/>
          <p:nvPr/>
        </p:nvSpPr>
        <p:spPr>
          <a:xfrm>
            <a:off x="9118372" y="2693523"/>
            <a:ext cx="2172662" cy="394285"/>
          </a:xfrm>
          <a:prstGeom prst="rect">
            <a:avLst/>
          </a:prstGeom>
          <a:noFill/>
          <a:ln/>
        </p:spPr>
        <p:txBody>
          <a:bodyPr wrap="square" lIns="0" tIns="0" rIns="0" bIns="0" rtlCol="0" anchor="t"/>
          <a:lstStyle/>
          <a:p>
            <a:pPr algn="ctr" indent="0" marL="0">
              <a:lnSpc>
                <a:spcPct val="115385"/>
              </a:lnSpc>
              <a:buNone/>
            </a:pPr>
            <a:r>
              <a:rPr lang="en-US" sz="1150" dirty="0">
                <a:solidFill>
                  <a:srgbClr val="A3A6B4"/>
                </a:solidFill>
                <a:latin typeface="Poppins" pitchFamily="34" charset="0"/>
                <a:ea typeface="Poppins" pitchFamily="34" charset="-122"/>
                <a:cs typeface="Poppins" pitchFamily="34" charset="-120"/>
              </a:rPr>
              <a:t>3 ferramentas que não conversam</a:t>
            </a:r>
            <a:endParaRPr lang="en-US" sz="1150" dirty="0"/>
          </a:p>
        </p:txBody>
      </p:sp>
      <p:sp>
        <p:nvSpPr>
          <p:cNvPr id="24" name="Shape 19"/>
          <p:cNvSpPr/>
          <p:nvPr/>
        </p:nvSpPr>
        <p:spPr>
          <a:xfrm>
            <a:off x="761981" y="3500548"/>
            <a:ext cx="5244969" cy="1499654"/>
          </a:xfrm>
          <a:prstGeom prst="roundRect">
            <a:avLst>
              <a:gd name="adj" fmla="val 10162"/>
            </a:avLst>
          </a:prstGeom>
          <a:solidFill>
            <a:srgbClr val="1E1E24"/>
          </a:solidFill>
          <a:ln w="6350">
            <a:solidFill>
              <a:srgbClr val="2F2F39"/>
            </a:solidFill>
            <a:prstDash val="solid"/>
          </a:ln>
        </p:spPr>
      </p:sp>
      <p:sp>
        <p:nvSpPr>
          <p:cNvPr id="25" name="Shape 20"/>
          <p:cNvSpPr/>
          <p:nvPr/>
        </p:nvSpPr>
        <p:spPr>
          <a:xfrm>
            <a:off x="984225" y="3697394"/>
            <a:ext cx="906936" cy="247644"/>
          </a:xfrm>
          <a:prstGeom prst="roundRect">
            <a:avLst>
              <a:gd name="adj" fmla="val 50000"/>
            </a:avLst>
          </a:prstGeom>
          <a:solidFill>
            <a:srgbClr val="22C2F4">
              <a:alpha val="14000"/>
            </a:srgbClr>
          </a:solidFill>
          <a:ln/>
        </p:spPr>
      </p:sp>
      <p:sp>
        <p:nvSpPr>
          <p:cNvPr id="26" name="Text 21"/>
          <p:cNvSpPr txBox="1"/>
          <p:nvPr/>
        </p:nvSpPr>
        <p:spPr>
          <a:xfrm>
            <a:off x="1073123" y="3735493"/>
            <a:ext cx="758306"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Como é hoje</a:t>
            </a:r>
            <a:endParaRPr lang="en-US" sz="900" dirty="0"/>
          </a:p>
        </p:txBody>
      </p:sp>
      <p:sp>
        <p:nvSpPr>
          <p:cNvPr id="27" name="Shape 22"/>
          <p:cNvSpPr/>
          <p:nvPr/>
        </p:nvSpPr>
        <p:spPr>
          <a:xfrm>
            <a:off x="984225" y="4116483"/>
            <a:ext cx="76198" cy="76198"/>
          </a:xfrm>
          <a:prstGeom prst="roundRect">
            <a:avLst>
              <a:gd name="adj" fmla="val 25000"/>
            </a:avLst>
          </a:prstGeom>
          <a:solidFill>
            <a:srgbClr val="22C2F4"/>
          </a:solidFill>
          <a:ln/>
        </p:spPr>
      </p:sp>
      <p:sp>
        <p:nvSpPr>
          <p:cNvPr id="28" name="Text 23"/>
          <p:cNvSpPr txBox="1"/>
          <p:nvPr/>
        </p:nvSpPr>
        <p:spPr>
          <a:xfrm>
            <a:off x="1174721" y="4033935"/>
            <a:ext cx="4794384"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cada gerente controla o projeto numa ferramenta diferente</a:t>
            </a:r>
            <a:endParaRPr lang="en-US" sz="1200" dirty="0"/>
          </a:p>
        </p:txBody>
      </p:sp>
      <p:sp>
        <p:nvSpPr>
          <p:cNvPr id="29" name="Shape 24"/>
          <p:cNvSpPr/>
          <p:nvPr/>
        </p:nvSpPr>
        <p:spPr>
          <a:xfrm>
            <a:off x="984225" y="4398356"/>
            <a:ext cx="76198" cy="76198"/>
          </a:xfrm>
          <a:prstGeom prst="roundRect">
            <a:avLst>
              <a:gd name="adj" fmla="val 25000"/>
            </a:avLst>
          </a:prstGeom>
          <a:solidFill>
            <a:srgbClr val="22C2F4"/>
          </a:solidFill>
          <a:ln/>
        </p:spPr>
      </p:sp>
      <p:sp>
        <p:nvSpPr>
          <p:cNvPr id="30" name="Text 25"/>
          <p:cNvSpPr txBox="1"/>
          <p:nvPr/>
        </p:nvSpPr>
        <p:spPr>
          <a:xfrm>
            <a:off x="1174721" y="4315809"/>
            <a:ext cx="4794384"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o PMO junta tudo à mão, toda sexta</a:t>
            </a:r>
            <a:endParaRPr lang="en-US" sz="1200" dirty="0"/>
          </a:p>
        </p:txBody>
      </p:sp>
      <p:sp>
        <p:nvSpPr>
          <p:cNvPr id="31" name="Shape 26"/>
          <p:cNvSpPr/>
          <p:nvPr/>
        </p:nvSpPr>
        <p:spPr>
          <a:xfrm>
            <a:off x="984225" y="4680230"/>
            <a:ext cx="76198" cy="76198"/>
          </a:xfrm>
          <a:prstGeom prst="roundRect">
            <a:avLst>
              <a:gd name="adj" fmla="val 25000"/>
            </a:avLst>
          </a:prstGeom>
          <a:solidFill>
            <a:srgbClr val="22C2F4"/>
          </a:solidFill>
          <a:ln/>
        </p:spPr>
      </p:sp>
      <p:sp>
        <p:nvSpPr>
          <p:cNvPr id="32" name="Text 27"/>
          <p:cNvSpPr txBox="1"/>
          <p:nvPr/>
        </p:nvSpPr>
        <p:spPr>
          <a:xfrm>
            <a:off x="1174721" y="4597682"/>
            <a:ext cx="4794384"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o farol do status semanal está quase todo verde</a:t>
            </a:r>
            <a:endParaRPr lang="en-US" sz="1200" dirty="0"/>
          </a:p>
        </p:txBody>
      </p:sp>
      <p:sp>
        <p:nvSpPr>
          <p:cNvPr id="33" name="Shape 28"/>
          <p:cNvSpPr/>
          <p:nvPr/>
        </p:nvSpPr>
        <p:spPr>
          <a:xfrm>
            <a:off x="6184745" y="3500548"/>
            <a:ext cx="5244969" cy="1499654"/>
          </a:xfrm>
          <a:prstGeom prst="roundRect">
            <a:avLst>
              <a:gd name="adj" fmla="val 10162"/>
            </a:avLst>
          </a:prstGeom>
          <a:solidFill>
            <a:srgbClr val="1E1E24"/>
          </a:solidFill>
          <a:ln w="6350">
            <a:solidFill>
              <a:srgbClr val="2F2F39"/>
            </a:solidFill>
            <a:prstDash val="solid"/>
          </a:ln>
        </p:spPr>
      </p:sp>
      <p:sp>
        <p:nvSpPr>
          <p:cNvPr id="34" name="Shape 29"/>
          <p:cNvSpPr/>
          <p:nvPr/>
        </p:nvSpPr>
        <p:spPr>
          <a:xfrm>
            <a:off x="6406990" y="3697394"/>
            <a:ext cx="1408276" cy="247644"/>
          </a:xfrm>
          <a:prstGeom prst="roundRect">
            <a:avLst>
              <a:gd name="adj" fmla="val 50000"/>
            </a:avLst>
          </a:prstGeom>
          <a:solidFill>
            <a:srgbClr val="22C2F4">
              <a:alpha val="14000"/>
            </a:srgbClr>
          </a:solidFill>
          <a:ln/>
        </p:spPr>
      </p:sp>
      <p:sp>
        <p:nvSpPr>
          <p:cNvPr id="35" name="Text 30"/>
          <p:cNvSpPr txBox="1"/>
          <p:nvPr/>
        </p:nvSpPr>
        <p:spPr>
          <a:xfrm>
            <a:off x="6495888" y="3735493"/>
            <a:ext cx="1279699"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O custo de não saber</a:t>
            </a:r>
            <a:endParaRPr lang="en-US" sz="900" dirty="0"/>
          </a:p>
        </p:txBody>
      </p:sp>
      <p:sp>
        <p:nvSpPr>
          <p:cNvPr id="36" name="Shape 31"/>
          <p:cNvSpPr/>
          <p:nvPr/>
        </p:nvSpPr>
        <p:spPr>
          <a:xfrm>
            <a:off x="6406990" y="4116483"/>
            <a:ext cx="76198" cy="76198"/>
          </a:xfrm>
          <a:prstGeom prst="roundRect">
            <a:avLst>
              <a:gd name="adj" fmla="val 25000"/>
            </a:avLst>
          </a:prstGeom>
          <a:solidFill>
            <a:srgbClr val="22C2F4"/>
          </a:solidFill>
          <a:ln/>
        </p:spPr>
      </p:sp>
      <p:sp>
        <p:nvSpPr>
          <p:cNvPr id="37" name="Text 32"/>
          <p:cNvSpPr txBox="1"/>
          <p:nvPr/>
        </p:nvSpPr>
        <p:spPr>
          <a:xfrm>
            <a:off x="6597485" y="4033935"/>
            <a:ext cx="4794384"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o atraso aparece quando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o cliente reclama</a:t>
            </a:r>
            <a:endParaRPr lang="en-US" sz="1200" dirty="0"/>
          </a:p>
        </p:txBody>
      </p:sp>
      <p:sp>
        <p:nvSpPr>
          <p:cNvPr id="38" name="Shape 33"/>
          <p:cNvSpPr/>
          <p:nvPr/>
        </p:nvSpPr>
        <p:spPr>
          <a:xfrm>
            <a:off x="6406990" y="4398356"/>
            <a:ext cx="76198" cy="76198"/>
          </a:xfrm>
          <a:prstGeom prst="roundRect">
            <a:avLst>
              <a:gd name="adj" fmla="val 25000"/>
            </a:avLst>
          </a:prstGeom>
          <a:solidFill>
            <a:srgbClr val="22C2F4"/>
          </a:solidFill>
          <a:ln/>
        </p:spPr>
      </p:sp>
      <p:sp>
        <p:nvSpPr>
          <p:cNvPr id="39" name="Text 34"/>
          <p:cNvSpPr txBox="1"/>
          <p:nvPr/>
        </p:nvSpPr>
        <p:spPr>
          <a:xfrm>
            <a:off x="6597485" y="4315809"/>
            <a:ext cx="4794384"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escopo cresce e ninguém cobra aditivo</a:t>
            </a:r>
            <a:endParaRPr lang="en-US" sz="1200" dirty="0"/>
          </a:p>
        </p:txBody>
      </p:sp>
      <p:sp>
        <p:nvSpPr>
          <p:cNvPr id="40" name="Shape 35"/>
          <p:cNvSpPr/>
          <p:nvPr/>
        </p:nvSpPr>
        <p:spPr>
          <a:xfrm>
            <a:off x="6406990" y="4680230"/>
            <a:ext cx="76198" cy="76198"/>
          </a:xfrm>
          <a:prstGeom prst="roundRect">
            <a:avLst>
              <a:gd name="adj" fmla="val 25000"/>
            </a:avLst>
          </a:prstGeom>
          <a:solidFill>
            <a:srgbClr val="22C2F4"/>
          </a:solidFill>
          <a:ln/>
        </p:spPr>
      </p:sp>
      <p:sp>
        <p:nvSpPr>
          <p:cNvPr id="41" name="Text 36"/>
          <p:cNvSpPr txBox="1"/>
          <p:nvPr/>
        </p:nvSpPr>
        <p:spPr>
          <a:xfrm>
            <a:off x="6597485" y="4597682"/>
            <a:ext cx="4794384"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gente parada num projeto, faltando em outro</a:t>
            </a:r>
            <a:endParaRPr lang="en-US" sz="1200" dirty="0"/>
          </a:p>
        </p:txBody>
      </p:sp>
      <p:sp>
        <p:nvSpPr>
          <p:cNvPr id="42" name="Shape 37"/>
          <p:cNvSpPr/>
          <p:nvPr/>
        </p:nvSpPr>
        <p:spPr>
          <a:xfrm>
            <a:off x="761981" y="5152599"/>
            <a:ext cx="25399" cy="285743"/>
          </a:xfrm>
          <a:prstGeom prst="rect">
            <a:avLst/>
          </a:prstGeom>
          <a:solidFill>
            <a:srgbClr val="22C2F4"/>
          </a:solidFill>
          <a:ln/>
        </p:spPr>
      </p:sp>
      <p:sp>
        <p:nvSpPr>
          <p:cNvPr id="43" name="Text 38"/>
          <p:cNvSpPr txBox="1"/>
          <p:nvPr/>
        </p:nvSpPr>
        <p:spPr>
          <a:xfrm>
            <a:off x="914377" y="5190698"/>
            <a:ext cx="10935951" cy="209545"/>
          </a:xfrm>
          <a:prstGeom prst="rect">
            <a:avLst/>
          </a:prstGeom>
          <a:noFill/>
          <a:ln/>
        </p:spPr>
        <p:txBody>
          <a:bodyPr wrap="square" lIns="0" tIns="0" rIns="0" bIns="0" rtlCol="0" anchor="t"/>
          <a:lstStyle/>
          <a:p>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Empresa fictícia, dado simulado com seed fixa: todo mundo chega exatamente nos mesmos números. "Hoje" no dataset é </a:t>
            </a:r>
            <a:pPr algn="l" indent="0" marL="0">
              <a:lnSpc>
                <a:spcPct val="106838"/>
              </a:lnSpc>
              <a:buNone/>
            </a:pPr>
            <a:r>
              <a:rPr lang="en-US" sz="1100" b="1" dirty="0">
                <a:solidFill>
                  <a:srgbClr val="FFFFFF"/>
                </a:solidFill>
                <a:latin typeface="Poppins" pitchFamily="34" charset="0"/>
                <a:ea typeface="Poppins" pitchFamily="34" charset="-122"/>
                <a:cs typeface="Poppins" pitchFamily="34" charset="-120"/>
              </a:rPr>
              <a:t>16/10/2026</a:t>
            </a:r>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a:t>
            </a:r>
            <a:endParaRPr lang="en-US" sz="1100" dirty="0"/>
          </a:p>
        </p:txBody>
      </p:sp>
      <p:pic>
        <p:nvPicPr>
          <p:cNvPr id="44" name="Image 3" descr="preencoded.png">    </p:cNvPr>
          <p:cNvPicPr>
            <a:picLocks noChangeAspect="1"/>
          </p:cNvPicPr>
          <p:nvPr/>
        </p:nvPicPr>
        <p:blipFill>
          <a:blip r:embed="rId5"/>
          <a:stretch>
            <a:fillRect/>
          </a:stretch>
        </p:blipFill>
        <p:spPr>
          <a:xfrm>
            <a:off x="761981" y="6387940"/>
            <a:ext cx="2059928" cy="190495"/>
          </a:xfrm>
          <a:prstGeom prst="rect">
            <a:avLst/>
          </a:prstGeom>
        </p:spPr>
      </p:pic>
      <p:sp>
        <p:nvSpPr>
          <p:cNvPr id="45" name="Text 39"/>
          <p:cNvSpPr txBox="1"/>
          <p:nvPr/>
        </p:nvSpPr>
        <p:spPr>
          <a:xfrm>
            <a:off x="11029773" y="6387940"/>
            <a:ext cx="415938"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2 / 133</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O PEDIDO DO DONO</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Quatro perguntas, em português</a:t>
            </a:r>
            <a:endParaRPr lang="en-US" sz="3100" dirty="0"/>
          </a:p>
        </p:txBody>
      </p:sp>
      <p:sp>
        <p:nvSpPr>
          <p:cNvPr id="4" name="Shape 2"/>
          <p:cNvSpPr/>
          <p:nvPr/>
        </p:nvSpPr>
        <p:spPr>
          <a:xfrm>
            <a:off x="761981" y="1582301"/>
            <a:ext cx="5257669" cy="1346166"/>
          </a:xfrm>
          <a:prstGeom prst="roundRect">
            <a:avLst>
              <a:gd name="adj" fmla="val 11321"/>
            </a:avLst>
          </a:prstGeom>
          <a:solidFill>
            <a:srgbClr val="0059DB"/>
          </a:solidFill>
          <a:ln/>
        </p:spPr>
      </p:sp>
      <p:sp>
        <p:nvSpPr>
          <p:cNvPr id="5" name="Shape 3"/>
          <p:cNvSpPr/>
          <p:nvPr/>
        </p:nvSpPr>
        <p:spPr>
          <a:xfrm>
            <a:off x="984225" y="1779146"/>
            <a:ext cx="1134141" cy="247644"/>
          </a:xfrm>
          <a:prstGeom prst="roundRect">
            <a:avLst>
              <a:gd name="adj" fmla="val 50000"/>
            </a:avLst>
          </a:prstGeom>
          <a:solidFill>
            <a:srgbClr val="FFFFFF">
              <a:alpha val="16000"/>
            </a:srgbClr>
          </a:solidFill>
          <a:ln/>
        </p:spPr>
      </p:sp>
      <p:sp>
        <p:nvSpPr>
          <p:cNvPr id="6" name="Text 4"/>
          <p:cNvSpPr txBox="1"/>
          <p:nvPr/>
        </p:nvSpPr>
        <p:spPr>
          <a:xfrm>
            <a:off x="1073123" y="1817245"/>
            <a:ext cx="994599"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1 · atraso · noite 1</a:t>
            </a:r>
            <a:endParaRPr lang="en-US" sz="900" dirty="0"/>
          </a:p>
        </p:txBody>
      </p:sp>
      <p:sp>
        <p:nvSpPr>
          <p:cNvPr id="7" name="Text 5"/>
          <p:cNvSpPr txBox="1"/>
          <p:nvPr/>
        </p:nvSpPr>
        <p:spPr>
          <a:xfrm>
            <a:off x="984225" y="2191886"/>
            <a:ext cx="5005707" cy="539737"/>
          </a:xfrm>
          <a:prstGeom prst="rect">
            <a:avLst/>
          </a:prstGeom>
          <a:noFill/>
          <a:ln/>
        </p:spPr>
        <p:txBody>
          <a:bodyPr wrap="square" lIns="0" tIns="0" rIns="0" bIns="0" rtlCol="0" anchor="t"/>
          <a:lstStyle/>
          <a:p>
            <a:pPr algn="l" indent="0" marL="0">
              <a:lnSpc>
                <a:spcPct val="106838"/>
              </a:lnSpc>
              <a:buNone/>
            </a:pPr>
            <a:r>
              <a:rPr lang="en-US" sz="1700" b="1" dirty="0">
                <a:solidFill>
                  <a:srgbClr val="FFFFFF"/>
                </a:solidFill>
                <a:latin typeface="Poppins" pitchFamily="34" charset="0"/>
                <a:ea typeface="Poppins" pitchFamily="34" charset="-122"/>
                <a:cs typeface="Poppins" pitchFamily="34" charset="-120"/>
              </a:rPr>
              <a:t>Quais projetos estão atrasados, e de quais clientes?</a:t>
            </a:r>
            <a:endParaRPr lang="en-US" sz="1700" dirty="0"/>
          </a:p>
        </p:txBody>
      </p:sp>
      <p:sp>
        <p:nvSpPr>
          <p:cNvPr id="8" name="Shape 6"/>
          <p:cNvSpPr/>
          <p:nvPr/>
        </p:nvSpPr>
        <p:spPr>
          <a:xfrm>
            <a:off x="6172046" y="1582301"/>
            <a:ext cx="5257669" cy="1346166"/>
          </a:xfrm>
          <a:prstGeom prst="roundRect">
            <a:avLst>
              <a:gd name="adj" fmla="val 11321"/>
            </a:avLst>
          </a:prstGeom>
          <a:solidFill>
            <a:srgbClr val="0059DB"/>
          </a:solidFill>
          <a:ln/>
        </p:spPr>
      </p:sp>
      <p:sp>
        <p:nvSpPr>
          <p:cNvPr id="9" name="Shape 7"/>
          <p:cNvSpPr/>
          <p:nvPr/>
        </p:nvSpPr>
        <p:spPr>
          <a:xfrm>
            <a:off x="6394290" y="1779146"/>
            <a:ext cx="1259451" cy="247644"/>
          </a:xfrm>
          <a:prstGeom prst="roundRect">
            <a:avLst>
              <a:gd name="adj" fmla="val 50000"/>
            </a:avLst>
          </a:prstGeom>
          <a:solidFill>
            <a:srgbClr val="FFFFFF">
              <a:alpha val="16000"/>
            </a:srgbClr>
          </a:solidFill>
          <a:ln/>
        </p:spPr>
      </p:sp>
      <p:sp>
        <p:nvSpPr>
          <p:cNvPr id="10" name="Text 8"/>
          <p:cNvSpPr txBox="1"/>
          <p:nvPr/>
        </p:nvSpPr>
        <p:spPr>
          <a:xfrm>
            <a:off x="6483188" y="1817245"/>
            <a:ext cx="1124922"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2 · dinheiro · noite 1</a:t>
            </a:r>
            <a:endParaRPr lang="en-US" sz="900" dirty="0"/>
          </a:p>
        </p:txBody>
      </p:sp>
      <p:sp>
        <p:nvSpPr>
          <p:cNvPr id="11" name="Text 9"/>
          <p:cNvSpPr txBox="1"/>
          <p:nvPr/>
        </p:nvSpPr>
        <p:spPr>
          <a:xfrm>
            <a:off x="6394290" y="2191886"/>
            <a:ext cx="5005707" cy="269868"/>
          </a:xfrm>
          <a:prstGeom prst="rect">
            <a:avLst/>
          </a:prstGeom>
          <a:noFill/>
          <a:ln/>
        </p:spPr>
        <p:txBody>
          <a:bodyPr wrap="square" lIns="0" tIns="0" rIns="0" bIns="0" rtlCol="0" anchor="t"/>
          <a:lstStyle/>
          <a:p>
            <a:pPr algn="l" indent="0" marL="0">
              <a:lnSpc>
                <a:spcPct val="106838"/>
              </a:lnSpc>
              <a:buNone/>
            </a:pPr>
            <a:r>
              <a:rPr lang="en-US" sz="1700" b="1" dirty="0">
                <a:solidFill>
                  <a:srgbClr val="FFFFFF"/>
                </a:solidFill>
                <a:latin typeface="Poppins" pitchFamily="34" charset="0"/>
                <a:ea typeface="Poppins" pitchFamily="34" charset="-122"/>
                <a:cs typeface="Poppins" pitchFamily="34" charset="-120"/>
              </a:rPr>
              <a:t>Quanto esse atraso vai me custar?</a:t>
            </a:r>
            <a:endParaRPr lang="en-US" sz="1700" dirty="0"/>
          </a:p>
        </p:txBody>
      </p:sp>
      <p:sp>
        <p:nvSpPr>
          <p:cNvPr id="12" name="Shape 10"/>
          <p:cNvSpPr/>
          <p:nvPr/>
        </p:nvSpPr>
        <p:spPr>
          <a:xfrm>
            <a:off x="761981" y="3080864"/>
            <a:ext cx="5257669" cy="1346166"/>
          </a:xfrm>
          <a:prstGeom prst="roundRect">
            <a:avLst>
              <a:gd name="adj" fmla="val 11321"/>
            </a:avLst>
          </a:prstGeom>
          <a:solidFill>
            <a:srgbClr val="1E1E24"/>
          </a:solidFill>
          <a:ln w="6350">
            <a:solidFill>
              <a:srgbClr val="2F2F39"/>
            </a:solidFill>
            <a:prstDash val="solid"/>
          </a:ln>
        </p:spPr>
      </p:sp>
      <p:sp>
        <p:nvSpPr>
          <p:cNvPr id="13" name="Shape 11"/>
          <p:cNvSpPr/>
          <p:nvPr/>
        </p:nvSpPr>
        <p:spPr>
          <a:xfrm>
            <a:off x="984225" y="3277709"/>
            <a:ext cx="1143170" cy="247644"/>
          </a:xfrm>
          <a:prstGeom prst="roundRect">
            <a:avLst>
              <a:gd name="adj" fmla="val 50000"/>
            </a:avLst>
          </a:prstGeom>
          <a:solidFill>
            <a:srgbClr val="22C2F4">
              <a:alpha val="14000"/>
            </a:srgbClr>
          </a:solidFill>
          <a:ln/>
        </p:spPr>
      </p:sp>
      <p:sp>
        <p:nvSpPr>
          <p:cNvPr id="14" name="Text 12"/>
          <p:cNvSpPr txBox="1"/>
          <p:nvPr/>
        </p:nvSpPr>
        <p:spPr>
          <a:xfrm>
            <a:off x="1073123" y="3315808"/>
            <a:ext cx="1003989"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3 · gente · noite 2</a:t>
            </a:r>
            <a:endParaRPr lang="en-US" sz="900" dirty="0"/>
          </a:p>
        </p:txBody>
      </p:sp>
      <p:sp>
        <p:nvSpPr>
          <p:cNvPr id="15" name="Text 13"/>
          <p:cNvSpPr txBox="1"/>
          <p:nvPr/>
        </p:nvSpPr>
        <p:spPr>
          <a:xfrm>
            <a:off x="984225" y="3690448"/>
            <a:ext cx="5005707" cy="539737"/>
          </a:xfrm>
          <a:prstGeom prst="rect">
            <a:avLst/>
          </a:prstGeom>
          <a:noFill/>
          <a:ln/>
        </p:spPr>
        <p:txBody>
          <a:bodyPr wrap="square" lIns="0" tIns="0" rIns="0" bIns="0" rtlCol="0" anchor="t"/>
          <a:lstStyle/>
          <a:p>
            <a:pPr algn="l" indent="0" marL="0">
              <a:lnSpc>
                <a:spcPct val="106838"/>
              </a:lnSpc>
              <a:buNone/>
            </a:pPr>
            <a:r>
              <a:rPr lang="en-US" sz="1700" b="1" dirty="0">
                <a:solidFill>
                  <a:srgbClr val="FFFFFF"/>
                </a:solidFill>
                <a:latin typeface="Poppins" pitchFamily="34" charset="0"/>
                <a:ea typeface="Poppins" pitchFamily="34" charset="-122"/>
                <a:cs typeface="Poppins" pitchFamily="34" charset="-120"/>
              </a:rPr>
              <a:t>Tenho gente parada enquanto outro projeto pede gente?</a:t>
            </a:r>
            <a:endParaRPr lang="en-US" sz="1700" dirty="0"/>
          </a:p>
        </p:txBody>
      </p:sp>
      <p:sp>
        <p:nvSpPr>
          <p:cNvPr id="16" name="Shape 14"/>
          <p:cNvSpPr/>
          <p:nvPr/>
        </p:nvSpPr>
        <p:spPr>
          <a:xfrm>
            <a:off x="6172046" y="3080864"/>
            <a:ext cx="5257669" cy="1346166"/>
          </a:xfrm>
          <a:prstGeom prst="roundRect">
            <a:avLst>
              <a:gd name="adj" fmla="val 11321"/>
            </a:avLst>
          </a:prstGeom>
          <a:solidFill>
            <a:srgbClr val="1E1E24"/>
          </a:solidFill>
          <a:ln w="6350">
            <a:solidFill>
              <a:srgbClr val="2F2F39"/>
            </a:solidFill>
            <a:prstDash val="solid"/>
          </a:ln>
        </p:spPr>
      </p:sp>
      <p:sp>
        <p:nvSpPr>
          <p:cNvPr id="17" name="Shape 15"/>
          <p:cNvSpPr/>
          <p:nvPr/>
        </p:nvSpPr>
        <p:spPr>
          <a:xfrm>
            <a:off x="6394290" y="3277709"/>
            <a:ext cx="1168668" cy="247644"/>
          </a:xfrm>
          <a:prstGeom prst="roundRect">
            <a:avLst>
              <a:gd name="adj" fmla="val 50000"/>
            </a:avLst>
          </a:prstGeom>
          <a:solidFill>
            <a:srgbClr val="22C2F4">
              <a:alpha val="14000"/>
            </a:srgbClr>
          </a:solidFill>
          <a:ln/>
        </p:spPr>
      </p:sp>
      <p:sp>
        <p:nvSpPr>
          <p:cNvPr id="18" name="Text 16"/>
          <p:cNvSpPr txBox="1"/>
          <p:nvPr/>
        </p:nvSpPr>
        <p:spPr>
          <a:xfrm>
            <a:off x="6483188" y="3315808"/>
            <a:ext cx="1030508"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4 · futuro · noite 3</a:t>
            </a:r>
            <a:endParaRPr lang="en-US" sz="900" dirty="0"/>
          </a:p>
        </p:txBody>
      </p:sp>
      <p:sp>
        <p:nvSpPr>
          <p:cNvPr id="19" name="Text 17"/>
          <p:cNvSpPr txBox="1"/>
          <p:nvPr/>
        </p:nvSpPr>
        <p:spPr>
          <a:xfrm>
            <a:off x="6394290" y="3690448"/>
            <a:ext cx="5005707" cy="269868"/>
          </a:xfrm>
          <a:prstGeom prst="rect">
            <a:avLst/>
          </a:prstGeom>
          <a:noFill/>
          <a:ln/>
        </p:spPr>
        <p:txBody>
          <a:bodyPr wrap="square" lIns="0" tIns="0" rIns="0" bIns="0" rtlCol="0" anchor="t"/>
          <a:lstStyle/>
          <a:p>
            <a:pPr algn="l" indent="0" marL="0">
              <a:lnSpc>
                <a:spcPct val="106838"/>
              </a:lnSpc>
              <a:buNone/>
            </a:pPr>
            <a:r>
              <a:rPr lang="en-US" sz="1700" b="1" dirty="0">
                <a:solidFill>
                  <a:srgbClr val="FFFFFF"/>
                </a:solidFill>
                <a:latin typeface="Poppins" pitchFamily="34" charset="0"/>
                <a:ea typeface="Poppins" pitchFamily="34" charset="-122"/>
                <a:cs typeface="Poppins" pitchFamily="34" charset="-120"/>
              </a:rPr>
              <a:t>O que vai dar errado no próximo mês?</a:t>
            </a:r>
            <a:endParaRPr lang="en-US" sz="1700" dirty="0"/>
          </a:p>
        </p:txBody>
      </p:sp>
      <p:sp>
        <p:nvSpPr>
          <p:cNvPr id="20" name="Shape 18"/>
          <p:cNvSpPr/>
          <p:nvPr/>
        </p:nvSpPr>
        <p:spPr>
          <a:xfrm>
            <a:off x="761981" y="4592126"/>
            <a:ext cx="25399" cy="285743"/>
          </a:xfrm>
          <a:prstGeom prst="rect">
            <a:avLst/>
          </a:prstGeom>
          <a:solidFill>
            <a:srgbClr val="22C2F4"/>
          </a:solidFill>
          <a:ln/>
        </p:spPr>
      </p:sp>
      <p:sp>
        <p:nvSpPr>
          <p:cNvPr id="21" name="Text 19"/>
          <p:cNvSpPr txBox="1"/>
          <p:nvPr/>
        </p:nvSpPr>
        <p:spPr>
          <a:xfrm>
            <a:off x="914377" y="4630225"/>
            <a:ext cx="10935951" cy="209545"/>
          </a:xfrm>
          <a:prstGeom prst="rect">
            <a:avLst/>
          </a:prstGeom>
          <a:noFill/>
          <a:ln/>
        </p:spPr>
        <p:txBody>
          <a:bodyPr wrap="square" lIns="0" tIns="0" rIns="0" bIns="0" rtlCol="0" anchor="t"/>
          <a:lstStyle/>
          <a:p>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A noite 4 junta tudo numa tela que o dono usa, com o contrato do fornecedor na conversa.</a:t>
            </a:r>
            <a:endParaRPr lang="en-US" sz="1100" dirty="0"/>
          </a:p>
        </p:txBody>
      </p:sp>
      <p:pic>
        <p:nvPicPr>
          <p:cNvPr id="22"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23" name="Text 20"/>
          <p:cNvSpPr txBox="1"/>
          <p:nvPr/>
        </p:nvSpPr>
        <p:spPr>
          <a:xfrm>
            <a:off x="11027591" y="6387940"/>
            <a:ext cx="418208"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3 / 133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PRIMEIRA SEMANA</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E todo mundo já quer resposta</a:t>
            </a:r>
            <a:endParaRPr lang="en-US" sz="3100" dirty="0"/>
          </a:p>
        </p:txBody>
      </p:sp>
      <p:sp>
        <p:nvSpPr>
          <p:cNvPr id="4" name="Shape 2"/>
          <p:cNvSpPr/>
          <p:nvPr/>
        </p:nvSpPr>
        <p:spPr>
          <a:xfrm>
            <a:off x="761981" y="1620400"/>
            <a:ext cx="10667733" cy="666733"/>
          </a:xfrm>
          <a:prstGeom prst="roundRect">
            <a:avLst>
              <a:gd name="adj" fmla="val 17143"/>
            </a:avLst>
          </a:prstGeom>
          <a:solidFill>
            <a:srgbClr val="1E1E24"/>
          </a:solidFill>
          <a:ln w="6350">
            <a:solidFill>
              <a:srgbClr val="2F2F39"/>
            </a:solidFill>
            <a:prstDash val="solid"/>
          </a:ln>
        </p:spPr>
      </p:sp>
      <p:sp>
        <p:nvSpPr>
          <p:cNvPr id="5" name="Text 3"/>
          <p:cNvSpPr txBox="1"/>
          <p:nvPr/>
        </p:nvSpPr>
        <p:spPr>
          <a:xfrm>
            <a:off x="996925" y="1858519"/>
            <a:ext cx="2377381" cy="190495"/>
          </a:xfrm>
          <a:prstGeom prst="rect">
            <a:avLst/>
          </a:prstGeom>
          <a:noFill/>
          <a:ln/>
        </p:spPr>
        <p:txBody>
          <a:bodyPr wrap="square" lIns="0" tIns="0" rIns="0" bIns="0" rtlCol="0" anchor="t"/>
          <a:lstStyle/>
          <a:p>
            <a:pPr algn="l" indent="0" marL="0">
              <a:lnSpc>
                <a:spcPct val="106838"/>
              </a:lnSpc>
              <a:buNone/>
            </a:pPr>
            <a:r>
              <a:rPr lang="en-US" sz="1000" b="1" spc="120" kern="0" dirty="0">
                <a:solidFill>
                  <a:srgbClr val="A3A6B4"/>
                </a:solidFill>
                <a:latin typeface="Poppins" pitchFamily="34" charset="0"/>
                <a:ea typeface="Poppins" pitchFamily="34" charset="-122"/>
                <a:cs typeface="Poppins" pitchFamily="34" charset="-120"/>
              </a:rPr>
              <a:t>DONO</a:t>
            </a:r>
            <a:endParaRPr lang="en-US" sz="1000" dirty="0"/>
          </a:p>
        </p:txBody>
      </p:sp>
      <p:sp>
        <p:nvSpPr>
          <p:cNvPr id="6" name="Text 4"/>
          <p:cNvSpPr txBox="1"/>
          <p:nvPr/>
        </p:nvSpPr>
        <p:spPr>
          <a:xfrm>
            <a:off x="3282868" y="1791846"/>
            <a:ext cx="8228378" cy="323842"/>
          </a:xfrm>
          <a:prstGeom prst="rect">
            <a:avLst/>
          </a:prstGeom>
          <a:noFill/>
          <a:ln/>
        </p:spPr>
        <p:txBody>
          <a:bodyPr wrap="square" lIns="0" tIns="0" rIns="0" bIns="0" rtlCol="0" anchor="t"/>
          <a:lstStyle/>
          <a:p>
            <a:pPr algn="l" indent="0" marL="0">
              <a:lnSpc>
                <a:spcPct val="106838"/>
              </a:lnSpc>
              <a:buNone/>
            </a:pPr>
            <a:r>
              <a:rPr lang="en-US" sz="1700" dirty="0">
                <a:solidFill>
                  <a:srgbClr val="E6E8F2"/>
                </a:solidFill>
                <a:latin typeface="Poppins" pitchFamily="34" charset="0"/>
                <a:ea typeface="Poppins" pitchFamily="34" charset="-122"/>
                <a:cs typeface="Poppins" pitchFamily="34" charset="-120"/>
              </a:rPr>
              <a:t>"Quais projetos estão atrasados?"</a:t>
            </a:r>
            <a:endParaRPr lang="en-US" sz="1700" dirty="0"/>
          </a:p>
        </p:txBody>
      </p:sp>
      <p:sp>
        <p:nvSpPr>
          <p:cNvPr id="7" name="Shape 5"/>
          <p:cNvSpPr/>
          <p:nvPr/>
        </p:nvSpPr>
        <p:spPr>
          <a:xfrm>
            <a:off x="761981" y="2401431"/>
            <a:ext cx="10667733" cy="666733"/>
          </a:xfrm>
          <a:prstGeom prst="roundRect">
            <a:avLst>
              <a:gd name="adj" fmla="val 17143"/>
            </a:avLst>
          </a:prstGeom>
          <a:solidFill>
            <a:srgbClr val="1E1E24"/>
          </a:solidFill>
          <a:ln w="6350">
            <a:solidFill>
              <a:srgbClr val="2F2F39"/>
            </a:solidFill>
            <a:prstDash val="solid"/>
          </a:ln>
        </p:spPr>
      </p:sp>
      <p:sp>
        <p:nvSpPr>
          <p:cNvPr id="8" name="Text 6"/>
          <p:cNvSpPr txBox="1"/>
          <p:nvPr/>
        </p:nvSpPr>
        <p:spPr>
          <a:xfrm>
            <a:off x="996925" y="2639550"/>
            <a:ext cx="2377381" cy="190495"/>
          </a:xfrm>
          <a:prstGeom prst="rect">
            <a:avLst/>
          </a:prstGeom>
          <a:noFill/>
          <a:ln/>
        </p:spPr>
        <p:txBody>
          <a:bodyPr wrap="square" lIns="0" tIns="0" rIns="0" bIns="0" rtlCol="0" anchor="t"/>
          <a:lstStyle/>
          <a:p>
            <a:pPr algn="l" indent="0" marL="0">
              <a:lnSpc>
                <a:spcPct val="106838"/>
              </a:lnSpc>
              <a:buNone/>
            </a:pPr>
            <a:r>
              <a:rPr lang="en-US" sz="1000" b="1" spc="120" kern="0" dirty="0">
                <a:solidFill>
                  <a:srgbClr val="A3A6B4"/>
                </a:solidFill>
                <a:latin typeface="Poppins" pitchFamily="34" charset="0"/>
                <a:ea typeface="Poppins" pitchFamily="34" charset="-122"/>
                <a:cs typeface="Poppins" pitchFamily="34" charset="-120"/>
              </a:rPr>
              <a:t>DIRETORIA FINANCEIRA</a:t>
            </a:r>
            <a:endParaRPr lang="en-US" sz="1000" dirty="0"/>
          </a:p>
        </p:txBody>
      </p:sp>
      <p:sp>
        <p:nvSpPr>
          <p:cNvPr id="9" name="Text 7"/>
          <p:cNvSpPr txBox="1"/>
          <p:nvPr/>
        </p:nvSpPr>
        <p:spPr>
          <a:xfrm>
            <a:off x="3282868" y="2572876"/>
            <a:ext cx="8228378" cy="323842"/>
          </a:xfrm>
          <a:prstGeom prst="rect">
            <a:avLst/>
          </a:prstGeom>
          <a:noFill/>
          <a:ln/>
        </p:spPr>
        <p:txBody>
          <a:bodyPr wrap="square" lIns="0" tIns="0" rIns="0" bIns="0" rtlCol="0" anchor="t"/>
          <a:lstStyle/>
          <a:p>
            <a:pPr algn="l" indent="0" marL="0">
              <a:lnSpc>
                <a:spcPct val="106838"/>
              </a:lnSpc>
              <a:buNone/>
            </a:pPr>
            <a:r>
              <a:rPr lang="en-US" sz="1700" dirty="0">
                <a:solidFill>
                  <a:srgbClr val="E6E8F2"/>
                </a:solidFill>
                <a:latin typeface="Poppins" pitchFamily="34" charset="0"/>
                <a:ea typeface="Poppins" pitchFamily="34" charset="-122"/>
                <a:cs typeface="Poppins" pitchFamily="34" charset="-120"/>
              </a:rPr>
              <a:t>"Quanto esse atraso vai nos custar?"</a:t>
            </a:r>
            <a:endParaRPr lang="en-US" sz="1700" dirty="0"/>
          </a:p>
        </p:txBody>
      </p:sp>
      <p:sp>
        <p:nvSpPr>
          <p:cNvPr id="10" name="Shape 8"/>
          <p:cNvSpPr/>
          <p:nvPr/>
        </p:nvSpPr>
        <p:spPr>
          <a:xfrm>
            <a:off x="761981" y="3182461"/>
            <a:ext cx="10667733" cy="666733"/>
          </a:xfrm>
          <a:prstGeom prst="roundRect">
            <a:avLst>
              <a:gd name="adj" fmla="val 17143"/>
            </a:avLst>
          </a:prstGeom>
          <a:solidFill>
            <a:srgbClr val="1E1E24"/>
          </a:solidFill>
          <a:ln w="6350">
            <a:solidFill>
              <a:srgbClr val="2F2F39"/>
            </a:solidFill>
            <a:prstDash val="solid"/>
          </a:ln>
        </p:spPr>
      </p:sp>
      <p:sp>
        <p:nvSpPr>
          <p:cNvPr id="11" name="Text 9"/>
          <p:cNvSpPr txBox="1"/>
          <p:nvPr/>
        </p:nvSpPr>
        <p:spPr>
          <a:xfrm>
            <a:off x="996925" y="3420580"/>
            <a:ext cx="2377381" cy="190495"/>
          </a:xfrm>
          <a:prstGeom prst="rect">
            <a:avLst/>
          </a:prstGeom>
          <a:noFill/>
          <a:ln/>
        </p:spPr>
        <p:txBody>
          <a:bodyPr wrap="square" lIns="0" tIns="0" rIns="0" bIns="0" rtlCol="0" anchor="t"/>
          <a:lstStyle/>
          <a:p>
            <a:pPr algn="l" indent="0" marL="0">
              <a:lnSpc>
                <a:spcPct val="106838"/>
              </a:lnSpc>
              <a:buNone/>
            </a:pPr>
            <a:r>
              <a:rPr lang="en-US" sz="1000" b="1" spc="120" kern="0" dirty="0">
                <a:solidFill>
                  <a:srgbClr val="A3A6B4"/>
                </a:solidFill>
                <a:latin typeface="Poppins" pitchFamily="34" charset="0"/>
                <a:ea typeface="Poppins" pitchFamily="34" charset="-122"/>
                <a:cs typeface="Poppins" pitchFamily="34" charset="-120"/>
              </a:rPr>
              <a:t>RH E ALOCAÇÃO</a:t>
            </a:r>
            <a:endParaRPr lang="en-US" sz="1000" dirty="0"/>
          </a:p>
        </p:txBody>
      </p:sp>
      <p:sp>
        <p:nvSpPr>
          <p:cNvPr id="12" name="Text 10"/>
          <p:cNvSpPr txBox="1"/>
          <p:nvPr/>
        </p:nvSpPr>
        <p:spPr>
          <a:xfrm>
            <a:off x="3282868" y="3353907"/>
            <a:ext cx="8228378" cy="323842"/>
          </a:xfrm>
          <a:prstGeom prst="rect">
            <a:avLst/>
          </a:prstGeom>
          <a:noFill/>
          <a:ln/>
        </p:spPr>
        <p:txBody>
          <a:bodyPr wrap="square" lIns="0" tIns="0" rIns="0" bIns="0" rtlCol="0" anchor="t"/>
          <a:lstStyle/>
          <a:p>
            <a:pPr algn="l" indent="0" marL="0">
              <a:lnSpc>
                <a:spcPct val="106838"/>
              </a:lnSpc>
              <a:buNone/>
            </a:pPr>
            <a:r>
              <a:rPr lang="en-US" sz="1700" dirty="0">
                <a:solidFill>
                  <a:srgbClr val="E6E8F2"/>
                </a:solidFill>
                <a:latin typeface="Poppins" pitchFamily="34" charset="0"/>
                <a:ea typeface="Poppins" pitchFamily="34" charset="-122"/>
                <a:cs typeface="Poppins" pitchFamily="34" charset="-120"/>
              </a:rPr>
              <a:t>"Tem gente parada enquanto outro projeto pede gente?"</a:t>
            </a:r>
            <a:endParaRPr lang="en-US" sz="1700" dirty="0"/>
          </a:p>
        </p:txBody>
      </p:sp>
      <p:sp>
        <p:nvSpPr>
          <p:cNvPr id="13" name="Shape 11"/>
          <p:cNvSpPr/>
          <p:nvPr/>
        </p:nvSpPr>
        <p:spPr>
          <a:xfrm>
            <a:off x="761981" y="3963492"/>
            <a:ext cx="10667733" cy="666733"/>
          </a:xfrm>
          <a:prstGeom prst="roundRect">
            <a:avLst>
              <a:gd name="adj" fmla="val 17143"/>
            </a:avLst>
          </a:prstGeom>
          <a:solidFill>
            <a:srgbClr val="1E1E24"/>
          </a:solidFill>
          <a:ln w="6350">
            <a:solidFill>
              <a:srgbClr val="2F2F39"/>
            </a:solidFill>
            <a:prstDash val="solid"/>
          </a:ln>
        </p:spPr>
      </p:sp>
      <p:sp>
        <p:nvSpPr>
          <p:cNvPr id="14" name="Text 12"/>
          <p:cNvSpPr txBox="1"/>
          <p:nvPr/>
        </p:nvSpPr>
        <p:spPr>
          <a:xfrm>
            <a:off x="996925" y="4201611"/>
            <a:ext cx="2377381" cy="190495"/>
          </a:xfrm>
          <a:prstGeom prst="rect">
            <a:avLst/>
          </a:prstGeom>
          <a:noFill/>
          <a:ln/>
        </p:spPr>
        <p:txBody>
          <a:bodyPr wrap="square" lIns="0" tIns="0" rIns="0" bIns="0" rtlCol="0" anchor="t"/>
          <a:lstStyle/>
          <a:p>
            <a:pPr algn="l" indent="0" marL="0">
              <a:lnSpc>
                <a:spcPct val="106838"/>
              </a:lnSpc>
              <a:buNone/>
            </a:pPr>
            <a:r>
              <a:rPr lang="en-US" sz="1000" b="1" spc="120" kern="0" dirty="0">
                <a:solidFill>
                  <a:srgbClr val="A3A6B4"/>
                </a:solidFill>
                <a:latin typeface="Poppins" pitchFamily="34" charset="0"/>
                <a:ea typeface="Poppins" pitchFamily="34" charset="-122"/>
                <a:cs typeface="Poppins" pitchFamily="34" charset="-120"/>
              </a:rPr>
              <a:t>COMERCIAL</a:t>
            </a:r>
            <a:endParaRPr lang="en-US" sz="1000" dirty="0"/>
          </a:p>
        </p:txBody>
      </p:sp>
      <p:sp>
        <p:nvSpPr>
          <p:cNvPr id="15" name="Text 13"/>
          <p:cNvSpPr txBox="1"/>
          <p:nvPr/>
        </p:nvSpPr>
        <p:spPr>
          <a:xfrm>
            <a:off x="3282868" y="4134937"/>
            <a:ext cx="8228378" cy="323842"/>
          </a:xfrm>
          <a:prstGeom prst="rect">
            <a:avLst/>
          </a:prstGeom>
          <a:noFill/>
          <a:ln/>
        </p:spPr>
        <p:txBody>
          <a:bodyPr wrap="square" lIns="0" tIns="0" rIns="0" bIns="0" rtlCol="0" anchor="t"/>
          <a:lstStyle/>
          <a:p>
            <a:pPr algn="l" indent="0" marL="0">
              <a:lnSpc>
                <a:spcPct val="106838"/>
              </a:lnSpc>
              <a:buNone/>
            </a:pPr>
            <a:r>
              <a:rPr lang="en-US" sz="1700" dirty="0">
                <a:solidFill>
                  <a:srgbClr val="E6E8F2"/>
                </a:solidFill>
                <a:latin typeface="Poppins" pitchFamily="34" charset="0"/>
                <a:ea typeface="Poppins" pitchFamily="34" charset="-122"/>
                <a:cs typeface="Poppins" pitchFamily="34" charset="-120"/>
              </a:rPr>
              <a:t>"Para qual cliente eu ligo antes que ele me ligue?"</a:t>
            </a:r>
            <a:endParaRPr lang="en-US" sz="1700" dirty="0"/>
          </a:p>
        </p:txBody>
      </p:sp>
      <p:sp>
        <p:nvSpPr>
          <p:cNvPr id="16" name="Shape 14"/>
          <p:cNvSpPr/>
          <p:nvPr/>
        </p:nvSpPr>
        <p:spPr>
          <a:xfrm>
            <a:off x="761981" y="4744522"/>
            <a:ext cx="10667733" cy="666733"/>
          </a:xfrm>
          <a:prstGeom prst="roundRect">
            <a:avLst>
              <a:gd name="adj" fmla="val 17143"/>
            </a:avLst>
          </a:prstGeom>
          <a:solidFill>
            <a:srgbClr val="1E1E24"/>
          </a:solidFill>
          <a:ln w="6350">
            <a:solidFill>
              <a:srgbClr val="2F2F39"/>
            </a:solidFill>
            <a:prstDash val="solid"/>
          </a:ln>
        </p:spPr>
      </p:sp>
      <p:sp>
        <p:nvSpPr>
          <p:cNvPr id="17" name="Text 15"/>
          <p:cNvSpPr txBox="1"/>
          <p:nvPr/>
        </p:nvSpPr>
        <p:spPr>
          <a:xfrm>
            <a:off x="996925" y="4982641"/>
            <a:ext cx="2377381" cy="190495"/>
          </a:xfrm>
          <a:prstGeom prst="rect">
            <a:avLst/>
          </a:prstGeom>
          <a:noFill/>
          <a:ln/>
        </p:spPr>
        <p:txBody>
          <a:bodyPr wrap="square" lIns="0" tIns="0" rIns="0" bIns="0" rtlCol="0" anchor="t"/>
          <a:lstStyle/>
          <a:p>
            <a:pPr algn="l" indent="0" marL="0">
              <a:lnSpc>
                <a:spcPct val="106838"/>
              </a:lnSpc>
              <a:buNone/>
            </a:pPr>
            <a:r>
              <a:rPr lang="en-US" sz="1000" b="1" spc="120" kern="0" dirty="0">
                <a:solidFill>
                  <a:srgbClr val="A3A6B4"/>
                </a:solidFill>
                <a:latin typeface="Poppins" pitchFamily="34" charset="0"/>
                <a:ea typeface="Poppins" pitchFamily="34" charset="-122"/>
                <a:cs typeface="Poppins" pitchFamily="34" charset="-120"/>
              </a:rPr>
              <a:t>JURÍDICO</a:t>
            </a:r>
            <a:endParaRPr lang="en-US" sz="1000" dirty="0"/>
          </a:p>
        </p:txBody>
      </p:sp>
      <p:sp>
        <p:nvSpPr>
          <p:cNvPr id="18" name="Text 16"/>
          <p:cNvSpPr txBox="1"/>
          <p:nvPr/>
        </p:nvSpPr>
        <p:spPr>
          <a:xfrm>
            <a:off x="3282868" y="4915968"/>
            <a:ext cx="8228378" cy="323842"/>
          </a:xfrm>
          <a:prstGeom prst="rect">
            <a:avLst/>
          </a:prstGeom>
          <a:noFill/>
          <a:ln/>
        </p:spPr>
        <p:txBody>
          <a:bodyPr wrap="square" lIns="0" tIns="0" rIns="0" bIns="0" rtlCol="0" anchor="t"/>
          <a:lstStyle/>
          <a:p>
            <a:pPr algn="l" indent="0" marL="0">
              <a:lnSpc>
                <a:spcPct val="106838"/>
              </a:lnSpc>
              <a:buNone/>
            </a:pPr>
            <a:r>
              <a:rPr lang="en-US" sz="1700" dirty="0">
                <a:solidFill>
                  <a:srgbClr val="E6E8F2"/>
                </a:solidFill>
                <a:latin typeface="Poppins" pitchFamily="34" charset="0"/>
                <a:ea typeface="Poppins" pitchFamily="34" charset="-122"/>
                <a:cs typeface="Poppins" pitchFamily="34" charset="-120"/>
              </a:rPr>
              <a:t>"Essa multa do fornecedor a gente consegue cobrar?"</a:t>
            </a:r>
            <a:endParaRPr lang="en-US" sz="1700" dirty="0"/>
          </a:p>
        </p:txBody>
      </p:sp>
      <p:sp>
        <p:nvSpPr>
          <p:cNvPr id="19" name="Shape 17"/>
          <p:cNvSpPr/>
          <p:nvPr/>
        </p:nvSpPr>
        <p:spPr>
          <a:xfrm>
            <a:off x="761981" y="5525552"/>
            <a:ext cx="10667733" cy="679433"/>
          </a:xfrm>
          <a:prstGeom prst="roundRect">
            <a:avLst>
              <a:gd name="adj" fmla="val 16822"/>
            </a:avLst>
          </a:prstGeom>
          <a:solidFill>
            <a:srgbClr val="0F1E3D"/>
          </a:solidFill>
          <a:ln w="12700">
            <a:solidFill>
              <a:srgbClr val="467CF6"/>
            </a:solidFill>
            <a:prstDash val="solid"/>
          </a:ln>
        </p:spPr>
      </p:sp>
      <p:sp>
        <p:nvSpPr>
          <p:cNvPr id="20" name="Text 18"/>
          <p:cNvSpPr txBox="1"/>
          <p:nvPr/>
        </p:nvSpPr>
        <p:spPr>
          <a:xfrm>
            <a:off x="1003275" y="5770021"/>
            <a:ext cx="2377381" cy="190495"/>
          </a:xfrm>
          <a:prstGeom prst="rect">
            <a:avLst/>
          </a:prstGeom>
          <a:noFill/>
          <a:ln/>
        </p:spPr>
        <p:txBody>
          <a:bodyPr wrap="square" lIns="0" tIns="0" rIns="0" bIns="0" rtlCol="0" anchor="t"/>
          <a:lstStyle/>
          <a:p>
            <a:pPr algn="l" indent="0" marL="0">
              <a:lnSpc>
                <a:spcPct val="106838"/>
              </a:lnSpc>
              <a:buNone/>
            </a:pPr>
            <a:r>
              <a:rPr lang="en-US" sz="1000" b="1" spc="120" kern="0" dirty="0">
                <a:solidFill>
                  <a:srgbClr val="22C2F4"/>
                </a:solidFill>
                <a:latin typeface="Poppins" pitchFamily="34" charset="0"/>
                <a:ea typeface="Poppins" pitchFamily="34" charset="-122"/>
                <a:cs typeface="Poppins" pitchFamily="34" charset="-120"/>
              </a:rPr>
              <a:t>TODOS</a:t>
            </a:r>
            <a:endParaRPr lang="en-US" sz="1000" dirty="0"/>
          </a:p>
        </p:txBody>
      </p:sp>
      <p:sp>
        <p:nvSpPr>
          <p:cNvPr id="21" name="Text 19"/>
          <p:cNvSpPr txBox="1"/>
          <p:nvPr/>
        </p:nvSpPr>
        <p:spPr>
          <a:xfrm>
            <a:off x="3289218" y="5703348"/>
            <a:ext cx="8215171" cy="323842"/>
          </a:xfrm>
          <a:prstGeom prst="rect">
            <a:avLst/>
          </a:prstGeom>
          <a:noFill/>
          <a:ln/>
        </p:spPr>
        <p:txBody>
          <a:bodyPr wrap="square" lIns="0" tIns="0" rIns="0" bIns="0" rtlCol="0" anchor="t"/>
          <a:lstStyle/>
          <a:p>
            <a:pPr algn="l" indent="0" marL="0">
              <a:lnSpc>
                <a:spcPct val="106838"/>
              </a:lnSpc>
              <a:buNone/>
            </a:pPr>
            <a:r>
              <a:rPr lang="en-US" sz="1700" b="1" dirty="0">
                <a:solidFill>
                  <a:srgbClr val="FFFFFF"/>
                </a:solidFill>
                <a:latin typeface="Poppins" pitchFamily="34" charset="0"/>
                <a:ea typeface="Poppins" pitchFamily="34" charset="-122"/>
                <a:cs typeface="Poppins" pitchFamily="34" charset="-120"/>
              </a:rPr>
              <a:t>"Preciso disso para ontem."</a:t>
            </a:r>
            <a:endParaRPr lang="en-US" sz="1700" dirty="0"/>
          </a:p>
        </p:txBody>
      </p:sp>
      <p:pic>
        <p:nvPicPr>
          <p:cNvPr id="22"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23" name="Text 20"/>
          <p:cNvSpPr txBox="1"/>
          <p:nvPr/>
        </p:nvSpPr>
        <p:spPr>
          <a:xfrm>
            <a:off x="11020844" y="6387940"/>
            <a:ext cx="425225"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4 / 133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OBJETIVO</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Dois clientes, dois objetivos</a:t>
            </a:r>
            <a:endParaRPr lang="en-US" sz="3100" dirty="0"/>
          </a:p>
        </p:txBody>
      </p:sp>
      <p:sp>
        <p:nvSpPr>
          <p:cNvPr id="4" name="Shape 2"/>
          <p:cNvSpPr/>
          <p:nvPr/>
        </p:nvSpPr>
        <p:spPr>
          <a:xfrm>
            <a:off x="761981" y="1582301"/>
            <a:ext cx="5238619" cy="2458480"/>
          </a:xfrm>
          <a:prstGeom prst="roundRect">
            <a:avLst>
              <a:gd name="adj" fmla="val 6199"/>
            </a:avLst>
          </a:prstGeom>
          <a:solidFill>
            <a:srgbClr val="0059DB"/>
          </a:solidFill>
          <a:ln/>
        </p:spPr>
      </p:sp>
      <p:sp>
        <p:nvSpPr>
          <p:cNvPr id="5" name="Shape 3"/>
          <p:cNvSpPr/>
          <p:nvPr/>
        </p:nvSpPr>
        <p:spPr>
          <a:xfrm>
            <a:off x="984225" y="1779146"/>
            <a:ext cx="2416115" cy="247644"/>
          </a:xfrm>
          <a:prstGeom prst="roundRect">
            <a:avLst>
              <a:gd name="adj" fmla="val 50000"/>
            </a:avLst>
          </a:prstGeom>
          <a:solidFill>
            <a:srgbClr val="FFFFFF">
              <a:alpha val="16000"/>
            </a:srgbClr>
          </a:solidFill>
          <a:ln/>
        </p:spPr>
      </p:sp>
      <p:sp>
        <p:nvSpPr>
          <p:cNvPr id="6" name="Text 4"/>
          <p:cNvSpPr txBox="1"/>
          <p:nvPr/>
        </p:nvSpPr>
        <p:spPr>
          <a:xfrm>
            <a:off x="1073123" y="1817245"/>
            <a:ext cx="2327852"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O cliente do projeto · o dono da Vértice</a:t>
            </a:r>
            <a:endParaRPr lang="en-US" sz="900" dirty="0"/>
          </a:p>
        </p:txBody>
      </p:sp>
      <p:sp>
        <p:nvSpPr>
          <p:cNvPr id="7" name="Text 5"/>
          <p:cNvSpPr txBox="1"/>
          <p:nvPr/>
        </p:nvSpPr>
        <p:spPr>
          <a:xfrm>
            <a:off x="984225" y="2191886"/>
            <a:ext cx="4985895" cy="742931"/>
          </a:xfrm>
          <a:prstGeom prst="rect">
            <a:avLst/>
          </a:prstGeom>
          <a:noFill/>
          <a:ln/>
        </p:spPr>
        <p:txBody>
          <a:bodyPr wrap="square" lIns="0" tIns="0" rIns="0" bIns="0" rtlCol="0" anchor="t"/>
          <a:lstStyle/>
          <a:p>
            <a:pPr algn="l" indent="0" marL="0">
              <a:lnSpc>
                <a:spcPct val="111111"/>
              </a:lnSpc>
              <a:buNone/>
            </a:pPr>
            <a:r>
              <a:rPr lang="en-US" sz="1500" b="1" dirty="0">
                <a:solidFill>
                  <a:srgbClr val="FFFFFF"/>
                </a:solidFill>
                <a:latin typeface="Poppins" pitchFamily="34" charset="0"/>
                <a:ea typeface="Poppins" pitchFamily="34" charset="-122"/>
                <a:cs typeface="Poppins" pitchFamily="34" charset="-120"/>
              </a:rPr>
              <a:t>Saber, todo dia, quais projetos estão atrasados, quanto isso custa e o que fazer, em vez de descobrir quando o cliente reclama.</a:t>
            </a:r>
            <a:endParaRPr lang="en-US" sz="1500" dirty="0"/>
          </a:p>
        </p:txBody>
      </p:sp>
      <p:sp>
        <p:nvSpPr>
          <p:cNvPr id="8" name="Shape 6"/>
          <p:cNvSpPr/>
          <p:nvPr/>
        </p:nvSpPr>
        <p:spPr>
          <a:xfrm>
            <a:off x="984225" y="3157062"/>
            <a:ext cx="76198" cy="76198"/>
          </a:xfrm>
          <a:prstGeom prst="roundRect">
            <a:avLst>
              <a:gd name="adj" fmla="val 25000"/>
            </a:avLst>
          </a:prstGeom>
          <a:solidFill>
            <a:srgbClr val="22C2F4"/>
          </a:solidFill>
          <a:ln/>
        </p:spPr>
      </p:sp>
      <p:sp>
        <p:nvSpPr>
          <p:cNvPr id="9" name="Text 7"/>
          <p:cNvSpPr txBox="1"/>
          <p:nvPr/>
        </p:nvSpPr>
        <p:spPr>
          <a:xfrm>
            <a:off x="1174721" y="3074514"/>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SPI e CPI de 100% dos projetos, das 3 ferramentas</a:t>
            </a:r>
            <a:endParaRPr lang="en-US" sz="1200" dirty="0"/>
          </a:p>
        </p:txBody>
      </p:sp>
      <p:sp>
        <p:nvSpPr>
          <p:cNvPr id="10" name="Shape 8"/>
          <p:cNvSpPr/>
          <p:nvPr/>
        </p:nvSpPr>
        <p:spPr>
          <a:xfrm>
            <a:off x="984225" y="3438935"/>
            <a:ext cx="76198" cy="76198"/>
          </a:xfrm>
          <a:prstGeom prst="roundRect">
            <a:avLst>
              <a:gd name="adj" fmla="val 25000"/>
            </a:avLst>
          </a:prstGeom>
          <a:solidFill>
            <a:srgbClr val="22C2F4"/>
          </a:solidFill>
          <a:ln/>
        </p:spPr>
      </p:sp>
      <p:sp>
        <p:nvSpPr>
          <p:cNvPr id="11" name="Text 9"/>
          <p:cNvSpPr txBox="1"/>
          <p:nvPr/>
        </p:nvSpPr>
        <p:spPr>
          <a:xfrm>
            <a:off x="1174721" y="3356387"/>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"Por que o projeto X atrasou?" em menos de 1 minuto</a:t>
            </a:r>
            <a:endParaRPr lang="en-US" sz="1200" dirty="0"/>
          </a:p>
        </p:txBody>
      </p:sp>
      <p:sp>
        <p:nvSpPr>
          <p:cNvPr id="12" name="Shape 10"/>
          <p:cNvSpPr/>
          <p:nvPr/>
        </p:nvSpPr>
        <p:spPr>
          <a:xfrm>
            <a:off x="984225" y="3720809"/>
            <a:ext cx="76198" cy="76198"/>
          </a:xfrm>
          <a:prstGeom prst="roundRect">
            <a:avLst>
              <a:gd name="adj" fmla="val 25000"/>
            </a:avLst>
          </a:prstGeom>
          <a:solidFill>
            <a:srgbClr val="22C2F4"/>
          </a:solidFill>
          <a:ln/>
        </p:spPr>
      </p:sp>
      <p:sp>
        <p:nvSpPr>
          <p:cNvPr id="13" name="Text 11"/>
          <p:cNvSpPr txBox="1"/>
          <p:nvPr/>
        </p:nvSpPr>
        <p:spPr>
          <a:xfrm>
            <a:off x="1174721" y="3638261"/>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toda decisão de realocação registrada e rastreável</a:t>
            </a:r>
            <a:endParaRPr lang="en-US" sz="1200" dirty="0"/>
          </a:p>
        </p:txBody>
      </p:sp>
      <p:sp>
        <p:nvSpPr>
          <p:cNvPr id="14" name="Shape 12"/>
          <p:cNvSpPr/>
          <p:nvPr/>
        </p:nvSpPr>
        <p:spPr>
          <a:xfrm>
            <a:off x="6191095" y="1582301"/>
            <a:ext cx="5238619" cy="2458480"/>
          </a:xfrm>
          <a:prstGeom prst="roundRect">
            <a:avLst>
              <a:gd name="adj" fmla="val 6199"/>
            </a:avLst>
          </a:prstGeom>
          <a:solidFill>
            <a:srgbClr val="1E1E24"/>
          </a:solidFill>
          <a:ln w="6350">
            <a:solidFill>
              <a:srgbClr val="2F2F39"/>
            </a:solidFill>
            <a:prstDash val="solid"/>
          </a:ln>
        </p:spPr>
      </p:sp>
      <p:sp>
        <p:nvSpPr>
          <p:cNvPr id="15" name="Shape 13"/>
          <p:cNvSpPr/>
          <p:nvPr/>
        </p:nvSpPr>
        <p:spPr>
          <a:xfrm>
            <a:off x="6413340" y="1779146"/>
            <a:ext cx="1744420" cy="247644"/>
          </a:xfrm>
          <a:prstGeom prst="roundRect">
            <a:avLst>
              <a:gd name="adj" fmla="val 50000"/>
            </a:avLst>
          </a:prstGeom>
          <a:solidFill>
            <a:srgbClr val="22C2F4">
              <a:alpha val="14000"/>
            </a:srgbClr>
          </a:solidFill>
          <a:ln/>
        </p:spPr>
      </p:sp>
      <p:sp>
        <p:nvSpPr>
          <p:cNvPr id="16" name="Text 14"/>
          <p:cNvSpPr txBox="1"/>
          <p:nvPr/>
        </p:nvSpPr>
        <p:spPr>
          <a:xfrm>
            <a:off x="6502237" y="1817245"/>
            <a:ext cx="1629290"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O cliente da imersão · você</a:t>
            </a:r>
            <a:endParaRPr lang="en-US" sz="900" dirty="0"/>
          </a:p>
        </p:txBody>
      </p:sp>
      <p:sp>
        <p:nvSpPr>
          <p:cNvPr id="17" name="Text 15"/>
          <p:cNvSpPr txBox="1"/>
          <p:nvPr/>
        </p:nvSpPr>
        <p:spPr>
          <a:xfrm>
            <a:off x="6413340" y="2191886"/>
            <a:ext cx="4985895" cy="495288"/>
          </a:xfrm>
          <a:prstGeom prst="rect">
            <a:avLst/>
          </a:prstGeom>
          <a:noFill/>
          <a:ln/>
        </p:spPr>
        <p:txBody>
          <a:bodyPr wrap="square" lIns="0" tIns="0" rIns="0" bIns="0" rtlCol="0" anchor="t"/>
          <a:lstStyle/>
          <a:p>
            <a:pPr algn="l" indent="0" marL="0">
              <a:lnSpc>
                <a:spcPct val="111111"/>
              </a:lnSpc>
              <a:buNone/>
            </a:pPr>
            <a:r>
              <a:rPr lang="en-US" sz="1500" b="1" dirty="0">
                <a:solidFill>
                  <a:srgbClr val="FFFFFF"/>
                </a:solidFill>
                <a:latin typeface="Poppins" pitchFamily="34" charset="0"/>
                <a:ea typeface="Poppins" pitchFamily="34" charset="-122"/>
                <a:cs typeface="Poppins" pitchFamily="34" charset="-120"/>
              </a:rPr>
              <a:t>Sair com um projeto de ponta a ponta no GitHub e o discurso pronto para vender ao dono.</a:t>
            </a:r>
            <a:endParaRPr lang="en-US" sz="1500" dirty="0"/>
          </a:p>
        </p:txBody>
      </p:sp>
      <p:sp>
        <p:nvSpPr>
          <p:cNvPr id="18" name="Shape 16"/>
          <p:cNvSpPr/>
          <p:nvPr/>
        </p:nvSpPr>
        <p:spPr>
          <a:xfrm>
            <a:off x="6413340" y="2909418"/>
            <a:ext cx="76198" cy="76198"/>
          </a:xfrm>
          <a:prstGeom prst="roundRect">
            <a:avLst>
              <a:gd name="adj" fmla="val 25000"/>
            </a:avLst>
          </a:prstGeom>
          <a:solidFill>
            <a:srgbClr val="22C2F4"/>
          </a:solidFill>
          <a:ln/>
        </p:spPr>
      </p:sp>
      <p:sp>
        <p:nvSpPr>
          <p:cNvPr id="19" name="Text 17"/>
          <p:cNvSpPr txBox="1"/>
          <p:nvPr/>
        </p:nvSpPr>
        <p:spPr>
          <a:xfrm>
            <a:off x="6603835" y="2826870"/>
            <a:ext cx="4787780"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4 chapéus numa semana: analista, engenheiro, cientista, engenheiro de IA</a:t>
            </a:r>
            <a:endParaRPr lang="en-US" sz="1200" dirty="0"/>
          </a:p>
        </p:txBody>
      </p:sp>
      <p:sp>
        <p:nvSpPr>
          <p:cNvPr id="20" name="Shape 18"/>
          <p:cNvSpPr/>
          <p:nvPr/>
        </p:nvSpPr>
        <p:spPr>
          <a:xfrm>
            <a:off x="6413340" y="3396967"/>
            <a:ext cx="76198" cy="76198"/>
          </a:xfrm>
          <a:prstGeom prst="roundRect">
            <a:avLst>
              <a:gd name="adj" fmla="val 25000"/>
            </a:avLst>
          </a:prstGeom>
          <a:solidFill>
            <a:srgbClr val="22C2F4"/>
          </a:solidFill>
          <a:ln/>
        </p:spPr>
      </p:sp>
      <p:sp>
        <p:nvSpPr>
          <p:cNvPr id="21" name="Text 19"/>
          <p:cNvSpPr txBox="1"/>
          <p:nvPr/>
        </p:nvSpPr>
        <p:spPr>
          <a:xfrm>
            <a:off x="6603835" y="3314419"/>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tudo na sua conta Databricks Free Edition</a:t>
            </a:r>
            <a:endParaRPr lang="en-US" sz="1200" dirty="0"/>
          </a:p>
        </p:txBody>
      </p:sp>
      <p:sp>
        <p:nvSpPr>
          <p:cNvPr id="22" name="Shape 20"/>
          <p:cNvSpPr/>
          <p:nvPr/>
        </p:nvSpPr>
        <p:spPr>
          <a:xfrm>
            <a:off x="6413340" y="3678840"/>
            <a:ext cx="76198" cy="76198"/>
          </a:xfrm>
          <a:prstGeom prst="roundRect">
            <a:avLst>
              <a:gd name="adj" fmla="val 25000"/>
            </a:avLst>
          </a:prstGeom>
          <a:solidFill>
            <a:srgbClr val="22C2F4"/>
          </a:solidFill>
          <a:ln/>
        </p:spPr>
      </p:sp>
      <p:sp>
        <p:nvSpPr>
          <p:cNvPr id="23" name="Text 21"/>
          <p:cNvSpPr txBox="1"/>
          <p:nvPr/>
        </p:nvSpPr>
        <p:spPr>
          <a:xfrm>
            <a:off x="6603835" y="3596292"/>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pitch de 3 minutos com ROI em reais</a:t>
            </a:r>
            <a:endParaRPr lang="en-US" sz="1200" dirty="0"/>
          </a:p>
        </p:txBody>
      </p:sp>
      <p:pic>
        <p:nvPicPr>
          <p:cNvPr id="24"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25" name="Text 22"/>
          <p:cNvSpPr txBox="1"/>
          <p:nvPr/>
        </p:nvSpPr>
        <p:spPr>
          <a:xfrm>
            <a:off x="11021836" y="6387940"/>
            <a:ext cx="424193"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5 / 133</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A DOR · MEDIDO NO DADO DA VÉRTICE</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O dono descobre o atraso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quando o cliente reclama</a:t>
            </a:r>
            <a:endParaRPr lang="en-US" sz="3100" dirty="0"/>
          </a:p>
        </p:txBody>
      </p:sp>
      <p:sp>
        <p:nvSpPr>
          <p:cNvPr id="4" name="Shape 2"/>
          <p:cNvSpPr/>
          <p:nvPr/>
        </p:nvSpPr>
        <p:spPr>
          <a:xfrm>
            <a:off x="761981" y="1582301"/>
            <a:ext cx="3462747" cy="1816948"/>
          </a:xfrm>
          <a:prstGeom prst="roundRect">
            <a:avLst>
              <a:gd name="adj" fmla="val 8387"/>
            </a:avLst>
          </a:prstGeom>
          <a:solidFill>
            <a:srgbClr val="0059DB"/>
          </a:solidFill>
          <a:ln/>
        </p:spPr>
      </p:sp>
      <p:sp>
        <p:nvSpPr>
          <p:cNvPr id="5" name="Shape 3"/>
          <p:cNvSpPr/>
          <p:nvPr/>
        </p:nvSpPr>
        <p:spPr>
          <a:xfrm>
            <a:off x="984225" y="1779146"/>
            <a:ext cx="499157" cy="247644"/>
          </a:xfrm>
          <a:prstGeom prst="roundRect">
            <a:avLst>
              <a:gd name="adj" fmla="val 50000"/>
            </a:avLst>
          </a:prstGeom>
          <a:solidFill>
            <a:srgbClr val="FFFFFF">
              <a:alpha val="16000"/>
            </a:srgbClr>
          </a:solidFill>
          <a:ln/>
        </p:spPr>
      </p:sp>
      <p:sp>
        <p:nvSpPr>
          <p:cNvPr id="6" name="Text 4"/>
          <p:cNvSpPr txBox="1"/>
          <p:nvPr/>
        </p:nvSpPr>
        <p:spPr>
          <a:xfrm>
            <a:off x="1073123" y="1817245"/>
            <a:ext cx="334216"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Prazo</a:t>
            </a:r>
            <a:endParaRPr lang="en-US" sz="900" dirty="0"/>
          </a:p>
        </p:txBody>
      </p:sp>
      <p:sp>
        <p:nvSpPr>
          <p:cNvPr id="7" name="Text 5"/>
          <p:cNvSpPr txBox="1"/>
          <p:nvPr/>
        </p:nvSpPr>
        <p:spPr>
          <a:xfrm>
            <a:off x="984225" y="2115688"/>
            <a:ext cx="3138988" cy="419090"/>
          </a:xfrm>
          <a:prstGeom prst="rect">
            <a:avLst/>
          </a:prstGeom>
          <a:noFill/>
          <a:ln/>
        </p:spPr>
        <p:txBody>
          <a:bodyPr wrap="square" lIns="0" tIns="0" rIns="0" bIns="0" rtlCol="0" anchor="t"/>
          <a:lstStyle/>
          <a:p>
            <a:pPr algn="l" indent="0" marL="0">
              <a:lnSpc>
                <a:spcPct val="85470"/>
              </a:lnSpc>
              <a:buNone/>
            </a:pPr>
            <a:r>
              <a:rPr lang="en-US" sz="3300" b="1" spc="-66" kern="0" dirty="0">
                <a:solidFill>
                  <a:srgbClr val="F5F6FC"/>
                </a:solidFill>
                <a:latin typeface="Poppins" pitchFamily="34" charset="0"/>
                <a:ea typeface="Poppins" pitchFamily="34" charset="-122"/>
                <a:cs typeface="Poppins" pitchFamily="34" charset="-120"/>
              </a:rPr>
              <a:t>17 de 41</a:t>
            </a:r>
            <a:endParaRPr lang="en-US" sz="3300" dirty="0"/>
          </a:p>
        </p:txBody>
      </p:sp>
      <p:sp>
        <p:nvSpPr>
          <p:cNvPr id="8" name="Text 6"/>
          <p:cNvSpPr txBox="1"/>
          <p:nvPr/>
        </p:nvSpPr>
        <p:spPr>
          <a:xfrm>
            <a:off x="984225" y="2610975"/>
            <a:ext cx="3138988" cy="591428"/>
          </a:xfrm>
          <a:prstGeom prst="rect">
            <a:avLst/>
          </a:prstGeom>
          <a:noFill/>
          <a:ln/>
        </p:spPr>
        <p:txBody>
          <a:bodyPr wrap="square" lIns="0" tIns="0" rIns="0" bIns="0" rtlCol="0" anchor="t"/>
          <a:lstStyle/>
          <a:p>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projetos em andamento com SPI ou CPI abaixo de 0,9. Sete críticos, espalhados nas três ferramentas.</a:t>
            </a:r>
            <a:endParaRPr lang="en-US" sz="1150" dirty="0"/>
          </a:p>
        </p:txBody>
      </p:sp>
      <p:sp>
        <p:nvSpPr>
          <p:cNvPr id="9" name="Shape 7"/>
          <p:cNvSpPr/>
          <p:nvPr/>
        </p:nvSpPr>
        <p:spPr>
          <a:xfrm>
            <a:off x="4364424" y="1582301"/>
            <a:ext cx="3462747" cy="1816948"/>
          </a:xfrm>
          <a:prstGeom prst="roundRect">
            <a:avLst>
              <a:gd name="adj" fmla="val 8387"/>
            </a:avLst>
          </a:prstGeom>
          <a:solidFill>
            <a:srgbClr val="1E1E24"/>
          </a:solidFill>
          <a:ln w="6350">
            <a:solidFill>
              <a:srgbClr val="2F2F39"/>
            </a:solidFill>
            <a:prstDash val="solid"/>
          </a:ln>
        </p:spPr>
      </p:sp>
      <p:sp>
        <p:nvSpPr>
          <p:cNvPr id="10" name="Shape 8"/>
          <p:cNvSpPr/>
          <p:nvPr/>
        </p:nvSpPr>
        <p:spPr>
          <a:xfrm>
            <a:off x="4586669" y="1779146"/>
            <a:ext cx="520687" cy="247644"/>
          </a:xfrm>
          <a:prstGeom prst="roundRect">
            <a:avLst>
              <a:gd name="adj" fmla="val 50000"/>
            </a:avLst>
          </a:prstGeom>
          <a:solidFill>
            <a:srgbClr val="22C2F4">
              <a:alpha val="14000"/>
            </a:srgbClr>
          </a:solidFill>
          <a:ln/>
        </p:spPr>
      </p:sp>
      <p:sp>
        <p:nvSpPr>
          <p:cNvPr id="11" name="Text 9"/>
          <p:cNvSpPr txBox="1"/>
          <p:nvPr/>
        </p:nvSpPr>
        <p:spPr>
          <a:xfrm>
            <a:off x="4675567" y="1817245"/>
            <a:ext cx="356607"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Custo</a:t>
            </a:r>
            <a:endParaRPr lang="en-US" sz="900" dirty="0"/>
          </a:p>
        </p:txBody>
      </p:sp>
      <p:sp>
        <p:nvSpPr>
          <p:cNvPr id="12" name="Text 10"/>
          <p:cNvSpPr txBox="1"/>
          <p:nvPr/>
        </p:nvSpPr>
        <p:spPr>
          <a:xfrm>
            <a:off x="4586669" y="2115688"/>
            <a:ext cx="3138988" cy="419090"/>
          </a:xfrm>
          <a:prstGeom prst="rect">
            <a:avLst/>
          </a:prstGeom>
          <a:noFill/>
          <a:ln/>
        </p:spPr>
        <p:txBody>
          <a:bodyPr wrap="square" lIns="0" tIns="0" rIns="0" bIns="0" rtlCol="0" anchor="t"/>
          <a:lstStyle/>
          <a:p>
            <a:pPr algn="l" indent="0" marL="0">
              <a:lnSpc>
                <a:spcPct val="85470"/>
              </a:lnSpc>
              <a:buNone/>
            </a:pPr>
            <a:r>
              <a:rPr lang="en-US" sz="3300" b="1" spc="-66" kern="0" dirty="0">
                <a:solidFill>
                  <a:srgbClr val="F5F6FC"/>
                </a:solidFill>
                <a:latin typeface="Poppins" pitchFamily="34" charset="0"/>
                <a:ea typeface="Poppins" pitchFamily="34" charset="-122"/>
                <a:cs typeface="Poppins" pitchFamily="34" charset="-120"/>
              </a:rPr>
              <a:t>R$ 6,5 mi</a:t>
            </a:r>
            <a:endParaRPr lang="en-US" sz="3300" dirty="0"/>
          </a:p>
        </p:txBody>
      </p:sp>
      <p:sp>
        <p:nvSpPr>
          <p:cNvPr id="13" name="Text 11"/>
          <p:cNvSpPr txBox="1"/>
          <p:nvPr/>
        </p:nvSpPr>
        <p:spPr>
          <a:xfrm>
            <a:off x="4586669" y="2610975"/>
            <a:ext cx="3138988" cy="591428"/>
          </a:xfrm>
          <a:prstGeom prst="rect">
            <a:avLst/>
          </a:prstGeom>
          <a:noFill/>
          <a:ln/>
        </p:spPr>
        <p:txBody>
          <a:bodyPr wrap="square" lIns="0" tIns="0" rIns="0" bIns="0" rtlCol="0" anchor="t"/>
          <a:lstStyle/>
          <a:p>
            <a:pPr algn="l" indent="0" marL="0">
              <a:lnSpc>
                <a:spcPct val="115385"/>
              </a:lnSpc>
              <a:buNone/>
            </a:pPr>
            <a:r>
              <a:rPr lang="en-US" sz="1150" dirty="0">
                <a:solidFill>
                  <a:srgbClr val="A3A6B4"/>
                </a:solidFill>
                <a:latin typeface="Poppins" pitchFamily="34" charset="0"/>
                <a:ea typeface="Poppins" pitchFamily="34" charset="-122"/>
                <a:cs typeface="Poppins" pitchFamily="34" charset="-120"/>
              </a:rPr>
              <a:t>de estouro previsto se nada mudar. 8 projetos com escopo crescendo sem aditivo desde o 6º mês.</a:t>
            </a:r>
            <a:endParaRPr lang="en-US" sz="1150" dirty="0"/>
          </a:p>
        </p:txBody>
      </p:sp>
      <p:sp>
        <p:nvSpPr>
          <p:cNvPr id="14" name="Shape 12"/>
          <p:cNvSpPr/>
          <p:nvPr/>
        </p:nvSpPr>
        <p:spPr>
          <a:xfrm>
            <a:off x="7966868" y="1582301"/>
            <a:ext cx="3462747" cy="1816948"/>
          </a:xfrm>
          <a:prstGeom prst="roundRect">
            <a:avLst>
              <a:gd name="adj" fmla="val 8387"/>
            </a:avLst>
          </a:prstGeom>
          <a:solidFill>
            <a:srgbClr val="1E1E24"/>
          </a:solidFill>
          <a:ln w="6350">
            <a:solidFill>
              <a:srgbClr val="2F2F39"/>
            </a:solidFill>
            <a:prstDash val="solid"/>
          </a:ln>
        </p:spPr>
      </p:sp>
      <p:sp>
        <p:nvSpPr>
          <p:cNvPr id="15" name="Shape 13"/>
          <p:cNvSpPr/>
          <p:nvPr/>
        </p:nvSpPr>
        <p:spPr>
          <a:xfrm>
            <a:off x="8189112" y="1779146"/>
            <a:ext cx="466813" cy="247644"/>
          </a:xfrm>
          <a:prstGeom prst="roundRect">
            <a:avLst>
              <a:gd name="adj" fmla="val 50000"/>
            </a:avLst>
          </a:prstGeom>
          <a:solidFill>
            <a:srgbClr val="22C2F4">
              <a:alpha val="14000"/>
            </a:srgbClr>
          </a:solidFill>
          <a:ln/>
        </p:spPr>
      </p:sp>
      <p:sp>
        <p:nvSpPr>
          <p:cNvPr id="16" name="Text 14"/>
          <p:cNvSpPr txBox="1"/>
          <p:nvPr/>
        </p:nvSpPr>
        <p:spPr>
          <a:xfrm>
            <a:off x="8278010" y="1817245"/>
            <a:ext cx="300578"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Farol</a:t>
            </a:r>
            <a:endParaRPr lang="en-US" sz="900" dirty="0"/>
          </a:p>
        </p:txBody>
      </p:sp>
      <p:sp>
        <p:nvSpPr>
          <p:cNvPr id="17" name="Text 15"/>
          <p:cNvSpPr txBox="1"/>
          <p:nvPr/>
        </p:nvSpPr>
        <p:spPr>
          <a:xfrm>
            <a:off x="8189112" y="2115688"/>
            <a:ext cx="3138988" cy="419090"/>
          </a:xfrm>
          <a:prstGeom prst="rect">
            <a:avLst/>
          </a:prstGeom>
          <a:noFill/>
          <a:ln/>
        </p:spPr>
        <p:txBody>
          <a:bodyPr wrap="square" lIns="0" tIns="0" rIns="0" bIns="0" rtlCol="0" anchor="t"/>
          <a:lstStyle/>
          <a:p>
            <a:pPr algn="l" indent="0" marL="0">
              <a:lnSpc>
                <a:spcPct val="85470"/>
              </a:lnSpc>
              <a:buNone/>
            </a:pPr>
            <a:r>
              <a:rPr lang="en-US" sz="3300" b="1" spc="-66" kern="0" dirty="0">
                <a:solidFill>
                  <a:srgbClr val="F5F6FC"/>
                </a:solidFill>
                <a:latin typeface="Poppins" pitchFamily="34" charset="0"/>
                <a:ea typeface="Poppins" pitchFamily="34" charset="-122"/>
                <a:cs typeface="Poppins" pitchFamily="34" charset="-120"/>
              </a:rPr>
              <a:t>32 verdes</a:t>
            </a:r>
            <a:endParaRPr lang="en-US" sz="3300" dirty="0"/>
          </a:p>
        </p:txBody>
      </p:sp>
      <p:sp>
        <p:nvSpPr>
          <p:cNvPr id="18" name="Text 16"/>
          <p:cNvSpPr txBox="1"/>
          <p:nvPr/>
        </p:nvSpPr>
        <p:spPr>
          <a:xfrm>
            <a:off x="8189112" y="2610975"/>
            <a:ext cx="3138988" cy="394285"/>
          </a:xfrm>
          <a:prstGeom prst="rect">
            <a:avLst/>
          </a:prstGeom>
          <a:noFill/>
          <a:ln/>
        </p:spPr>
        <p:txBody>
          <a:bodyPr wrap="square" lIns="0" tIns="0" rIns="0" bIns="0" rtlCol="0" anchor="t"/>
          <a:lstStyle/>
          <a:p>
            <a:pPr algn="l" indent="0" marL="0">
              <a:lnSpc>
                <a:spcPct val="115385"/>
              </a:lnSpc>
              <a:buNone/>
            </a:pPr>
            <a:r>
              <a:rPr lang="en-US" sz="1150" dirty="0">
                <a:solidFill>
                  <a:srgbClr val="A3A6B4"/>
                </a:solidFill>
                <a:latin typeface="Poppins" pitchFamily="34" charset="0"/>
                <a:ea typeface="Poppins" pitchFamily="34" charset="-122"/>
                <a:cs typeface="Poppins" pitchFamily="34" charset="-120"/>
              </a:rPr>
              <a:t>faróis verdes no status desta sexta. Pelo número, só 24 projetos estão ok.</a:t>
            </a:r>
            <a:endParaRPr lang="en-US" sz="1150" dirty="0"/>
          </a:p>
        </p:txBody>
      </p:sp>
      <p:sp>
        <p:nvSpPr>
          <p:cNvPr id="19" name="Shape 17"/>
          <p:cNvSpPr/>
          <p:nvPr/>
        </p:nvSpPr>
        <p:spPr>
          <a:xfrm>
            <a:off x="761981" y="3538945"/>
            <a:ext cx="3462747" cy="2014090"/>
          </a:xfrm>
          <a:prstGeom prst="roundRect">
            <a:avLst>
              <a:gd name="adj" fmla="val 7567"/>
            </a:avLst>
          </a:prstGeom>
          <a:solidFill>
            <a:srgbClr val="1E1E24"/>
          </a:solidFill>
          <a:ln w="6350">
            <a:solidFill>
              <a:srgbClr val="2F2F39"/>
            </a:solidFill>
            <a:prstDash val="solid"/>
          </a:ln>
        </p:spPr>
      </p:sp>
      <p:sp>
        <p:nvSpPr>
          <p:cNvPr id="20" name="Shape 18"/>
          <p:cNvSpPr/>
          <p:nvPr/>
        </p:nvSpPr>
        <p:spPr>
          <a:xfrm>
            <a:off x="984225" y="3735790"/>
            <a:ext cx="526541" cy="247644"/>
          </a:xfrm>
          <a:prstGeom prst="roundRect">
            <a:avLst>
              <a:gd name="adj" fmla="val 50000"/>
            </a:avLst>
          </a:prstGeom>
          <a:solidFill>
            <a:srgbClr val="22C2F4">
              <a:alpha val="14000"/>
            </a:srgbClr>
          </a:solidFill>
          <a:ln/>
        </p:spPr>
      </p:sp>
      <p:sp>
        <p:nvSpPr>
          <p:cNvPr id="21" name="Text 19"/>
          <p:cNvSpPr txBox="1"/>
          <p:nvPr/>
        </p:nvSpPr>
        <p:spPr>
          <a:xfrm>
            <a:off x="1073123" y="3773889"/>
            <a:ext cx="362695"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Gente</a:t>
            </a:r>
            <a:endParaRPr lang="en-US" sz="900" dirty="0"/>
          </a:p>
        </p:txBody>
      </p:sp>
      <p:sp>
        <p:nvSpPr>
          <p:cNvPr id="22" name="Text 20"/>
          <p:cNvSpPr txBox="1"/>
          <p:nvPr/>
        </p:nvSpPr>
        <p:spPr>
          <a:xfrm>
            <a:off x="984225" y="4072332"/>
            <a:ext cx="3138988" cy="419090"/>
          </a:xfrm>
          <a:prstGeom prst="rect">
            <a:avLst/>
          </a:prstGeom>
          <a:noFill/>
          <a:ln/>
        </p:spPr>
        <p:txBody>
          <a:bodyPr wrap="square" lIns="0" tIns="0" rIns="0" bIns="0" rtlCol="0" anchor="t"/>
          <a:lstStyle/>
          <a:p>
            <a:pPr algn="l" indent="0" marL="0">
              <a:lnSpc>
                <a:spcPct val="85470"/>
              </a:lnSpc>
              <a:buNone/>
            </a:pPr>
            <a:r>
              <a:rPr lang="en-US" sz="3300" b="1" spc="-66" kern="0" dirty="0">
                <a:solidFill>
                  <a:srgbClr val="F5F6FC"/>
                </a:solidFill>
                <a:latin typeface="Poppins" pitchFamily="34" charset="0"/>
                <a:ea typeface="Poppins" pitchFamily="34" charset="-122"/>
                <a:cs typeface="Poppins" pitchFamily="34" charset="-120"/>
              </a:rPr>
              <a:t>2 a 9%</a:t>
            </a:r>
            <a:endParaRPr lang="en-US" sz="3300" dirty="0"/>
          </a:p>
        </p:txBody>
      </p:sp>
      <p:sp>
        <p:nvSpPr>
          <p:cNvPr id="23" name="Text 21"/>
          <p:cNvSpPr txBox="1"/>
          <p:nvPr/>
        </p:nvSpPr>
        <p:spPr>
          <a:xfrm>
            <a:off x="984225" y="4567619"/>
            <a:ext cx="3138988" cy="788571"/>
          </a:xfrm>
          <a:prstGeom prst="rect">
            <a:avLst/>
          </a:prstGeom>
          <a:noFill/>
          <a:ln/>
        </p:spPr>
        <p:txBody>
          <a:bodyPr wrap="square" lIns="0" tIns="0" rIns="0" bIns="0" rtlCol="0" anchor="t"/>
          <a:lstStyle/>
          <a:p>
            <a:pPr algn="l" indent="0" marL="0">
              <a:lnSpc>
                <a:spcPct val="115385"/>
              </a:lnSpc>
              <a:buNone/>
            </a:pPr>
            <a:r>
              <a:rPr lang="en-US" sz="1150" dirty="0">
                <a:solidFill>
                  <a:srgbClr val="A3A6B4"/>
                </a:solidFill>
                <a:latin typeface="Poppins" pitchFamily="34" charset="0"/>
                <a:ea typeface="Poppins" pitchFamily="34" charset="-122"/>
                <a:cs typeface="Poppins" pitchFamily="34" charset="-120"/>
              </a:rPr>
              <a:t>de uso de dois SREs seniores num projeto que ainda está no desenho, enquanto o checkout do varejo pede SRE toda semana.</a:t>
            </a:r>
            <a:endParaRPr lang="en-US" sz="1150" dirty="0"/>
          </a:p>
        </p:txBody>
      </p:sp>
      <p:sp>
        <p:nvSpPr>
          <p:cNvPr id="24" name="Shape 22"/>
          <p:cNvSpPr/>
          <p:nvPr/>
        </p:nvSpPr>
        <p:spPr>
          <a:xfrm>
            <a:off x="4364424" y="3538945"/>
            <a:ext cx="3462747" cy="2014090"/>
          </a:xfrm>
          <a:prstGeom prst="roundRect">
            <a:avLst>
              <a:gd name="adj" fmla="val 7567"/>
            </a:avLst>
          </a:prstGeom>
          <a:solidFill>
            <a:srgbClr val="1E1E24"/>
          </a:solidFill>
          <a:ln w="6350">
            <a:solidFill>
              <a:srgbClr val="2F2F39"/>
            </a:solidFill>
            <a:prstDash val="solid"/>
          </a:ln>
        </p:spPr>
      </p:sp>
      <p:sp>
        <p:nvSpPr>
          <p:cNvPr id="25" name="Shape 23"/>
          <p:cNvSpPr/>
          <p:nvPr/>
        </p:nvSpPr>
        <p:spPr>
          <a:xfrm>
            <a:off x="4586669" y="3735790"/>
            <a:ext cx="839469" cy="247644"/>
          </a:xfrm>
          <a:prstGeom prst="roundRect">
            <a:avLst>
              <a:gd name="adj" fmla="val 50000"/>
            </a:avLst>
          </a:prstGeom>
          <a:solidFill>
            <a:srgbClr val="22C2F4">
              <a:alpha val="14000"/>
            </a:srgbClr>
          </a:solidFill>
          <a:ln/>
        </p:spPr>
      </p:sp>
      <p:sp>
        <p:nvSpPr>
          <p:cNvPr id="26" name="Text 24"/>
          <p:cNvSpPr txBox="1"/>
          <p:nvPr/>
        </p:nvSpPr>
        <p:spPr>
          <a:xfrm>
            <a:off x="4675567" y="3773889"/>
            <a:ext cx="688140"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Fornecedor</a:t>
            </a:r>
            <a:endParaRPr lang="en-US" sz="900" dirty="0"/>
          </a:p>
        </p:txBody>
      </p:sp>
      <p:sp>
        <p:nvSpPr>
          <p:cNvPr id="27" name="Text 25"/>
          <p:cNvSpPr txBox="1"/>
          <p:nvPr/>
        </p:nvSpPr>
        <p:spPr>
          <a:xfrm>
            <a:off x="4586669" y="4072332"/>
            <a:ext cx="3138988" cy="419090"/>
          </a:xfrm>
          <a:prstGeom prst="rect">
            <a:avLst/>
          </a:prstGeom>
          <a:noFill/>
          <a:ln/>
        </p:spPr>
        <p:txBody>
          <a:bodyPr wrap="square" lIns="0" tIns="0" rIns="0" bIns="0" rtlCol="0" anchor="t"/>
          <a:lstStyle/>
          <a:p>
            <a:pPr algn="l" indent="0" marL="0">
              <a:lnSpc>
                <a:spcPct val="85470"/>
              </a:lnSpc>
              <a:buNone/>
            </a:pPr>
            <a:r>
              <a:rPr lang="en-US" sz="3300" b="1" spc="-66" kern="0" dirty="0">
                <a:solidFill>
                  <a:srgbClr val="F5F6FC"/>
                </a:solidFill>
                <a:latin typeface="Poppins" pitchFamily="34" charset="0"/>
                <a:ea typeface="Poppins" pitchFamily="34" charset="-122"/>
                <a:cs typeface="Poppins" pitchFamily="34" charset="-120"/>
              </a:rPr>
              <a:t>×1,41</a:t>
            </a:r>
            <a:endParaRPr lang="en-US" sz="3300" dirty="0"/>
          </a:p>
        </p:txBody>
      </p:sp>
      <p:sp>
        <p:nvSpPr>
          <p:cNvPr id="28" name="Text 26"/>
          <p:cNvSpPr txBox="1"/>
          <p:nvPr/>
        </p:nvSpPr>
        <p:spPr>
          <a:xfrm>
            <a:off x="4586669" y="4567619"/>
            <a:ext cx="3138988" cy="591428"/>
          </a:xfrm>
          <a:prstGeom prst="rect">
            <a:avLst/>
          </a:prstGeom>
          <a:noFill/>
          <a:ln/>
        </p:spPr>
        <p:txBody>
          <a:bodyPr wrap="square" lIns="0" tIns="0" rIns="0" bIns="0" rtlCol="0" anchor="t"/>
          <a:lstStyle/>
          <a:p>
            <a:pPr algn="l" indent="0" marL="0">
              <a:lnSpc>
                <a:spcPct val="115385"/>
              </a:lnSpc>
              <a:buNone/>
            </a:pPr>
            <a:r>
              <a:rPr lang="en-US" sz="1150" dirty="0">
                <a:solidFill>
                  <a:srgbClr val="A3A6B4"/>
                </a:solidFill>
                <a:latin typeface="Poppins" pitchFamily="34" charset="0"/>
                <a:ea typeface="Poppins" pitchFamily="34" charset="-122"/>
                <a:cs typeface="Poppins" pitchFamily="34" charset="-120"/>
              </a:rPr>
              <a:t>A CodeForge entrega 41% depois do prometido, e compras tem o nome dela escrito de 4 jeitos.</a:t>
            </a:r>
            <a:endParaRPr lang="en-US" sz="1150" dirty="0"/>
          </a:p>
        </p:txBody>
      </p:sp>
      <p:sp>
        <p:nvSpPr>
          <p:cNvPr id="29" name="Shape 27"/>
          <p:cNvSpPr/>
          <p:nvPr/>
        </p:nvSpPr>
        <p:spPr>
          <a:xfrm>
            <a:off x="7966868" y="3538945"/>
            <a:ext cx="3462747" cy="2014090"/>
          </a:xfrm>
          <a:prstGeom prst="roundRect">
            <a:avLst>
              <a:gd name="adj" fmla="val 7567"/>
            </a:avLst>
          </a:prstGeom>
          <a:solidFill>
            <a:srgbClr val="1E1E24"/>
          </a:solidFill>
          <a:ln w="6350">
            <a:solidFill>
              <a:srgbClr val="2F2F39"/>
            </a:solidFill>
            <a:prstDash val="solid"/>
          </a:ln>
        </p:spPr>
      </p:sp>
      <p:sp>
        <p:nvSpPr>
          <p:cNvPr id="30" name="Shape 28"/>
          <p:cNvSpPr/>
          <p:nvPr/>
        </p:nvSpPr>
        <p:spPr>
          <a:xfrm>
            <a:off x="8189112" y="3735790"/>
            <a:ext cx="826868" cy="247644"/>
          </a:xfrm>
          <a:prstGeom prst="roundRect">
            <a:avLst>
              <a:gd name="adj" fmla="val 50000"/>
            </a:avLst>
          </a:prstGeom>
          <a:solidFill>
            <a:srgbClr val="22C2F4">
              <a:alpha val="14000"/>
            </a:srgbClr>
          </a:solidFill>
          <a:ln/>
        </p:spPr>
      </p:sp>
      <p:sp>
        <p:nvSpPr>
          <p:cNvPr id="31" name="Text 29"/>
          <p:cNvSpPr txBox="1"/>
          <p:nvPr/>
        </p:nvSpPr>
        <p:spPr>
          <a:xfrm>
            <a:off x="8278010" y="3773889"/>
            <a:ext cx="675036"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Calendário</a:t>
            </a:r>
            <a:endParaRPr lang="en-US" sz="900" dirty="0"/>
          </a:p>
        </p:txBody>
      </p:sp>
      <p:sp>
        <p:nvSpPr>
          <p:cNvPr id="32" name="Text 30"/>
          <p:cNvSpPr txBox="1"/>
          <p:nvPr/>
        </p:nvSpPr>
        <p:spPr>
          <a:xfrm>
            <a:off x="8189112" y="4072332"/>
            <a:ext cx="3138988" cy="419090"/>
          </a:xfrm>
          <a:prstGeom prst="rect">
            <a:avLst/>
          </a:prstGeom>
          <a:noFill/>
          <a:ln/>
        </p:spPr>
        <p:txBody>
          <a:bodyPr wrap="square" lIns="0" tIns="0" rIns="0" bIns="0" rtlCol="0" anchor="t"/>
          <a:lstStyle/>
          <a:p>
            <a:pPr algn="l" indent="0" marL="0">
              <a:lnSpc>
                <a:spcPct val="85470"/>
              </a:lnSpc>
              <a:buNone/>
            </a:pPr>
            <a:r>
              <a:rPr lang="en-US" sz="3300" b="1" spc="-66" kern="0" dirty="0">
                <a:solidFill>
                  <a:srgbClr val="F5F6FC"/>
                </a:solidFill>
                <a:latin typeface="Poppins" pitchFamily="34" charset="0"/>
                <a:ea typeface="Poppins" pitchFamily="34" charset="-122"/>
                <a:cs typeface="Poppins" pitchFamily="34" charset="-120"/>
              </a:rPr>
              <a:t>01/11</a:t>
            </a:r>
            <a:endParaRPr lang="en-US" sz="3300" dirty="0"/>
          </a:p>
        </p:txBody>
      </p:sp>
      <p:sp>
        <p:nvSpPr>
          <p:cNvPr id="33" name="Text 31"/>
          <p:cNvSpPr txBox="1"/>
          <p:nvPr/>
        </p:nvSpPr>
        <p:spPr>
          <a:xfrm>
            <a:off x="8189112" y="4567619"/>
            <a:ext cx="3138988" cy="591428"/>
          </a:xfrm>
          <a:prstGeom prst="rect">
            <a:avLst/>
          </a:prstGeom>
          <a:noFill/>
          <a:ln/>
        </p:spPr>
        <p:txBody>
          <a:bodyPr wrap="square" lIns="0" tIns="0" rIns="0" bIns="0" rtlCol="0" anchor="t"/>
          <a:lstStyle/>
          <a:p>
            <a:pPr algn="l" indent="0" marL="0">
              <a:lnSpc>
                <a:spcPct val="115385"/>
              </a:lnSpc>
              <a:buNone/>
            </a:pPr>
            <a:r>
              <a:rPr lang="en-US" sz="1150" dirty="0">
                <a:solidFill>
                  <a:srgbClr val="A3A6B4"/>
                </a:solidFill>
                <a:latin typeface="Poppins" pitchFamily="34" charset="0"/>
                <a:ea typeface="Poppins" pitchFamily="34" charset="-122"/>
                <a:cs typeface="Poppins" pitchFamily="34" charset="-120"/>
              </a:rPr>
              <a:t>começa o freeze da Black Friday. No ano passado, ele travou os 3 projetos de e-commerce por 10 semanas.</a:t>
            </a:r>
            <a:endParaRPr lang="en-US" sz="1150" dirty="0"/>
          </a:p>
        </p:txBody>
      </p:sp>
      <p:pic>
        <p:nvPicPr>
          <p:cNvPr id="34"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35" name="Text 32"/>
          <p:cNvSpPr txBox="1"/>
          <p:nvPr/>
        </p:nvSpPr>
        <p:spPr>
          <a:xfrm>
            <a:off x="11021539" y="6387940"/>
            <a:ext cx="424503"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6 / 133</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A SOLUÇÃO</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Um fluxo só, da fonte à decisão</a:t>
            </a:r>
            <a:endParaRPr lang="en-US" sz="3100" dirty="0"/>
          </a:p>
        </p:txBody>
      </p:sp>
      <p:sp>
        <p:nvSpPr>
          <p:cNvPr id="4" name="Shape 2"/>
          <p:cNvSpPr/>
          <p:nvPr/>
        </p:nvSpPr>
        <p:spPr>
          <a:xfrm>
            <a:off x="761981" y="1582301"/>
            <a:ext cx="2246653" cy="2820222"/>
          </a:xfrm>
          <a:prstGeom prst="roundRect">
            <a:avLst>
              <a:gd name="adj" fmla="val 6783"/>
            </a:avLst>
          </a:prstGeom>
          <a:solidFill>
            <a:srgbClr val="1E1E24"/>
          </a:solidFill>
          <a:ln w="6350">
            <a:solidFill>
              <a:srgbClr val="2F2F39"/>
            </a:solidFill>
            <a:prstDash val="solid"/>
          </a:ln>
        </p:spPr>
      </p:sp>
      <p:sp>
        <p:nvSpPr>
          <p:cNvPr id="5" name="Shape 3"/>
          <p:cNvSpPr/>
          <p:nvPr/>
        </p:nvSpPr>
        <p:spPr>
          <a:xfrm>
            <a:off x="984225" y="1779146"/>
            <a:ext cx="564044" cy="247644"/>
          </a:xfrm>
          <a:prstGeom prst="roundRect">
            <a:avLst>
              <a:gd name="adj" fmla="val 50000"/>
            </a:avLst>
          </a:prstGeom>
          <a:solidFill>
            <a:srgbClr val="22C2F4">
              <a:alpha val="14000"/>
            </a:srgbClr>
          </a:solidFill>
          <a:ln/>
        </p:spPr>
      </p:sp>
      <p:sp>
        <p:nvSpPr>
          <p:cNvPr id="6" name="Text 4"/>
          <p:cNvSpPr txBox="1"/>
          <p:nvPr/>
        </p:nvSpPr>
        <p:spPr>
          <a:xfrm>
            <a:off x="1073123" y="1817245"/>
            <a:ext cx="401699"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Fontes</a:t>
            </a:r>
            <a:endParaRPr lang="en-US" sz="900" dirty="0"/>
          </a:p>
        </p:txBody>
      </p:sp>
      <p:sp>
        <p:nvSpPr>
          <p:cNvPr id="7" name="Shape 5"/>
          <p:cNvSpPr/>
          <p:nvPr/>
        </p:nvSpPr>
        <p:spPr>
          <a:xfrm>
            <a:off x="984225" y="2198236"/>
            <a:ext cx="76198" cy="76198"/>
          </a:xfrm>
          <a:prstGeom prst="roundRect">
            <a:avLst>
              <a:gd name="adj" fmla="val 25000"/>
            </a:avLst>
          </a:prstGeom>
          <a:solidFill>
            <a:srgbClr val="22C2F4"/>
          </a:solidFill>
          <a:ln/>
        </p:spPr>
      </p:sp>
      <p:sp>
        <p:nvSpPr>
          <p:cNvPr id="8" name="Text 6"/>
          <p:cNvSpPr txBox="1"/>
          <p:nvPr/>
        </p:nvSpPr>
        <p:spPr>
          <a:xfrm>
            <a:off x="1174721" y="2115688"/>
            <a:ext cx="1676136"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Excel, ClickUp, Project</a:t>
            </a:r>
            <a:endParaRPr lang="en-US" sz="1200" dirty="0"/>
          </a:p>
        </p:txBody>
      </p:sp>
      <p:sp>
        <p:nvSpPr>
          <p:cNvPr id="9" name="Shape 7"/>
          <p:cNvSpPr/>
          <p:nvPr/>
        </p:nvSpPr>
        <p:spPr>
          <a:xfrm>
            <a:off x="984225" y="2480109"/>
            <a:ext cx="76198" cy="76198"/>
          </a:xfrm>
          <a:prstGeom prst="roundRect">
            <a:avLst>
              <a:gd name="adj" fmla="val 25000"/>
            </a:avLst>
          </a:prstGeom>
          <a:solidFill>
            <a:srgbClr val="22C2F4"/>
          </a:solidFill>
          <a:ln/>
        </p:spPr>
      </p:sp>
      <p:sp>
        <p:nvSpPr>
          <p:cNvPr id="10" name="Text 8"/>
          <p:cNvSpPr txBox="1"/>
          <p:nvPr/>
        </p:nvSpPr>
        <p:spPr>
          <a:xfrm>
            <a:off x="1174721" y="2397561"/>
            <a:ext cx="1676136"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status semanal</a:t>
            </a:r>
            <a:endParaRPr lang="en-US" sz="1200" dirty="0"/>
          </a:p>
        </p:txBody>
      </p:sp>
      <p:sp>
        <p:nvSpPr>
          <p:cNvPr id="11" name="Shape 9"/>
          <p:cNvSpPr/>
          <p:nvPr/>
        </p:nvSpPr>
        <p:spPr>
          <a:xfrm>
            <a:off x="984225" y="2761983"/>
            <a:ext cx="76198" cy="76198"/>
          </a:xfrm>
          <a:prstGeom prst="roundRect">
            <a:avLst>
              <a:gd name="adj" fmla="val 25000"/>
            </a:avLst>
          </a:prstGeom>
          <a:solidFill>
            <a:srgbClr val="22C2F4"/>
          </a:solidFill>
          <a:ln/>
        </p:spPr>
      </p:sp>
      <p:sp>
        <p:nvSpPr>
          <p:cNvPr id="12" name="Text 10"/>
          <p:cNvSpPr txBox="1"/>
          <p:nvPr/>
        </p:nvSpPr>
        <p:spPr>
          <a:xfrm>
            <a:off x="1174721" y="2679435"/>
            <a:ext cx="1676136"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RH, timesheet</a:t>
            </a:r>
            <a:endParaRPr lang="en-US" sz="1200" dirty="0"/>
          </a:p>
        </p:txBody>
      </p:sp>
      <p:sp>
        <p:nvSpPr>
          <p:cNvPr id="13" name="Shape 11"/>
          <p:cNvSpPr/>
          <p:nvPr/>
        </p:nvSpPr>
        <p:spPr>
          <a:xfrm>
            <a:off x="984225" y="3043856"/>
            <a:ext cx="76198" cy="76198"/>
          </a:xfrm>
          <a:prstGeom prst="roundRect">
            <a:avLst>
              <a:gd name="adj" fmla="val 25000"/>
            </a:avLst>
          </a:prstGeom>
          <a:solidFill>
            <a:srgbClr val="22C2F4"/>
          </a:solidFill>
          <a:ln/>
        </p:spPr>
      </p:sp>
      <p:sp>
        <p:nvSpPr>
          <p:cNvPr id="14" name="Text 12"/>
          <p:cNvSpPr txBox="1"/>
          <p:nvPr/>
        </p:nvSpPr>
        <p:spPr>
          <a:xfrm>
            <a:off x="1174721" y="2961308"/>
            <a:ext cx="1676136"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financeiro, compras</a:t>
            </a:r>
            <a:endParaRPr lang="en-US" sz="1200" dirty="0"/>
          </a:p>
        </p:txBody>
      </p:sp>
      <p:sp>
        <p:nvSpPr>
          <p:cNvPr id="15" name="Shape 13"/>
          <p:cNvSpPr/>
          <p:nvPr/>
        </p:nvSpPr>
        <p:spPr>
          <a:xfrm>
            <a:off x="984225" y="3325729"/>
            <a:ext cx="76198" cy="76198"/>
          </a:xfrm>
          <a:prstGeom prst="roundRect">
            <a:avLst>
              <a:gd name="adj" fmla="val 25000"/>
            </a:avLst>
          </a:prstGeom>
          <a:solidFill>
            <a:srgbClr val="22C2F4"/>
          </a:solidFill>
          <a:ln/>
        </p:spPr>
      </p:sp>
      <p:sp>
        <p:nvSpPr>
          <p:cNvPr id="16" name="Text 14"/>
          <p:cNvSpPr txBox="1"/>
          <p:nvPr/>
        </p:nvSpPr>
        <p:spPr>
          <a:xfrm>
            <a:off x="1174721" y="3243181"/>
            <a:ext cx="1676136"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contratos em PDF</a:t>
            </a:r>
            <a:endParaRPr lang="en-US" sz="1200" dirty="0"/>
          </a:p>
        </p:txBody>
      </p:sp>
      <p:sp>
        <p:nvSpPr>
          <p:cNvPr id="17" name="Text 15"/>
          <p:cNvSpPr txBox="1"/>
          <p:nvPr/>
        </p:nvSpPr>
        <p:spPr>
          <a:xfrm>
            <a:off x="3097532" y="2801867"/>
            <a:ext cx="241762" cy="380990"/>
          </a:xfrm>
          <a:prstGeom prst="rect">
            <a:avLst/>
          </a:prstGeom>
          <a:noFill/>
          <a:ln/>
        </p:spPr>
        <p:txBody>
          <a:bodyPr wrap="square" lIns="0" tIns="0" rIns="0" bIns="0" rtlCol="0" anchor="t"/>
          <a:lstStyle/>
          <a:p>
            <a:pPr algn="l" indent="0" marL="0">
              <a:lnSpc>
                <a:spcPct val="106838"/>
              </a:lnSpc>
              <a:buNone/>
            </a:pPr>
            <a:r>
              <a:rPr lang="en-US" sz="2000" dirty="0">
                <a:solidFill>
                  <a:srgbClr val="22C2F4"/>
                </a:solidFill>
                <a:latin typeface="Poppins" pitchFamily="34" charset="0"/>
                <a:ea typeface="Poppins" pitchFamily="34" charset="-122"/>
                <a:cs typeface="Poppins" pitchFamily="34" charset="-120"/>
              </a:rPr>
              <a:t>→</a:t>
            </a:r>
            <a:endParaRPr lang="en-US" sz="2000" dirty="0"/>
          </a:p>
        </p:txBody>
      </p:sp>
      <p:sp>
        <p:nvSpPr>
          <p:cNvPr id="18" name="Shape 16"/>
          <p:cNvSpPr/>
          <p:nvPr/>
        </p:nvSpPr>
        <p:spPr>
          <a:xfrm>
            <a:off x="3418893" y="1582301"/>
            <a:ext cx="2697095" cy="2820222"/>
          </a:xfrm>
          <a:prstGeom prst="roundRect">
            <a:avLst>
              <a:gd name="adj" fmla="val 5650"/>
            </a:avLst>
          </a:prstGeom>
          <a:solidFill>
            <a:srgbClr val="1E1E24"/>
          </a:solidFill>
          <a:ln w="6350">
            <a:solidFill>
              <a:srgbClr val="2F2F39"/>
            </a:solidFill>
            <a:prstDash val="solid"/>
          </a:ln>
        </p:spPr>
      </p:sp>
      <p:sp>
        <p:nvSpPr>
          <p:cNvPr id="19" name="Shape 17"/>
          <p:cNvSpPr/>
          <p:nvPr/>
        </p:nvSpPr>
        <p:spPr>
          <a:xfrm>
            <a:off x="3641138" y="1779146"/>
            <a:ext cx="1684196" cy="247644"/>
          </a:xfrm>
          <a:prstGeom prst="roundRect">
            <a:avLst>
              <a:gd name="adj" fmla="val 50000"/>
            </a:avLst>
          </a:prstGeom>
          <a:solidFill>
            <a:srgbClr val="22C2F4">
              <a:alpha val="14000"/>
            </a:srgbClr>
          </a:solidFill>
          <a:ln/>
        </p:spPr>
      </p:sp>
      <p:sp>
        <p:nvSpPr>
          <p:cNvPr id="20" name="Text 18"/>
          <p:cNvSpPr txBox="1"/>
          <p:nvPr/>
        </p:nvSpPr>
        <p:spPr>
          <a:xfrm>
            <a:off x="3730036" y="1817245"/>
            <a:ext cx="1566657"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Lakehouse · Unity Catalog</a:t>
            </a:r>
            <a:endParaRPr lang="en-US" sz="900" dirty="0"/>
          </a:p>
        </p:txBody>
      </p:sp>
      <p:sp>
        <p:nvSpPr>
          <p:cNvPr id="21" name="Shape 19"/>
          <p:cNvSpPr/>
          <p:nvPr/>
        </p:nvSpPr>
        <p:spPr>
          <a:xfrm>
            <a:off x="3641138" y="2115688"/>
            <a:ext cx="2252606" cy="361941"/>
          </a:xfrm>
          <a:prstGeom prst="roundRect">
            <a:avLst>
              <a:gd name="adj" fmla="val 24561"/>
            </a:avLst>
          </a:prstGeom>
          <a:solidFill>
            <a:srgbClr val="25252D"/>
          </a:solidFill>
          <a:ln/>
        </p:spPr>
      </p:sp>
      <p:sp>
        <p:nvSpPr>
          <p:cNvPr id="22" name="Text 20"/>
          <p:cNvSpPr txBox="1"/>
          <p:nvPr/>
        </p:nvSpPr>
        <p:spPr>
          <a:xfrm>
            <a:off x="3755435" y="2191886"/>
            <a:ext cx="2104972" cy="209545"/>
          </a:xfrm>
          <a:prstGeom prst="rect">
            <a:avLst/>
          </a:prstGeom>
          <a:noFill/>
          <a:ln/>
        </p:spPr>
        <p:txBody>
          <a:bodyPr wrap="square" lIns="0" tIns="0" rIns="0" bIns="0" rtlCol="0" anchor="t"/>
          <a:lstStyle/>
          <a:p>
            <a:pPr algn="l" indent="0" marL="0">
              <a:lnSpc>
                <a:spcPct val="106838"/>
              </a:lnSpc>
              <a:buNone/>
            </a:pPr>
            <a:r>
              <a:rPr lang="en-US" sz="1100" b="1" dirty="0">
                <a:solidFill>
                  <a:srgbClr val="C98B4B"/>
                </a:solidFill>
                <a:latin typeface="Poppins" pitchFamily="34" charset="0"/>
                <a:ea typeface="Poppins" pitchFamily="34" charset="-122"/>
                <a:cs typeface="Poppins" pitchFamily="34" charset="-120"/>
              </a:rPr>
              <a:t>● Bronze · como veio</a:t>
            </a:r>
            <a:endParaRPr lang="en-US" sz="1100" dirty="0"/>
          </a:p>
        </p:txBody>
      </p:sp>
      <p:sp>
        <p:nvSpPr>
          <p:cNvPr id="23" name="Shape 21"/>
          <p:cNvSpPr/>
          <p:nvPr/>
        </p:nvSpPr>
        <p:spPr>
          <a:xfrm>
            <a:off x="3641138" y="2541127"/>
            <a:ext cx="2252606" cy="571486"/>
          </a:xfrm>
          <a:prstGeom prst="roundRect">
            <a:avLst>
              <a:gd name="adj" fmla="val 15556"/>
            </a:avLst>
          </a:prstGeom>
          <a:solidFill>
            <a:srgbClr val="25252D"/>
          </a:solidFill>
          <a:ln/>
        </p:spPr>
      </p:sp>
      <p:sp>
        <p:nvSpPr>
          <p:cNvPr id="24" name="Text 22"/>
          <p:cNvSpPr txBox="1"/>
          <p:nvPr/>
        </p:nvSpPr>
        <p:spPr>
          <a:xfrm>
            <a:off x="3755435" y="2617325"/>
            <a:ext cx="2104972" cy="419090"/>
          </a:xfrm>
          <a:prstGeom prst="rect">
            <a:avLst/>
          </a:prstGeom>
          <a:noFill/>
          <a:ln/>
        </p:spPr>
        <p:txBody>
          <a:bodyPr wrap="square" lIns="0" tIns="0" rIns="0" bIns="0" rtlCol="0" anchor="t"/>
          <a:lstStyle/>
          <a:p>
            <a:pPr algn="l" indent="0" marL="0">
              <a:lnSpc>
                <a:spcPct val="106838"/>
              </a:lnSpc>
              <a:buNone/>
            </a:pPr>
            <a:r>
              <a:rPr lang="en-US" sz="1100" b="1" dirty="0">
                <a:solidFill>
                  <a:srgbClr val="9FB0AA"/>
                </a:solidFill>
                <a:latin typeface="Poppins" pitchFamily="34" charset="0"/>
                <a:ea typeface="Poppins" pitchFamily="34" charset="-122"/>
                <a:cs typeface="Poppins" pitchFamily="34" charset="-120"/>
              </a:rPr>
              <a:t>● Silver · as 3 ferramentas num modelo só</a:t>
            </a:r>
            <a:endParaRPr lang="en-US" sz="1100" dirty="0"/>
          </a:p>
        </p:txBody>
      </p:sp>
      <p:sp>
        <p:nvSpPr>
          <p:cNvPr id="25" name="Shape 23"/>
          <p:cNvSpPr/>
          <p:nvPr/>
        </p:nvSpPr>
        <p:spPr>
          <a:xfrm>
            <a:off x="3641138" y="3176111"/>
            <a:ext cx="2252606" cy="361941"/>
          </a:xfrm>
          <a:prstGeom prst="roundRect">
            <a:avLst>
              <a:gd name="adj" fmla="val 24561"/>
            </a:avLst>
          </a:prstGeom>
          <a:solidFill>
            <a:srgbClr val="25252D"/>
          </a:solidFill>
          <a:ln/>
        </p:spPr>
      </p:sp>
      <p:sp>
        <p:nvSpPr>
          <p:cNvPr id="26" name="Text 24"/>
          <p:cNvSpPr txBox="1"/>
          <p:nvPr/>
        </p:nvSpPr>
        <p:spPr>
          <a:xfrm>
            <a:off x="3755435" y="3252309"/>
            <a:ext cx="2104972" cy="209545"/>
          </a:xfrm>
          <a:prstGeom prst="rect">
            <a:avLst/>
          </a:prstGeom>
          <a:noFill/>
          <a:ln/>
        </p:spPr>
        <p:txBody>
          <a:bodyPr wrap="square" lIns="0" tIns="0" rIns="0" bIns="0" rtlCol="0" anchor="t"/>
          <a:lstStyle/>
          <a:p>
            <a:pPr algn="l" indent="0" marL="0">
              <a:lnSpc>
                <a:spcPct val="106838"/>
              </a:lnSpc>
              <a:buNone/>
            </a:pPr>
            <a:r>
              <a:rPr lang="en-US" sz="1100" b="1" dirty="0">
                <a:solidFill>
                  <a:srgbClr val="E8C34A"/>
                </a:solidFill>
                <a:latin typeface="Poppins" pitchFamily="34" charset="0"/>
                <a:ea typeface="Poppins" pitchFamily="34" charset="-122"/>
                <a:cs typeface="Poppins" pitchFamily="34" charset="-120"/>
              </a:rPr>
              <a:t>● Gold · KPIs governados</a:t>
            </a:r>
            <a:endParaRPr lang="en-US" sz="1100" dirty="0"/>
          </a:p>
        </p:txBody>
      </p:sp>
      <p:sp>
        <p:nvSpPr>
          <p:cNvPr id="27" name="Text 25"/>
          <p:cNvSpPr txBox="1"/>
          <p:nvPr/>
        </p:nvSpPr>
        <p:spPr>
          <a:xfrm>
            <a:off x="3641138" y="3614250"/>
            <a:ext cx="2342710" cy="591428"/>
          </a:xfrm>
          <a:prstGeom prst="rect">
            <a:avLst/>
          </a:prstGeom>
          <a:noFill/>
          <a:ln/>
        </p:spPr>
        <p:txBody>
          <a:bodyPr wrap="square" lIns="0" tIns="0" rIns="0" bIns="0" rtlCol="0" anchor="t"/>
          <a:lstStyle/>
          <a:p>
            <a:pPr algn="l" indent="0" marL="0">
              <a:lnSpc>
                <a:spcPct val="115385"/>
              </a:lnSpc>
              <a:buNone/>
            </a:pPr>
            <a:r>
              <a:rPr lang="en-US" sz="1150" dirty="0">
                <a:solidFill>
                  <a:srgbClr val="A3A6B4"/>
                </a:solidFill>
                <a:latin typeface="Poppins" pitchFamily="34" charset="0"/>
                <a:ea typeface="Poppins" pitchFamily="34" charset="-122"/>
                <a:cs typeface="Poppins" pitchFamily="34" charset="-120"/>
              </a:rPr>
              <a:t>Lakeflow · ai_classify e ai_extract nos status · Metric View</a:t>
            </a:r>
            <a:endParaRPr lang="en-US" sz="1150" dirty="0"/>
          </a:p>
        </p:txBody>
      </p:sp>
      <p:sp>
        <p:nvSpPr>
          <p:cNvPr id="28" name="Text 26"/>
          <p:cNvSpPr txBox="1"/>
          <p:nvPr/>
        </p:nvSpPr>
        <p:spPr>
          <a:xfrm>
            <a:off x="6204886" y="2801867"/>
            <a:ext cx="241762" cy="380990"/>
          </a:xfrm>
          <a:prstGeom prst="rect">
            <a:avLst/>
          </a:prstGeom>
          <a:noFill/>
          <a:ln/>
        </p:spPr>
        <p:txBody>
          <a:bodyPr wrap="square" lIns="0" tIns="0" rIns="0" bIns="0" rtlCol="0" anchor="t"/>
          <a:lstStyle/>
          <a:p>
            <a:pPr algn="l" indent="0" marL="0">
              <a:lnSpc>
                <a:spcPct val="106838"/>
              </a:lnSpc>
              <a:buNone/>
            </a:pPr>
            <a:r>
              <a:rPr lang="en-US" sz="2000" dirty="0">
                <a:solidFill>
                  <a:srgbClr val="22C2F4"/>
                </a:solidFill>
                <a:latin typeface="Poppins" pitchFamily="34" charset="0"/>
                <a:ea typeface="Poppins" pitchFamily="34" charset="-122"/>
                <a:cs typeface="Poppins" pitchFamily="34" charset="-120"/>
              </a:rPr>
              <a:t>→</a:t>
            </a:r>
            <a:endParaRPr lang="en-US" sz="2000" dirty="0"/>
          </a:p>
        </p:txBody>
      </p:sp>
      <p:sp>
        <p:nvSpPr>
          <p:cNvPr id="29" name="Shape 27"/>
          <p:cNvSpPr/>
          <p:nvPr/>
        </p:nvSpPr>
        <p:spPr>
          <a:xfrm>
            <a:off x="6526248" y="1582301"/>
            <a:ext cx="2246554" cy="2820222"/>
          </a:xfrm>
          <a:prstGeom prst="roundRect">
            <a:avLst>
              <a:gd name="adj" fmla="val 6784"/>
            </a:avLst>
          </a:prstGeom>
          <a:solidFill>
            <a:srgbClr val="1E1E24"/>
          </a:solidFill>
          <a:ln w="6350">
            <a:solidFill>
              <a:srgbClr val="2F2F39"/>
            </a:solidFill>
            <a:prstDash val="solid"/>
          </a:ln>
        </p:spPr>
      </p:sp>
      <p:sp>
        <p:nvSpPr>
          <p:cNvPr id="30" name="Shape 28"/>
          <p:cNvSpPr/>
          <p:nvPr/>
        </p:nvSpPr>
        <p:spPr>
          <a:xfrm>
            <a:off x="6748492" y="1779146"/>
            <a:ext cx="676953" cy="247644"/>
          </a:xfrm>
          <a:prstGeom prst="roundRect">
            <a:avLst>
              <a:gd name="adj" fmla="val 50000"/>
            </a:avLst>
          </a:prstGeom>
          <a:solidFill>
            <a:srgbClr val="22C2F4">
              <a:alpha val="14000"/>
            </a:srgbClr>
          </a:solidFill>
          <a:ln/>
        </p:spPr>
      </p:sp>
      <p:sp>
        <p:nvSpPr>
          <p:cNvPr id="31" name="Text 29"/>
          <p:cNvSpPr txBox="1"/>
          <p:nvPr/>
        </p:nvSpPr>
        <p:spPr>
          <a:xfrm>
            <a:off x="6837390" y="1817245"/>
            <a:ext cx="519123"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Previsão</a:t>
            </a:r>
            <a:endParaRPr lang="en-US" sz="900" dirty="0"/>
          </a:p>
        </p:txBody>
      </p:sp>
      <p:sp>
        <p:nvSpPr>
          <p:cNvPr id="32" name="Shape 30"/>
          <p:cNvSpPr/>
          <p:nvPr/>
        </p:nvSpPr>
        <p:spPr>
          <a:xfrm>
            <a:off x="6748492" y="2198236"/>
            <a:ext cx="76198" cy="76198"/>
          </a:xfrm>
          <a:prstGeom prst="roundRect">
            <a:avLst>
              <a:gd name="adj" fmla="val 25000"/>
            </a:avLst>
          </a:prstGeom>
          <a:solidFill>
            <a:srgbClr val="22C2F4"/>
          </a:solidFill>
          <a:ln/>
        </p:spPr>
      </p:sp>
      <p:sp>
        <p:nvSpPr>
          <p:cNvPr id="33" name="Text 31"/>
          <p:cNvSpPr txBox="1"/>
          <p:nvPr/>
        </p:nvSpPr>
        <p:spPr>
          <a:xfrm>
            <a:off x="6938987" y="2115688"/>
            <a:ext cx="1676033"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modelo de estouro em 30 dias</a:t>
            </a:r>
            <a:endParaRPr lang="en-US" sz="1200" dirty="0"/>
          </a:p>
        </p:txBody>
      </p:sp>
      <p:sp>
        <p:nvSpPr>
          <p:cNvPr id="34" name="Shape 32"/>
          <p:cNvSpPr/>
          <p:nvPr/>
        </p:nvSpPr>
        <p:spPr>
          <a:xfrm>
            <a:off x="6748492" y="2685784"/>
            <a:ext cx="76198" cy="76198"/>
          </a:xfrm>
          <a:prstGeom prst="roundRect">
            <a:avLst>
              <a:gd name="adj" fmla="val 25000"/>
            </a:avLst>
          </a:prstGeom>
          <a:solidFill>
            <a:srgbClr val="22C2F4"/>
          </a:solidFill>
          <a:ln/>
        </p:spPr>
      </p:sp>
      <p:sp>
        <p:nvSpPr>
          <p:cNvPr id="35" name="Text 33"/>
          <p:cNvSpPr txBox="1"/>
          <p:nvPr/>
        </p:nvSpPr>
        <p:spPr>
          <a:xfrm>
            <a:off x="6938987" y="2603236"/>
            <a:ext cx="1676033"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score por projeto, com motivo</a:t>
            </a:r>
            <a:endParaRPr lang="en-US" sz="1200" dirty="0"/>
          </a:p>
        </p:txBody>
      </p:sp>
      <p:sp>
        <p:nvSpPr>
          <p:cNvPr id="36" name="Text 34"/>
          <p:cNvSpPr txBox="1"/>
          <p:nvPr/>
        </p:nvSpPr>
        <p:spPr>
          <a:xfrm>
            <a:off x="8861700" y="2801867"/>
            <a:ext cx="241762" cy="380990"/>
          </a:xfrm>
          <a:prstGeom prst="rect">
            <a:avLst/>
          </a:prstGeom>
          <a:noFill/>
          <a:ln/>
        </p:spPr>
        <p:txBody>
          <a:bodyPr wrap="square" lIns="0" tIns="0" rIns="0" bIns="0" rtlCol="0" anchor="t"/>
          <a:lstStyle/>
          <a:p>
            <a:pPr algn="l" indent="0" marL="0">
              <a:lnSpc>
                <a:spcPct val="106838"/>
              </a:lnSpc>
              <a:buNone/>
            </a:pPr>
            <a:r>
              <a:rPr lang="en-US" sz="2000" dirty="0">
                <a:solidFill>
                  <a:srgbClr val="22C2F4"/>
                </a:solidFill>
                <a:latin typeface="Poppins" pitchFamily="34" charset="0"/>
                <a:ea typeface="Poppins" pitchFamily="34" charset="-122"/>
                <a:cs typeface="Poppins" pitchFamily="34" charset="-120"/>
              </a:rPr>
              <a:t>→</a:t>
            </a:r>
            <a:endParaRPr lang="en-US" sz="2000" dirty="0"/>
          </a:p>
        </p:txBody>
      </p:sp>
      <p:sp>
        <p:nvSpPr>
          <p:cNvPr id="37" name="Shape 35"/>
          <p:cNvSpPr/>
          <p:nvPr/>
        </p:nvSpPr>
        <p:spPr>
          <a:xfrm>
            <a:off x="9183061" y="1582301"/>
            <a:ext cx="2246653" cy="2820222"/>
          </a:xfrm>
          <a:prstGeom prst="roundRect">
            <a:avLst>
              <a:gd name="adj" fmla="val 6783"/>
            </a:avLst>
          </a:prstGeom>
          <a:solidFill>
            <a:srgbClr val="1E1E24"/>
          </a:solidFill>
          <a:ln w="6350">
            <a:solidFill>
              <a:srgbClr val="2F2F39"/>
            </a:solidFill>
            <a:prstDash val="solid"/>
          </a:ln>
        </p:spPr>
      </p:sp>
      <p:sp>
        <p:nvSpPr>
          <p:cNvPr id="38" name="Shape 36"/>
          <p:cNvSpPr/>
          <p:nvPr/>
        </p:nvSpPr>
        <p:spPr>
          <a:xfrm>
            <a:off x="9405305" y="1779146"/>
            <a:ext cx="643616" cy="247644"/>
          </a:xfrm>
          <a:prstGeom prst="roundRect">
            <a:avLst>
              <a:gd name="adj" fmla="val 50000"/>
            </a:avLst>
          </a:prstGeom>
          <a:solidFill>
            <a:srgbClr val="22C2F4">
              <a:alpha val="14000"/>
            </a:srgbClr>
          </a:solidFill>
          <a:ln/>
        </p:spPr>
      </p:sp>
      <p:sp>
        <p:nvSpPr>
          <p:cNvPr id="39" name="Text 37"/>
          <p:cNvSpPr txBox="1"/>
          <p:nvPr/>
        </p:nvSpPr>
        <p:spPr>
          <a:xfrm>
            <a:off x="9494203" y="1817245"/>
            <a:ext cx="484453"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Decisão</a:t>
            </a:r>
            <a:endParaRPr lang="en-US" sz="900" dirty="0"/>
          </a:p>
        </p:txBody>
      </p:sp>
      <p:sp>
        <p:nvSpPr>
          <p:cNvPr id="40" name="Shape 38"/>
          <p:cNvSpPr/>
          <p:nvPr/>
        </p:nvSpPr>
        <p:spPr>
          <a:xfrm>
            <a:off x="9405305" y="2198236"/>
            <a:ext cx="76198" cy="76198"/>
          </a:xfrm>
          <a:prstGeom prst="roundRect">
            <a:avLst>
              <a:gd name="adj" fmla="val 25000"/>
            </a:avLst>
          </a:prstGeom>
          <a:solidFill>
            <a:srgbClr val="22C2F4"/>
          </a:solidFill>
          <a:ln/>
        </p:spPr>
      </p:sp>
      <p:sp>
        <p:nvSpPr>
          <p:cNvPr id="41" name="Text 39"/>
          <p:cNvSpPr txBox="1"/>
          <p:nvPr/>
        </p:nvSpPr>
        <p:spPr>
          <a:xfrm>
            <a:off x="9595801" y="2115688"/>
            <a:ext cx="1676136"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dashboard</a:t>
            </a:r>
            <a:endParaRPr lang="en-US" sz="1200" dirty="0"/>
          </a:p>
        </p:txBody>
      </p:sp>
      <p:sp>
        <p:nvSpPr>
          <p:cNvPr id="42" name="Shape 40"/>
          <p:cNvSpPr/>
          <p:nvPr/>
        </p:nvSpPr>
        <p:spPr>
          <a:xfrm>
            <a:off x="9405305" y="2480109"/>
            <a:ext cx="76198" cy="76198"/>
          </a:xfrm>
          <a:prstGeom prst="roundRect">
            <a:avLst>
              <a:gd name="adj" fmla="val 25000"/>
            </a:avLst>
          </a:prstGeom>
          <a:solidFill>
            <a:srgbClr val="22C2F4"/>
          </a:solidFill>
          <a:ln/>
        </p:spPr>
      </p:sp>
      <p:sp>
        <p:nvSpPr>
          <p:cNvPr id="43" name="Text 41"/>
          <p:cNvSpPr txBox="1"/>
          <p:nvPr/>
        </p:nvSpPr>
        <p:spPr>
          <a:xfrm>
            <a:off x="9595801" y="2397561"/>
            <a:ext cx="1676136"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Genie em português</a:t>
            </a:r>
            <a:endParaRPr lang="en-US" sz="1200" dirty="0"/>
          </a:p>
        </p:txBody>
      </p:sp>
      <p:sp>
        <p:nvSpPr>
          <p:cNvPr id="44" name="Shape 42"/>
          <p:cNvSpPr/>
          <p:nvPr/>
        </p:nvSpPr>
        <p:spPr>
          <a:xfrm>
            <a:off x="9405305" y="2761983"/>
            <a:ext cx="76198" cy="76198"/>
          </a:xfrm>
          <a:prstGeom prst="roundRect">
            <a:avLst>
              <a:gd name="adj" fmla="val 25000"/>
            </a:avLst>
          </a:prstGeom>
          <a:solidFill>
            <a:srgbClr val="22C2F4"/>
          </a:solidFill>
          <a:ln/>
        </p:spPr>
      </p:sp>
      <p:sp>
        <p:nvSpPr>
          <p:cNvPr id="45" name="Text 43"/>
          <p:cNvSpPr txBox="1"/>
          <p:nvPr/>
        </p:nvSpPr>
        <p:spPr>
          <a:xfrm>
            <a:off x="9595801" y="2679435"/>
            <a:ext cx="1676136"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app de aprovação + Lakebase</a:t>
            </a:r>
            <a:endParaRPr lang="en-US" sz="1200" dirty="0"/>
          </a:p>
        </p:txBody>
      </p:sp>
      <p:sp>
        <p:nvSpPr>
          <p:cNvPr id="46" name="Shape 44"/>
          <p:cNvSpPr/>
          <p:nvPr/>
        </p:nvSpPr>
        <p:spPr>
          <a:xfrm>
            <a:off x="9405305" y="3249531"/>
            <a:ext cx="76198" cy="76198"/>
          </a:xfrm>
          <a:prstGeom prst="roundRect">
            <a:avLst>
              <a:gd name="adj" fmla="val 25000"/>
            </a:avLst>
          </a:prstGeom>
          <a:solidFill>
            <a:srgbClr val="22C2F4"/>
          </a:solidFill>
          <a:ln/>
        </p:spPr>
      </p:sp>
      <p:sp>
        <p:nvSpPr>
          <p:cNvPr id="47" name="Text 45"/>
          <p:cNvSpPr txBox="1"/>
          <p:nvPr/>
        </p:nvSpPr>
        <p:spPr>
          <a:xfrm>
            <a:off x="9595801" y="3166983"/>
            <a:ext cx="1676136"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agente de contratos</a:t>
            </a:r>
            <a:endParaRPr lang="en-US" sz="1200" dirty="0"/>
          </a:p>
        </p:txBody>
      </p:sp>
      <p:sp>
        <p:nvSpPr>
          <p:cNvPr id="48" name="Shape 46"/>
          <p:cNvSpPr/>
          <p:nvPr/>
        </p:nvSpPr>
        <p:spPr>
          <a:xfrm>
            <a:off x="761981" y="4580319"/>
            <a:ext cx="25399" cy="285743"/>
          </a:xfrm>
          <a:prstGeom prst="rect">
            <a:avLst/>
          </a:prstGeom>
          <a:solidFill>
            <a:srgbClr val="22C2F4"/>
          </a:solidFill>
          <a:ln/>
        </p:spPr>
      </p:sp>
      <p:sp>
        <p:nvSpPr>
          <p:cNvPr id="49" name="Text 47"/>
          <p:cNvSpPr txBox="1"/>
          <p:nvPr/>
        </p:nvSpPr>
        <p:spPr>
          <a:xfrm>
            <a:off x="914377" y="4618418"/>
            <a:ext cx="10935951" cy="209545"/>
          </a:xfrm>
          <a:prstGeom prst="rect">
            <a:avLst/>
          </a:prstGeom>
          <a:noFill/>
          <a:ln/>
        </p:spPr>
        <p:txBody>
          <a:bodyPr wrap="square" lIns="0" tIns="0" rIns="0" bIns="0" rtlCol="0" anchor="t"/>
          <a:lstStyle/>
          <a:p>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Os KPIs são definidos </a:t>
            </a:r>
            <a:pPr algn="l" indent="0" marL="0">
              <a:lnSpc>
                <a:spcPct val="106838"/>
              </a:lnSpc>
              <a:buNone/>
            </a:pPr>
            <a:r>
              <a:rPr lang="en-US" sz="1100" b="1" dirty="0">
                <a:solidFill>
                  <a:srgbClr val="FFFFFF"/>
                </a:solidFill>
                <a:latin typeface="Poppins" pitchFamily="34" charset="0"/>
                <a:ea typeface="Poppins" pitchFamily="34" charset="-122"/>
                <a:cs typeface="Poppins" pitchFamily="34" charset="-120"/>
              </a:rPr>
              <a:t>uma vez</a:t>
            </a:r>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 e reusados no dashboard, no Genie, no app e no agente.</a:t>
            </a:r>
            <a:endParaRPr lang="en-US" sz="1100" dirty="0"/>
          </a:p>
        </p:txBody>
      </p:sp>
      <p:pic>
        <p:nvPicPr>
          <p:cNvPr id="50"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51" name="Text 48"/>
          <p:cNvSpPr txBox="1"/>
          <p:nvPr/>
        </p:nvSpPr>
        <p:spPr>
          <a:xfrm>
            <a:off x="11031956" y="6387940"/>
            <a:ext cx="413668"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7 / 133</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QUEM SE BENEFICIA</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Cada pessoa da Vértice usa uma porta diferente</a:t>
            </a:r>
            <a:endParaRPr lang="en-US" sz="3100" dirty="0"/>
          </a:p>
        </p:txBody>
      </p:sp>
      <p:sp>
        <p:nvSpPr>
          <p:cNvPr id="4" name="Text 2"/>
          <p:cNvSpPr txBox="1"/>
          <p:nvPr/>
        </p:nvSpPr>
        <p:spPr>
          <a:xfrm>
            <a:off x="876278" y="1582301"/>
            <a:ext cx="2189274" cy="171446"/>
          </a:xfrm>
          <a:prstGeom prst="rect">
            <a:avLst/>
          </a:prstGeom>
          <a:noFill/>
          <a:ln/>
        </p:spPr>
        <p:txBody>
          <a:bodyPr wrap="square" lIns="0" tIns="0" rIns="0" bIns="0" rtlCol="0" anchor="t"/>
          <a:lstStyle/>
          <a:p>
            <a:pPr algn="l"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QUEM</a:t>
            </a:r>
            <a:endParaRPr lang="en-US" sz="900" dirty="0"/>
          </a:p>
        </p:txBody>
      </p:sp>
      <p:sp>
        <p:nvSpPr>
          <p:cNvPr id="5" name="Text 3"/>
          <p:cNvSpPr txBox="1"/>
          <p:nvPr/>
        </p:nvSpPr>
        <p:spPr>
          <a:xfrm>
            <a:off x="3209944" y="1582301"/>
            <a:ext cx="3937124" cy="171446"/>
          </a:xfrm>
          <a:prstGeom prst="rect">
            <a:avLst/>
          </a:prstGeom>
          <a:noFill/>
          <a:ln/>
        </p:spPr>
        <p:txBody>
          <a:bodyPr wrap="square" lIns="0" tIns="0" rIns="0" bIns="0" rtlCol="0" anchor="t"/>
          <a:lstStyle/>
          <a:p>
            <a:pPr algn="l"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O QUE PRECISA</a:t>
            </a:r>
            <a:endParaRPr lang="en-US" sz="900" dirty="0"/>
          </a:p>
        </p:txBody>
      </p:sp>
      <p:sp>
        <p:nvSpPr>
          <p:cNvPr id="6" name="Text 4"/>
          <p:cNvSpPr txBox="1"/>
          <p:nvPr/>
        </p:nvSpPr>
        <p:spPr>
          <a:xfrm>
            <a:off x="7224234" y="1582301"/>
            <a:ext cx="4254830" cy="171446"/>
          </a:xfrm>
          <a:prstGeom prst="rect">
            <a:avLst/>
          </a:prstGeom>
          <a:noFill/>
          <a:ln/>
        </p:spPr>
        <p:txBody>
          <a:bodyPr wrap="square" lIns="0" tIns="0" rIns="0" bIns="0" rtlCol="0" anchor="t"/>
          <a:lstStyle/>
          <a:p>
            <a:pPr algn="l"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COMO USA A TORRE</a:t>
            </a:r>
            <a:endParaRPr lang="en-US" sz="900" dirty="0"/>
          </a:p>
        </p:txBody>
      </p:sp>
      <p:sp>
        <p:nvSpPr>
          <p:cNvPr id="7" name="Shape 5"/>
          <p:cNvSpPr/>
          <p:nvPr/>
        </p:nvSpPr>
        <p:spPr>
          <a:xfrm>
            <a:off x="761981" y="1880744"/>
            <a:ext cx="2333666" cy="384761"/>
          </a:xfrm>
          <a:prstGeom prst="rect">
            <a:avLst/>
          </a:prstGeom>
          <a:solidFill>
            <a:srgbClr val="1E1E24"/>
          </a:solidFill>
          <a:ln/>
        </p:spPr>
      </p:sp>
      <p:sp>
        <p:nvSpPr>
          <p:cNvPr id="8" name="Text 6"/>
          <p:cNvSpPr txBox="1"/>
          <p:nvPr/>
        </p:nvSpPr>
        <p:spPr>
          <a:xfrm>
            <a:off x="876278" y="1982341"/>
            <a:ext cx="2189274" cy="181566"/>
          </a:xfrm>
          <a:prstGeom prst="rect">
            <a:avLst/>
          </a:prstGeom>
          <a:noFill/>
          <a:ln/>
        </p:spPr>
        <p:txBody>
          <a:bodyPr wrap="square" lIns="0" tIns="0" rIns="0" bIns="0" rtlCol="0" anchor="t"/>
          <a:lstStyle/>
          <a:p>
            <a:pPr algn="l" indent="0" marL="0">
              <a:lnSpc>
                <a:spcPct val="111111"/>
              </a:lnSpc>
              <a:buNone/>
            </a:pPr>
            <a:r>
              <a:rPr lang="en-US" sz="1100" b="1" dirty="0">
                <a:solidFill>
                  <a:srgbClr val="F5F6FC"/>
                </a:solidFill>
                <a:latin typeface="Poppins" pitchFamily="34" charset="0"/>
                <a:ea typeface="Poppins" pitchFamily="34" charset="-122"/>
                <a:cs typeface="Poppins" pitchFamily="34" charset="-120"/>
              </a:rPr>
              <a:t>Dono e diretoria</a:t>
            </a:r>
            <a:endParaRPr lang="en-US" sz="1100" dirty="0"/>
          </a:p>
        </p:txBody>
      </p:sp>
      <p:sp>
        <p:nvSpPr>
          <p:cNvPr id="9" name="Shape 7"/>
          <p:cNvSpPr/>
          <p:nvPr/>
        </p:nvSpPr>
        <p:spPr>
          <a:xfrm>
            <a:off x="3095647" y="1880744"/>
            <a:ext cx="4014290" cy="384761"/>
          </a:xfrm>
          <a:prstGeom prst="rect">
            <a:avLst/>
          </a:prstGeom>
          <a:solidFill>
            <a:srgbClr val="1E1E24"/>
          </a:solidFill>
          <a:ln/>
        </p:spPr>
      </p:sp>
      <p:sp>
        <p:nvSpPr>
          <p:cNvPr id="10" name="Text 8"/>
          <p:cNvSpPr txBox="1"/>
          <p:nvPr/>
        </p:nvSpPr>
        <p:spPr>
          <a:xfrm>
            <a:off x="3209944" y="1982341"/>
            <a:ext cx="3937124"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quais projetos atrasam e quanto custa</a:t>
            </a:r>
            <a:endParaRPr lang="en-US" sz="1100" dirty="0"/>
          </a:p>
        </p:txBody>
      </p:sp>
      <p:sp>
        <p:nvSpPr>
          <p:cNvPr id="11" name="Shape 9"/>
          <p:cNvSpPr/>
          <p:nvPr/>
        </p:nvSpPr>
        <p:spPr>
          <a:xfrm>
            <a:off x="7109937" y="1880744"/>
            <a:ext cx="4319777" cy="384761"/>
          </a:xfrm>
          <a:prstGeom prst="rect">
            <a:avLst/>
          </a:prstGeom>
          <a:solidFill>
            <a:srgbClr val="1E1E24"/>
          </a:solidFill>
          <a:ln/>
        </p:spPr>
      </p:sp>
      <p:sp>
        <p:nvSpPr>
          <p:cNvPr id="12" name="Text 10"/>
          <p:cNvSpPr txBox="1"/>
          <p:nvPr/>
        </p:nvSpPr>
        <p:spPr>
          <a:xfrm>
            <a:off x="7224234" y="1982341"/>
            <a:ext cx="4254830"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dashboard de portfólio + pergunta ao Genie</a:t>
            </a:r>
            <a:endParaRPr lang="en-US" sz="1100" dirty="0"/>
          </a:p>
        </p:txBody>
      </p:sp>
      <p:sp>
        <p:nvSpPr>
          <p:cNvPr id="13" name="Shape 11"/>
          <p:cNvSpPr/>
          <p:nvPr/>
        </p:nvSpPr>
        <p:spPr>
          <a:xfrm>
            <a:off x="761981" y="2316303"/>
            <a:ext cx="2333666" cy="384761"/>
          </a:xfrm>
          <a:prstGeom prst="rect">
            <a:avLst/>
          </a:prstGeom>
          <a:solidFill>
            <a:srgbClr val="1E1E24"/>
          </a:solidFill>
          <a:ln/>
        </p:spPr>
      </p:sp>
      <p:sp>
        <p:nvSpPr>
          <p:cNvPr id="14" name="Text 12"/>
          <p:cNvSpPr txBox="1"/>
          <p:nvPr/>
        </p:nvSpPr>
        <p:spPr>
          <a:xfrm>
            <a:off x="876278" y="2417900"/>
            <a:ext cx="2189274" cy="181566"/>
          </a:xfrm>
          <a:prstGeom prst="rect">
            <a:avLst/>
          </a:prstGeom>
          <a:noFill/>
          <a:ln/>
        </p:spPr>
        <p:txBody>
          <a:bodyPr wrap="square" lIns="0" tIns="0" rIns="0" bIns="0" rtlCol="0" anchor="t"/>
          <a:lstStyle/>
          <a:p>
            <a:pPr algn="l" indent="0" marL="0">
              <a:lnSpc>
                <a:spcPct val="111111"/>
              </a:lnSpc>
              <a:buNone/>
            </a:pPr>
            <a:r>
              <a:rPr lang="en-US" sz="1100" b="1" dirty="0">
                <a:solidFill>
                  <a:srgbClr val="F5F6FC"/>
                </a:solidFill>
                <a:latin typeface="Poppins" pitchFamily="34" charset="0"/>
                <a:ea typeface="Poppins" pitchFamily="34" charset="-122"/>
                <a:cs typeface="Poppins" pitchFamily="34" charset="-120"/>
              </a:rPr>
              <a:t>Gerente de projeto</a:t>
            </a:r>
            <a:endParaRPr lang="en-US" sz="1100" dirty="0"/>
          </a:p>
        </p:txBody>
      </p:sp>
      <p:sp>
        <p:nvSpPr>
          <p:cNvPr id="15" name="Shape 13"/>
          <p:cNvSpPr/>
          <p:nvPr/>
        </p:nvSpPr>
        <p:spPr>
          <a:xfrm>
            <a:off x="3095647" y="2316303"/>
            <a:ext cx="4014290" cy="384761"/>
          </a:xfrm>
          <a:prstGeom prst="rect">
            <a:avLst/>
          </a:prstGeom>
          <a:solidFill>
            <a:srgbClr val="1E1E24"/>
          </a:solidFill>
          <a:ln/>
        </p:spPr>
      </p:sp>
      <p:sp>
        <p:nvSpPr>
          <p:cNvPr id="16" name="Text 14"/>
          <p:cNvSpPr txBox="1"/>
          <p:nvPr/>
        </p:nvSpPr>
        <p:spPr>
          <a:xfrm>
            <a:off x="3209944" y="2417900"/>
            <a:ext cx="3937124"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status do projeto, causa do desvio</a:t>
            </a:r>
            <a:endParaRPr lang="en-US" sz="1100" dirty="0"/>
          </a:p>
        </p:txBody>
      </p:sp>
      <p:sp>
        <p:nvSpPr>
          <p:cNvPr id="17" name="Shape 15"/>
          <p:cNvSpPr/>
          <p:nvPr/>
        </p:nvSpPr>
        <p:spPr>
          <a:xfrm>
            <a:off x="7109937" y="2316303"/>
            <a:ext cx="4319777" cy="384761"/>
          </a:xfrm>
          <a:prstGeom prst="rect">
            <a:avLst/>
          </a:prstGeom>
          <a:solidFill>
            <a:srgbClr val="1E1E24"/>
          </a:solidFill>
          <a:ln/>
        </p:spPr>
      </p:sp>
      <p:sp>
        <p:nvSpPr>
          <p:cNvPr id="18" name="Text 16"/>
          <p:cNvSpPr txBox="1"/>
          <p:nvPr/>
        </p:nvSpPr>
        <p:spPr>
          <a:xfrm>
            <a:off x="7224234" y="2417900"/>
            <a:ext cx="4254830"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a causa extraída do status semanal, sem farol de enfeite</a:t>
            </a:r>
            <a:endParaRPr lang="en-US" sz="1100" dirty="0"/>
          </a:p>
        </p:txBody>
      </p:sp>
      <p:sp>
        <p:nvSpPr>
          <p:cNvPr id="19" name="Shape 17"/>
          <p:cNvSpPr/>
          <p:nvPr/>
        </p:nvSpPr>
        <p:spPr>
          <a:xfrm>
            <a:off x="761981" y="2751862"/>
            <a:ext cx="2333666" cy="384761"/>
          </a:xfrm>
          <a:prstGeom prst="rect">
            <a:avLst/>
          </a:prstGeom>
          <a:solidFill>
            <a:srgbClr val="1E1E24"/>
          </a:solidFill>
          <a:ln/>
        </p:spPr>
      </p:sp>
      <p:sp>
        <p:nvSpPr>
          <p:cNvPr id="20" name="Text 18"/>
          <p:cNvSpPr txBox="1"/>
          <p:nvPr/>
        </p:nvSpPr>
        <p:spPr>
          <a:xfrm>
            <a:off x="876278" y="2853460"/>
            <a:ext cx="2189274" cy="181566"/>
          </a:xfrm>
          <a:prstGeom prst="rect">
            <a:avLst/>
          </a:prstGeom>
          <a:noFill/>
          <a:ln/>
        </p:spPr>
        <p:txBody>
          <a:bodyPr wrap="square" lIns="0" tIns="0" rIns="0" bIns="0" rtlCol="0" anchor="t"/>
          <a:lstStyle/>
          <a:p>
            <a:pPr algn="l" indent="0" marL="0">
              <a:lnSpc>
                <a:spcPct val="111111"/>
              </a:lnSpc>
              <a:buNone/>
            </a:pPr>
            <a:r>
              <a:rPr lang="en-US" sz="1100" b="1" dirty="0">
                <a:solidFill>
                  <a:srgbClr val="F5F6FC"/>
                </a:solidFill>
                <a:latin typeface="Poppins" pitchFamily="34" charset="0"/>
                <a:ea typeface="Poppins" pitchFamily="34" charset="-122"/>
                <a:cs typeface="Poppins" pitchFamily="34" charset="-120"/>
              </a:rPr>
              <a:t>PMO</a:t>
            </a:r>
            <a:endParaRPr lang="en-US" sz="1100" dirty="0"/>
          </a:p>
        </p:txBody>
      </p:sp>
      <p:sp>
        <p:nvSpPr>
          <p:cNvPr id="21" name="Shape 19"/>
          <p:cNvSpPr/>
          <p:nvPr/>
        </p:nvSpPr>
        <p:spPr>
          <a:xfrm>
            <a:off x="3095647" y="2751862"/>
            <a:ext cx="4014290" cy="384761"/>
          </a:xfrm>
          <a:prstGeom prst="rect">
            <a:avLst/>
          </a:prstGeom>
          <a:solidFill>
            <a:srgbClr val="1E1E24"/>
          </a:solidFill>
          <a:ln/>
        </p:spPr>
      </p:sp>
      <p:sp>
        <p:nvSpPr>
          <p:cNvPr id="22" name="Text 20"/>
          <p:cNvSpPr txBox="1"/>
          <p:nvPr/>
        </p:nvSpPr>
        <p:spPr>
          <a:xfrm>
            <a:off x="3209944" y="2853460"/>
            <a:ext cx="3937124"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as 3 ferramentas numa visão só, simular realocação</a:t>
            </a:r>
            <a:endParaRPr lang="en-US" sz="1100" dirty="0"/>
          </a:p>
        </p:txBody>
      </p:sp>
      <p:sp>
        <p:nvSpPr>
          <p:cNvPr id="23" name="Shape 21"/>
          <p:cNvSpPr/>
          <p:nvPr/>
        </p:nvSpPr>
        <p:spPr>
          <a:xfrm>
            <a:off x="7109937" y="2751862"/>
            <a:ext cx="4319777" cy="384761"/>
          </a:xfrm>
          <a:prstGeom prst="rect">
            <a:avLst/>
          </a:prstGeom>
          <a:solidFill>
            <a:srgbClr val="1E1E24"/>
          </a:solidFill>
          <a:ln/>
        </p:spPr>
      </p:sp>
      <p:sp>
        <p:nvSpPr>
          <p:cNvPr id="24" name="Text 22"/>
          <p:cNvSpPr txBox="1"/>
          <p:nvPr/>
        </p:nvSpPr>
        <p:spPr>
          <a:xfrm>
            <a:off x="7224234" y="2853460"/>
            <a:ext cx="4254830"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app: simula, aprova e registra a decisão</a:t>
            </a:r>
            <a:endParaRPr lang="en-US" sz="1100" dirty="0"/>
          </a:p>
        </p:txBody>
      </p:sp>
      <p:sp>
        <p:nvSpPr>
          <p:cNvPr id="25" name="Shape 23"/>
          <p:cNvSpPr/>
          <p:nvPr/>
        </p:nvSpPr>
        <p:spPr>
          <a:xfrm>
            <a:off x="761981" y="3187422"/>
            <a:ext cx="2333666" cy="384761"/>
          </a:xfrm>
          <a:prstGeom prst="rect">
            <a:avLst/>
          </a:prstGeom>
          <a:solidFill>
            <a:srgbClr val="1E1E24"/>
          </a:solidFill>
          <a:ln/>
        </p:spPr>
      </p:sp>
      <p:sp>
        <p:nvSpPr>
          <p:cNvPr id="26" name="Text 24"/>
          <p:cNvSpPr txBox="1"/>
          <p:nvPr/>
        </p:nvSpPr>
        <p:spPr>
          <a:xfrm>
            <a:off x="876278" y="3289019"/>
            <a:ext cx="2189274" cy="181566"/>
          </a:xfrm>
          <a:prstGeom prst="rect">
            <a:avLst/>
          </a:prstGeom>
          <a:noFill/>
          <a:ln/>
        </p:spPr>
        <p:txBody>
          <a:bodyPr wrap="square" lIns="0" tIns="0" rIns="0" bIns="0" rtlCol="0" anchor="t"/>
          <a:lstStyle/>
          <a:p>
            <a:pPr algn="l" indent="0" marL="0">
              <a:lnSpc>
                <a:spcPct val="111111"/>
              </a:lnSpc>
              <a:buNone/>
            </a:pPr>
            <a:r>
              <a:rPr lang="en-US" sz="1100" b="1" dirty="0">
                <a:solidFill>
                  <a:srgbClr val="F5F6FC"/>
                </a:solidFill>
                <a:latin typeface="Poppins" pitchFamily="34" charset="0"/>
                <a:ea typeface="Poppins" pitchFamily="34" charset="-122"/>
                <a:cs typeface="Poppins" pitchFamily="34" charset="-120"/>
              </a:rPr>
              <a:t>Financeiro e controller</a:t>
            </a:r>
            <a:endParaRPr lang="en-US" sz="1100" dirty="0"/>
          </a:p>
        </p:txBody>
      </p:sp>
      <p:sp>
        <p:nvSpPr>
          <p:cNvPr id="27" name="Shape 25"/>
          <p:cNvSpPr/>
          <p:nvPr/>
        </p:nvSpPr>
        <p:spPr>
          <a:xfrm>
            <a:off x="3095647" y="3187422"/>
            <a:ext cx="4014290" cy="384761"/>
          </a:xfrm>
          <a:prstGeom prst="rect">
            <a:avLst/>
          </a:prstGeom>
          <a:solidFill>
            <a:srgbClr val="1E1E24"/>
          </a:solidFill>
          <a:ln/>
        </p:spPr>
      </p:sp>
      <p:sp>
        <p:nvSpPr>
          <p:cNvPr id="28" name="Text 26"/>
          <p:cNvSpPr txBox="1"/>
          <p:nvPr/>
        </p:nvSpPr>
        <p:spPr>
          <a:xfrm>
            <a:off x="3209944" y="3289019"/>
            <a:ext cx="3937124"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margem por contrato, estouro previsto</a:t>
            </a:r>
            <a:endParaRPr lang="en-US" sz="1100" dirty="0"/>
          </a:p>
        </p:txBody>
      </p:sp>
      <p:sp>
        <p:nvSpPr>
          <p:cNvPr id="29" name="Shape 27"/>
          <p:cNvSpPr/>
          <p:nvPr/>
        </p:nvSpPr>
        <p:spPr>
          <a:xfrm>
            <a:off x="7109937" y="3187422"/>
            <a:ext cx="4319777" cy="384761"/>
          </a:xfrm>
          <a:prstGeom prst="rect">
            <a:avLst/>
          </a:prstGeom>
          <a:solidFill>
            <a:srgbClr val="1E1E24"/>
          </a:solidFill>
          <a:ln/>
        </p:spPr>
      </p:sp>
      <p:sp>
        <p:nvSpPr>
          <p:cNvPr id="30" name="Text 28"/>
          <p:cNvSpPr txBox="1"/>
          <p:nvPr/>
        </p:nvSpPr>
        <p:spPr>
          <a:xfrm>
            <a:off x="7224234" y="3289019"/>
            <a:ext cx="4254830"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EAC e margem projetada governados</a:t>
            </a:r>
            <a:endParaRPr lang="en-US" sz="1100" dirty="0"/>
          </a:p>
        </p:txBody>
      </p:sp>
      <p:sp>
        <p:nvSpPr>
          <p:cNvPr id="31" name="Shape 29"/>
          <p:cNvSpPr/>
          <p:nvPr/>
        </p:nvSpPr>
        <p:spPr>
          <a:xfrm>
            <a:off x="761981" y="3622981"/>
            <a:ext cx="2333666" cy="384761"/>
          </a:xfrm>
          <a:prstGeom prst="rect">
            <a:avLst/>
          </a:prstGeom>
          <a:solidFill>
            <a:srgbClr val="1E1E24"/>
          </a:solidFill>
          <a:ln/>
        </p:spPr>
      </p:sp>
      <p:sp>
        <p:nvSpPr>
          <p:cNvPr id="32" name="Text 30"/>
          <p:cNvSpPr txBox="1"/>
          <p:nvPr/>
        </p:nvSpPr>
        <p:spPr>
          <a:xfrm>
            <a:off x="876278" y="3724579"/>
            <a:ext cx="2189274" cy="181566"/>
          </a:xfrm>
          <a:prstGeom prst="rect">
            <a:avLst/>
          </a:prstGeom>
          <a:noFill/>
          <a:ln/>
        </p:spPr>
        <p:txBody>
          <a:bodyPr wrap="square" lIns="0" tIns="0" rIns="0" bIns="0" rtlCol="0" anchor="t"/>
          <a:lstStyle/>
          <a:p>
            <a:pPr algn="l" indent="0" marL="0">
              <a:lnSpc>
                <a:spcPct val="111111"/>
              </a:lnSpc>
              <a:buNone/>
            </a:pPr>
            <a:r>
              <a:rPr lang="en-US" sz="1100" b="1" dirty="0">
                <a:solidFill>
                  <a:srgbClr val="F5F6FC"/>
                </a:solidFill>
                <a:latin typeface="Poppins" pitchFamily="34" charset="0"/>
                <a:ea typeface="Poppins" pitchFamily="34" charset="-122"/>
                <a:cs typeface="Poppins" pitchFamily="34" charset="-120"/>
              </a:rPr>
              <a:t>Compras</a:t>
            </a:r>
            <a:endParaRPr lang="en-US" sz="1100" dirty="0"/>
          </a:p>
        </p:txBody>
      </p:sp>
      <p:sp>
        <p:nvSpPr>
          <p:cNvPr id="33" name="Shape 31"/>
          <p:cNvSpPr/>
          <p:nvPr/>
        </p:nvSpPr>
        <p:spPr>
          <a:xfrm>
            <a:off x="3095647" y="3622981"/>
            <a:ext cx="4014290" cy="384761"/>
          </a:xfrm>
          <a:prstGeom prst="rect">
            <a:avLst/>
          </a:prstGeom>
          <a:solidFill>
            <a:srgbClr val="1E1E24"/>
          </a:solidFill>
          <a:ln/>
        </p:spPr>
      </p:sp>
      <p:sp>
        <p:nvSpPr>
          <p:cNvPr id="34" name="Text 32"/>
          <p:cNvSpPr txBox="1"/>
          <p:nvPr/>
        </p:nvSpPr>
        <p:spPr>
          <a:xfrm>
            <a:off x="3209944" y="3724579"/>
            <a:ext cx="3937124"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consultoria subcontratada que atrasa</a:t>
            </a:r>
            <a:endParaRPr lang="en-US" sz="1100" dirty="0"/>
          </a:p>
        </p:txBody>
      </p:sp>
      <p:sp>
        <p:nvSpPr>
          <p:cNvPr id="35" name="Shape 33"/>
          <p:cNvSpPr/>
          <p:nvPr/>
        </p:nvSpPr>
        <p:spPr>
          <a:xfrm>
            <a:off x="7109937" y="3622981"/>
            <a:ext cx="4319777" cy="384761"/>
          </a:xfrm>
          <a:prstGeom prst="rect">
            <a:avLst/>
          </a:prstGeom>
          <a:solidFill>
            <a:srgbClr val="1E1E24"/>
          </a:solidFill>
          <a:ln/>
        </p:spPr>
      </p:sp>
      <p:sp>
        <p:nvSpPr>
          <p:cNvPr id="36" name="Text 34"/>
          <p:cNvSpPr txBox="1"/>
          <p:nvPr/>
        </p:nvSpPr>
        <p:spPr>
          <a:xfrm>
            <a:off x="7224234" y="3724579"/>
            <a:ext cx="4254830"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ranking de fornecedor e a multa que dá para cobrar</a:t>
            </a:r>
            <a:endParaRPr lang="en-US" sz="1100" dirty="0"/>
          </a:p>
        </p:txBody>
      </p:sp>
      <p:sp>
        <p:nvSpPr>
          <p:cNvPr id="37" name="Shape 35"/>
          <p:cNvSpPr/>
          <p:nvPr/>
        </p:nvSpPr>
        <p:spPr>
          <a:xfrm>
            <a:off x="761981" y="4058541"/>
            <a:ext cx="2333666" cy="384761"/>
          </a:xfrm>
          <a:prstGeom prst="rect">
            <a:avLst/>
          </a:prstGeom>
          <a:solidFill>
            <a:srgbClr val="1B2A4A"/>
          </a:solidFill>
          <a:ln/>
        </p:spPr>
      </p:sp>
      <p:sp>
        <p:nvSpPr>
          <p:cNvPr id="38" name="Text 36"/>
          <p:cNvSpPr txBox="1"/>
          <p:nvPr/>
        </p:nvSpPr>
        <p:spPr>
          <a:xfrm>
            <a:off x="876278" y="4160138"/>
            <a:ext cx="2189274" cy="181566"/>
          </a:xfrm>
          <a:prstGeom prst="rect">
            <a:avLst/>
          </a:prstGeom>
          <a:noFill/>
          <a:ln/>
        </p:spPr>
        <p:txBody>
          <a:bodyPr wrap="square" lIns="0" tIns="0" rIns="0" bIns="0" rtlCol="0" anchor="t"/>
          <a:lstStyle/>
          <a:p>
            <a:pPr algn="l" indent="0" marL="0">
              <a:lnSpc>
                <a:spcPct val="111111"/>
              </a:lnSpc>
              <a:buNone/>
            </a:pPr>
            <a:r>
              <a:rPr lang="en-US" sz="1100" b="1" dirty="0">
                <a:solidFill>
                  <a:srgbClr val="F5F6FC"/>
                </a:solidFill>
                <a:latin typeface="Poppins" pitchFamily="34" charset="0"/>
                <a:ea typeface="Poppins" pitchFamily="34" charset="-122"/>
                <a:cs typeface="Poppins" pitchFamily="34" charset="-120"/>
              </a:rPr>
              <a:t>Profissional de dados (você)</a:t>
            </a:r>
            <a:endParaRPr lang="en-US" sz="1100" dirty="0"/>
          </a:p>
        </p:txBody>
      </p:sp>
      <p:sp>
        <p:nvSpPr>
          <p:cNvPr id="39" name="Shape 37"/>
          <p:cNvSpPr/>
          <p:nvPr/>
        </p:nvSpPr>
        <p:spPr>
          <a:xfrm>
            <a:off x="3095647" y="4058541"/>
            <a:ext cx="4014290" cy="384761"/>
          </a:xfrm>
          <a:prstGeom prst="rect">
            <a:avLst/>
          </a:prstGeom>
          <a:solidFill>
            <a:srgbClr val="1B2A4A"/>
          </a:solidFill>
          <a:ln/>
        </p:spPr>
      </p:sp>
      <p:sp>
        <p:nvSpPr>
          <p:cNvPr id="40" name="Text 38"/>
          <p:cNvSpPr txBox="1"/>
          <p:nvPr/>
        </p:nvSpPr>
        <p:spPr>
          <a:xfrm>
            <a:off x="3209944" y="4160138"/>
            <a:ext cx="3937124"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construir e operar tudo isso</a:t>
            </a:r>
            <a:endParaRPr lang="en-US" sz="1100" dirty="0"/>
          </a:p>
        </p:txBody>
      </p:sp>
      <p:sp>
        <p:nvSpPr>
          <p:cNvPr id="41" name="Shape 39"/>
          <p:cNvSpPr/>
          <p:nvPr/>
        </p:nvSpPr>
        <p:spPr>
          <a:xfrm>
            <a:off x="7109937" y="4058541"/>
            <a:ext cx="4319777" cy="384761"/>
          </a:xfrm>
          <a:prstGeom prst="rect">
            <a:avLst/>
          </a:prstGeom>
          <a:solidFill>
            <a:srgbClr val="1B2A4A"/>
          </a:solidFill>
          <a:ln/>
        </p:spPr>
      </p:sp>
      <p:sp>
        <p:nvSpPr>
          <p:cNvPr id="42" name="Text 40"/>
          <p:cNvSpPr txBox="1"/>
          <p:nvPr/>
        </p:nvSpPr>
        <p:spPr>
          <a:xfrm>
            <a:off x="7224234" y="4160138"/>
            <a:ext cx="4254830"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bundle, pipeline, modelo, app, com Claude Code</a:t>
            </a:r>
            <a:endParaRPr lang="en-US" sz="1100" dirty="0"/>
          </a:p>
        </p:txBody>
      </p:sp>
      <p:pic>
        <p:nvPicPr>
          <p:cNvPr id="43"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44" name="Text 41"/>
          <p:cNvSpPr txBox="1"/>
          <p:nvPr/>
        </p:nvSpPr>
        <p:spPr>
          <a:xfrm>
            <a:off x="11022035" y="6387940"/>
            <a:ext cx="423987"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8 / 133</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QUE EMPRESAS SE BENEFICIAM</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Toda empresa que vive de projeto</a:t>
            </a:r>
            <a:endParaRPr lang="en-US" sz="3100" dirty="0"/>
          </a:p>
        </p:txBody>
      </p:sp>
      <p:sp>
        <p:nvSpPr>
          <p:cNvPr id="4" name="Shape 2"/>
          <p:cNvSpPr/>
          <p:nvPr/>
        </p:nvSpPr>
        <p:spPr>
          <a:xfrm>
            <a:off x="761981" y="1582301"/>
            <a:ext cx="3462747" cy="1200715"/>
          </a:xfrm>
          <a:prstGeom prst="roundRect">
            <a:avLst>
              <a:gd name="adj" fmla="val 12692"/>
            </a:avLst>
          </a:prstGeom>
          <a:solidFill>
            <a:srgbClr val="1E1E24"/>
          </a:solidFill>
          <a:ln w="6350">
            <a:solidFill>
              <a:srgbClr val="2F2F39"/>
            </a:solidFill>
            <a:prstDash val="solid"/>
          </a:ln>
        </p:spPr>
      </p:sp>
      <p:sp>
        <p:nvSpPr>
          <p:cNvPr id="5" name="Shape 3"/>
          <p:cNvSpPr/>
          <p:nvPr/>
        </p:nvSpPr>
        <p:spPr>
          <a:xfrm>
            <a:off x="984225" y="1779146"/>
            <a:ext cx="2025798" cy="247644"/>
          </a:xfrm>
          <a:prstGeom prst="roundRect">
            <a:avLst>
              <a:gd name="adj" fmla="val 50000"/>
            </a:avLst>
          </a:prstGeom>
          <a:solidFill>
            <a:srgbClr val="22C2F4">
              <a:alpha val="14000"/>
            </a:srgbClr>
          </a:solidFill>
          <a:ln/>
        </p:spPr>
      </p:sp>
      <p:sp>
        <p:nvSpPr>
          <p:cNvPr id="6" name="Text 4"/>
          <p:cNvSpPr txBox="1"/>
          <p:nvPr/>
        </p:nvSpPr>
        <p:spPr>
          <a:xfrm>
            <a:off x="1073123" y="1817245"/>
            <a:ext cx="1921922"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Software houses e integradoras</a:t>
            </a:r>
            <a:endParaRPr lang="en-US" sz="900" dirty="0"/>
          </a:p>
        </p:txBody>
      </p:sp>
      <p:sp>
        <p:nvSpPr>
          <p:cNvPr id="7" name="Text 5"/>
          <p:cNvSpPr txBox="1"/>
          <p:nvPr/>
        </p:nvSpPr>
        <p:spPr>
          <a:xfrm>
            <a:off x="984225" y="2191886"/>
            <a:ext cx="3138988" cy="394285"/>
          </a:xfrm>
          <a:prstGeom prst="rect">
            <a:avLst/>
          </a:prstGeom>
          <a:noFill/>
          <a:ln/>
        </p:spPr>
        <p:txBody>
          <a:bodyPr wrap="square" lIns="0" tIns="0" rIns="0" bIns="0" rtlCol="0" anchor="t"/>
          <a:lstStyle/>
          <a:p>
            <a:pPr algn="l" indent="0" marL="0">
              <a:lnSpc>
                <a:spcPct val="115385"/>
              </a:lnSpc>
              <a:buNone/>
            </a:pPr>
            <a:r>
              <a:rPr lang="en-US" sz="1150" dirty="0">
                <a:solidFill>
                  <a:srgbClr val="FFFFFF"/>
                </a:solidFill>
                <a:latin typeface="Poppins" pitchFamily="34" charset="0"/>
                <a:ea typeface="Poppins" pitchFamily="34" charset="-122"/>
                <a:cs typeface="Poppins" pitchFamily="34" charset="-120"/>
              </a:rPr>
              <a:t>dezenas de projetos de clientes, cada squad com sua ferramenta</a:t>
            </a:r>
            <a:endParaRPr lang="en-US" sz="1150" dirty="0"/>
          </a:p>
        </p:txBody>
      </p:sp>
      <p:sp>
        <p:nvSpPr>
          <p:cNvPr id="8" name="Shape 6"/>
          <p:cNvSpPr/>
          <p:nvPr/>
        </p:nvSpPr>
        <p:spPr>
          <a:xfrm>
            <a:off x="4364424" y="1582301"/>
            <a:ext cx="3462747" cy="1200715"/>
          </a:xfrm>
          <a:prstGeom prst="roundRect">
            <a:avLst>
              <a:gd name="adj" fmla="val 12692"/>
            </a:avLst>
          </a:prstGeom>
          <a:solidFill>
            <a:srgbClr val="1E1E24"/>
          </a:solidFill>
          <a:ln w="6350">
            <a:solidFill>
              <a:srgbClr val="2F2F39"/>
            </a:solidFill>
            <a:prstDash val="solid"/>
          </a:ln>
        </p:spPr>
      </p:sp>
      <p:sp>
        <p:nvSpPr>
          <p:cNvPr id="9" name="Shape 7"/>
          <p:cNvSpPr/>
          <p:nvPr/>
        </p:nvSpPr>
        <p:spPr>
          <a:xfrm>
            <a:off x="4586669" y="1779146"/>
            <a:ext cx="918743" cy="247644"/>
          </a:xfrm>
          <a:prstGeom prst="roundRect">
            <a:avLst>
              <a:gd name="adj" fmla="val 50000"/>
            </a:avLst>
          </a:prstGeom>
          <a:solidFill>
            <a:srgbClr val="22C2F4">
              <a:alpha val="14000"/>
            </a:srgbClr>
          </a:solidFill>
          <a:ln/>
        </p:spPr>
      </p:sp>
      <p:sp>
        <p:nvSpPr>
          <p:cNvPr id="10" name="Text 8"/>
          <p:cNvSpPr txBox="1"/>
          <p:nvPr/>
        </p:nvSpPr>
        <p:spPr>
          <a:xfrm>
            <a:off x="4675567" y="1817245"/>
            <a:ext cx="770585"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Consultorias</a:t>
            </a:r>
            <a:endParaRPr lang="en-US" sz="900" dirty="0"/>
          </a:p>
        </p:txBody>
      </p:sp>
      <p:sp>
        <p:nvSpPr>
          <p:cNvPr id="11" name="Text 9"/>
          <p:cNvSpPr txBox="1"/>
          <p:nvPr/>
        </p:nvSpPr>
        <p:spPr>
          <a:xfrm>
            <a:off x="4586669" y="2191886"/>
            <a:ext cx="3138988" cy="394285"/>
          </a:xfrm>
          <a:prstGeom prst="rect">
            <a:avLst/>
          </a:prstGeom>
          <a:noFill/>
          <a:ln/>
        </p:spPr>
        <p:txBody>
          <a:bodyPr wrap="square" lIns="0" tIns="0" rIns="0" bIns="0" rtlCol="0" anchor="t"/>
          <a:lstStyle/>
          <a:p>
            <a:pPr algn="l" indent="0" marL="0">
              <a:lnSpc>
                <a:spcPct val="115385"/>
              </a:lnSpc>
              <a:buNone/>
            </a:pPr>
            <a:r>
              <a:rPr lang="en-US" sz="1150" dirty="0">
                <a:solidFill>
                  <a:srgbClr val="FFFFFF"/>
                </a:solidFill>
                <a:latin typeface="Poppins" pitchFamily="34" charset="0"/>
                <a:ea typeface="Poppins" pitchFamily="34" charset="-122"/>
                <a:cs typeface="Poppins" pitchFamily="34" charset="-120"/>
              </a:rPr>
              <a:t>carteira de projetos, banco de horas, margem por contrato</a:t>
            </a:r>
            <a:endParaRPr lang="en-US" sz="1150" dirty="0"/>
          </a:p>
        </p:txBody>
      </p:sp>
      <p:sp>
        <p:nvSpPr>
          <p:cNvPr id="12" name="Shape 10"/>
          <p:cNvSpPr/>
          <p:nvPr/>
        </p:nvSpPr>
        <p:spPr>
          <a:xfrm>
            <a:off x="7966868" y="1582301"/>
            <a:ext cx="3462747" cy="1200715"/>
          </a:xfrm>
          <a:prstGeom prst="roundRect">
            <a:avLst>
              <a:gd name="adj" fmla="val 12692"/>
            </a:avLst>
          </a:prstGeom>
          <a:solidFill>
            <a:srgbClr val="1E1E24"/>
          </a:solidFill>
          <a:ln w="6350">
            <a:solidFill>
              <a:srgbClr val="2F2F39"/>
            </a:solidFill>
            <a:prstDash val="solid"/>
          </a:ln>
        </p:spPr>
      </p:sp>
      <p:sp>
        <p:nvSpPr>
          <p:cNvPr id="13" name="Shape 11"/>
          <p:cNvSpPr/>
          <p:nvPr/>
        </p:nvSpPr>
        <p:spPr>
          <a:xfrm>
            <a:off x="8189112" y="1779146"/>
            <a:ext cx="1578828" cy="247644"/>
          </a:xfrm>
          <a:prstGeom prst="roundRect">
            <a:avLst>
              <a:gd name="adj" fmla="val 50000"/>
            </a:avLst>
          </a:prstGeom>
          <a:solidFill>
            <a:srgbClr val="22C2F4">
              <a:alpha val="14000"/>
            </a:srgbClr>
          </a:solidFill>
          <a:ln/>
        </p:spPr>
      </p:sp>
      <p:sp>
        <p:nvSpPr>
          <p:cNvPr id="14" name="Text 12"/>
          <p:cNvSpPr txBox="1"/>
          <p:nvPr/>
        </p:nvSpPr>
        <p:spPr>
          <a:xfrm>
            <a:off x="8278010" y="1817245"/>
            <a:ext cx="1457074"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TI de grandes empresas</a:t>
            </a:r>
            <a:endParaRPr lang="en-US" sz="900" dirty="0"/>
          </a:p>
        </p:txBody>
      </p:sp>
      <p:sp>
        <p:nvSpPr>
          <p:cNvPr id="15" name="Text 13"/>
          <p:cNvSpPr txBox="1"/>
          <p:nvPr/>
        </p:nvSpPr>
        <p:spPr>
          <a:xfrm>
            <a:off x="8189112" y="2191886"/>
            <a:ext cx="3138988" cy="394285"/>
          </a:xfrm>
          <a:prstGeom prst="rect">
            <a:avLst/>
          </a:prstGeom>
          <a:noFill/>
          <a:ln/>
        </p:spPr>
        <p:txBody>
          <a:bodyPr wrap="square" lIns="0" tIns="0" rIns="0" bIns="0" rtlCol="0" anchor="t"/>
          <a:lstStyle/>
          <a:p>
            <a:pPr algn="l" indent="0" marL="0">
              <a:lnSpc>
                <a:spcPct val="115385"/>
              </a:lnSpc>
              <a:buNone/>
            </a:pPr>
            <a:r>
              <a:rPr lang="en-US" sz="1150" dirty="0">
                <a:solidFill>
                  <a:srgbClr val="FFFFFF"/>
                </a:solidFill>
                <a:latin typeface="Poppins" pitchFamily="34" charset="0"/>
                <a:ea typeface="Poppins" pitchFamily="34" charset="-122"/>
                <a:cs typeface="Poppins" pitchFamily="34" charset="-120"/>
              </a:rPr>
              <a:t>PMO corporativo com projetos internos e fornecedores</a:t>
            </a:r>
            <a:endParaRPr lang="en-US" sz="1150" dirty="0"/>
          </a:p>
        </p:txBody>
      </p:sp>
      <p:sp>
        <p:nvSpPr>
          <p:cNvPr id="16" name="Shape 14"/>
          <p:cNvSpPr/>
          <p:nvPr/>
        </p:nvSpPr>
        <p:spPr>
          <a:xfrm>
            <a:off x="761981" y="2922713"/>
            <a:ext cx="3462747" cy="1200715"/>
          </a:xfrm>
          <a:prstGeom prst="roundRect">
            <a:avLst>
              <a:gd name="adj" fmla="val 12692"/>
            </a:avLst>
          </a:prstGeom>
          <a:solidFill>
            <a:srgbClr val="1E1E24"/>
          </a:solidFill>
          <a:ln w="6350">
            <a:solidFill>
              <a:srgbClr val="2F2F39"/>
            </a:solidFill>
            <a:prstDash val="solid"/>
          </a:ln>
        </p:spPr>
      </p:sp>
      <p:sp>
        <p:nvSpPr>
          <p:cNvPr id="17" name="Shape 15"/>
          <p:cNvSpPr/>
          <p:nvPr/>
        </p:nvSpPr>
        <p:spPr>
          <a:xfrm>
            <a:off x="984225" y="3119558"/>
            <a:ext cx="1963093" cy="247644"/>
          </a:xfrm>
          <a:prstGeom prst="roundRect">
            <a:avLst>
              <a:gd name="adj" fmla="val 50000"/>
            </a:avLst>
          </a:prstGeom>
          <a:solidFill>
            <a:srgbClr val="22C2F4">
              <a:alpha val="14000"/>
            </a:srgbClr>
          </a:solidFill>
          <a:ln/>
        </p:spPr>
      </p:sp>
      <p:sp>
        <p:nvSpPr>
          <p:cNvPr id="18" name="Text 16"/>
          <p:cNvSpPr txBox="1"/>
          <p:nvPr/>
        </p:nvSpPr>
        <p:spPr>
          <a:xfrm>
            <a:off x="1073123" y="3157657"/>
            <a:ext cx="1856709"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Agências e produtoras digitais</a:t>
            </a:r>
            <a:endParaRPr lang="en-US" sz="900" dirty="0"/>
          </a:p>
        </p:txBody>
      </p:sp>
      <p:sp>
        <p:nvSpPr>
          <p:cNvPr id="19" name="Text 17"/>
          <p:cNvSpPr txBox="1"/>
          <p:nvPr/>
        </p:nvSpPr>
        <p:spPr>
          <a:xfrm>
            <a:off x="984225" y="3532298"/>
            <a:ext cx="3138988" cy="394285"/>
          </a:xfrm>
          <a:prstGeom prst="rect">
            <a:avLst/>
          </a:prstGeom>
          <a:noFill/>
          <a:ln/>
        </p:spPr>
        <p:txBody>
          <a:bodyPr wrap="square" lIns="0" tIns="0" rIns="0" bIns="0" rtlCol="0" anchor="t"/>
          <a:lstStyle/>
          <a:p>
            <a:pPr algn="l" indent="0" marL="0">
              <a:lnSpc>
                <a:spcPct val="115385"/>
              </a:lnSpc>
              <a:buNone/>
            </a:pPr>
            <a:r>
              <a:rPr lang="en-US" sz="1150" dirty="0">
                <a:solidFill>
                  <a:srgbClr val="FFFFFF"/>
                </a:solidFill>
                <a:latin typeface="Poppins" pitchFamily="34" charset="0"/>
                <a:ea typeface="Poppins" pitchFamily="34" charset="-122"/>
                <a:cs typeface="Poppins" pitchFamily="34" charset="-120"/>
              </a:rPr>
              <a:t>entregas com prazo de cliente e equipe compartilhada</a:t>
            </a:r>
            <a:endParaRPr lang="en-US" sz="1150" dirty="0"/>
          </a:p>
        </p:txBody>
      </p:sp>
      <p:sp>
        <p:nvSpPr>
          <p:cNvPr id="20" name="Shape 18"/>
          <p:cNvSpPr/>
          <p:nvPr/>
        </p:nvSpPr>
        <p:spPr>
          <a:xfrm>
            <a:off x="4364424" y="2922713"/>
            <a:ext cx="3462747" cy="1200715"/>
          </a:xfrm>
          <a:prstGeom prst="roundRect">
            <a:avLst>
              <a:gd name="adj" fmla="val 12692"/>
            </a:avLst>
          </a:prstGeom>
          <a:solidFill>
            <a:srgbClr val="1E1E24"/>
          </a:solidFill>
          <a:ln w="6350">
            <a:solidFill>
              <a:srgbClr val="2F2F39"/>
            </a:solidFill>
            <a:prstDash val="solid"/>
          </a:ln>
        </p:spPr>
      </p:sp>
      <p:sp>
        <p:nvSpPr>
          <p:cNvPr id="21" name="Shape 19"/>
          <p:cNvSpPr/>
          <p:nvPr/>
        </p:nvSpPr>
        <p:spPr>
          <a:xfrm>
            <a:off x="4586669" y="3119558"/>
            <a:ext cx="1636076" cy="247644"/>
          </a:xfrm>
          <a:prstGeom prst="roundRect">
            <a:avLst>
              <a:gd name="adj" fmla="val 50000"/>
            </a:avLst>
          </a:prstGeom>
          <a:solidFill>
            <a:srgbClr val="22C2F4">
              <a:alpha val="14000"/>
            </a:srgbClr>
          </a:solidFill>
          <a:ln/>
        </p:spPr>
      </p:sp>
      <p:sp>
        <p:nvSpPr>
          <p:cNvPr id="22" name="Text 20"/>
          <p:cNvSpPr txBox="1"/>
          <p:nvPr/>
        </p:nvSpPr>
        <p:spPr>
          <a:xfrm>
            <a:off x="4675567" y="3157657"/>
            <a:ext cx="1516612"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Engenharia e construção</a:t>
            </a:r>
            <a:endParaRPr lang="en-US" sz="900" dirty="0"/>
          </a:p>
        </p:txBody>
      </p:sp>
      <p:sp>
        <p:nvSpPr>
          <p:cNvPr id="23" name="Text 21"/>
          <p:cNvSpPr txBox="1"/>
          <p:nvPr/>
        </p:nvSpPr>
        <p:spPr>
          <a:xfrm>
            <a:off x="4586669" y="3532298"/>
            <a:ext cx="3138988" cy="394285"/>
          </a:xfrm>
          <a:prstGeom prst="rect">
            <a:avLst/>
          </a:prstGeom>
          <a:noFill/>
          <a:ln/>
        </p:spPr>
        <p:txBody>
          <a:bodyPr wrap="square" lIns="0" tIns="0" rIns="0" bIns="0" rtlCol="0" anchor="t"/>
          <a:lstStyle/>
          <a:p>
            <a:pPr algn="l" indent="0" marL="0">
              <a:lnSpc>
                <a:spcPct val="115385"/>
              </a:lnSpc>
              <a:buNone/>
            </a:pPr>
            <a:r>
              <a:rPr lang="en-US" sz="1150" dirty="0">
                <a:solidFill>
                  <a:srgbClr val="FFFFFF"/>
                </a:solidFill>
                <a:latin typeface="Poppins" pitchFamily="34" charset="0"/>
                <a:ea typeface="Poppins" pitchFamily="34" charset="-122"/>
                <a:cs typeface="Poppins" pitchFamily="34" charset="-120"/>
              </a:rPr>
              <a:t>o mesmo SPI e CPI, com obra no lugar de sprint</a:t>
            </a:r>
            <a:endParaRPr lang="en-US" sz="1150" dirty="0"/>
          </a:p>
        </p:txBody>
      </p:sp>
      <p:sp>
        <p:nvSpPr>
          <p:cNvPr id="24" name="Shape 22"/>
          <p:cNvSpPr/>
          <p:nvPr/>
        </p:nvSpPr>
        <p:spPr>
          <a:xfrm>
            <a:off x="7966868" y="2922713"/>
            <a:ext cx="3462747" cy="1200715"/>
          </a:xfrm>
          <a:prstGeom prst="roundRect">
            <a:avLst>
              <a:gd name="adj" fmla="val 12692"/>
            </a:avLst>
          </a:prstGeom>
          <a:solidFill>
            <a:srgbClr val="1E1E24"/>
          </a:solidFill>
          <a:ln w="6350">
            <a:solidFill>
              <a:srgbClr val="2F2F39"/>
            </a:solidFill>
            <a:prstDash val="solid"/>
          </a:ln>
        </p:spPr>
      </p:sp>
      <p:sp>
        <p:nvSpPr>
          <p:cNvPr id="25" name="Shape 23"/>
          <p:cNvSpPr/>
          <p:nvPr/>
        </p:nvSpPr>
        <p:spPr>
          <a:xfrm>
            <a:off x="8189112" y="3119558"/>
            <a:ext cx="1011510" cy="247644"/>
          </a:xfrm>
          <a:prstGeom prst="roundRect">
            <a:avLst>
              <a:gd name="adj" fmla="val 50000"/>
            </a:avLst>
          </a:prstGeom>
          <a:solidFill>
            <a:srgbClr val="22C2F4">
              <a:alpha val="14000"/>
            </a:srgbClr>
          </a:solidFill>
          <a:ln/>
        </p:spPr>
      </p:sp>
      <p:sp>
        <p:nvSpPr>
          <p:cNvPr id="26" name="Text 24"/>
          <p:cNvSpPr txBox="1"/>
          <p:nvPr/>
        </p:nvSpPr>
        <p:spPr>
          <a:xfrm>
            <a:off x="8278010" y="3157657"/>
            <a:ext cx="867063"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Qualquer PMO</a:t>
            </a:r>
            <a:endParaRPr lang="en-US" sz="900" dirty="0"/>
          </a:p>
        </p:txBody>
      </p:sp>
      <p:sp>
        <p:nvSpPr>
          <p:cNvPr id="27" name="Text 25"/>
          <p:cNvSpPr txBox="1"/>
          <p:nvPr/>
        </p:nvSpPr>
        <p:spPr>
          <a:xfrm>
            <a:off x="8189112" y="3532298"/>
            <a:ext cx="3138988" cy="394285"/>
          </a:xfrm>
          <a:prstGeom prst="rect">
            <a:avLst/>
          </a:prstGeom>
          <a:noFill/>
          <a:ln/>
        </p:spPr>
        <p:txBody>
          <a:bodyPr wrap="square" lIns="0" tIns="0" rIns="0" bIns="0" rtlCol="0" anchor="t"/>
          <a:lstStyle/>
          <a:p>
            <a:pPr algn="l" indent="0" marL="0">
              <a:lnSpc>
                <a:spcPct val="115385"/>
              </a:lnSpc>
              <a:buNone/>
            </a:pPr>
            <a:r>
              <a:rPr lang="en-US" sz="1150" dirty="0">
                <a:solidFill>
                  <a:srgbClr val="FFFFFF"/>
                </a:solidFill>
                <a:latin typeface="Poppins" pitchFamily="34" charset="0"/>
                <a:ea typeface="Poppins" pitchFamily="34" charset="-122"/>
                <a:cs typeface="Poppins" pitchFamily="34" charset="-120"/>
              </a:rPr>
              <a:t>onde a planilha de sexta é a única verdade</a:t>
            </a:r>
            <a:endParaRPr lang="en-US" sz="1150" dirty="0"/>
          </a:p>
        </p:txBody>
      </p:sp>
      <p:pic>
        <p:nvPicPr>
          <p:cNvPr id="28"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29" name="Text 26"/>
          <p:cNvSpPr txBox="1"/>
          <p:nvPr/>
        </p:nvSpPr>
        <p:spPr>
          <a:xfrm>
            <a:off x="11022431" y="6387940"/>
            <a:ext cx="423574"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9 / 133</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COMO CHEGAMOS LÁ · 4 NOITES, 4 CHAPÉUS, 1 PROJETO</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Cada noite termina com algo rodando</a:t>
            </a:r>
            <a:endParaRPr lang="en-US" sz="3100" dirty="0"/>
          </a:p>
        </p:txBody>
      </p:sp>
      <p:sp>
        <p:nvSpPr>
          <p:cNvPr id="4" name="Text 2"/>
          <p:cNvSpPr txBox="1"/>
          <p:nvPr/>
        </p:nvSpPr>
        <p:spPr>
          <a:xfrm>
            <a:off x="876278" y="1582301"/>
            <a:ext cx="630666" cy="171446"/>
          </a:xfrm>
          <a:prstGeom prst="rect">
            <a:avLst/>
          </a:prstGeom>
          <a:noFill/>
          <a:ln/>
        </p:spPr>
        <p:txBody>
          <a:bodyPr wrap="square" lIns="0" tIns="0" rIns="0" bIns="0" rtlCol="0" anchor="t"/>
          <a:lstStyle/>
          <a:p>
            <a:pPr algn="l"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NOITE</a:t>
            </a:r>
            <a:endParaRPr lang="en-US" sz="900" dirty="0"/>
          </a:p>
        </p:txBody>
      </p:sp>
      <p:sp>
        <p:nvSpPr>
          <p:cNvPr id="5" name="Text 3"/>
          <p:cNvSpPr txBox="1"/>
          <p:nvPr/>
        </p:nvSpPr>
        <p:spPr>
          <a:xfrm>
            <a:off x="1711282" y="1582301"/>
            <a:ext cx="1662619" cy="171446"/>
          </a:xfrm>
          <a:prstGeom prst="rect">
            <a:avLst/>
          </a:prstGeom>
          <a:noFill/>
          <a:ln/>
        </p:spPr>
        <p:txBody>
          <a:bodyPr wrap="square" lIns="0" tIns="0" rIns="0" bIns="0" rtlCol="0" anchor="t"/>
          <a:lstStyle/>
          <a:p>
            <a:pPr algn="l"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CHAPÉU</a:t>
            </a:r>
            <a:endParaRPr lang="en-US" sz="900" dirty="0"/>
          </a:p>
        </p:txBody>
      </p:sp>
      <p:sp>
        <p:nvSpPr>
          <p:cNvPr id="6" name="Text 4"/>
          <p:cNvSpPr txBox="1"/>
          <p:nvPr/>
        </p:nvSpPr>
        <p:spPr>
          <a:xfrm>
            <a:off x="3538548" y="1582301"/>
            <a:ext cx="3546156" cy="171446"/>
          </a:xfrm>
          <a:prstGeom prst="rect">
            <a:avLst/>
          </a:prstGeom>
          <a:noFill/>
          <a:ln/>
        </p:spPr>
        <p:txBody>
          <a:bodyPr wrap="square" lIns="0" tIns="0" rIns="0" bIns="0" rtlCol="0" anchor="t"/>
          <a:lstStyle/>
          <a:p>
            <a:pPr algn="l"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A PERGUNTA</a:t>
            </a:r>
            <a:endParaRPr lang="en-US" sz="900" dirty="0"/>
          </a:p>
        </p:txBody>
      </p:sp>
      <p:sp>
        <p:nvSpPr>
          <p:cNvPr id="7" name="Text 5"/>
          <p:cNvSpPr txBox="1"/>
          <p:nvPr/>
        </p:nvSpPr>
        <p:spPr>
          <a:xfrm>
            <a:off x="7176908" y="1582301"/>
            <a:ext cx="4304049" cy="171446"/>
          </a:xfrm>
          <a:prstGeom prst="rect">
            <a:avLst/>
          </a:prstGeom>
          <a:noFill/>
          <a:ln/>
        </p:spPr>
        <p:txBody>
          <a:bodyPr wrap="square" lIns="0" tIns="0" rIns="0" bIns="0" rtlCol="0" anchor="t"/>
          <a:lstStyle/>
          <a:p>
            <a:pPr algn="l"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O ENTREGÁVEL</a:t>
            </a:r>
            <a:endParaRPr lang="en-US" sz="900" dirty="0"/>
          </a:p>
        </p:txBody>
      </p:sp>
      <p:sp>
        <p:nvSpPr>
          <p:cNvPr id="8" name="Shape 6"/>
          <p:cNvSpPr/>
          <p:nvPr/>
        </p:nvSpPr>
        <p:spPr>
          <a:xfrm>
            <a:off x="761981" y="1880744"/>
            <a:ext cx="835004" cy="599266"/>
          </a:xfrm>
          <a:prstGeom prst="rect">
            <a:avLst/>
          </a:prstGeom>
          <a:solidFill>
            <a:srgbClr val="1E1E24"/>
          </a:solidFill>
          <a:ln/>
        </p:spPr>
      </p:sp>
      <p:sp>
        <p:nvSpPr>
          <p:cNvPr id="9" name="Text 7"/>
          <p:cNvSpPr txBox="1"/>
          <p:nvPr/>
        </p:nvSpPr>
        <p:spPr>
          <a:xfrm>
            <a:off x="876278" y="1982341"/>
            <a:ext cx="630666" cy="396071"/>
          </a:xfrm>
          <a:prstGeom prst="rect">
            <a:avLst/>
          </a:prstGeom>
          <a:noFill/>
          <a:ln/>
        </p:spPr>
        <p:txBody>
          <a:bodyPr wrap="square" lIns="0" tIns="0" rIns="0" bIns="0" rtlCol="0" anchor="t"/>
          <a:lstStyle/>
          <a:p>
            <a:pPr algn="l" indent="0" marL="0">
              <a:lnSpc>
                <a:spcPct val="111111"/>
              </a:lnSpc>
              <a:buNone/>
            </a:pPr>
            <a:r>
              <a:rPr lang="en-US" sz="1200" b="1" dirty="0">
                <a:solidFill>
                  <a:srgbClr val="F5F6FC"/>
                </a:solidFill>
                <a:latin typeface="Poppins" pitchFamily="34" charset="0"/>
                <a:ea typeface="Poppins" pitchFamily="34" charset="-122"/>
                <a:cs typeface="Poppins" pitchFamily="34" charset="-120"/>
              </a:rPr>
              <a:t>1 · 19/10</a:t>
            </a:r>
            <a:endParaRPr lang="en-US" sz="1200" dirty="0"/>
          </a:p>
        </p:txBody>
      </p:sp>
      <p:sp>
        <p:nvSpPr>
          <p:cNvPr id="10" name="Shape 8"/>
          <p:cNvSpPr/>
          <p:nvPr/>
        </p:nvSpPr>
        <p:spPr>
          <a:xfrm>
            <a:off x="1596985" y="1880744"/>
            <a:ext cx="1827266" cy="599266"/>
          </a:xfrm>
          <a:prstGeom prst="rect">
            <a:avLst/>
          </a:prstGeom>
          <a:solidFill>
            <a:srgbClr val="1E1E24"/>
          </a:solidFill>
          <a:ln/>
        </p:spPr>
      </p:sp>
      <p:sp>
        <p:nvSpPr>
          <p:cNvPr id="11" name="Text 9"/>
          <p:cNvSpPr txBox="1"/>
          <p:nvPr/>
        </p:nvSpPr>
        <p:spPr>
          <a:xfrm>
            <a:off x="1711282" y="1982341"/>
            <a:ext cx="1662619" cy="396071"/>
          </a:xfrm>
          <a:prstGeom prst="rect">
            <a:avLst/>
          </a:prstGeom>
          <a:noFill/>
          <a:ln/>
        </p:spPr>
        <p:txBody>
          <a:bodyPr wrap="square" lIns="0" tIns="0" rIns="0" bIns="0" rtlCol="0" anchor="t"/>
          <a:lstStyle/>
          <a:p>
            <a:pPr algn="l" indent="0" marL="0">
              <a:lnSpc>
                <a:spcPct val="111111"/>
              </a:lnSpc>
              <a:buNone/>
            </a:pPr>
            <a:r>
              <a:rPr lang="en-US" sz="1200" dirty="0">
                <a:solidFill>
                  <a:srgbClr val="F5F6FC"/>
                </a:solidFill>
                <a:latin typeface="Poppins" pitchFamily="34" charset="0"/>
                <a:ea typeface="Poppins" pitchFamily="34" charset="-122"/>
                <a:cs typeface="Poppins" pitchFamily="34" charset="-120"/>
              </a:rPr>
              <a:t>Analista</a:t>
            </a:r>
            <a:endParaRPr lang="en-US" sz="1200" dirty="0"/>
          </a:p>
        </p:txBody>
      </p:sp>
      <p:sp>
        <p:nvSpPr>
          <p:cNvPr id="12" name="Shape 10"/>
          <p:cNvSpPr/>
          <p:nvPr/>
        </p:nvSpPr>
        <p:spPr>
          <a:xfrm>
            <a:off x="3424251" y="1880744"/>
            <a:ext cx="3638360" cy="599266"/>
          </a:xfrm>
          <a:prstGeom prst="rect">
            <a:avLst/>
          </a:prstGeom>
          <a:solidFill>
            <a:srgbClr val="1E1E24"/>
          </a:solidFill>
          <a:ln/>
        </p:spPr>
      </p:sp>
      <p:sp>
        <p:nvSpPr>
          <p:cNvPr id="13" name="Text 11"/>
          <p:cNvSpPr txBox="1"/>
          <p:nvPr/>
        </p:nvSpPr>
        <p:spPr>
          <a:xfrm>
            <a:off x="3538548" y="1982341"/>
            <a:ext cx="3546156" cy="396071"/>
          </a:xfrm>
          <a:prstGeom prst="rect">
            <a:avLst/>
          </a:prstGeom>
          <a:noFill/>
          <a:ln/>
        </p:spPr>
        <p:txBody>
          <a:bodyPr wrap="square" lIns="0" tIns="0" rIns="0" bIns="0" rtlCol="0" anchor="t"/>
          <a:lstStyle/>
          <a:p>
            <a:pPr algn="l" indent="0" marL="0">
              <a:lnSpc>
                <a:spcPct val="111111"/>
              </a:lnSpc>
              <a:buNone/>
            </a:pPr>
            <a:r>
              <a:rPr lang="en-US" sz="1200" dirty="0">
                <a:solidFill>
                  <a:srgbClr val="F5F6FC"/>
                </a:solidFill>
                <a:latin typeface="Poppins" pitchFamily="34" charset="0"/>
                <a:ea typeface="Poppins" pitchFamily="34" charset="-122"/>
                <a:cs typeface="Poppins" pitchFamily="34" charset="-120"/>
              </a:rPr>
              <a:t>O que o Databricks faz? Quem está atrasado?</a:t>
            </a:r>
            <a:endParaRPr lang="en-US" sz="1200" dirty="0"/>
          </a:p>
        </p:txBody>
      </p:sp>
      <p:sp>
        <p:nvSpPr>
          <p:cNvPr id="14" name="Shape 12"/>
          <p:cNvSpPr/>
          <p:nvPr/>
        </p:nvSpPr>
        <p:spPr>
          <a:xfrm>
            <a:off x="7062611" y="1880744"/>
            <a:ext cx="4367103" cy="599266"/>
          </a:xfrm>
          <a:prstGeom prst="rect">
            <a:avLst/>
          </a:prstGeom>
          <a:solidFill>
            <a:srgbClr val="1E1E24"/>
          </a:solidFill>
          <a:ln/>
        </p:spPr>
      </p:sp>
      <p:sp>
        <p:nvSpPr>
          <p:cNvPr id="15" name="Text 13"/>
          <p:cNvSpPr txBox="1"/>
          <p:nvPr/>
        </p:nvSpPr>
        <p:spPr>
          <a:xfrm>
            <a:off x="7176908" y="1982341"/>
            <a:ext cx="4304049" cy="396071"/>
          </a:xfrm>
          <a:prstGeom prst="rect">
            <a:avLst/>
          </a:prstGeom>
          <a:noFill/>
          <a:ln/>
        </p:spPr>
        <p:txBody>
          <a:bodyPr wrap="square" lIns="0" tIns="0" rIns="0" bIns="0" rtlCol="0" anchor="t"/>
          <a:lstStyle/>
          <a:p>
            <a:pPr algn="l" indent="0" marL="0">
              <a:lnSpc>
                <a:spcPct val="111111"/>
              </a:lnSpc>
              <a:buNone/>
            </a:pPr>
            <a:r>
              <a:rPr lang="en-US" sz="1200" dirty="0">
                <a:solidFill>
                  <a:srgbClr val="F5F6FC"/>
                </a:solidFill>
                <a:latin typeface="Poppins" pitchFamily="34" charset="0"/>
                <a:ea typeface="Poppins" pitchFamily="34" charset="-122"/>
                <a:cs typeface="Poppins" pitchFamily="34" charset="-120"/>
              </a:rPr>
              <a:t>bronze das 3 ferramentas, SPI/CPI em SQL, 1º dashboard</a:t>
            </a:r>
            <a:endParaRPr lang="en-US" sz="1200" dirty="0"/>
          </a:p>
        </p:txBody>
      </p:sp>
      <p:sp>
        <p:nvSpPr>
          <p:cNvPr id="16" name="Shape 14"/>
          <p:cNvSpPr/>
          <p:nvPr/>
        </p:nvSpPr>
        <p:spPr>
          <a:xfrm>
            <a:off x="761981" y="2530809"/>
            <a:ext cx="835004" cy="599266"/>
          </a:xfrm>
          <a:prstGeom prst="rect">
            <a:avLst/>
          </a:prstGeom>
          <a:solidFill>
            <a:srgbClr val="1E1E24"/>
          </a:solidFill>
          <a:ln/>
        </p:spPr>
      </p:sp>
      <p:sp>
        <p:nvSpPr>
          <p:cNvPr id="17" name="Text 15"/>
          <p:cNvSpPr txBox="1"/>
          <p:nvPr/>
        </p:nvSpPr>
        <p:spPr>
          <a:xfrm>
            <a:off x="876278" y="2632406"/>
            <a:ext cx="630666" cy="396071"/>
          </a:xfrm>
          <a:prstGeom prst="rect">
            <a:avLst/>
          </a:prstGeom>
          <a:noFill/>
          <a:ln/>
        </p:spPr>
        <p:txBody>
          <a:bodyPr wrap="square" lIns="0" tIns="0" rIns="0" bIns="0" rtlCol="0" anchor="t"/>
          <a:lstStyle/>
          <a:p>
            <a:pPr algn="l" indent="0" marL="0">
              <a:lnSpc>
                <a:spcPct val="111111"/>
              </a:lnSpc>
              <a:buNone/>
            </a:pPr>
            <a:r>
              <a:rPr lang="en-US" sz="1200" b="1" dirty="0">
                <a:solidFill>
                  <a:srgbClr val="F5F6FC"/>
                </a:solidFill>
                <a:latin typeface="Poppins" pitchFamily="34" charset="0"/>
                <a:ea typeface="Poppins" pitchFamily="34" charset="-122"/>
                <a:cs typeface="Poppins" pitchFamily="34" charset="-120"/>
              </a:rPr>
              <a:t>2 · 20/10</a:t>
            </a:r>
            <a:endParaRPr lang="en-US" sz="1200" dirty="0"/>
          </a:p>
        </p:txBody>
      </p:sp>
      <p:sp>
        <p:nvSpPr>
          <p:cNvPr id="18" name="Shape 16"/>
          <p:cNvSpPr/>
          <p:nvPr/>
        </p:nvSpPr>
        <p:spPr>
          <a:xfrm>
            <a:off x="1596985" y="2530809"/>
            <a:ext cx="1827266" cy="599266"/>
          </a:xfrm>
          <a:prstGeom prst="rect">
            <a:avLst/>
          </a:prstGeom>
          <a:solidFill>
            <a:srgbClr val="1E1E24"/>
          </a:solidFill>
          <a:ln/>
        </p:spPr>
      </p:sp>
      <p:sp>
        <p:nvSpPr>
          <p:cNvPr id="19" name="Text 17"/>
          <p:cNvSpPr txBox="1"/>
          <p:nvPr/>
        </p:nvSpPr>
        <p:spPr>
          <a:xfrm>
            <a:off x="1711282" y="2632406"/>
            <a:ext cx="1662619" cy="396071"/>
          </a:xfrm>
          <a:prstGeom prst="rect">
            <a:avLst/>
          </a:prstGeom>
          <a:noFill/>
          <a:ln/>
        </p:spPr>
        <p:txBody>
          <a:bodyPr wrap="square" lIns="0" tIns="0" rIns="0" bIns="0" rtlCol="0" anchor="t"/>
          <a:lstStyle/>
          <a:p>
            <a:pPr algn="l" indent="0" marL="0">
              <a:lnSpc>
                <a:spcPct val="111111"/>
              </a:lnSpc>
              <a:buNone/>
            </a:pPr>
            <a:r>
              <a:rPr lang="en-US" sz="1200" dirty="0">
                <a:solidFill>
                  <a:srgbClr val="F5F6FC"/>
                </a:solidFill>
                <a:latin typeface="Poppins" pitchFamily="34" charset="0"/>
                <a:ea typeface="Poppins" pitchFamily="34" charset="-122"/>
                <a:cs typeface="Poppins" pitchFamily="34" charset="-120"/>
              </a:rPr>
              <a:t>Engenheiro de Dados</a:t>
            </a:r>
            <a:endParaRPr lang="en-US" sz="1200" dirty="0"/>
          </a:p>
        </p:txBody>
      </p:sp>
      <p:sp>
        <p:nvSpPr>
          <p:cNvPr id="20" name="Shape 18"/>
          <p:cNvSpPr/>
          <p:nvPr/>
        </p:nvSpPr>
        <p:spPr>
          <a:xfrm>
            <a:off x="3424251" y="2530809"/>
            <a:ext cx="3638360" cy="599266"/>
          </a:xfrm>
          <a:prstGeom prst="rect">
            <a:avLst/>
          </a:prstGeom>
          <a:solidFill>
            <a:srgbClr val="1E1E24"/>
          </a:solidFill>
          <a:ln/>
        </p:spPr>
      </p:sp>
      <p:sp>
        <p:nvSpPr>
          <p:cNvPr id="21" name="Text 19"/>
          <p:cNvSpPr txBox="1"/>
          <p:nvPr/>
        </p:nvSpPr>
        <p:spPr>
          <a:xfrm>
            <a:off x="3538548" y="2632406"/>
            <a:ext cx="3546156" cy="396071"/>
          </a:xfrm>
          <a:prstGeom prst="rect">
            <a:avLst/>
          </a:prstGeom>
          <a:noFill/>
          <a:ln/>
        </p:spPr>
        <p:txBody>
          <a:bodyPr wrap="square" lIns="0" tIns="0" rIns="0" bIns="0" rtlCol="0" anchor="t"/>
          <a:lstStyle/>
          <a:p>
            <a:pPr algn="l" indent="0" marL="0">
              <a:lnSpc>
                <a:spcPct val="111111"/>
              </a:lnSpc>
              <a:buNone/>
            </a:pPr>
            <a:r>
              <a:rPr lang="en-US" sz="1200" dirty="0">
                <a:solidFill>
                  <a:srgbClr val="F5F6FC"/>
                </a:solidFill>
                <a:latin typeface="Poppins" pitchFamily="34" charset="0"/>
                <a:ea typeface="Poppins" pitchFamily="34" charset="-122"/>
                <a:cs typeface="Poppins" pitchFamily="34" charset="-120"/>
              </a:rPr>
              <a:t>Como integrar tudo e rodar sozinho?</a:t>
            </a:r>
            <a:endParaRPr lang="en-US" sz="1200" dirty="0"/>
          </a:p>
        </p:txBody>
      </p:sp>
      <p:sp>
        <p:nvSpPr>
          <p:cNvPr id="22" name="Shape 20"/>
          <p:cNvSpPr/>
          <p:nvPr/>
        </p:nvSpPr>
        <p:spPr>
          <a:xfrm>
            <a:off x="7062611" y="2530809"/>
            <a:ext cx="4367103" cy="599266"/>
          </a:xfrm>
          <a:prstGeom prst="rect">
            <a:avLst/>
          </a:prstGeom>
          <a:solidFill>
            <a:srgbClr val="1E1E24"/>
          </a:solidFill>
          <a:ln/>
        </p:spPr>
      </p:sp>
      <p:sp>
        <p:nvSpPr>
          <p:cNvPr id="23" name="Text 21"/>
          <p:cNvSpPr txBox="1"/>
          <p:nvPr/>
        </p:nvSpPr>
        <p:spPr>
          <a:xfrm>
            <a:off x="7176908" y="2632406"/>
            <a:ext cx="4304049" cy="396071"/>
          </a:xfrm>
          <a:prstGeom prst="rect">
            <a:avLst/>
          </a:prstGeom>
          <a:noFill/>
          <a:ln/>
        </p:spPr>
        <p:txBody>
          <a:bodyPr wrap="square" lIns="0" tIns="0" rIns="0" bIns="0" rtlCol="0" anchor="t"/>
          <a:lstStyle/>
          <a:p>
            <a:pPr algn="l" indent="0" marL="0">
              <a:lnSpc>
                <a:spcPct val="111111"/>
              </a:lnSpc>
              <a:buNone/>
            </a:pPr>
            <a:r>
              <a:rPr lang="en-US" sz="1200" dirty="0">
                <a:solidFill>
                  <a:srgbClr val="F5F6FC"/>
                </a:solidFill>
                <a:latin typeface="Poppins" pitchFamily="34" charset="0"/>
                <a:ea typeface="Poppins" pitchFamily="34" charset="-122"/>
                <a:cs typeface="Poppins" pitchFamily="34" charset="-120"/>
              </a:rPr>
              <a:t>pipeline, IA nos textos, KPIs governados, Genie</a:t>
            </a:r>
            <a:endParaRPr lang="en-US" sz="1200" dirty="0"/>
          </a:p>
        </p:txBody>
      </p:sp>
      <p:sp>
        <p:nvSpPr>
          <p:cNvPr id="24" name="Shape 22"/>
          <p:cNvSpPr/>
          <p:nvPr/>
        </p:nvSpPr>
        <p:spPr>
          <a:xfrm>
            <a:off x="761981" y="3180874"/>
            <a:ext cx="835004" cy="401231"/>
          </a:xfrm>
          <a:prstGeom prst="rect">
            <a:avLst/>
          </a:prstGeom>
          <a:solidFill>
            <a:srgbClr val="1E1E24"/>
          </a:solidFill>
          <a:ln/>
        </p:spPr>
      </p:sp>
      <p:sp>
        <p:nvSpPr>
          <p:cNvPr id="25" name="Text 23"/>
          <p:cNvSpPr txBox="1"/>
          <p:nvPr/>
        </p:nvSpPr>
        <p:spPr>
          <a:xfrm>
            <a:off x="876278" y="3282471"/>
            <a:ext cx="630666" cy="198036"/>
          </a:xfrm>
          <a:prstGeom prst="rect">
            <a:avLst/>
          </a:prstGeom>
          <a:noFill/>
          <a:ln/>
        </p:spPr>
        <p:txBody>
          <a:bodyPr wrap="square" lIns="0" tIns="0" rIns="0" bIns="0" rtlCol="0" anchor="t"/>
          <a:lstStyle/>
          <a:p>
            <a:pPr algn="l" indent="0" marL="0">
              <a:lnSpc>
                <a:spcPct val="111111"/>
              </a:lnSpc>
              <a:buNone/>
            </a:pPr>
            <a:r>
              <a:rPr lang="en-US" sz="1200" b="1" dirty="0">
                <a:solidFill>
                  <a:srgbClr val="F5F6FC"/>
                </a:solidFill>
                <a:latin typeface="Poppins" pitchFamily="34" charset="0"/>
                <a:ea typeface="Poppins" pitchFamily="34" charset="-122"/>
                <a:cs typeface="Poppins" pitchFamily="34" charset="-120"/>
              </a:rPr>
              <a:t>3 · 21/10</a:t>
            </a:r>
            <a:endParaRPr lang="en-US" sz="1200" dirty="0"/>
          </a:p>
        </p:txBody>
      </p:sp>
      <p:sp>
        <p:nvSpPr>
          <p:cNvPr id="26" name="Shape 24"/>
          <p:cNvSpPr/>
          <p:nvPr/>
        </p:nvSpPr>
        <p:spPr>
          <a:xfrm>
            <a:off x="1596985" y="3180874"/>
            <a:ext cx="1827266" cy="401231"/>
          </a:xfrm>
          <a:prstGeom prst="rect">
            <a:avLst/>
          </a:prstGeom>
          <a:solidFill>
            <a:srgbClr val="1E1E24"/>
          </a:solidFill>
          <a:ln/>
        </p:spPr>
      </p:sp>
      <p:sp>
        <p:nvSpPr>
          <p:cNvPr id="27" name="Text 25"/>
          <p:cNvSpPr txBox="1"/>
          <p:nvPr/>
        </p:nvSpPr>
        <p:spPr>
          <a:xfrm>
            <a:off x="1711282" y="3282471"/>
            <a:ext cx="1662619" cy="198036"/>
          </a:xfrm>
          <a:prstGeom prst="rect">
            <a:avLst/>
          </a:prstGeom>
          <a:noFill/>
          <a:ln/>
        </p:spPr>
        <p:txBody>
          <a:bodyPr wrap="square" lIns="0" tIns="0" rIns="0" bIns="0" rtlCol="0" anchor="t"/>
          <a:lstStyle/>
          <a:p>
            <a:pPr algn="l" indent="0" marL="0">
              <a:lnSpc>
                <a:spcPct val="111111"/>
              </a:lnSpc>
              <a:buNone/>
            </a:pPr>
            <a:r>
              <a:rPr lang="en-US" sz="1200" dirty="0">
                <a:solidFill>
                  <a:srgbClr val="F5F6FC"/>
                </a:solidFill>
                <a:latin typeface="Poppins" pitchFamily="34" charset="0"/>
                <a:ea typeface="Poppins" pitchFamily="34" charset="-122"/>
                <a:cs typeface="Poppins" pitchFamily="34" charset="-120"/>
              </a:rPr>
              <a:t>Cientista de Dados</a:t>
            </a:r>
            <a:endParaRPr lang="en-US" sz="1200" dirty="0"/>
          </a:p>
        </p:txBody>
      </p:sp>
      <p:sp>
        <p:nvSpPr>
          <p:cNvPr id="28" name="Shape 26"/>
          <p:cNvSpPr/>
          <p:nvPr/>
        </p:nvSpPr>
        <p:spPr>
          <a:xfrm>
            <a:off x="3424251" y="3180874"/>
            <a:ext cx="3638360" cy="401231"/>
          </a:xfrm>
          <a:prstGeom prst="rect">
            <a:avLst/>
          </a:prstGeom>
          <a:solidFill>
            <a:srgbClr val="1E1E24"/>
          </a:solidFill>
          <a:ln/>
        </p:spPr>
      </p:sp>
      <p:sp>
        <p:nvSpPr>
          <p:cNvPr id="29" name="Text 27"/>
          <p:cNvSpPr txBox="1"/>
          <p:nvPr/>
        </p:nvSpPr>
        <p:spPr>
          <a:xfrm>
            <a:off x="3538548" y="3282471"/>
            <a:ext cx="3546156" cy="198036"/>
          </a:xfrm>
          <a:prstGeom prst="rect">
            <a:avLst/>
          </a:prstGeom>
          <a:noFill/>
          <a:ln/>
        </p:spPr>
        <p:txBody>
          <a:bodyPr wrap="square" lIns="0" tIns="0" rIns="0" bIns="0" rtlCol="0" anchor="t"/>
          <a:lstStyle/>
          <a:p>
            <a:pPr algn="l" indent="0" marL="0">
              <a:lnSpc>
                <a:spcPct val="111111"/>
              </a:lnSpc>
              <a:buNone/>
            </a:pPr>
            <a:r>
              <a:rPr lang="en-US" sz="1200" dirty="0">
                <a:solidFill>
                  <a:srgbClr val="F5F6FC"/>
                </a:solidFill>
                <a:latin typeface="Poppins" pitchFamily="34" charset="0"/>
                <a:ea typeface="Poppins" pitchFamily="34" charset="-122"/>
                <a:cs typeface="Poppins" pitchFamily="34" charset="-120"/>
              </a:rPr>
              <a:t>Quais vão estourar em 30 dias?</a:t>
            </a:r>
            <a:endParaRPr lang="en-US" sz="1200" dirty="0"/>
          </a:p>
        </p:txBody>
      </p:sp>
      <p:sp>
        <p:nvSpPr>
          <p:cNvPr id="30" name="Shape 28"/>
          <p:cNvSpPr/>
          <p:nvPr/>
        </p:nvSpPr>
        <p:spPr>
          <a:xfrm>
            <a:off x="7062611" y="3180874"/>
            <a:ext cx="4367103" cy="401231"/>
          </a:xfrm>
          <a:prstGeom prst="rect">
            <a:avLst/>
          </a:prstGeom>
          <a:solidFill>
            <a:srgbClr val="1E1E24"/>
          </a:solidFill>
          <a:ln/>
        </p:spPr>
      </p:sp>
      <p:sp>
        <p:nvSpPr>
          <p:cNvPr id="31" name="Text 29"/>
          <p:cNvSpPr txBox="1"/>
          <p:nvPr/>
        </p:nvSpPr>
        <p:spPr>
          <a:xfrm>
            <a:off x="7176908" y="3282471"/>
            <a:ext cx="4304049" cy="198036"/>
          </a:xfrm>
          <a:prstGeom prst="rect">
            <a:avLst/>
          </a:prstGeom>
          <a:noFill/>
          <a:ln/>
        </p:spPr>
        <p:txBody>
          <a:bodyPr wrap="square" lIns="0" tIns="0" rIns="0" bIns="0" rtlCol="0" anchor="t"/>
          <a:lstStyle/>
          <a:p>
            <a:pPr algn="l" indent="0" marL="0">
              <a:lnSpc>
                <a:spcPct val="111111"/>
              </a:lnSpc>
              <a:buNone/>
            </a:pPr>
            <a:r>
              <a:rPr lang="en-US" sz="1200" dirty="0">
                <a:solidFill>
                  <a:srgbClr val="F5F6FC"/>
                </a:solidFill>
                <a:latin typeface="Poppins" pitchFamily="34" charset="0"/>
                <a:ea typeface="Poppins" pitchFamily="34" charset="-122"/>
                <a:cs typeface="Poppins" pitchFamily="34" charset="-120"/>
              </a:rPr>
              <a:t>modelo no Unity Catalog, score por projeto</a:t>
            </a:r>
            <a:endParaRPr lang="en-US" sz="1200" dirty="0"/>
          </a:p>
        </p:txBody>
      </p:sp>
      <p:sp>
        <p:nvSpPr>
          <p:cNvPr id="32" name="Shape 30"/>
          <p:cNvSpPr/>
          <p:nvPr/>
        </p:nvSpPr>
        <p:spPr>
          <a:xfrm>
            <a:off x="761981" y="3632903"/>
            <a:ext cx="835004" cy="599266"/>
          </a:xfrm>
          <a:prstGeom prst="rect">
            <a:avLst/>
          </a:prstGeom>
          <a:solidFill>
            <a:srgbClr val="1E1E24"/>
          </a:solidFill>
          <a:ln/>
        </p:spPr>
      </p:sp>
      <p:sp>
        <p:nvSpPr>
          <p:cNvPr id="33" name="Text 31"/>
          <p:cNvSpPr txBox="1"/>
          <p:nvPr/>
        </p:nvSpPr>
        <p:spPr>
          <a:xfrm>
            <a:off x="876278" y="3734500"/>
            <a:ext cx="630666" cy="396071"/>
          </a:xfrm>
          <a:prstGeom prst="rect">
            <a:avLst/>
          </a:prstGeom>
          <a:noFill/>
          <a:ln/>
        </p:spPr>
        <p:txBody>
          <a:bodyPr wrap="square" lIns="0" tIns="0" rIns="0" bIns="0" rtlCol="0" anchor="t"/>
          <a:lstStyle/>
          <a:p>
            <a:pPr algn="l" indent="0" marL="0">
              <a:lnSpc>
                <a:spcPct val="111111"/>
              </a:lnSpc>
              <a:buNone/>
            </a:pPr>
            <a:r>
              <a:rPr lang="en-US" sz="1200" b="1" dirty="0">
                <a:solidFill>
                  <a:srgbClr val="F5F6FC"/>
                </a:solidFill>
                <a:latin typeface="Poppins" pitchFamily="34" charset="0"/>
                <a:ea typeface="Poppins" pitchFamily="34" charset="-122"/>
                <a:cs typeface="Poppins" pitchFamily="34" charset="-120"/>
              </a:rPr>
              <a:t>4 · 22/10</a:t>
            </a:r>
            <a:endParaRPr lang="en-US" sz="1200" dirty="0"/>
          </a:p>
        </p:txBody>
      </p:sp>
      <p:sp>
        <p:nvSpPr>
          <p:cNvPr id="34" name="Shape 32"/>
          <p:cNvSpPr/>
          <p:nvPr/>
        </p:nvSpPr>
        <p:spPr>
          <a:xfrm>
            <a:off x="1596985" y="3632903"/>
            <a:ext cx="1827266" cy="599266"/>
          </a:xfrm>
          <a:prstGeom prst="rect">
            <a:avLst/>
          </a:prstGeom>
          <a:solidFill>
            <a:srgbClr val="1E1E24"/>
          </a:solidFill>
          <a:ln/>
        </p:spPr>
      </p:sp>
      <p:sp>
        <p:nvSpPr>
          <p:cNvPr id="35" name="Text 33"/>
          <p:cNvSpPr txBox="1"/>
          <p:nvPr/>
        </p:nvSpPr>
        <p:spPr>
          <a:xfrm>
            <a:off x="1711282" y="3734500"/>
            <a:ext cx="1662619" cy="396071"/>
          </a:xfrm>
          <a:prstGeom prst="rect">
            <a:avLst/>
          </a:prstGeom>
          <a:noFill/>
          <a:ln/>
        </p:spPr>
        <p:txBody>
          <a:bodyPr wrap="square" lIns="0" tIns="0" rIns="0" bIns="0" rtlCol="0" anchor="t"/>
          <a:lstStyle/>
          <a:p>
            <a:pPr algn="l" indent="0" marL="0">
              <a:lnSpc>
                <a:spcPct val="111111"/>
              </a:lnSpc>
              <a:buNone/>
            </a:pPr>
            <a:r>
              <a:rPr lang="en-US" sz="1200" dirty="0">
                <a:solidFill>
                  <a:srgbClr val="F5F6FC"/>
                </a:solidFill>
                <a:latin typeface="Poppins" pitchFamily="34" charset="0"/>
                <a:ea typeface="Poppins" pitchFamily="34" charset="-122"/>
                <a:cs typeface="Poppins" pitchFamily="34" charset="-120"/>
              </a:rPr>
              <a:t>Engenheiro de IA</a:t>
            </a:r>
            <a:endParaRPr lang="en-US" sz="1200" dirty="0"/>
          </a:p>
        </p:txBody>
      </p:sp>
      <p:sp>
        <p:nvSpPr>
          <p:cNvPr id="36" name="Shape 34"/>
          <p:cNvSpPr/>
          <p:nvPr/>
        </p:nvSpPr>
        <p:spPr>
          <a:xfrm>
            <a:off x="3424251" y="3632903"/>
            <a:ext cx="3638360" cy="599266"/>
          </a:xfrm>
          <a:prstGeom prst="rect">
            <a:avLst/>
          </a:prstGeom>
          <a:solidFill>
            <a:srgbClr val="1E1E24"/>
          </a:solidFill>
          <a:ln/>
        </p:spPr>
      </p:sp>
      <p:sp>
        <p:nvSpPr>
          <p:cNvPr id="37" name="Text 35"/>
          <p:cNvSpPr txBox="1"/>
          <p:nvPr/>
        </p:nvSpPr>
        <p:spPr>
          <a:xfrm>
            <a:off x="3538548" y="3734500"/>
            <a:ext cx="3546156" cy="396071"/>
          </a:xfrm>
          <a:prstGeom prst="rect">
            <a:avLst/>
          </a:prstGeom>
          <a:noFill/>
          <a:ln/>
        </p:spPr>
        <p:txBody>
          <a:bodyPr wrap="square" lIns="0" tIns="0" rIns="0" bIns="0" rtlCol="0" anchor="t"/>
          <a:lstStyle/>
          <a:p>
            <a:pPr algn="l" indent="0" marL="0">
              <a:lnSpc>
                <a:spcPct val="111111"/>
              </a:lnSpc>
              <a:buNone/>
            </a:pPr>
            <a:r>
              <a:rPr lang="en-US" sz="1200" dirty="0">
                <a:solidFill>
                  <a:srgbClr val="F5F6FC"/>
                </a:solidFill>
                <a:latin typeface="Poppins" pitchFamily="34" charset="0"/>
                <a:ea typeface="Poppins" pitchFamily="34" charset="-122"/>
                <a:cs typeface="Poppins" pitchFamily="34" charset="-120"/>
              </a:rPr>
              <a:t>E o dono, que não escreve SQL?</a:t>
            </a:r>
            <a:endParaRPr lang="en-US" sz="1200" dirty="0"/>
          </a:p>
        </p:txBody>
      </p:sp>
      <p:sp>
        <p:nvSpPr>
          <p:cNvPr id="38" name="Shape 36"/>
          <p:cNvSpPr/>
          <p:nvPr/>
        </p:nvSpPr>
        <p:spPr>
          <a:xfrm>
            <a:off x="7062611" y="3632903"/>
            <a:ext cx="4367103" cy="599266"/>
          </a:xfrm>
          <a:prstGeom prst="rect">
            <a:avLst/>
          </a:prstGeom>
          <a:solidFill>
            <a:srgbClr val="1E1E24"/>
          </a:solidFill>
          <a:ln/>
        </p:spPr>
      </p:sp>
      <p:sp>
        <p:nvSpPr>
          <p:cNvPr id="39" name="Text 37"/>
          <p:cNvSpPr txBox="1"/>
          <p:nvPr/>
        </p:nvSpPr>
        <p:spPr>
          <a:xfrm>
            <a:off x="7176908" y="3734500"/>
            <a:ext cx="4304049" cy="396071"/>
          </a:xfrm>
          <a:prstGeom prst="rect">
            <a:avLst/>
          </a:prstGeom>
          <a:noFill/>
          <a:ln/>
        </p:spPr>
        <p:txBody>
          <a:bodyPr wrap="square" lIns="0" tIns="0" rIns="0" bIns="0" rtlCol="0" anchor="t"/>
          <a:lstStyle/>
          <a:p>
            <a:pPr algn="l" indent="0" marL="0">
              <a:lnSpc>
                <a:spcPct val="111111"/>
              </a:lnSpc>
              <a:buNone/>
            </a:pPr>
            <a:r>
              <a:rPr lang="en-US" sz="1200" dirty="0">
                <a:solidFill>
                  <a:srgbClr val="F5F6FC"/>
                </a:solidFill>
                <a:latin typeface="Poppins" pitchFamily="34" charset="0"/>
                <a:ea typeface="Poppins" pitchFamily="34" charset="-122"/>
                <a:cs typeface="Poppins" pitchFamily="34" charset="-120"/>
              </a:rPr>
              <a:t>agente de contratos, app + Lakebase, pitch</a:t>
            </a:r>
            <a:endParaRPr lang="en-US" sz="1200" dirty="0"/>
          </a:p>
        </p:txBody>
      </p:sp>
      <p:sp>
        <p:nvSpPr>
          <p:cNvPr id="40" name="Shape 38"/>
          <p:cNvSpPr/>
          <p:nvPr/>
        </p:nvSpPr>
        <p:spPr>
          <a:xfrm>
            <a:off x="761981" y="4409965"/>
            <a:ext cx="25399" cy="285743"/>
          </a:xfrm>
          <a:prstGeom prst="rect">
            <a:avLst/>
          </a:prstGeom>
          <a:solidFill>
            <a:srgbClr val="22C2F4"/>
          </a:solidFill>
          <a:ln/>
        </p:spPr>
      </p:sp>
      <p:sp>
        <p:nvSpPr>
          <p:cNvPr id="41" name="Text 39"/>
          <p:cNvSpPr txBox="1"/>
          <p:nvPr/>
        </p:nvSpPr>
        <p:spPr>
          <a:xfrm>
            <a:off x="914377" y="4448064"/>
            <a:ext cx="10935951" cy="209545"/>
          </a:xfrm>
          <a:prstGeom prst="rect">
            <a:avLst/>
          </a:prstGeom>
          <a:noFill/>
          <a:ln/>
        </p:spPr>
        <p:txBody>
          <a:bodyPr wrap="square" lIns="0" tIns="0" rIns="0" bIns="0" rtlCol="0" anchor="t"/>
          <a:lstStyle/>
          <a:p>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Repositório: </a:t>
            </a:r>
            <a:pPr algn="l" indent="0" marL="0">
              <a:lnSpc>
                <a:spcPct val="106838"/>
              </a:lnSpc>
              <a:buNone/>
            </a:pPr>
            <a:r>
              <a:rPr lang="en-US" sz="1100" b="1" dirty="0">
                <a:solidFill>
                  <a:srgbClr val="FFFFFF"/>
                </a:solidFill>
                <a:latin typeface="Poppins" pitchFamily="34" charset="0"/>
                <a:ea typeface="Poppins" pitchFamily="34" charset="-122"/>
                <a:cs typeface="Poppins" pitchFamily="34" charset="-120"/>
              </a:rPr>
              <a:t>github.com/lvgalvao/ImersaoControlTower</a:t>
            </a:r>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 · tudo no Databricks Free Edition</a:t>
            </a:r>
            <a:endParaRPr lang="en-US" sz="1100" dirty="0"/>
          </a:p>
        </p:txBody>
      </p:sp>
      <p:pic>
        <p:nvPicPr>
          <p:cNvPr id="42"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43" name="Text 40"/>
          <p:cNvSpPr txBox="1"/>
          <p:nvPr/>
        </p:nvSpPr>
        <p:spPr>
          <a:xfrm>
            <a:off x="10977189" y="6387940"/>
            <a:ext cx="470626"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10 / 133</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O CAMINHO DAS 4 NOITES</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Um projeto só,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uma camada por noite</a:t>
            </a:r>
            <a:endParaRPr lang="en-US" sz="3100" dirty="0"/>
          </a:p>
        </p:txBody>
      </p:sp>
      <p:sp>
        <p:nvSpPr>
          <p:cNvPr id="4" name="Shape 2"/>
          <p:cNvSpPr/>
          <p:nvPr/>
        </p:nvSpPr>
        <p:spPr>
          <a:xfrm>
            <a:off x="761981" y="1582301"/>
            <a:ext cx="10667733" cy="4577045"/>
          </a:xfrm>
          <a:prstGeom prst="roundRect">
            <a:avLst>
              <a:gd name="adj" fmla="val 3052"/>
            </a:avLst>
          </a:prstGeom>
          <a:solidFill>
            <a:srgbClr val="101016"/>
          </a:solidFill>
          <a:ln w="6350">
            <a:solidFill>
              <a:srgbClr val="2F2F39"/>
            </a:solidFill>
            <a:prstDash val="solid"/>
          </a:ln>
        </p:spPr>
      </p:sp>
      <p:pic>
        <p:nvPicPr>
          <p:cNvPr id="5" name="Image 0" descr="preencoded.png">    </p:cNvPr>
          <p:cNvPicPr>
            <a:picLocks noChangeAspect="1"/>
          </p:cNvPicPr>
          <p:nvPr/>
        </p:nvPicPr>
        <p:blipFill>
          <a:blip r:embed="rId2"/>
          <a:stretch>
            <a:fillRect/>
          </a:stretch>
        </p:blipFill>
        <p:spPr>
          <a:xfrm>
            <a:off x="908027" y="1728347"/>
            <a:ext cx="10375641" cy="4284952"/>
          </a:xfrm>
          <a:prstGeom prst="rect">
            <a:avLst/>
          </a:prstGeom>
        </p:spPr>
      </p:pic>
      <p:pic>
        <p:nvPicPr>
          <p:cNvPr id="6" name="Image 1" descr="preencoded.png">    </p:cNvPr>
          <p:cNvPicPr>
            <a:picLocks noChangeAspect="1"/>
          </p:cNvPicPr>
          <p:nvPr/>
        </p:nvPicPr>
        <p:blipFill>
          <a:blip r:embed="rId3"/>
          <a:stretch>
            <a:fillRect/>
          </a:stretch>
        </p:blipFill>
        <p:spPr>
          <a:xfrm>
            <a:off x="761981" y="6387940"/>
            <a:ext cx="2059928" cy="190495"/>
          </a:xfrm>
          <a:prstGeom prst="rect">
            <a:avLst/>
          </a:prstGeom>
        </p:spPr>
      </p:pic>
      <p:sp>
        <p:nvSpPr>
          <p:cNvPr id="7" name="Text 3"/>
          <p:cNvSpPr txBox="1"/>
          <p:nvPr/>
        </p:nvSpPr>
        <p:spPr>
          <a:xfrm>
            <a:off x="11014097" y="6387940"/>
            <a:ext cx="432242"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11 / 133</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ONDE O DADO MORA NO FIM</a:t>
            </a:r>
            <a:endParaRPr lang="en-US" sz="1200" dirty="0"/>
          </a:p>
        </p:txBody>
      </p:sp>
      <p:sp>
        <p:nvSpPr>
          <p:cNvPr id="3" name="Text 1"/>
          <p:cNvSpPr txBox="1"/>
          <p:nvPr/>
        </p:nvSpPr>
        <p:spPr>
          <a:xfrm>
            <a:off x="761981" y="895328"/>
            <a:ext cx="11094443" cy="86596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Catálogo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lakehouse_vertice</a:t>
            </a:r>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 pouca tabela, de propósito</a:t>
            </a:r>
            <a:endParaRPr lang="en-US" sz="3100" dirty="0"/>
          </a:p>
        </p:txBody>
      </p:sp>
      <p:sp>
        <p:nvSpPr>
          <p:cNvPr id="4" name="Shape 2"/>
          <p:cNvSpPr/>
          <p:nvPr/>
        </p:nvSpPr>
        <p:spPr>
          <a:xfrm>
            <a:off x="761981" y="2015281"/>
            <a:ext cx="2562161" cy="1925192"/>
          </a:xfrm>
          <a:prstGeom prst="roundRect">
            <a:avLst>
              <a:gd name="adj" fmla="val 7916"/>
            </a:avLst>
          </a:prstGeom>
          <a:solidFill>
            <a:srgbClr val="1E1E24"/>
          </a:solidFill>
          <a:ln w="6350">
            <a:solidFill>
              <a:srgbClr val="2F2F39"/>
            </a:solidFill>
            <a:prstDash val="solid"/>
          </a:ln>
        </p:spPr>
      </p:sp>
      <p:sp>
        <p:nvSpPr>
          <p:cNvPr id="5" name="Shape 3"/>
          <p:cNvSpPr/>
          <p:nvPr/>
        </p:nvSpPr>
        <p:spPr>
          <a:xfrm>
            <a:off x="984225" y="2212126"/>
            <a:ext cx="1024706" cy="247644"/>
          </a:xfrm>
          <a:prstGeom prst="roundRect">
            <a:avLst>
              <a:gd name="adj" fmla="val 50000"/>
            </a:avLst>
          </a:prstGeom>
          <a:solidFill>
            <a:srgbClr val="22C2F4">
              <a:alpha val="14000"/>
            </a:srgbClr>
          </a:solidFill>
          <a:ln/>
        </p:spPr>
      </p:sp>
      <p:sp>
        <p:nvSpPr>
          <p:cNvPr id="6" name="Text 4"/>
          <p:cNvSpPr txBox="1"/>
          <p:nvPr/>
        </p:nvSpPr>
        <p:spPr>
          <a:xfrm>
            <a:off x="1073123" y="2250225"/>
            <a:ext cx="880786"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bronze · noite 1</a:t>
            </a:r>
            <a:endParaRPr lang="en-US" sz="900" dirty="0"/>
          </a:p>
        </p:txBody>
      </p:sp>
      <p:sp>
        <p:nvSpPr>
          <p:cNvPr id="7" name="Text 5"/>
          <p:cNvSpPr txBox="1"/>
          <p:nvPr/>
        </p:nvSpPr>
        <p:spPr>
          <a:xfrm>
            <a:off x="984225" y="2548668"/>
            <a:ext cx="2202379" cy="330192"/>
          </a:xfrm>
          <a:prstGeom prst="rect">
            <a:avLst/>
          </a:prstGeom>
          <a:noFill/>
          <a:ln/>
        </p:spPr>
        <p:txBody>
          <a:bodyPr wrap="square" lIns="0" tIns="0" rIns="0" bIns="0" rtlCol="0" anchor="t"/>
          <a:lstStyle/>
          <a:p>
            <a:pPr algn="l" indent="0" marL="0">
              <a:lnSpc>
                <a:spcPct val="85470"/>
              </a:lnSpc>
              <a:buNone/>
            </a:pPr>
            <a:r>
              <a:rPr lang="en-US" sz="2600" b="1" spc="-52" kern="0" dirty="0">
                <a:solidFill>
                  <a:srgbClr val="F5F6FC"/>
                </a:solidFill>
                <a:latin typeface="Poppins" pitchFamily="34" charset="0"/>
                <a:ea typeface="Poppins" pitchFamily="34" charset="-122"/>
                <a:cs typeface="Poppins" pitchFamily="34" charset="-120"/>
              </a:rPr>
              <a:t>9</a:t>
            </a:r>
            <a:endParaRPr lang="en-US" sz="2600" dirty="0"/>
          </a:p>
        </p:txBody>
      </p:sp>
      <p:sp>
        <p:nvSpPr>
          <p:cNvPr id="8" name="Text 6"/>
          <p:cNvSpPr txBox="1"/>
          <p:nvPr/>
        </p:nvSpPr>
        <p:spPr>
          <a:xfrm>
            <a:off x="984225" y="2955057"/>
            <a:ext cx="2202379" cy="788571"/>
          </a:xfrm>
          <a:prstGeom prst="rect">
            <a:avLst/>
          </a:prstGeom>
          <a:noFill/>
          <a:ln/>
        </p:spPr>
        <p:txBody>
          <a:bodyPr wrap="square" lIns="0" tIns="0" rIns="0" bIns="0" rtlCol="0" anchor="t"/>
          <a:lstStyle/>
          <a:p>
            <a:pPr algn="l" indent="0" marL="0">
              <a:lnSpc>
                <a:spcPct val="115385"/>
              </a:lnSpc>
              <a:buNone/>
            </a:pPr>
            <a:r>
              <a:rPr lang="en-US" sz="1150" dirty="0">
                <a:solidFill>
                  <a:srgbClr val="A3A6B4"/>
                </a:solidFill>
                <a:latin typeface="Poppins" pitchFamily="34" charset="0"/>
                <a:ea typeface="Poppins" pitchFamily="34" charset="-122"/>
                <a:cs typeface="Poppins" pitchFamily="34" charset="-120"/>
              </a:rPr>
              <a:t>tabelas, o dado como veio, sujeira inclusa</a:t>
            </a:r>
            <a:endParaRPr lang="en-US" sz="1150" dirty="0"/>
          </a:p>
          <a:p>
            <a:pPr algn="l" indent="0" marL="0">
              <a:lnSpc>
                <a:spcPct val="115385"/>
              </a:lnSpc>
              <a:buNone/>
            </a:pPr>
            <a:r>
              <a:rPr lang="en-US" sz="1150" dirty="0">
                <a:solidFill>
                  <a:srgbClr val="A3A6B4"/>
                </a:solidFill>
                <a:latin typeface="Poppins" pitchFamily="34" charset="0"/>
                <a:ea typeface="Poppins" pitchFamily="34" charset="-122"/>
                <a:cs typeface="Poppins" pitchFamily="34" charset="-120"/>
              </a:rPr>
              <a:t>+ volume </a:t>
            </a:r>
            <a:pPr algn="l" indent="0" marL="0">
              <a:lnSpc>
                <a:spcPct val="115385"/>
              </a:lnSpc>
              <a:buNone/>
            </a:pPr>
            <a:r>
              <a:rPr lang="en-US" sz="1150" b="1" dirty="0">
                <a:solidFill>
                  <a:srgbClr val="FFFFFF"/>
                </a:solidFill>
                <a:latin typeface="Poppins" pitchFamily="34" charset="0"/>
                <a:ea typeface="Poppins" pitchFamily="34" charset="-122"/>
                <a:cs typeface="Poppins" pitchFamily="34" charset="-120"/>
              </a:rPr>
              <a:t>raw</a:t>
            </a:r>
            <a:pPr algn="l" indent="0" marL="0">
              <a:lnSpc>
                <a:spcPct val="115385"/>
              </a:lnSpc>
              <a:buNone/>
            </a:pPr>
            <a:r>
              <a:rPr lang="en-US" sz="1150" dirty="0">
                <a:solidFill>
                  <a:srgbClr val="A3A6B4"/>
                </a:solidFill>
                <a:latin typeface="Poppins" pitchFamily="34" charset="0"/>
                <a:ea typeface="Poppins" pitchFamily="34" charset="-122"/>
                <a:cs typeface="Poppins" pitchFamily="34" charset="-120"/>
              </a:rPr>
              <a:t> com os arquivos</a:t>
            </a:r>
            <a:endParaRPr lang="en-US" sz="1150" dirty="0"/>
          </a:p>
        </p:txBody>
      </p:sp>
      <p:sp>
        <p:nvSpPr>
          <p:cNvPr id="9" name="Shape 7"/>
          <p:cNvSpPr/>
          <p:nvPr/>
        </p:nvSpPr>
        <p:spPr>
          <a:xfrm>
            <a:off x="3463838" y="2015281"/>
            <a:ext cx="2562161" cy="1925192"/>
          </a:xfrm>
          <a:prstGeom prst="roundRect">
            <a:avLst>
              <a:gd name="adj" fmla="val 7916"/>
            </a:avLst>
          </a:prstGeom>
          <a:solidFill>
            <a:srgbClr val="1E1E24"/>
          </a:solidFill>
          <a:ln w="6350">
            <a:solidFill>
              <a:srgbClr val="2F2F39"/>
            </a:solidFill>
            <a:prstDash val="solid"/>
          </a:ln>
        </p:spPr>
      </p:sp>
      <p:sp>
        <p:nvSpPr>
          <p:cNvPr id="10" name="Shape 8"/>
          <p:cNvSpPr/>
          <p:nvPr/>
        </p:nvSpPr>
        <p:spPr>
          <a:xfrm>
            <a:off x="3686083" y="2212126"/>
            <a:ext cx="962001" cy="247644"/>
          </a:xfrm>
          <a:prstGeom prst="roundRect">
            <a:avLst>
              <a:gd name="adj" fmla="val 50000"/>
            </a:avLst>
          </a:prstGeom>
          <a:solidFill>
            <a:srgbClr val="22C2F4">
              <a:alpha val="14000"/>
            </a:srgbClr>
          </a:solidFill>
          <a:ln/>
        </p:spPr>
      </p:sp>
      <p:sp>
        <p:nvSpPr>
          <p:cNvPr id="11" name="Text 9"/>
          <p:cNvSpPr txBox="1"/>
          <p:nvPr/>
        </p:nvSpPr>
        <p:spPr>
          <a:xfrm>
            <a:off x="3774981" y="2250225"/>
            <a:ext cx="815574"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silver · noite 2</a:t>
            </a:r>
            <a:endParaRPr lang="en-US" sz="900" dirty="0"/>
          </a:p>
        </p:txBody>
      </p:sp>
      <p:sp>
        <p:nvSpPr>
          <p:cNvPr id="12" name="Text 10"/>
          <p:cNvSpPr txBox="1"/>
          <p:nvPr/>
        </p:nvSpPr>
        <p:spPr>
          <a:xfrm>
            <a:off x="3686083" y="2548668"/>
            <a:ext cx="2202379" cy="330192"/>
          </a:xfrm>
          <a:prstGeom prst="rect">
            <a:avLst/>
          </a:prstGeom>
          <a:noFill/>
          <a:ln/>
        </p:spPr>
        <p:txBody>
          <a:bodyPr wrap="square" lIns="0" tIns="0" rIns="0" bIns="0" rtlCol="0" anchor="t"/>
          <a:lstStyle/>
          <a:p>
            <a:pPr algn="l" indent="0" marL="0">
              <a:lnSpc>
                <a:spcPct val="85470"/>
              </a:lnSpc>
              <a:buNone/>
            </a:pPr>
            <a:r>
              <a:rPr lang="en-US" sz="2600" b="1" spc="-52" kern="0" dirty="0">
                <a:solidFill>
                  <a:srgbClr val="F5F6FC"/>
                </a:solidFill>
                <a:latin typeface="Poppins" pitchFamily="34" charset="0"/>
                <a:ea typeface="Poppins" pitchFamily="34" charset="-122"/>
                <a:cs typeface="Poppins" pitchFamily="34" charset="-120"/>
              </a:rPr>
              <a:t>7</a:t>
            </a:r>
            <a:endParaRPr lang="en-US" sz="2600" dirty="0"/>
          </a:p>
        </p:txBody>
      </p:sp>
      <p:sp>
        <p:nvSpPr>
          <p:cNvPr id="13" name="Text 11"/>
          <p:cNvSpPr txBox="1"/>
          <p:nvPr/>
        </p:nvSpPr>
        <p:spPr>
          <a:xfrm>
            <a:off x="3686083" y="2955057"/>
            <a:ext cx="2202379" cy="591428"/>
          </a:xfrm>
          <a:prstGeom prst="rect">
            <a:avLst/>
          </a:prstGeom>
          <a:noFill/>
          <a:ln/>
        </p:spPr>
        <p:txBody>
          <a:bodyPr wrap="square" lIns="0" tIns="0" rIns="0" bIns="0" rtlCol="0" anchor="t"/>
          <a:lstStyle/>
          <a:p>
            <a:pPr algn="l" indent="0" marL="0">
              <a:lnSpc>
                <a:spcPct val="115385"/>
              </a:lnSpc>
              <a:buNone/>
            </a:pPr>
            <a:r>
              <a:rPr lang="en-US" sz="1150" dirty="0">
                <a:solidFill>
                  <a:srgbClr val="A3A6B4"/>
                </a:solidFill>
                <a:latin typeface="Poppins" pitchFamily="34" charset="0"/>
                <a:ea typeface="Poppins" pitchFamily="34" charset="-122"/>
                <a:cs typeface="Poppins" pitchFamily="34" charset="-120"/>
              </a:rPr>
              <a:t>tabelas limpas: as 3 ferramentas viraram </a:t>
            </a:r>
            <a:pPr algn="l" indent="0" marL="0">
              <a:lnSpc>
                <a:spcPct val="115385"/>
              </a:lnSpc>
              <a:buNone/>
            </a:pPr>
            <a:r>
              <a:rPr lang="en-US" sz="1150" b="1" dirty="0">
                <a:solidFill>
                  <a:srgbClr val="FFFFFF"/>
                </a:solidFill>
                <a:latin typeface="Poppins" pitchFamily="34" charset="0"/>
                <a:ea typeface="Poppins" pitchFamily="34" charset="-122"/>
                <a:cs typeface="Poppins" pitchFamily="34" charset="-120"/>
              </a:rPr>
              <a:t>tarefas</a:t>
            </a:r>
            <a:endParaRPr lang="en-US" sz="1150" dirty="0"/>
          </a:p>
          <a:p>
            <a:pPr algn="l" indent="0" marL="0">
              <a:lnSpc>
                <a:spcPct val="115385"/>
              </a:lnSpc>
              <a:buNone/>
            </a:pPr>
            <a:r>
              <a:rPr lang="en-US" sz="1150" dirty="0">
                <a:solidFill>
                  <a:srgbClr val="A3A6B4"/>
                </a:solidFill>
                <a:latin typeface="Poppins" pitchFamily="34" charset="0"/>
                <a:ea typeface="Poppins" pitchFamily="34" charset="-122"/>
                <a:cs typeface="Poppins" pitchFamily="34" charset="-120"/>
              </a:rPr>
              <a:t>(+ 2 dos contratos, noite 4)</a:t>
            </a:r>
            <a:endParaRPr lang="en-US" sz="1150" dirty="0"/>
          </a:p>
        </p:txBody>
      </p:sp>
      <p:sp>
        <p:nvSpPr>
          <p:cNvPr id="14" name="Shape 12"/>
          <p:cNvSpPr/>
          <p:nvPr/>
        </p:nvSpPr>
        <p:spPr>
          <a:xfrm>
            <a:off x="6165696" y="2015281"/>
            <a:ext cx="2562161" cy="1925192"/>
          </a:xfrm>
          <a:prstGeom prst="roundRect">
            <a:avLst>
              <a:gd name="adj" fmla="val 7916"/>
            </a:avLst>
          </a:prstGeom>
          <a:solidFill>
            <a:srgbClr val="0059DB"/>
          </a:solidFill>
          <a:ln/>
        </p:spPr>
      </p:sp>
      <p:sp>
        <p:nvSpPr>
          <p:cNvPr id="15" name="Shape 13"/>
          <p:cNvSpPr/>
          <p:nvPr/>
        </p:nvSpPr>
        <p:spPr>
          <a:xfrm>
            <a:off x="6387940" y="2212126"/>
            <a:ext cx="1180475" cy="247644"/>
          </a:xfrm>
          <a:prstGeom prst="roundRect">
            <a:avLst>
              <a:gd name="adj" fmla="val 50000"/>
            </a:avLst>
          </a:prstGeom>
          <a:solidFill>
            <a:srgbClr val="FFFFFF">
              <a:alpha val="16000"/>
            </a:srgbClr>
          </a:solidFill>
          <a:ln/>
        </p:spPr>
      </p:sp>
      <p:sp>
        <p:nvSpPr>
          <p:cNvPr id="16" name="Text 14"/>
          <p:cNvSpPr txBox="1"/>
          <p:nvPr/>
        </p:nvSpPr>
        <p:spPr>
          <a:xfrm>
            <a:off x="6476838" y="2250225"/>
            <a:ext cx="1042787"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gold · noites 2 a 4</a:t>
            </a:r>
            <a:endParaRPr lang="en-US" sz="900" dirty="0"/>
          </a:p>
        </p:txBody>
      </p:sp>
      <p:sp>
        <p:nvSpPr>
          <p:cNvPr id="17" name="Text 15"/>
          <p:cNvSpPr txBox="1"/>
          <p:nvPr/>
        </p:nvSpPr>
        <p:spPr>
          <a:xfrm>
            <a:off x="6387940" y="2548668"/>
            <a:ext cx="2202379" cy="330192"/>
          </a:xfrm>
          <a:prstGeom prst="rect">
            <a:avLst/>
          </a:prstGeom>
          <a:noFill/>
          <a:ln/>
        </p:spPr>
        <p:txBody>
          <a:bodyPr wrap="square" lIns="0" tIns="0" rIns="0" bIns="0" rtlCol="0" anchor="t"/>
          <a:lstStyle/>
          <a:p>
            <a:pPr algn="l" indent="0" marL="0">
              <a:lnSpc>
                <a:spcPct val="85470"/>
              </a:lnSpc>
              <a:buNone/>
            </a:pPr>
            <a:r>
              <a:rPr lang="en-US" sz="2600" b="1" spc="-52" kern="0" dirty="0">
                <a:solidFill>
                  <a:srgbClr val="F5F6FC"/>
                </a:solidFill>
                <a:latin typeface="Poppins" pitchFamily="34" charset="0"/>
                <a:ea typeface="Poppins" pitchFamily="34" charset="-122"/>
                <a:cs typeface="Poppins" pitchFamily="34" charset="-120"/>
              </a:rPr>
              <a:t>7</a:t>
            </a:r>
            <a:endParaRPr lang="en-US" sz="2600" dirty="0"/>
          </a:p>
        </p:txBody>
      </p:sp>
      <p:sp>
        <p:nvSpPr>
          <p:cNvPr id="18" name="Text 16"/>
          <p:cNvSpPr txBox="1"/>
          <p:nvPr/>
        </p:nvSpPr>
        <p:spPr>
          <a:xfrm>
            <a:off x="6387940" y="2955057"/>
            <a:ext cx="2202379" cy="591428"/>
          </a:xfrm>
          <a:prstGeom prst="rect">
            <a:avLst/>
          </a:prstGeom>
          <a:noFill/>
          <a:ln/>
        </p:spPr>
        <p:txBody>
          <a:bodyPr wrap="square" lIns="0" tIns="0" rIns="0" bIns="0" rtlCol="0" anchor="t"/>
          <a:lstStyle/>
          <a:p>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uma por pergunta do dono, prontas para dashboard, Genie e app</a:t>
            </a:r>
            <a:endParaRPr lang="en-US" sz="1150" dirty="0"/>
          </a:p>
        </p:txBody>
      </p:sp>
      <p:sp>
        <p:nvSpPr>
          <p:cNvPr id="19" name="Shape 17"/>
          <p:cNvSpPr/>
          <p:nvPr/>
        </p:nvSpPr>
        <p:spPr>
          <a:xfrm>
            <a:off x="8867553" y="2015281"/>
            <a:ext cx="2562161" cy="1925192"/>
          </a:xfrm>
          <a:prstGeom prst="roundRect">
            <a:avLst>
              <a:gd name="adj" fmla="val 7916"/>
            </a:avLst>
          </a:prstGeom>
          <a:solidFill>
            <a:srgbClr val="1E1E24"/>
          </a:solidFill>
          <a:ln w="6350">
            <a:solidFill>
              <a:srgbClr val="2F2F39"/>
            </a:solidFill>
            <a:prstDash val="solid"/>
          </a:ln>
        </p:spPr>
      </p:sp>
      <p:sp>
        <p:nvSpPr>
          <p:cNvPr id="20" name="Shape 18"/>
          <p:cNvSpPr/>
          <p:nvPr/>
        </p:nvSpPr>
        <p:spPr>
          <a:xfrm>
            <a:off x="9089798" y="2212126"/>
            <a:ext cx="805438" cy="247644"/>
          </a:xfrm>
          <a:prstGeom prst="roundRect">
            <a:avLst>
              <a:gd name="adj" fmla="val 50000"/>
            </a:avLst>
          </a:prstGeom>
          <a:solidFill>
            <a:srgbClr val="22C2F4">
              <a:alpha val="14000"/>
            </a:srgbClr>
          </a:solidFill>
          <a:ln/>
        </p:spPr>
      </p:sp>
      <p:sp>
        <p:nvSpPr>
          <p:cNvPr id="21" name="Text 19"/>
          <p:cNvSpPr txBox="1"/>
          <p:nvPr/>
        </p:nvSpPr>
        <p:spPr>
          <a:xfrm>
            <a:off x="9178696" y="2250225"/>
            <a:ext cx="652748"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ml · noite 3</a:t>
            </a:r>
            <a:endParaRPr lang="en-US" sz="900" dirty="0"/>
          </a:p>
        </p:txBody>
      </p:sp>
      <p:sp>
        <p:nvSpPr>
          <p:cNvPr id="22" name="Text 20"/>
          <p:cNvSpPr txBox="1"/>
          <p:nvPr/>
        </p:nvSpPr>
        <p:spPr>
          <a:xfrm>
            <a:off x="9089798" y="2548668"/>
            <a:ext cx="2202379" cy="330192"/>
          </a:xfrm>
          <a:prstGeom prst="rect">
            <a:avLst/>
          </a:prstGeom>
          <a:noFill/>
          <a:ln/>
        </p:spPr>
        <p:txBody>
          <a:bodyPr wrap="square" lIns="0" tIns="0" rIns="0" bIns="0" rtlCol="0" anchor="t"/>
          <a:lstStyle/>
          <a:p>
            <a:pPr algn="l" indent="0" marL="0">
              <a:lnSpc>
                <a:spcPct val="85470"/>
              </a:lnSpc>
              <a:buNone/>
            </a:pPr>
            <a:r>
              <a:rPr lang="en-US" sz="2600" b="1" spc="-52" kern="0" dirty="0">
                <a:solidFill>
                  <a:srgbClr val="F5F6FC"/>
                </a:solidFill>
                <a:latin typeface="Poppins" pitchFamily="34" charset="0"/>
                <a:ea typeface="Poppins" pitchFamily="34" charset="-122"/>
                <a:cs typeface="Poppins" pitchFamily="34" charset="-120"/>
              </a:rPr>
              <a:t>2</a:t>
            </a:r>
            <a:endParaRPr lang="en-US" sz="2600" dirty="0"/>
          </a:p>
        </p:txBody>
      </p:sp>
      <p:sp>
        <p:nvSpPr>
          <p:cNvPr id="23" name="Text 21"/>
          <p:cNvSpPr txBox="1"/>
          <p:nvPr/>
        </p:nvSpPr>
        <p:spPr>
          <a:xfrm>
            <a:off x="9089798" y="2955057"/>
            <a:ext cx="2202379" cy="394285"/>
          </a:xfrm>
          <a:prstGeom prst="rect">
            <a:avLst/>
          </a:prstGeom>
          <a:noFill/>
          <a:ln/>
        </p:spPr>
        <p:txBody>
          <a:bodyPr wrap="square" lIns="0" tIns="0" rIns="0" bIns="0" rtlCol="0" anchor="t"/>
          <a:lstStyle/>
          <a:p>
            <a:pPr algn="l" indent="0" marL="0">
              <a:lnSpc>
                <a:spcPct val="115385"/>
              </a:lnSpc>
              <a:buNone/>
            </a:pPr>
            <a:r>
              <a:rPr lang="en-US" sz="1150" dirty="0">
                <a:solidFill>
                  <a:srgbClr val="A3A6B4"/>
                </a:solidFill>
                <a:latin typeface="Poppins" pitchFamily="34" charset="0"/>
                <a:ea typeface="Poppins" pitchFamily="34" charset="-122"/>
                <a:cs typeface="Poppins" pitchFamily="34" charset="-120"/>
              </a:rPr>
              <a:t>features e métricas</a:t>
            </a:r>
            <a:endParaRPr lang="en-US" sz="1150" dirty="0"/>
          </a:p>
          <a:p>
            <a:pPr algn="l" indent="0" marL="0">
              <a:lnSpc>
                <a:spcPct val="115385"/>
              </a:lnSpc>
              <a:buNone/>
            </a:pPr>
            <a:r>
              <a:rPr lang="en-US" sz="1150" dirty="0">
                <a:solidFill>
                  <a:srgbClr val="A3A6B4"/>
                </a:solidFill>
                <a:latin typeface="Poppins" pitchFamily="34" charset="0"/>
                <a:ea typeface="Poppins" pitchFamily="34" charset="-122"/>
                <a:cs typeface="Poppins" pitchFamily="34" charset="-120"/>
              </a:rPr>
              <a:t>+ o modelo registrado</a:t>
            </a:r>
            <a:endParaRPr lang="en-US" sz="1150" dirty="0"/>
          </a:p>
        </p:txBody>
      </p:sp>
      <p:sp>
        <p:nvSpPr>
          <p:cNvPr id="24" name="Text 22"/>
          <p:cNvSpPr txBox="1"/>
          <p:nvPr/>
        </p:nvSpPr>
        <p:spPr>
          <a:xfrm>
            <a:off x="876278" y="4130969"/>
            <a:ext cx="4109133" cy="171446"/>
          </a:xfrm>
          <a:prstGeom prst="rect">
            <a:avLst/>
          </a:prstGeom>
          <a:noFill/>
          <a:ln/>
        </p:spPr>
        <p:txBody>
          <a:bodyPr wrap="square" lIns="0" tIns="0" rIns="0" bIns="0" rtlCol="0" anchor="t"/>
          <a:lstStyle/>
          <a:p>
            <a:pPr algn="l"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OBJETO DA GOLD</a:t>
            </a:r>
            <a:endParaRPr lang="en-US" sz="900" dirty="0"/>
          </a:p>
        </p:txBody>
      </p:sp>
      <p:sp>
        <p:nvSpPr>
          <p:cNvPr id="25" name="Text 23"/>
          <p:cNvSpPr txBox="1"/>
          <p:nvPr/>
        </p:nvSpPr>
        <p:spPr>
          <a:xfrm>
            <a:off x="5055962" y="4130969"/>
            <a:ext cx="548221" cy="171446"/>
          </a:xfrm>
          <a:prstGeom prst="rect">
            <a:avLst/>
          </a:prstGeom>
          <a:noFill/>
          <a:ln/>
        </p:spPr>
        <p:txBody>
          <a:bodyPr wrap="square" lIns="0" tIns="0" rIns="0" bIns="0" rtlCol="0" anchor="t"/>
          <a:lstStyle/>
          <a:p>
            <a:pPr algn="l"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NOITE</a:t>
            </a:r>
            <a:endParaRPr lang="en-US" sz="900" dirty="0"/>
          </a:p>
        </p:txBody>
      </p:sp>
      <p:sp>
        <p:nvSpPr>
          <p:cNvPr id="26" name="Text 24"/>
          <p:cNvSpPr txBox="1"/>
          <p:nvPr/>
        </p:nvSpPr>
        <p:spPr>
          <a:xfrm>
            <a:off x="5811692" y="4130969"/>
            <a:ext cx="5723874" cy="171446"/>
          </a:xfrm>
          <a:prstGeom prst="rect">
            <a:avLst/>
          </a:prstGeom>
          <a:noFill/>
          <a:ln/>
        </p:spPr>
        <p:txBody>
          <a:bodyPr wrap="square" lIns="0" tIns="0" rIns="0" bIns="0" rtlCol="0" anchor="t"/>
          <a:lstStyle/>
          <a:p>
            <a:pPr algn="l"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RESPONDE</a:t>
            </a:r>
            <a:endParaRPr lang="en-US" sz="900" dirty="0"/>
          </a:p>
        </p:txBody>
      </p:sp>
      <p:sp>
        <p:nvSpPr>
          <p:cNvPr id="27" name="Shape 25"/>
          <p:cNvSpPr/>
          <p:nvPr/>
        </p:nvSpPr>
        <p:spPr>
          <a:xfrm>
            <a:off x="761981" y="4429411"/>
            <a:ext cx="4179684" cy="384761"/>
          </a:xfrm>
          <a:prstGeom prst="rect">
            <a:avLst/>
          </a:prstGeom>
          <a:solidFill>
            <a:srgbClr val="1E1E24"/>
          </a:solidFill>
          <a:ln/>
        </p:spPr>
      </p:sp>
      <p:sp>
        <p:nvSpPr>
          <p:cNvPr id="28" name="Text 26"/>
          <p:cNvSpPr txBox="1"/>
          <p:nvPr/>
        </p:nvSpPr>
        <p:spPr>
          <a:xfrm>
            <a:off x="876278" y="4531009"/>
            <a:ext cx="4109133" cy="181566"/>
          </a:xfrm>
          <a:prstGeom prst="rect">
            <a:avLst/>
          </a:prstGeom>
          <a:noFill/>
          <a:ln/>
        </p:spPr>
        <p:txBody>
          <a:bodyPr wrap="square" lIns="0" tIns="0" rIns="0" bIns="0" rtlCol="0" anchor="t"/>
          <a:lstStyle/>
          <a:p>
            <a:pPr algn="l" indent="0" marL="0">
              <a:lnSpc>
                <a:spcPct val="111111"/>
              </a:lnSpc>
              <a:buNone/>
            </a:pPr>
            <a:r>
              <a:rPr lang="en-US" sz="1100" b="1" dirty="0">
                <a:solidFill>
                  <a:srgbClr val="F5F6FC"/>
                </a:solidFill>
                <a:latin typeface="Poppins" pitchFamily="34" charset="0"/>
                <a:ea typeface="Poppins" pitchFamily="34" charset="-122"/>
                <a:cs typeface="Poppins" pitchFamily="34" charset="-120"/>
              </a:rPr>
              <a:t>projeto_situacao_atual</a:t>
            </a:r>
            <a:endParaRPr lang="en-US" sz="1100" dirty="0"/>
          </a:p>
        </p:txBody>
      </p:sp>
      <p:sp>
        <p:nvSpPr>
          <p:cNvPr id="29" name="Shape 27"/>
          <p:cNvSpPr/>
          <p:nvPr/>
        </p:nvSpPr>
        <p:spPr>
          <a:xfrm>
            <a:off x="4941665" y="4429411"/>
            <a:ext cx="755730" cy="384761"/>
          </a:xfrm>
          <a:prstGeom prst="rect">
            <a:avLst/>
          </a:prstGeom>
          <a:solidFill>
            <a:srgbClr val="1E1E24"/>
          </a:solidFill>
          <a:ln/>
        </p:spPr>
      </p:sp>
      <p:sp>
        <p:nvSpPr>
          <p:cNvPr id="30" name="Text 28"/>
          <p:cNvSpPr txBox="1"/>
          <p:nvPr/>
        </p:nvSpPr>
        <p:spPr>
          <a:xfrm>
            <a:off x="5055962" y="4531009"/>
            <a:ext cx="548221"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2</a:t>
            </a:r>
            <a:endParaRPr lang="en-US" sz="1100" dirty="0"/>
          </a:p>
        </p:txBody>
      </p:sp>
      <p:sp>
        <p:nvSpPr>
          <p:cNvPr id="31" name="Shape 29"/>
          <p:cNvSpPr/>
          <p:nvPr/>
        </p:nvSpPr>
        <p:spPr>
          <a:xfrm>
            <a:off x="5697395" y="4429411"/>
            <a:ext cx="5732319" cy="384761"/>
          </a:xfrm>
          <a:prstGeom prst="rect">
            <a:avLst/>
          </a:prstGeom>
          <a:solidFill>
            <a:srgbClr val="1E1E24"/>
          </a:solidFill>
          <a:ln/>
        </p:spPr>
      </p:sp>
      <p:sp>
        <p:nvSpPr>
          <p:cNvPr id="32" name="Text 30"/>
          <p:cNvSpPr txBox="1"/>
          <p:nvPr/>
        </p:nvSpPr>
        <p:spPr>
          <a:xfrm>
            <a:off x="5811692" y="4531009"/>
            <a:ext cx="5723874"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quem atrasa, de qual cliente, quanto custa (SPI, CPI, estouro, melancia)</a:t>
            </a:r>
            <a:endParaRPr lang="en-US" sz="1100" dirty="0"/>
          </a:p>
        </p:txBody>
      </p:sp>
      <p:sp>
        <p:nvSpPr>
          <p:cNvPr id="33" name="Shape 31"/>
          <p:cNvSpPr/>
          <p:nvPr/>
        </p:nvSpPr>
        <p:spPr>
          <a:xfrm>
            <a:off x="761981" y="4864971"/>
            <a:ext cx="4179684" cy="384761"/>
          </a:xfrm>
          <a:prstGeom prst="rect">
            <a:avLst/>
          </a:prstGeom>
          <a:solidFill>
            <a:srgbClr val="1E1E24"/>
          </a:solidFill>
          <a:ln/>
        </p:spPr>
      </p:sp>
      <p:sp>
        <p:nvSpPr>
          <p:cNvPr id="34" name="Text 32"/>
          <p:cNvSpPr txBox="1"/>
          <p:nvPr/>
        </p:nvSpPr>
        <p:spPr>
          <a:xfrm>
            <a:off x="876278" y="4966568"/>
            <a:ext cx="4109133" cy="181566"/>
          </a:xfrm>
          <a:prstGeom prst="rect">
            <a:avLst/>
          </a:prstGeom>
          <a:noFill/>
          <a:ln/>
        </p:spPr>
        <p:txBody>
          <a:bodyPr wrap="square" lIns="0" tIns="0" rIns="0" bIns="0" rtlCol="0" anchor="t"/>
          <a:lstStyle/>
          <a:p>
            <a:pPr algn="l" indent="0" marL="0">
              <a:lnSpc>
                <a:spcPct val="111111"/>
              </a:lnSpc>
              <a:buNone/>
            </a:pPr>
            <a:r>
              <a:rPr lang="en-US" sz="1100" b="1" dirty="0">
                <a:solidFill>
                  <a:srgbClr val="F5F6FC"/>
                </a:solidFill>
                <a:latin typeface="Poppins" pitchFamily="34" charset="0"/>
                <a:ea typeface="Poppins" pitchFamily="34" charset="-122"/>
                <a:cs typeface="Poppins" pitchFamily="34" charset="-120"/>
              </a:rPr>
              <a:t>fato_projeto_semana</a:t>
            </a:r>
            <a:endParaRPr lang="en-US" sz="1100" dirty="0"/>
          </a:p>
        </p:txBody>
      </p:sp>
      <p:sp>
        <p:nvSpPr>
          <p:cNvPr id="35" name="Shape 33"/>
          <p:cNvSpPr/>
          <p:nvPr/>
        </p:nvSpPr>
        <p:spPr>
          <a:xfrm>
            <a:off x="4941665" y="4864971"/>
            <a:ext cx="755730" cy="384761"/>
          </a:xfrm>
          <a:prstGeom prst="rect">
            <a:avLst/>
          </a:prstGeom>
          <a:solidFill>
            <a:srgbClr val="1E1E24"/>
          </a:solidFill>
          <a:ln/>
        </p:spPr>
      </p:sp>
      <p:sp>
        <p:nvSpPr>
          <p:cNvPr id="36" name="Text 34"/>
          <p:cNvSpPr txBox="1"/>
          <p:nvPr/>
        </p:nvSpPr>
        <p:spPr>
          <a:xfrm>
            <a:off x="5055962" y="4966568"/>
            <a:ext cx="548221"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2</a:t>
            </a:r>
            <a:endParaRPr lang="en-US" sz="1100" dirty="0"/>
          </a:p>
        </p:txBody>
      </p:sp>
      <p:sp>
        <p:nvSpPr>
          <p:cNvPr id="37" name="Shape 35"/>
          <p:cNvSpPr/>
          <p:nvPr/>
        </p:nvSpPr>
        <p:spPr>
          <a:xfrm>
            <a:off x="5697395" y="4864971"/>
            <a:ext cx="5732319" cy="384761"/>
          </a:xfrm>
          <a:prstGeom prst="rect">
            <a:avLst/>
          </a:prstGeom>
          <a:solidFill>
            <a:srgbClr val="1E1E24"/>
          </a:solidFill>
          <a:ln/>
        </p:spPr>
      </p:sp>
      <p:sp>
        <p:nvSpPr>
          <p:cNvPr id="38" name="Text 36"/>
          <p:cNvSpPr txBox="1"/>
          <p:nvPr/>
        </p:nvSpPr>
        <p:spPr>
          <a:xfrm>
            <a:off x="5811692" y="4966568"/>
            <a:ext cx="5723874"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a evolução semana a semana (base do modelo)</a:t>
            </a:r>
            <a:endParaRPr lang="en-US" sz="1100" dirty="0"/>
          </a:p>
        </p:txBody>
      </p:sp>
      <p:sp>
        <p:nvSpPr>
          <p:cNvPr id="39" name="Shape 37"/>
          <p:cNvSpPr/>
          <p:nvPr/>
        </p:nvSpPr>
        <p:spPr>
          <a:xfrm>
            <a:off x="761981" y="5300530"/>
            <a:ext cx="4179684" cy="384761"/>
          </a:xfrm>
          <a:prstGeom prst="rect">
            <a:avLst/>
          </a:prstGeom>
          <a:solidFill>
            <a:srgbClr val="1E1E24"/>
          </a:solidFill>
          <a:ln/>
        </p:spPr>
      </p:sp>
      <p:sp>
        <p:nvSpPr>
          <p:cNvPr id="40" name="Text 38"/>
          <p:cNvSpPr txBox="1"/>
          <p:nvPr/>
        </p:nvSpPr>
        <p:spPr>
          <a:xfrm>
            <a:off x="876278" y="5402127"/>
            <a:ext cx="4109133" cy="181566"/>
          </a:xfrm>
          <a:prstGeom prst="rect">
            <a:avLst/>
          </a:prstGeom>
          <a:noFill/>
          <a:ln/>
        </p:spPr>
        <p:txBody>
          <a:bodyPr wrap="square" lIns="0" tIns="0" rIns="0" bIns="0" rtlCol="0" anchor="t"/>
          <a:lstStyle/>
          <a:p>
            <a:pPr algn="l" indent="0" marL="0">
              <a:lnSpc>
                <a:spcPct val="111111"/>
              </a:lnSpc>
              <a:buNone/>
            </a:pPr>
            <a:r>
              <a:rPr lang="en-US" sz="1100" b="1" dirty="0">
                <a:solidFill>
                  <a:srgbClr val="F5F6FC"/>
                </a:solidFill>
                <a:latin typeface="Poppins" pitchFamily="34" charset="0"/>
                <a:ea typeface="Poppins" pitchFamily="34" charset="-122"/>
                <a:cs typeface="Poppins" pitchFamily="34" charset="-120"/>
              </a:rPr>
              <a:t>utilizacao_pessoa_semana · status_estruturado</a:t>
            </a:r>
            <a:endParaRPr lang="en-US" sz="1100" dirty="0"/>
          </a:p>
        </p:txBody>
      </p:sp>
      <p:sp>
        <p:nvSpPr>
          <p:cNvPr id="41" name="Shape 39"/>
          <p:cNvSpPr/>
          <p:nvPr/>
        </p:nvSpPr>
        <p:spPr>
          <a:xfrm>
            <a:off x="4941665" y="5300530"/>
            <a:ext cx="755730" cy="384761"/>
          </a:xfrm>
          <a:prstGeom prst="rect">
            <a:avLst/>
          </a:prstGeom>
          <a:solidFill>
            <a:srgbClr val="1E1E24"/>
          </a:solidFill>
          <a:ln/>
        </p:spPr>
      </p:sp>
      <p:sp>
        <p:nvSpPr>
          <p:cNvPr id="42" name="Text 40"/>
          <p:cNvSpPr txBox="1"/>
          <p:nvPr/>
        </p:nvSpPr>
        <p:spPr>
          <a:xfrm>
            <a:off x="5055962" y="5402127"/>
            <a:ext cx="548221"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2</a:t>
            </a:r>
            <a:endParaRPr lang="en-US" sz="1100" dirty="0"/>
          </a:p>
        </p:txBody>
      </p:sp>
      <p:sp>
        <p:nvSpPr>
          <p:cNvPr id="43" name="Shape 41"/>
          <p:cNvSpPr/>
          <p:nvPr/>
        </p:nvSpPr>
        <p:spPr>
          <a:xfrm>
            <a:off x="5697395" y="5300530"/>
            <a:ext cx="5732319" cy="384761"/>
          </a:xfrm>
          <a:prstGeom prst="rect">
            <a:avLst/>
          </a:prstGeom>
          <a:solidFill>
            <a:srgbClr val="1E1E24"/>
          </a:solidFill>
          <a:ln/>
        </p:spPr>
      </p:sp>
      <p:sp>
        <p:nvSpPr>
          <p:cNvPr id="44" name="Text 42"/>
          <p:cNvSpPr txBox="1"/>
          <p:nvPr/>
        </p:nvSpPr>
        <p:spPr>
          <a:xfrm>
            <a:off x="5811692" y="5402127"/>
            <a:ext cx="5723874"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gente parada × gente pedida · por que travou (IA)</a:t>
            </a:r>
            <a:endParaRPr lang="en-US" sz="1100" dirty="0"/>
          </a:p>
        </p:txBody>
      </p:sp>
      <p:sp>
        <p:nvSpPr>
          <p:cNvPr id="45" name="Shape 43"/>
          <p:cNvSpPr/>
          <p:nvPr/>
        </p:nvSpPr>
        <p:spPr>
          <a:xfrm>
            <a:off x="761981" y="5736089"/>
            <a:ext cx="4179684" cy="384761"/>
          </a:xfrm>
          <a:prstGeom prst="rect">
            <a:avLst/>
          </a:prstGeom>
          <a:solidFill>
            <a:srgbClr val="1E1E24"/>
          </a:solidFill>
          <a:ln/>
        </p:spPr>
      </p:sp>
      <p:sp>
        <p:nvSpPr>
          <p:cNvPr id="46" name="Text 44"/>
          <p:cNvSpPr txBox="1"/>
          <p:nvPr/>
        </p:nvSpPr>
        <p:spPr>
          <a:xfrm>
            <a:off x="876278" y="5837687"/>
            <a:ext cx="4109133" cy="181566"/>
          </a:xfrm>
          <a:prstGeom prst="rect">
            <a:avLst/>
          </a:prstGeom>
          <a:noFill/>
          <a:ln/>
        </p:spPr>
        <p:txBody>
          <a:bodyPr wrap="square" lIns="0" tIns="0" rIns="0" bIns="0" rtlCol="0" anchor="t"/>
          <a:lstStyle/>
          <a:p>
            <a:pPr algn="l" indent="0" marL="0">
              <a:lnSpc>
                <a:spcPct val="111111"/>
              </a:lnSpc>
              <a:buNone/>
            </a:pPr>
            <a:r>
              <a:rPr lang="en-US" sz="1100" b="1" dirty="0">
                <a:solidFill>
                  <a:srgbClr val="F5F6FC"/>
                </a:solidFill>
                <a:latin typeface="Poppins" pitchFamily="34" charset="0"/>
                <a:ea typeface="Poppins" pitchFamily="34" charset="-122"/>
                <a:cs typeface="Poppins" pitchFamily="34" charset="-120"/>
              </a:rPr>
              <a:t>mv_projetos · score_estouro_30d · contratos</a:t>
            </a:r>
            <a:endParaRPr lang="en-US" sz="1100" dirty="0"/>
          </a:p>
        </p:txBody>
      </p:sp>
      <p:sp>
        <p:nvSpPr>
          <p:cNvPr id="47" name="Shape 45"/>
          <p:cNvSpPr/>
          <p:nvPr/>
        </p:nvSpPr>
        <p:spPr>
          <a:xfrm>
            <a:off x="4941665" y="5736089"/>
            <a:ext cx="755730" cy="384761"/>
          </a:xfrm>
          <a:prstGeom prst="rect">
            <a:avLst/>
          </a:prstGeom>
          <a:solidFill>
            <a:srgbClr val="1E1E24"/>
          </a:solidFill>
          <a:ln/>
        </p:spPr>
      </p:sp>
      <p:sp>
        <p:nvSpPr>
          <p:cNvPr id="48" name="Text 46"/>
          <p:cNvSpPr txBox="1"/>
          <p:nvPr/>
        </p:nvSpPr>
        <p:spPr>
          <a:xfrm>
            <a:off x="5055962" y="5837687"/>
            <a:ext cx="548221"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2 · 3 · 4</a:t>
            </a:r>
            <a:endParaRPr lang="en-US" sz="1100" dirty="0"/>
          </a:p>
        </p:txBody>
      </p:sp>
      <p:sp>
        <p:nvSpPr>
          <p:cNvPr id="49" name="Shape 47"/>
          <p:cNvSpPr/>
          <p:nvPr/>
        </p:nvSpPr>
        <p:spPr>
          <a:xfrm>
            <a:off x="5697395" y="5736089"/>
            <a:ext cx="5732319" cy="384761"/>
          </a:xfrm>
          <a:prstGeom prst="rect">
            <a:avLst/>
          </a:prstGeom>
          <a:solidFill>
            <a:srgbClr val="1E1E24"/>
          </a:solidFill>
          <a:ln/>
        </p:spPr>
      </p:sp>
      <p:sp>
        <p:nvSpPr>
          <p:cNvPr id="50" name="Text 48"/>
          <p:cNvSpPr txBox="1"/>
          <p:nvPr/>
        </p:nvSpPr>
        <p:spPr>
          <a:xfrm>
            <a:off x="5811692" y="5837687"/>
            <a:ext cx="5723874"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a métrica governada · o que vem aí · o que o contrato diz</a:t>
            </a:r>
            <a:endParaRPr lang="en-US" sz="1100" dirty="0"/>
          </a:p>
        </p:txBody>
      </p:sp>
      <p:pic>
        <p:nvPicPr>
          <p:cNvPr id="51"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52" name="Text 49"/>
          <p:cNvSpPr txBox="1"/>
          <p:nvPr/>
        </p:nvSpPr>
        <p:spPr>
          <a:xfrm>
            <a:off x="10985325" y="6387940"/>
            <a:ext cx="462165"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12 / 133</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2007244"/>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NIVELAMENTO · ANTES DA PRIMEIRA QUERY</a:t>
            </a:r>
            <a:endParaRPr lang="en-US" sz="1200" dirty="0"/>
          </a:p>
        </p:txBody>
      </p:sp>
      <p:sp>
        <p:nvSpPr>
          <p:cNvPr id="3" name="Text 1"/>
          <p:cNvSpPr txBox="1"/>
          <p:nvPr/>
        </p:nvSpPr>
        <p:spPr>
          <a:xfrm>
            <a:off x="761981" y="2331086"/>
            <a:ext cx="11094443" cy="1554322"/>
          </a:xfrm>
          <a:prstGeom prst="rect">
            <a:avLst/>
          </a:prstGeom>
          <a:noFill/>
          <a:ln/>
        </p:spPr>
        <p:txBody>
          <a:bodyPr wrap="square" lIns="0" tIns="0" rIns="0" bIns="0" rtlCol="0" anchor="t"/>
          <a:lstStyle/>
          <a:p>
            <a:pPr algn="l" indent="0" marL="0">
              <a:lnSpc>
                <a:spcPct val="87179"/>
              </a:lnSpc>
              <a:buNone/>
            </a:pPr>
            <a:r>
              <a:rPr lang="en-US" sz="6000" b="1" spc="-120" kern="0" dirty="0">
                <a:solidFill>
                  <a:srgbClr val="F5F6FC"/>
                </a:solidFill>
                <a:latin typeface="Poppins" pitchFamily="34" charset="0"/>
                <a:ea typeface="Poppins" pitchFamily="34" charset="-122"/>
                <a:cs typeface="Poppins" pitchFamily="34" charset="-120"/>
              </a:rPr>
              <a:t>O mínimo para</a:t>
            </a:r>
            <a:endParaRPr lang="en-US" sz="6000" dirty="0"/>
          </a:p>
          <a:p>
            <a:pPr algn="l" indent="0" marL="0">
              <a:lnSpc>
                <a:spcPct val="87179"/>
              </a:lnSpc>
              <a:buNone/>
            </a:pPr>
            <a:r>
              <a:rPr lang="en-US" sz="6000" b="1" spc="-120" kern="0" dirty="0">
                <a:solidFill>
                  <a:srgbClr val="22C2F4"/>
                </a:solidFill>
                <a:latin typeface="Poppins" pitchFamily="34" charset="0"/>
                <a:ea typeface="Poppins" pitchFamily="34" charset="-122"/>
                <a:cs typeface="Poppins" pitchFamily="34" charset="-120"/>
              </a:rPr>
              <a:t>acompanhar tudo</a:t>
            </a:r>
            <a:endParaRPr lang="en-US" sz="6000" dirty="0"/>
          </a:p>
        </p:txBody>
      </p:sp>
      <p:sp>
        <p:nvSpPr>
          <p:cNvPr id="4" name="Text 2"/>
          <p:cNvSpPr txBox="1"/>
          <p:nvPr/>
        </p:nvSpPr>
        <p:spPr>
          <a:xfrm>
            <a:off x="761981" y="4075904"/>
            <a:ext cx="11094443" cy="647684"/>
          </a:xfrm>
          <a:prstGeom prst="rect">
            <a:avLst/>
          </a:prstGeom>
          <a:noFill/>
          <a:ln/>
        </p:spPr>
        <p:txBody>
          <a:bodyPr wrap="square" lIns="0" tIns="0" rIns="0" bIns="0" rtlCol="0" anchor="t"/>
          <a:lstStyle/>
          <a:p>
            <a:pPr algn="l" indent="0" marL="0">
              <a:lnSpc>
                <a:spcPct val="106838"/>
              </a:lnSpc>
              <a:buNone/>
            </a:pPr>
            <a:r>
              <a:rPr lang="en-US" sz="1700" dirty="0">
                <a:solidFill>
                  <a:srgbClr val="A3A6B4"/>
                </a:solidFill>
                <a:latin typeface="Poppins" pitchFamily="34" charset="0"/>
                <a:ea typeface="Poppins" pitchFamily="34" charset="-122"/>
                <a:cs typeface="Poppins" pitchFamily="34" charset="-120"/>
              </a:rPr>
              <a:t>Primeiro o Databricks: o que é, por que o mercado usa e como entrar. Depois os conceitos de dado. Os de gestão de projetos (SPI, CPI, EAC) entram na hora de usar: antes do exemplo 05.</a:t>
            </a:r>
            <a:endParaRPr lang="en-US" sz="1700" dirty="0"/>
          </a:p>
        </p:txBody>
      </p:sp>
      <p:pic>
        <p:nvPicPr>
          <p:cNvPr id="5" name="Image 0" descr="preencoded.png">    </p:cNvPr>
          <p:cNvPicPr>
            <a:picLocks noChangeAspect="1"/>
          </p:cNvPicPr>
          <p:nvPr/>
        </p:nvPicPr>
        <p:blipFill>
          <a:blip r:embed="rId2"/>
          <a:stretch>
            <a:fillRect/>
          </a:stretch>
        </p:blipFill>
        <p:spPr>
          <a:xfrm>
            <a:off x="761981" y="6299043"/>
            <a:ext cx="3021135" cy="27939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NIVELAMENTO · DATABRICKS · O QUE É</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Uma plataforma para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dado e IA</a:t>
            </a:r>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 num lugar só</a:t>
            </a:r>
            <a:endParaRPr lang="en-US" sz="3100" dirty="0"/>
          </a:p>
        </p:txBody>
      </p:sp>
      <p:sp>
        <p:nvSpPr>
          <p:cNvPr id="4" name="Shape 2"/>
          <p:cNvSpPr/>
          <p:nvPr/>
        </p:nvSpPr>
        <p:spPr>
          <a:xfrm>
            <a:off x="761981" y="1582301"/>
            <a:ext cx="5238619" cy="2664155"/>
          </a:xfrm>
          <a:prstGeom prst="roundRect">
            <a:avLst>
              <a:gd name="adj" fmla="val 5720"/>
            </a:avLst>
          </a:prstGeom>
          <a:solidFill>
            <a:srgbClr val="0059DB"/>
          </a:solidFill>
          <a:ln/>
        </p:spPr>
      </p:sp>
      <p:sp>
        <p:nvSpPr>
          <p:cNvPr id="5" name="Shape 3"/>
          <p:cNvSpPr/>
          <p:nvPr/>
        </p:nvSpPr>
        <p:spPr>
          <a:xfrm>
            <a:off x="984225" y="1779146"/>
            <a:ext cx="981547" cy="247644"/>
          </a:xfrm>
          <a:prstGeom prst="roundRect">
            <a:avLst>
              <a:gd name="adj" fmla="val 50000"/>
            </a:avLst>
          </a:prstGeom>
          <a:solidFill>
            <a:srgbClr val="FFFFFF">
              <a:alpha val="16000"/>
            </a:srgbClr>
          </a:solidFill>
          <a:ln/>
        </p:spPr>
      </p:sp>
      <p:sp>
        <p:nvSpPr>
          <p:cNvPr id="6" name="Text 4"/>
          <p:cNvSpPr txBox="1"/>
          <p:nvPr/>
        </p:nvSpPr>
        <p:spPr>
          <a:xfrm>
            <a:off x="1073123" y="1817245"/>
            <a:ext cx="835901"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Em uma frase</a:t>
            </a:r>
            <a:endParaRPr lang="en-US" sz="900" dirty="0"/>
          </a:p>
        </p:txBody>
      </p:sp>
      <p:sp>
        <p:nvSpPr>
          <p:cNvPr id="7" name="Text 5"/>
          <p:cNvSpPr txBox="1"/>
          <p:nvPr/>
        </p:nvSpPr>
        <p:spPr>
          <a:xfrm>
            <a:off x="984225" y="2191886"/>
            <a:ext cx="4985895" cy="742931"/>
          </a:xfrm>
          <a:prstGeom prst="rect">
            <a:avLst/>
          </a:prstGeom>
          <a:noFill/>
          <a:ln/>
        </p:spPr>
        <p:txBody>
          <a:bodyPr wrap="square" lIns="0" tIns="0" rIns="0" bIns="0" rtlCol="0" anchor="t"/>
          <a:lstStyle/>
          <a:p>
            <a:pPr algn="l" indent="0" marL="0">
              <a:lnSpc>
                <a:spcPct val="111111"/>
              </a:lnSpc>
              <a:buNone/>
            </a:pPr>
            <a:r>
              <a:rPr lang="en-US" sz="1500" b="1" dirty="0">
                <a:solidFill>
                  <a:srgbClr val="FFFFFF"/>
                </a:solidFill>
                <a:latin typeface="Poppins" pitchFamily="34" charset="0"/>
                <a:ea typeface="Poppins" pitchFamily="34" charset="-122"/>
                <a:cs typeface="Poppins" pitchFamily="34" charset="-120"/>
              </a:rPr>
              <a:t>Guardar, limpar, analisar e colocar IA em cima dos dados da empresa, sem montar dez ferramentas diferentes.</a:t>
            </a:r>
            <a:endParaRPr lang="en-US" sz="1500" dirty="0"/>
          </a:p>
        </p:txBody>
      </p:sp>
      <p:sp>
        <p:nvSpPr>
          <p:cNvPr id="8" name="Shape 6"/>
          <p:cNvSpPr/>
          <p:nvPr/>
        </p:nvSpPr>
        <p:spPr>
          <a:xfrm>
            <a:off x="984225" y="3157062"/>
            <a:ext cx="76198" cy="76198"/>
          </a:xfrm>
          <a:prstGeom prst="roundRect">
            <a:avLst>
              <a:gd name="adj" fmla="val 25000"/>
            </a:avLst>
          </a:prstGeom>
          <a:solidFill>
            <a:srgbClr val="22C2F4"/>
          </a:solidFill>
          <a:ln/>
        </p:spPr>
      </p:sp>
      <p:sp>
        <p:nvSpPr>
          <p:cNvPr id="9" name="Text 7"/>
          <p:cNvSpPr txBox="1"/>
          <p:nvPr/>
        </p:nvSpPr>
        <p:spPr>
          <a:xfrm>
            <a:off x="1174721" y="3074514"/>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roda na nuvem: AWS, Azure ou Google Cloud</a:t>
            </a:r>
            <a:endParaRPr lang="en-US" sz="1200" dirty="0"/>
          </a:p>
        </p:txBody>
      </p:sp>
      <p:sp>
        <p:nvSpPr>
          <p:cNvPr id="10" name="Shape 8"/>
          <p:cNvSpPr/>
          <p:nvPr/>
        </p:nvSpPr>
        <p:spPr>
          <a:xfrm>
            <a:off x="984225" y="3438935"/>
            <a:ext cx="76198" cy="76198"/>
          </a:xfrm>
          <a:prstGeom prst="roundRect">
            <a:avLst>
              <a:gd name="adj" fmla="val 25000"/>
            </a:avLst>
          </a:prstGeom>
          <a:solidFill>
            <a:srgbClr val="22C2F4"/>
          </a:solidFill>
          <a:ln/>
        </p:spPr>
      </p:sp>
      <p:sp>
        <p:nvSpPr>
          <p:cNvPr id="11" name="Text 9"/>
          <p:cNvSpPr txBox="1"/>
          <p:nvPr/>
        </p:nvSpPr>
        <p:spPr>
          <a:xfrm>
            <a:off x="1174721" y="3356387"/>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SQL, Python, dashboards, IA e apps no mesmo lugar</a:t>
            </a:r>
            <a:endParaRPr lang="en-US" sz="1200" dirty="0"/>
          </a:p>
        </p:txBody>
      </p:sp>
      <p:sp>
        <p:nvSpPr>
          <p:cNvPr id="12" name="Shape 10"/>
          <p:cNvSpPr/>
          <p:nvPr/>
        </p:nvSpPr>
        <p:spPr>
          <a:xfrm>
            <a:off x="984225" y="3720809"/>
            <a:ext cx="76198" cy="76198"/>
          </a:xfrm>
          <a:prstGeom prst="roundRect">
            <a:avLst>
              <a:gd name="adj" fmla="val 25000"/>
            </a:avLst>
          </a:prstGeom>
          <a:solidFill>
            <a:srgbClr val="22C2F4"/>
          </a:solidFill>
          <a:ln/>
        </p:spPr>
      </p:sp>
      <p:sp>
        <p:nvSpPr>
          <p:cNvPr id="13" name="Text 11"/>
          <p:cNvSpPr txBox="1"/>
          <p:nvPr/>
        </p:nvSpPr>
        <p:spPr>
          <a:xfrm>
            <a:off x="1174721" y="3638261"/>
            <a:ext cx="4787780"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quem usa: analista, engenheiro, cientista, engenheiro de IA e o negócio</a:t>
            </a:r>
            <a:endParaRPr lang="en-US" sz="1200" dirty="0"/>
          </a:p>
        </p:txBody>
      </p:sp>
      <p:sp>
        <p:nvSpPr>
          <p:cNvPr id="14" name="Shape 12"/>
          <p:cNvSpPr/>
          <p:nvPr/>
        </p:nvSpPr>
        <p:spPr>
          <a:xfrm>
            <a:off x="6191095" y="1582301"/>
            <a:ext cx="5238619" cy="2664155"/>
          </a:xfrm>
          <a:prstGeom prst="roundRect">
            <a:avLst>
              <a:gd name="adj" fmla="val 5720"/>
            </a:avLst>
          </a:prstGeom>
          <a:solidFill>
            <a:srgbClr val="1E1E24"/>
          </a:solidFill>
          <a:ln w="6350">
            <a:solidFill>
              <a:srgbClr val="2F2F39"/>
            </a:solidFill>
            <a:prstDash val="solid"/>
          </a:ln>
        </p:spPr>
      </p:sp>
      <p:sp>
        <p:nvSpPr>
          <p:cNvPr id="15" name="Shape 13"/>
          <p:cNvSpPr/>
          <p:nvPr/>
        </p:nvSpPr>
        <p:spPr>
          <a:xfrm>
            <a:off x="6413340" y="1779146"/>
            <a:ext cx="924894" cy="247644"/>
          </a:xfrm>
          <a:prstGeom prst="roundRect">
            <a:avLst>
              <a:gd name="adj" fmla="val 50000"/>
            </a:avLst>
          </a:prstGeom>
          <a:solidFill>
            <a:srgbClr val="22C2F4">
              <a:alpha val="14000"/>
            </a:srgbClr>
          </a:solidFill>
          <a:ln/>
        </p:spPr>
      </p:sp>
      <p:sp>
        <p:nvSpPr>
          <p:cNvPr id="16" name="Text 14"/>
          <p:cNvSpPr txBox="1"/>
          <p:nvPr/>
        </p:nvSpPr>
        <p:spPr>
          <a:xfrm>
            <a:off x="6502237" y="1817245"/>
            <a:ext cx="776982"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De onde veio</a:t>
            </a:r>
            <a:endParaRPr lang="en-US" sz="900" dirty="0"/>
          </a:p>
        </p:txBody>
      </p:sp>
      <p:sp>
        <p:nvSpPr>
          <p:cNvPr id="17" name="Shape 15"/>
          <p:cNvSpPr/>
          <p:nvPr/>
        </p:nvSpPr>
        <p:spPr>
          <a:xfrm>
            <a:off x="6413340" y="2198236"/>
            <a:ext cx="76198" cy="76198"/>
          </a:xfrm>
          <a:prstGeom prst="roundRect">
            <a:avLst>
              <a:gd name="adj" fmla="val 25000"/>
            </a:avLst>
          </a:prstGeom>
          <a:solidFill>
            <a:srgbClr val="22C2F4"/>
          </a:solidFill>
          <a:ln/>
        </p:spPr>
      </p:sp>
      <p:sp>
        <p:nvSpPr>
          <p:cNvPr id="18" name="Text 16"/>
          <p:cNvSpPr txBox="1"/>
          <p:nvPr/>
        </p:nvSpPr>
        <p:spPr>
          <a:xfrm>
            <a:off x="6603835" y="2115688"/>
            <a:ext cx="4787780"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fundada em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2013</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pelos criadores do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Apache Spark</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na Universidade da Califórnia em Berkeley</a:t>
            </a:r>
            <a:endParaRPr lang="en-US" sz="1200" dirty="0"/>
          </a:p>
        </p:txBody>
      </p:sp>
      <p:sp>
        <p:nvSpPr>
          <p:cNvPr id="19" name="Shape 17"/>
          <p:cNvSpPr/>
          <p:nvPr/>
        </p:nvSpPr>
        <p:spPr>
          <a:xfrm>
            <a:off x="6413340" y="2685784"/>
            <a:ext cx="76198" cy="76198"/>
          </a:xfrm>
          <a:prstGeom prst="roundRect">
            <a:avLst>
              <a:gd name="adj" fmla="val 25000"/>
            </a:avLst>
          </a:prstGeom>
          <a:solidFill>
            <a:srgbClr val="22C2F4"/>
          </a:solidFill>
          <a:ln/>
        </p:spPr>
      </p:sp>
      <p:sp>
        <p:nvSpPr>
          <p:cNvPr id="20" name="Text 18"/>
          <p:cNvSpPr txBox="1"/>
          <p:nvPr/>
        </p:nvSpPr>
        <p:spPr>
          <a:xfrm>
            <a:off x="6603835" y="2603236"/>
            <a:ext cx="4787780"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criou e abriu projetos que viraram padrão de mercado: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Spark</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Delta Lake</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MLflow</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e o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Unity Catalog</a:t>
            </a:r>
            <a:endParaRPr lang="en-US" sz="1200" dirty="0"/>
          </a:p>
        </p:txBody>
      </p:sp>
      <p:sp>
        <p:nvSpPr>
          <p:cNvPr id="21" name="Shape 19"/>
          <p:cNvSpPr/>
          <p:nvPr/>
        </p:nvSpPr>
        <p:spPr>
          <a:xfrm>
            <a:off x="6413340" y="3173333"/>
            <a:ext cx="76198" cy="76198"/>
          </a:xfrm>
          <a:prstGeom prst="roundRect">
            <a:avLst>
              <a:gd name="adj" fmla="val 25000"/>
            </a:avLst>
          </a:prstGeom>
          <a:solidFill>
            <a:srgbClr val="22C2F4"/>
          </a:solidFill>
          <a:ln/>
        </p:spPr>
      </p:sp>
      <p:sp>
        <p:nvSpPr>
          <p:cNvPr id="22" name="Text 20"/>
          <p:cNvSpPr txBox="1"/>
          <p:nvPr/>
        </p:nvSpPr>
        <p:spPr>
          <a:xfrm>
            <a:off x="6603835" y="3090785"/>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popularizou a ideia de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lakehouse</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o próximo slide</a:t>
            </a:r>
            <a:endParaRPr lang="en-US" sz="1200" dirty="0"/>
          </a:p>
        </p:txBody>
      </p:sp>
      <p:pic>
        <p:nvPicPr>
          <p:cNvPr id="23"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24" name="Text 21"/>
          <p:cNvSpPr txBox="1"/>
          <p:nvPr/>
        </p:nvSpPr>
        <p:spPr>
          <a:xfrm>
            <a:off x="10976395" y="6387940"/>
            <a:ext cx="471452"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14 / 133</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NIVELAMENTO · DATABRICKS · O MERCADO</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Por que vale a pena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aprender isso agora</a:t>
            </a:r>
            <a:endParaRPr lang="en-US" sz="3100" dirty="0"/>
          </a:p>
        </p:txBody>
      </p:sp>
      <p:sp>
        <p:nvSpPr>
          <p:cNvPr id="4" name="Shape 2"/>
          <p:cNvSpPr/>
          <p:nvPr/>
        </p:nvSpPr>
        <p:spPr>
          <a:xfrm>
            <a:off x="761981" y="1582301"/>
            <a:ext cx="2562161" cy="1480406"/>
          </a:xfrm>
          <a:prstGeom prst="roundRect">
            <a:avLst>
              <a:gd name="adj" fmla="val 10294"/>
            </a:avLst>
          </a:prstGeom>
          <a:solidFill>
            <a:srgbClr val="0059DB"/>
          </a:solidFill>
          <a:ln/>
        </p:spPr>
      </p:sp>
      <p:sp>
        <p:nvSpPr>
          <p:cNvPr id="5" name="Text 3"/>
          <p:cNvSpPr txBox="1"/>
          <p:nvPr/>
        </p:nvSpPr>
        <p:spPr>
          <a:xfrm>
            <a:off x="984225" y="1779146"/>
            <a:ext cx="2202379" cy="419090"/>
          </a:xfrm>
          <a:prstGeom prst="rect">
            <a:avLst/>
          </a:prstGeom>
          <a:noFill/>
          <a:ln/>
        </p:spPr>
        <p:txBody>
          <a:bodyPr wrap="square" lIns="0" tIns="0" rIns="0" bIns="0" rtlCol="0" anchor="t"/>
          <a:lstStyle/>
          <a:p>
            <a:pPr algn="l" indent="0" marL="0">
              <a:lnSpc>
                <a:spcPct val="85470"/>
              </a:lnSpc>
              <a:buNone/>
            </a:pPr>
            <a:r>
              <a:rPr lang="en-US" sz="3300" b="1" spc="-66" kern="0" dirty="0">
                <a:solidFill>
                  <a:srgbClr val="F5F6FC"/>
                </a:solidFill>
                <a:latin typeface="Poppins" pitchFamily="34" charset="0"/>
                <a:ea typeface="Poppins" pitchFamily="34" charset="-122"/>
                <a:cs typeface="Poppins" pitchFamily="34" charset="-120"/>
              </a:rPr>
              <a:t>US$ 190 bi</a:t>
            </a:r>
            <a:endParaRPr lang="en-US" sz="3300" dirty="0"/>
          </a:p>
        </p:txBody>
      </p:sp>
      <p:sp>
        <p:nvSpPr>
          <p:cNvPr id="6" name="Text 4"/>
          <p:cNvSpPr txBox="1"/>
          <p:nvPr/>
        </p:nvSpPr>
        <p:spPr>
          <a:xfrm>
            <a:off x="984225" y="2274434"/>
            <a:ext cx="2202379" cy="394285"/>
          </a:xfrm>
          <a:prstGeom prst="rect">
            <a:avLst/>
          </a:prstGeom>
          <a:noFill/>
          <a:ln/>
        </p:spPr>
        <p:txBody>
          <a:bodyPr wrap="square" lIns="0" tIns="0" rIns="0" bIns="0" rtlCol="0" anchor="t"/>
          <a:lstStyle/>
          <a:p>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de avaliação, na rodada de US$ 5 bi de ago/2026</a:t>
            </a:r>
            <a:endParaRPr lang="en-US" sz="1150" dirty="0"/>
          </a:p>
        </p:txBody>
      </p:sp>
      <p:sp>
        <p:nvSpPr>
          <p:cNvPr id="7" name="Shape 5"/>
          <p:cNvSpPr/>
          <p:nvPr/>
        </p:nvSpPr>
        <p:spPr>
          <a:xfrm>
            <a:off x="3463838" y="1582301"/>
            <a:ext cx="2562161" cy="1480406"/>
          </a:xfrm>
          <a:prstGeom prst="roundRect">
            <a:avLst>
              <a:gd name="adj" fmla="val 10294"/>
            </a:avLst>
          </a:prstGeom>
          <a:solidFill>
            <a:srgbClr val="0059DB"/>
          </a:solidFill>
          <a:ln/>
        </p:spPr>
      </p:sp>
      <p:sp>
        <p:nvSpPr>
          <p:cNvPr id="8" name="Text 6"/>
          <p:cNvSpPr txBox="1"/>
          <p:nvPr/>
        </p:nvSpPr>
        <p:spPr>
          <a:xfrm>
            <a:off x="3686083" y="1779146"/>
            <a:ext cx="2202379" cy="419090"/>
          </a:xfrm>
          <a:prstGeom prst="rect">
            <a:avLst/>
          </a:prstGeom>
          <a:noFill/>
          <a:ln/>
        </p:spPr>
        <p:txBody>
          <a:bodyPr wrap="square" lIns="0" tIns="0" rIns="0" bIns="0" rtlCol="0" anchor="t"/>
          <a:lstStyle/>
          <a:p>
            <a:pPr algn="l" indent="0" marL="0">
              <a:lnSpc>
                <a:spcPct val="85470"/>
              </a:lnSpc>
              <a:buNone/>
            </a:pPr>
            <a:r>
              <a:rPr lang="en-US" sz="3300" b="1" spc="-66" kern="0" dirty="0">
                <a:solidFill>
                  <a:srgbClr val="F5F6FC"/>
                </a:solidFill>
                <a:latin typeface="Poppins" pitchFamily="34" charset="0"/>
                <a:ea typeface="Poppins" pitchFamily="34" charset="-122"/>
                <a:cs typeface="Poppins" pitchFamily="34" charset="-120"/>
              </a:rPr>
              <a:t>US$ 7 bi</a:t>
            </a:r>
            <a:endParaRPr lang="en-US" sz="3300" dirty="0"/>
          </a:p>
        </p:txBody>
      </p:sp>
      <p:sp>
        <p:nvSpPr>
          <p:cNvPr id="9" name="Text 7"/>
          <p:cNvSpPr txBox="1"/>
          <p:nvPr/>
        </p:nvSpPr>
        <p:spPr>
          <a:xfrm>
            <a:off x="3686083" y="2274434"/>
            <a:ext cx="2202379" cy="591428"/>
          </a:xfrm>
          <a:prstGeom prst="rect">
            <a:avLst/>
          </a:prstGeom>
          <a:noFill/>
          <a:ln/>
        </p:spPr>
        <p:txBody>
          <a:bodyPr wrap="square" lIns="0" tIns="0" rIns="0" bIns="0" rtlCol="0" anchor="t"/>
          <a:lstStyle/>
          <a:p>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de receita anualizada, crescendo mais de 80% ao ano</a:t>
            </a:r>
            <a:endParaRPr lang="en-US" sz="1150" dirty="0"/>
          </a:p>
        </p:txBody>
      </p:sp>
      <p:sp>
        <p:nvSpPr>
          <p:cNvPr id="10" name="Shape 8"/>
          <p:cNvSpPr/>
          <p:nvPr/>
        </p:nvSpPr>
        <p:spPr>
          <a:xfrm>
            <a:off x="6165696" y="1582301"/>
            <a:ext cx="2562161" cy="1480406"/>
          </a:xfrm>
          <a:prstGeom prst="roundRect">
            <a:avLst>
              <a:gd name="adj" fmla="val 10294"/>
            </a:avLst>
          </a:prstGeom>
          <a:solidFill>
            <a:srgbClr val="1E1E24"/>
          </a:solidFill>
          <a:ln w="6350">
            <a:solidFill>
              <a:srgbClr val="2F2F39"/>
            </a:solidFill>
            <a:prstDash val="solid"/>
          </a:ln>
        </p:spPr>
      </p:sp>
      <p:sp>
        <p:nvSpPr>
          <p:cNvPr id="11" name="Text 9"/>
          <p:cNvSpPr txBox="1"/>
          <p:nvPr/>
        </p:nvSpPr>
        <p:spPr>
          <a:xfrm>
            <a:off x="6387940" y="1779146"/>
            <a:ext cx="2202379" cy="419090"/>
          </a:xfrm>
          <a:prstGeom prst="rect">
            <a:avLst/>
          </a:prstGeom>
          <a:noFill/>
          <a:ln/>
        </p:spPr>
        <p:txBody>
          <a:bodyPr wrap="square" lIns="0" tIns="0" rIns="0" bIns="0" rtlCol="0" anchor="t"/>
          <a:lstStyle/>
          <a:p>
            <a:pPr algn="l" indent="0" marL="0">
              <a:lnSpc>
                <a:spcPct val="85470"/>
              </a:lnSpc>
              <a:buNone/>
            </a:pPr>
            <a:r>
              <a:rPr lang="en-US" sz="3300" b="1" spc="-66" kern="0" dirty="0">
                <a:solidFill>
                  <a:srgbClr val="F5F6FC"/>
                </a:solidFill>
                <a:latin typeface="Poppins" pitchFamily="34" charset="0"/>
                <a:ea typeface="Poppins" pitchFamily="34" charset="-122"/>
                <a:cs typeface="Poppins" pitchFamily="34" charset="-120"/>
              </a:rPr>
              <a:t>20 mil+</a:t>
            </a:r>
            <a:endParaRPr lang="en-US" sz="3300" dirty="0"/>
          </a:p>
        </p:txBody>
      </p:sp>
      <p:sp>
        <p:nvSpPr>
          <p:cNvPr id="12" name="Text 10"/>
          <p:cNvSpPr txBox="1"/>
          <p:nvPr/>
        </p:nvSpPr>
        <p:spPr>
          <a:xfrm>
            <a:off x="6387940" y="2274434"/>
            <a:ext cx="2202379" cy="394285"/>
          </a:xfrm>
          <a:prstGeom prst="rect">
            <a:avLst/>
          </a:prstGeom>
          <a:noFill/>
          <a:ln/>
        </p:spPr>
        <p:txBody>
          <a:bodyPr wrap="square" lIns="0" tIns="0" rIns="0" bIns="0" rtlCol="0" anchor="t"/>
          <a:lstStyle/>
          <a:p>
            <a:pPr algn="l" indent="0" marL="0">
              <a:lnSpc>
                <a:spcPct val="115385"/>
              </a:lnSpc>
              <a:buNone/>
            </a:pPr>
            <a:r>
              <a:rPr lang="en-US" sz="1150" dirty="0">
                <a:solidFill>
                  <a:srgbClr val="A3A6B4"/>
                </a:solidFill>
                <a:latin typeface="Poppins" pitchFamily="34" charset="0"/>
                <a:ea typeface="Poppins" pitchFamily="34" charset="-122"/>
                <a:cs typeface="Poppins" pitchFamily="34" charset="-120"/>
              </a:rPr>
              <a:t>empresas clientes no mundo</a:t>
            </a:r>
            <a:endParaRPr lang="en-US" sz="1150" dirty="0"/>
          </a:p>
        </p:txBody>
      </p:sp>
      <p:sp>
        <p:nvSpPr>
          <p:cNvPr id="13" name="Shape 11"/>
          <p:cNvSpPr/>
          <p:nvPr/>
        </p:nvSpPr>
        <p:spPr>
          <a:xfrm>
            <a:off x="8867553" y="1582301"/>
            <a:ext cx="2562161" cy="1480406"/>
          </a:xfrm>
          <a:prstGeom prst="roundRect">
            <a:avLst>
              <a:gd name="adj" fmla="val 10294"/>
            </a:avLst>
          </a:prstGeom>
          <a:solidFill>
            <a:srgbClr val="1E1E24"/>
          </a:solidFill>
          <a:ln w="6350">
            <a:solidFill>
              <a:srgbClr val="2F2F39"/>
            </a:solidFill>
            <a:prstDash val="solid"/>
          </a:ln>
        </p:spPr>
      </p:sp>
      <p:sp>
        <p:nvSpPr>
          <p:cNvPr id="14" name="Text 12"/>
          <p:cNvSpPr txBox="1"/>
          <p:nvPr/>
        </p:nvSpPr>
        <p:spPr>
          <a:xfrm>
            <a:off x="9089798" y="1779146"/>
            <a:ext cx="2202379" cy="419090"/>
          </a:xfrm>
          <a:prstGeom prst="rect">
            <a:avLst/>
          </a:prstGeom>
          <a:noFill/>
          <a:ln/>
        </p:spPr>
        <p:txBody>
          <a:bodyPr wrap="square" lIns="0" tIns="0" rIns="0" bIns="0" rtlCol="0" anchor="t"/>
          <a:lstStyle/>
          <a:p>
            <a:pPr algn="l" indent="0" marL="0">
              <a:lnSpc>
                <a:spcPct val="85470"/>
              </a:lnSpc>
              <a:buNone/>
            </a:pPr>
            <a:r>
              <a:rPr lang="en-US" sz="3300" b="1" spc="-66" kern="0" dirty="0">
                <a:solidFill>
                  <a:srgbClr val="F5F6FC"/>
                </a:solidFill>
                <a:latin typeface="Poppins" pitchFamily="34" charset="0"/>
                <a:ea typeface="Poppins" pitchFamily="34" charset="-122"/>
                <a:cs typeface="Poppins" pitchFamily="34" charset="-120"/>
              </a:rPr>
              <a:t>60%+</a:t>
            </a:r>
            <a:endParaRPr lang="en-US" sz="3300" dirty="0"/>
          </a:p>
        </p:txBody>
      </p:sp>
      <p:sp>
        <p:nvSpPr>
          <p:cNvPr id="15" name="Text 13"/>
          <p:cNvSpPr txBox="1"/>
          <p:nvPr/>
        </p:nvSpPr>
        <p:spPr>
          <a:xfrm>
            <a:off x="9089798" y="2274434"/>
            <a:ext cx="2202379" cy="394285"/>
          </a:xfrm>
          <a:prstGeom prst="rect">
            <a:avLst/>
          </a:prstGeom>
          <a:noFill/>
          <a:ln/>
        </p:spPr>
        <p:txBody>
          <a:bodyPr wrap="square" lIns="0" tIns="0" rIns="0" bIns="0" rtlCol="0" anchor="t"/>
          <a:lstStyle/>
          <a:p>
            <a:pPr algn="l" indent="0" marL="0">
              <a:lnSpc>
                <a:spcPct val="115385"/>
              </a:lnSpc>
              <a:buNone/>
            </a:pPr>
            <a:r>
              <a:rPr lang="en-US" sz="1150" dirty="0">
                <a:solidFill>
                  <a:srgbClr val="A3A6B4"/>
                </a:solidFill>
                <a:latin typeface="Poppins" pitchFamily="34" charset="0"/>
                <a:ea typeface="Poppins" pitchFamily="34" charset="-122"/>
                <a:cs typeface="Poppins" pitchFamily="34" charset="-120"/>
              </a:rPr>
              <a:t>da Fortune 500 usa Databricks</a:t>
            </a:r>
            <a:endParaRPr lang="en-US" sz="1150" dirty="0"/>
          </a:p>
        </p:txBody>
      </p:sp>
      <p:sp>
        <p:nvSpPr>
          <p:cNvPr id="16" name="Shape 14"/>
          <p:cNvSpPr/>
          <p:nvPr/>
        </p:nvSpPr>
        <p:spPr>
          <a:xfrm>
            <a:off x="761981" y="3240503"/>
            <a:ext cx="10667733" cy="1252109"/>
          </a:xfrm>
          <a:prstGeom prst="roundRect">
            <a:avLst>
              <a:gd name="adj" fmla="val 12171"/>
            </a:avLst>
          </a:prstGeom>
          <a:solidFill>
            <a:srgbClr val="1E1E24"/>
          </a:solidFill>
          <a:ln w="6350">
            <a:solidFill>
              <a:srgbClr val="2F2F39"/>
            </a:solidFill>
            <a:prstDash val="solid"/>
          </a:ln>
        </p:spPr>
      </p:sp>
      <p:sp>
        <p:nvSpPr>
          <p:cNvPr id="17" name="Shape 15"/>
          <p:cNvSpPr/>
          <p:nvPr/>
        </p:nvSpPr>
        <p:spPr>
          <a:xfrm>
            <a:off x="984225" y="3437348"/>
            <a:ext cx="1993949" cy="247644"/>
          </a:xfrm>
          <a:prstGeom prst="roundRect">
            <a:avLst>
              <a:gd name="adj" fmla="val 50000"/>
            </a:avLst>
          </a:prstGeom>
          <a:solidFill>
            <a:srgbClr val="22C2F4">
              <a:alpha val="14000"/>
            </a:srgbClr>
          </a:solidFill>
          <a:ln/>
        </p:spPr>
      </p:sp>
      <p:sp>
        <p:nvSpPr>
          <p:cNvPr id="18" name="Text 16"/>
          <p:cNvSpPr txBox="1"/>
          <p:nvPr/>
        </p:nvSpPr>
        <p:spPr>
          <a:xfrm>
            <a:off x="1073123" y="3475447"/>
            <a:ext cx="1888800"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O que isso quer dizer para você</a:t>
            </a:r>
            <a:endParaRPr lang="en-US" sz="900" dirty="0"/>
          </a:p>
        </p:txBody>
      </p:sp>
      <p:sp>
        <p:nvSpPr>
          <p:cNvPr id="19" name="Text 17"/>
          <p:cNvSpPr txBox="1"/>
          <p:nvPr/>
        </p:nvSpPr>
        <p:spPr>
          <a:xfrm>
            <a:off x="984225" y="3850087"/>
            <a:ext cx="10632174" cy="445679"/>
          </a:xfrm>
          <a:prstGeom prst="rect">
            <a:avLst/>
          </a:prstGeom>
          <a:noFill/>
          <a:ln/>
        </p:spPr>
        <p:txBody>
          <a:bodyPr wrap="square" lIns="0" tIns="0" rIns="0" bIns="0" rtlCol="0" anchor="t"/>
          <a:lstStyle/>
          <a:p>
            <a:pPr algn="l" indent="0" marL="0">
              <a:lnSpc>
                <a:spcPct val="115385"/>
              </a:lnSpc>
              <a:buNone/>
            </a:pPr>
            <a:r>
              <a:rPr lang="en-US" sz="1300" dirty="0">
                <a:solidFill>
                  <a:srgbClr val="FFFFFF"/>
                </a:solidFill>
                <a:latin typeface="Poppins" pitchFamily="34" charset="0"/>
                <a:ea typeface="Poppins" pitchFamily="34" charset="-122"/>
                <a:cs typeface="Poppins" pitchFamily="34" charset="-120"/>
              </a:rPr>
              <a:t>É uma das empresas de dados que mais cresce no mundo, e a vaga de dados que pede "Databricks" já não é exceção. O que você faz nestas 4 noites é o que essas empresas fazem todo dia.</a:t>
            </a:r>
            <a:endParaRPr lang="en-US" sz="1300" dirty="0"/>
          </a:p>
        </p:txBody>
      </p:sp>
      <p:sp>
        <p:nvSpPr>
          <p:cNvPr id="20" name="Shape 18"/>
          <p:cNvSpPr/>
          <p:nvPr/>
        </p:nvSpPr>
        <p:spPr>
          <a:xfrm>
            <a:off x="761981" y="4632308"/>
            <a:ext cx="25399" cy="495288"/>
          </a:xfrm>
          <a:prstGeom prst="rect">
            <a:avLst/>
          </a:prstGeom>
          <a:solidFill>
            <a:srgbClr val="22C2F4"/>
          </a:solidFill>
          <a:ln/>
        </p:spPr>
      </p:sp>
      <p:sp>
        <p:nvSpPr>
          <p:cNvPr id="21" name="Text 19"/>
          <p:cNvSpPr txBox="1"/>
          <p:nvPr/>
        </p:nvSpPr>
        <p:spPr>
          <a:xfrm>
            <a:off x="914377" y="4670407"/>
            <a:ext cx="10935951" cy="419090"/>
          </a:xfrm>
          <a:prstGeom prst="rect">
            <a:avLst/>
          </a:prstGeom>
          <a:noFill/>
          <a:ln/>
        </p:spPr>
        <p:txBody>
          <a:bodyPr wrap="square" lIns="0" tIns="0" rIns="0" bIns="0" rtlCol="0" anchor="t"/>
          <a:lstStyle/>
          <a:p>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Fontes: Databricks (comunicado de 2026: US$ 7 bi de run-rate) e CNBC (13/08/2026: rodada a US$ 190 bi); página de clientes da Databricks (20 mil+, 60%+ da Fortune 500).</a:t>
            </a:r>
            <a:endParaRPr lang="en-US" sz="1100" dirty="0"/>
          </a:p>
        </p:txBody>
      </p:sp>
      <p:pic>
        <p:nvPicPr>
          <p:cNvPr id="22"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23" name="Text 20"/>
          <p:cNvSpPr txBox="1"/>
          <p:nvPr/>
        </p:nvSpPr>
        <p:spPr>
          <a:xfrm>
            <a:off x="10977387" y="6387940"/>
            <a:ext cx="470420"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15 / 133</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NIVELAMENTO · DATABRICKS · LAKEHOUSE</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Data warehouse + data lake =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lakehouse</a:t>
            </a:r>
            <a:endParaRPr lang="en-US" sz="3100" dirty="0"/>
          </a:p>
        </p:txBody>
      </p:sp>
      <p:sp>
        <p:nvSpPr>
          <p:cNvPr id="4" name="Shape 2"/>
          <p:cNvSpPr/>
          <p:nvPr/>
        </p:nvSpPr>
        <p:spPr>
          <a:xfrm>
            <a:off x="761981" y="1582301"/>
            <a:ext cx="3462747" cy="1911005"/>
          </a:xfrm>
          <a:prstGeom prst="roundRect">
            <a:avLst>
              <a:gd name="adj" fmla="val 7975"/>
            </a:avLst>
          </a:prstGeom>
          <a:solidFill>
            <a:srgbClr val="1E1E24"/>
          </a:solidFill>
          <a:ln w="6350">
            <a:solidFill>
              <a:srgbClr val="2F2F39"/>
            </a:solidFill>
            <a:prstDash val="solid"/>
          </a:ln>
        </p:spPr>
      </p:sp>
      <p:sp>
        <p:nvSpPr>
          <p:cNvPr id="5" name="Shape 3"/>
          <p:cNvSpPr/>
          <p:nvPr/>
        </p:nvSpPr>
        <p:spPr>
          <a:xfrm>
            <a:off x="984225" y="1779146"/>
            <a:ext cx="1133844" cy="247644"/>
          </a:xfrm>
          <a:prstGeom prst="roundRect">
            <a:avLst>
              <a:gd name="adj" fmla="val 50000"/>
            </a:avLst>
          </a:prstGeom>
          <a:solidFill>
            <a:srgbClr val="22C2F4">
              <a:alpha val="14000"/>
            </a:srgbClr>
          </a:solidFill>
          <a:ln/>
        </p:spPr>
      </p:sp>
      <p:sp>
        <p:nvSpPr>
          <p:cNvPr id="6" name="Text 4"/>
          <p:cNvSpPr txBox="1"/>
          <p:nvPr/>
        </p:nvSpPr>
        <p:spPr>
          <a:xfrm>
            <a:off x="1073123" y="1817245"/>
            <a:ext cx="994290"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Data warehouse</a:t>
            </a:r>
            <a:endParaRPr lang="en-US" sz="900" dirty="0"/>
          </a:p>
        </p:txBody>
      </p:sp>
      <p:sp>
        <p:nvSpPr>
          <p:cNvPr id="7" name="Shape 5"/>
          <p:cNvSpPr/>
          <p:nvPr/>
        </p:nvSpPr>
        <p:spPr>
          <a:xfrm>
            <a:off x="984225" y="2198236"/>
            <a:ext cx="76198" cy="76198"/>
          </a:xfrm>
          <a:prstGeom prst="roundRect">
            <a:avLst>
              <a:gd name="adj" fmla="val 25000"/>
            </a:avLst>
          </a:prstGeom>
          <a:solidFill>
            <a:srgbClr val="22C2F4"/>
          </a:solidFill>
          <a:ln/>
        </p:spPr>
      </p:sp>
      <p:sp>
        <p:nvSpPr>
          <p:cNvPr id="8" name="Text 6"/>
          <p:cNvSpPr txBox="1"/>
          <p:nvPr/>
        </p:nvSpPr>
        <p:spPr>
          <a:xfrm>
            <a:off x="1174721" y="2115688"/>
            <a:ext cx="2940873"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tabelas organizadas, SQL rápido, dashboards</a:t>
            </a:r>
            <a:endParaRPr lang="en-US" sz="1200" dirty="0"/>
          </a:p>
        </p:txBody>
      </p:sp>
      <p:sp>
        <p:nvSpPr>
          <p:cNvPr id="9" name="Shape 7"/>
          <p:cNvSpPr/>
          <p:nvPr/>
        </p:nvSpPr>
        <p:spPr>
          <a:xfrm>
            <a:off x="984225" y="2685784"/>
            <a:ext cx="76198" cy="76198"/>
          </a:xfrm>
          <a:prstGeom prst="roundRect">
            <a:avLst>
              <a:gd name="adj" fmla="val 25000"/>
            </a:avLst>
          </a:prstGeom>
          <a:solidFill>
            <a:srgbClr val="22C2F4"/>
          </a:solidFill>
          <a:ln/>
        </p:spPr>
      </p:sp>
      <p:sp>
        <p:nvSpPr>
          <p:cNvPr id="10" name="Text 8"/>
          <p:cNvSpPr txBox="1"/>
          <p:nvPr/>
        </p:nvSpPr>
        <p:spPr>
          <a:xfrm>
            <a:off x="1174721" y="2603236"/>
            <a:ext cx="2940873"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caro e rígido; não guarda planilha, PDF, JSON</a:t>
            </a:r>
            <a:endParaRPr lang="en-US" sz="1200" dirty="0"/>
          </a:p>
        </p:txBody>
      </p:sp>
      <p:sp>
        <p:nvSpPr>
          <p:cNvPr id="11" name="Shape 9"/>
          <p:cNvSpPr/>
          <p:nvPr/>
        </p:nvSpPr>
        <p:spPr>
          <a:xfrm>
            <a:off x="4364424" y="1582301"/>
            <a:ext cx="3462747" cy="1911005"/>
          </a:xfrm>
          <a:prstGeom prst="roundRect">
            <a:avLst>
              <a:gd name="adj" fmla="val 7975"/>
            </a:avLst>
          </a:prstGeom>
          <a:solidFill>
            <a:srgbClr val="1E1E24"/>
          </a:solidFill>
          <a:ln w="6350">
            <a:solidFill>
              <a:srgbClr val="2F2F39"/>
            </a:solidFill>
            <a:prstDash val="solid"/>
          </a:ln>
        </p:spPr>
      </p:sp>
      <p:sp>
        <p:nvSpPr>
          <p:cNvPr id="12" name="Shape 10"/>
          <p:cNvSpPr/>
          <p:nvPr/>
        </p:nvSpPr>
        <p:spPr>
          <a:xfrm>
            <a:off x="4586669" y="1779146"/>
            <a:ext cx="732911" cy="247644"/>
          </a:xfrm>
          <a:prstGeom prst="roundRect">
            <a:avLst>
              <a:gd name="adj" fmla="val 50000"/>
            </a:avLst>
          </a:prstGeom>
          <a:solidFill>
            <a:srgbClr val="22C2F4">
              <a:alpha val="14000"/>
            </a:srgbClr>
          </a:solidFill>
          <a:ln/>
        </p:spPr>
      </p:sp>
      <p:sp>
        <p:nvSpPr>
          <p:cNvPr id="13" name="Text 11"/>
          <p:cNvSpPr txBox="1"/>
          <p:nvPr/>
        </p:nvSpPr>
        <p:spPr>
          <a:xfrm>
            <a:off x="4675567" y="1817245"/>
            <a:ext cx="577320"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Data lake</a:t>
            </a:r>
            <a:endParaRPr lang="en-US" sz="900" dirty="0"/>
          </a:p>
        </p:txBody>
      </p:sp>
      <p:sp>
        <p:nvSpPr>
          <p:cNvPr id="14" name="Shape 12"/>
          <p:cNvSpPr/>
          <p:nvPr/>
        </p:nvSpPr>
        <p:spPr>
          <a:xfrm>
            <a:off x="4586669" y="2198236"/>
            <a:ext cx="76198" cy="76198"/>
          </a:xfrm>
          <a:prstGeom prst="roundRect">
            <a:avLst>
              <a:gd name="adj" fmla="val 25000"/>
            </a:avLst>
          </a:prstGeom>
          <a:solidFill>
            <a:srgbClr val="22C2F4"/>
          </a:solidFill>
          <a:ln/>
        </p:spPr>
      </p:sp>
      <p:sp>
        <p:nvSpPr>
          <p:cNvPr id="15" name="Text 13"/>
          <p:cNvSpPr txBox="1"/>
          <p:nvPr/>
        </p:nvSpPr>
        <p:spPr>
          <a:xfrm>
            <a:off x="4777164" y="2115688"/>
            <a:ext cx="2940873"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guarda qualquer arquivo, barato</a:t>
            </a:r>
            <a:endParaRPr lang="en-US" sz="1200" dirty="0"/>
          </a:p>
        </p:txBody>
      </p:sp>
      <p:sp>
        <p:nvSpPr>
          <p:cNvPr id="16" name="Shape 14"/>
          <p:cNvSpPr/>
          <p:nvPr/>
        </p:nvSpPr>
        <p:spPr>
          <a:xfrm>
            <a:off x="4586669" y="2480109"/>
            <a:ext cx="76198" cy="76198"/>
          </a:xfrm>
          <a:prstGeom prst="roundRect">
            <a:avLst>
              <a:gd name="adj" fmla="val 25000"/>
            </a:avLst>
          </a:prstGeom>
          <a:solidFill>
            <a:srgbClr val="22C2F4"/>
          </a:solidFill>
          <a:ln/>
        </p:spPr>
      </p:sp>
      <p:sp>
        <p:nvSpPr>
          <p:cNvPr id="17" name="Text 15"/>
          <p:cNvSpPr txBox="1"/>
          <p:nvPr/>
        </p:nvSpPr>
        <p:spPr>
          <a:xfrm>
            <a:off x="4777164" y="2397561"/>
            <a:ext cx="2940873"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vira um "pântano": ninguém sabe o que tem, nem confia</a:t>
            </a:r>
            <a:endParaRPr lang="en-US" sz="1200" dirty="0"/>
          </a:p>
        </p:txBody>
      </p:sp>
      <p:sp>
        <p:nvSpPr>
          <p:cNvPr id="18" name="Shape 16"/>
          <p:cNvSpPr/>
          <p:nvPr/>
        </p:nvSpPr>
        <p:spPr>
          <a:xfrm>
            <a:off x="7966868" y="1582301"/>
            <a:ext cx="3462747" cy="1911005"/>
          </a:xfrm>
          <a:prstGeom prst="roundRect">
            <a:avLst>
              <a:gd name="adj" fmla="val 7975"/>
            </a:avLst>
          </a:prstGeom>
          <a:solidFill>
            <a:srgbClr val="0059DB"/>
          </a:solidFill>
          <a:ln/>
        </p:spPr>
      </p:sp>
      <p:sp>
        <p:nvSpPr>
          <p:cNvPr id="19" name="Shape 17"/>
          <p:cNvSpPr/>
          <p:nvPr/>
        </p:nvSpPr>
        <p:spPr>
          <a:xfrm>
            <a:off x="8189112" y="1779146"/>
            <a:ext cx="801866" cy="247644"/>
          </a:xfrm>
          <a:prstGeom prst="roundRect">
            <a:avLst>
              <a:gd name="adj" fmla="val 50000"/>
            </a:avLst>
          </a:prstGeom>
          <a:solidFill>
            <a:srgbClr val="FFFFFF">
              <a:alpha val="16000"/>
            </a:srgbClr>
          </a:solidFill>
          <a:ln/>
        </p:spPr>
      </p:sp>
      <p:sp>
        <p:nvSpPr>
          <p:cNvPr id="20" name="Text 18"/>
          <p:cNvSpPr txBox="1"/>
          <p:nvPr/>
        </p:nvSpPr>
        <p:spPr>
          <a:xfrm>
            <a:off x="8278010" y="1817245"/>
            <a:ext cx="649033"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Lakehouse</a:t>
            </a:r>
            <a:endParaRPr lang="en-US" sz="900" dirty="0"/>
          </a:p>
        </p:txBody>
      </p:sp>
      <p:sp>
        <p:nvSpPr>
          <p:cNvPr id="21" name="Shape 19"/>
          <p:cNvSpPr/>
          <p:nvPr/>
        </p:nvSpPr>
        <p:spPr>
          <a:xfrm>
            <a:off x="8189112" y="2198236"/>
            <a:ext cx="76198" cy="76198"/>
          </a:xfrm>
          <a:prstGeom prst="roundRect">
            <a:avLst>
              <a:gd name="adj" fmla="val 25000"/>
            </a:avLst>
          </a:prstGeom>
          <a:solidFill>
            <a:srgbClr val="22C2F4"/>
          </a:solidFill>
          <a:ln/>
        </p:spPr>
      </p:sp>
      <p:sp>
        <p:nvSpPr>
          <p:cNvPr id="22" name="Text 20"/>
          <p:cNvSpPr txBox="1"/>
          <p:nvPr/>
        </p:nvSpPr>
        <p:spPr>
          <a:xfrm>
            <a:off x="8379608" y="2115688"/>
            <a:ext cx="2940873"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os arquivos ficam no lake, mas com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tabela de verdade</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por cima (Delta)</a:t>
            </a:r>
            <a:endParaRPr lang="en-US" sz="1200" dirty="0"/>
          </a:p>
        </p:txBody>
      </p:sp>
      <p:sp>
        <p:nvSpPr>
          <p:cNvPr id="23" name="Shape 21"/>
          <p:cNvSpPr/>
          <p:nvPr/>
        </p:nvSpPr>
        <p:spPr>
          <a:xfrm>
            <a:off x="8189112" y="2685784"/>
            <a:ext cx="76198" cy="76198"/>
          </a:xfrm>
          <a:prstGeom prst="roundRect">
            <a:avLst>
              <a:gd name="adj" fmla="val 25000"/>
            </a:avLst>
          </a:prstGeom>
          <a:solidFill>
            <a:srgbClr val="22C2F4"/>
          </a:solidFill>
          <a:ln/>
        </p:spPr>
      </p:sp>
      <p:sp>
        <p:nvSpPr>
          <p:cNvPr id="24" name="Text 22"/>
          <p:cNvSpPr txBox="1"/>
          <p:nvPr/>
        </p:nvSpPr>
        <p:spPr>
          <a:xfrm>
            <a:off x="8379608" y="2603236"/>
            <a:ext cx="2940873"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governança num catálogo só (Unity Catalog)</a:t>
            </a:r>
            <a:endParaRPr lang="en-US" sz="1200" dirty="0"/>
          </a:p>
        </p:txBody>
      </p:sp>
      <p:sp>
        <p:nvSpPr>
          <p:cNvPr id="25" name="Shape 23"/>
          <p:cNvSpPr/>
          <p:nvPr/>
        </p:nvSpPr>
        <p:spPr>
          <a:xfrm>
            <a:off x="8189112" y="3173333"/>
            <a:ext cx="76198" cy="76198"/>
          </a:xfrm>
          <a:prstGeom prst="roundRect">
            <a:avLst>
              <a:gd name="adj" fmla="val 25000"/>
            </a:avLst>
          </a:prstGeom>
          <a:solidFill>
            <a:srgbClr val="22C2F4"/>
          </a:solidFill>
          <a:ln/>
        </p:spPr>
      </p:sp>
      <p:sp>
        <p:nvSpPr>
          <p:cNvPr id="26" name="Text 24"/>
          <p:cNvSpPr txBox="1"/>
          <p:nvPr/>
        </p:nvSpPr>
        <p:spPr>
          <a:xfrm>
            <a:off x="8379608" y="3090785"/>
            <a:ext cx="2940873"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SQL, BI, ML e IA sobre o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mesmo</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dado</a:t>
            </a:r>
            <a:endParaRPr lang="en-US" sz="1200" dirty="0"/>
          </a:p>
        </p:txBody>
      </p:sp>
      <p:sp>
        <p:nvSpPr>
          <p:cNvPr id="27" name="Shape 25"/>
          <p:cNvSpPr/>
          <p:nvPr/>
        </p:nvSpPr>
        <p:spPr>
          <a:xfrm>
            <a:off x="761981" y="3671101"/>
            <a:ext cx="25399" cy="285743"/>
          </a:xfrm>
          <a:prstGeom prst="rect">
            <a:avLst/>
          </a:prstGeom>
          <a:solidFill>
            <a:srgbClr val="22C2F4"/>
          </a:solidFill>
          <a:ln/>
        </p:spPr>
      </p:sp>
      <p:sp>
        <p:nvSpPr>
          <p:cNvPr id="28" name="Text 26"/>
          <p:cNvSpPr txBox="1"/>
          <p:nvPr/>
        </p:nvSpPr>
        <p:spPr>
          <a:xfrm>
            <a:off x="914377" y="3709200"/>
            <a:ext cx="10935951" cy="209545"/>
          </a:xfrm>
          <a:prstGeom prst="rect">
            <a:avLst/>
          </a:prstGeom>
          <a:noFill/>
          <a:ln/>
        </p:spPr>
        <p:txBody>
          <a:bodyPr wrap="square" lIns="0" tIns="0" rIns="0" bIns="0" rtlCol="0" anchor="t"/>
          <a:lstStyle/>
          <a:p>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No Projeto Farol: as planilhas, os JSON e os XML entram como arquivo no </a:t>
            </a:r>
            <a:pPr algn="l" indent="0" marL="0">
              <a:lnSpc>
                <a:spcPct val="106838"/>
              </a:lnSpc>
              <a:buNone/>
            </a:pPr>
            <a:r>
              <a:rPr lang="en-US" sz="1100" b="1" dirty="0">
                <a:solidFill>
                  <a:srgbClr val="FFFFFF"/>
                </a:solidFill>
                <a:latin typeface="Poppins" pitchFamily="34" charset="0"/>
                <a:ea typeface="Poppins" pitchFamily="34" charset="-122"/>
                <a:cs typeface="Poppins" pitchFamily="34" charset="-120"/>
              </a:rPr>
              <a:t>volume</a:t>
            </a:r>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 e viram </a:t>
            </a:r>
            <a:pPr algn="l" indent="0" marL="0">
              <a:lnSpc>
                <a:spcPct val="106838"/>
              </a:lnSpc>
              <a:buNone/>
            </a:pPr>
            <a:r>
              <a:rPr lang="en-US" sz="1100" b="1" dirty="0">
                <a:solidFill>
                  <a:srgbClr val="FFFFFF"/>
                </a:solidFill>
                <a:latin typeface="Poppins" pitchFamily="34" charset="0"/>
                <a:ea typeface="Poppins" pitchFamily="34" charset="-122"/>
                <a:cs typeface="Poppins" pitchFamily="34" charset="-120"/>
              </a:rPr>
              <a:t>tabela</a:t>
            </a:r>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 no mesmo catálogo. É o lakehouse na prática.</a:t>
            </a:r>
            <a:endParaRPr lang="en-US" sz="1100" dirty="0"/>
          </a:p>
        </p:txBody>
      </p:sp>
      <p:pic>
        <p:nvPicPr>
          <p:cNvPr id="29"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30" name="Text 27"/>
          <p:cNvSpPr txBox="1"/>
          <p:nvPr/>
        </p:nvSpPr>
        <p:spPr>
          <a:xfrm>
            <a:off x="10977090" y="6387940"/>
            <a:ext cx="470730"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16 / 133</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NIVELAMENTO · DATABRICKS · O MAPA DO WORKSPACE</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Um workspace,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seis blocos</a:t>
            </a:r>
            <a:endParaRPr lang="en-US" sz="3100" dirty="0"/>
          </a:p>
        </p:txBody>
      </p:sp>
      <p:sp>
        <p:nvSpPr>
          <p:cNvPr id="4" name="Shape 2"/>
          <p:cNvSpPr/>
          <p:nvPr/>
        </p:nvSpPr>
        <p:spPr>
          <a:xfrm>
            <a:off x="761981" y="1582301"/>
            <a:ext cx="3462747" cy="1200715"/>
          </a:xfrm>
          <a:prstGeom prst="roundRect">
            <a:avLst>
              <a:gd name="adj" fmla="val 12692"/>
            </a:avLst>
          </a:prstGeom>
          <a:solidFill>
            <a:srgbClr val="0059DB"/>
          </a:solidFill>
          <a:ln/>
        </p:spPr>
      </p:sp>
      <p:sp>
        <p:nvSpPr>
          <p:cNvPr id="5" name="Shape 3"/>
          <p:cNvSpPr/>
          <p:nvPr/>
        </p:nvSpPr>
        <p:spPr>
          <a:xfrm>
            <a:off x="984225" y="1779146"/>
            <a:ext cx="1363430" cy="247644"/>
          </a:xfrm>
          <a:prstGeom prst="roundRect">
            <a:avLst>
              <a:gd name="adj" fmla="val 50000"/>
            </a:avLst>
          </a:prstGeom>
          <a:solidFill>
            <a:srgbClr val="FFFFFF">
              <a:alpha val="16000"/>
            </a:srgbClr>
          </a:solidFill>
          <a:ln/>
        </p:spPr>
      </p:sp>
      <p:sp>
        <p:nvSpPr>
          <p:cNvPr id="6" name="Text 4"/>
          <p:cNvSpPr txBox="1"/>
          <p:nvPr/>
        </p:nvSpPr>
        <p:spPr>
          <a:xfrm>
            <a:off x="1073123" y="1817245"/>
            <a:ext cx="1233060"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Onde mora o código</a:t>
            </a:r>
            <a:endParaRPr lang="en-US" sz="900" dirty="0"/>
          </a:p>
        </p:txBody>
      </p:sp>
      <p:sp>
        <p:nvSpPr>
          <p:cNvPr id="7" name="Text 5"/>
          <p:cNvSpPr txBox="1"/>
          <p:nvPr/>
        </p:nvSpPr>
        <p:spPr>
          <a:xfrm>
            <a:off x="984225" y="2191886"/>
            <a:ext cx="3138988" cy="394285"/>
          </a:xfrm>
          <a:prstGeom prst="rect">
            <a:avLst/>
          </a:prstGeom>
          <a:noFill/>
          <a:ln/>
        </p:spPr>
        <p:txBody>
          <a:bodyPr wrap="square" lIns="0" tIns="0" rIns="0" bIns="0" rtlCol="0" anchor="t"/>
          <a:lstStyle/>
          <a:p>
            <a:pPr algn="l" indent="0" marL="0">
              <a:lnSpc>
                <a:spcPct val="115385"/>
              </a:lnSpc>
              <a:buNone/>
            </a:pPr>
            <a:r>
              <a:rPr lang="en-US" sz="1150" dirty="0">
                <a:solidFill>
                  <a:srgbClr val="FFFFFF"/>
                </a:solidFill>
                <a:latin typeface="Poppins" pitchFamily="34" charset="0"/>
                <a:ea typeface="Poppins" pitchFamily="34" charset="-122"/>
                <a:cs typeface="Poppins" pitchFamily="34" charset="-120"/>
              </a:rPr>
              <a:t>Workspace · Git folder · bundle · notebooks</a:t>
            </a:r>
            <a:endParaRPr lang="en-US" sz="1150" dirty="0"/>
          </a:p>
        </p:txBody>
      </p:sp>
      <p:sp>
        <p:nvSpPr>
          <p:cNvPr id="8" name="Shape 6"/>
          <p:cNvSpPr/>
          <p:nvPr/>
        </p:nvSpPr>
        <p:spPr>
          <a:xfrm>
            <a:off x="4364424" y="1582301"/>
            <a:ext cx="3462747" cy="1200715"/>
          </a:xfrm>
          <a:prstGeom prst="roundRect">
            <a:avLst>
              <a:gd name="adj" fmla="val 12692"/>
            </a:avLst>
          </a:prstGeom>
          <a:solidFill>
            <a:srgbClr val="0059DB"/>
          </a:solidFill>
          <a:ln/>
        </p:spPr>
      </p:sp>
      <p:sp>
        <p:nvSpPr>
          <p:cNvPr id="9" name="Shape 7"/>
          <p:cNvSpPr/>
          <p:nvPr/>
        </p:nvSpPr>
        <p:spPr>
          <a:xfrm>
            <a:off x="4586669" y="1779146"/>
            <a:ext cx="1098820" cy="247644"/>
          </a:xfrm>
          <a:prstGeom prst="roundRect">
            <a:avLst>
              <a:gd name="adj" fmla="val 50000"/>
            </a:avLst>
          </a:prstGeom>
          <a:solidFill>
            <a:srgbClr val="FFFFFF">
              <a:alpha val="16000"/>
            </a:srgbClr>
          </a:solidFill>
          <a:ln/>
        </p:spPr>
      </p:sp>
      <p:sp>
        <p:nvSpPr>
          <p:cNvPr id="10" name="Text 8"/>
          <p:cNvSpPr txBox="1"/>
          <p:nvPr/>
        </p:nvSpPr>
        <p:spPr>
          <a:xfrm>
            <a:off x="4675567" y="1817245"/>
            <a:ext cx="957866"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Quem processa</a:t>
            </a:r>
            <a:endParaRPr lang="en-US" sz="900" dirty="0"/>
          </a:p>
        </p:txBody>
      </p:sp>
      <p:sp>
        <p:nvSpPr>
          <p:cNvPr id="11" name="Text 9"/>
          <p:cNvSpPr txBox="1"/>
          <p:nvPr/>
        </p:nvSpPr>
        <p:spPr>
          <a:xfrm>
            <a:off x="4586669" y="2191886"/>
            <a:ext cx="3138988" cy="197143"/>
          </a:xfrm>
          <a:prstGeom prst="rect">
            <a:avLst/>
          </a:prstGeom>
          <a:noFill/>
          <a:ln/>
        </p:spPr>
        <p:txBody>
          <a:bodyPr wrap="square" lIns="0" tIns="0" rIns="0" bIns="0" rtlCol="0" anchor="t"/>
          <a:lstStyle/>
          <a:p>
            <a:pPr algn="l" indent="0" marL="0">
              <a:lnSpc>
                <a:spcPct val="115385"/>
              </a:lnSpc>
              <a:buNone/>
            </a:pPr>
            <a:r>
              <a:rPr lang="en-US" sz="1150" dirty="0">
                <a:solidFill>
                  <a:srgbClr val="FFFFFF"/>
                </a:solidFill>
                <a:latin typeface="Poppins" pitchFamily="34" charset="0"/>
                <a:ea typeface="Poppins" pitchFamily="34" charset="-122"/>
                <a:cs typeface="Poppins" pitchFamily="34" charset="-120"/>
              </a:rPr>
              <a:t>Serverless · SQL Warehouse</a:t>
            </a:r>
            <a:endParaRPr lang="en-US" sz="1150" dirty="0"/>
          </a:p>
        </p:txBody>
      </p:sp>
      <p:sp>
        <p:nvSpPr>
          <p:cNvPr id="12" name="Shape 10"/>
          <p:cNvSpPr/>
          <p:nvPr/>
        </p:nvSpPr>
        <p:spPr>
          <a:xfrm>
            <a:off x="7966868" y="1582301"/>
            <a:ext cx="3462747" cy="1200715"/>
          </a:xfrm>
          <a:prstGeom prst="roundRect">
            <a:avLst>
              <a:gd name="adj" fmla="val 12692"/>
            </a:avLst>
          </a:prstGeom>
          <a:solidFill>
            <a:srgbClr val="0059DB"/>
          </a:solidFill>
          <a:ln/>
        </p:spPr>
      </p:sp>
      <p:sp>
        <p:nvSpPr>
          <p:cNvPr id="13" name="Shape 11"/>
          <p:cNvSpPr/>
          <p:nvPr/>
        </p:nvSpPr>
        <p:spPr>
          <a:xfrm>
            <a:off x="8189112" y="1779146"/>
            <a:ext cx="1267488" cy="247644"/>
          </a:xfrm>
          <a:prstGeom prst="roundRect">
            <a:avLst>
              <a:gd name="adj" fmla="val 50000"/>
            </a:avLst>
          </a:prstGeom>
          <a:solidFill>
            <a:srgbClr val="FFFFFF">
              <a:alpha val="16000"/>
            </a:srgbClr>
          </a:solidFill>
          <a:ln/>
        </p:spPr>
      </p:sp>
      <p:sp>
        <p:nvSpPr>
          <p:cNvPr id="14" name="Text 12"/>
          <p:cNvSpPr txBox="1"/>
          <p:nvPr/>
        </p:nvSpPr>
        <p:spPr>
          <a:xfrm>
            <a:off x="8278010" y="1817245"/>
            <a:ext cx="1133280"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Onde mora o dado</a:t>
            </a:r>
            <a:endParaRPr lang="en-US" sz="900" dirty="0"/>
          </a:p>
        </p:txBody>
      </p:sp>
      <p:sp>
        <p:nvSpPr>
          <p:cNvPr id="15" name="Text 13"/>
          <p:cNvSpPr txBox="1"/>
          <p:nvPr/>
        </p:nvSpPr>
        <p:spPr>
          <a:xfrm>
            <a:off x="8189112" y="2191886"/>
            <a:ext cx="3138988" cy="394285"/>
          </a:xfrm>
          <a:prstGeom prst="rect">
            <a:avLst/>
          </a:prstGeom>
          <a:noFill/>
          <a:ln/>
        </p:spPr>
        <p:txBody>
          <a:bodyPr wrap="square" lIns="0" tIns="0" rIns="0" bIns="0" rtlCol="0" anchor="t"/>
          <a:lstStyle/>
          <a:p>
            <a:pPr algn="l" indent="0" marL="0">
              <a:lnSpc>
                <a:spcPct val="115385"/>
              </a:lnSpc>
              <a:buNone/>
            </a:pPr>
            <a:r>
              <a:rPr lang="en-US" sz="1150" dirty="0">
                <a:solidFill>
                  <a:srgbClr val="FFFFFF"/>
                </a:solidFill>
                <a:latin typeface="Poppins" pitchFamily="34" charset="0"/>
                <a:ea typeface="Poppins" pitchFamily="34" charset="-122"/>
                <a:cs typeface="Poppins" pitchFamily="34" charset="-120"/>
              </a:rPr>
              <a:t>Unity Catalog · schemas · tabelas · volumes · lineage · metric views</a:t>
            </a:r>
            <a:endParaRPr lang="en-US" sz="1150" dirty="0"/>
          </a:p>
        </p:txBody>
      </p:sp>
      <p:sp>
        <p:nvSpPr>
          <p:cNvPr id="16" name="Shape 14"/>
          <p:cNvSpPr/>
          <p:nvPr/>
        </p:nvSpPr>
        <p:spPr>
          <a:xfrm>
            <a:off x="761981" y="2922713"/>
            <a:ext cx="3462747" cy="1200715"/>
          </a:xfrm>
          <a:prstGeom prst="roundRect">
            <a:avLst>
              <a:gd name="adj" fmla="val 12692"/>
            </a:avLst>
          </a:prstGeom>
          <a:solidFill>
            <a:srgbClr val="1E1E24"/>
          </a:solidFill>
          <a:ln w="6350">
            <a:solidFill>
              <a:srgbClr val="2F2F39"/>
            </a:solidFill>
            <a:prstDash val="solid"/>
          </a:ln>
        </p:spPr>
      </p:sp>
      <p:sp>
        <p:nvSpPr>
          <p:cNvPr id="17" name="Shape 15"/>
          <p:cNvSpPr/>
          <p:nvPr/>
        </p:nvSpPr>
        <p:spPr>
          <a:xfrm>
            <a:off x="984225" y="3119558"/>
            <a:ext cx="1325232" cy="247644"/>
          </a:xfrm>
          <a:prstGeom prst="roundRect">
            <a:avLst>
              <a:gd name="adj" fmla="val 50000"/>
            </a:avLst>
          </a:prstGeom>
          <a:solidFill>
            <a:srgbClr val="22C2F4">
              <a:alpha val="14000"/>
            </a:srgbClr>
          </a:solidFill>
          <a:ln/>
        </p:spPr>
      </p:sp>
      <p:sp>
        <p:nvSpPr>
          <p:cNvPr id="18" name="Text 16"/>
          <p:cNvSpPr txBox="1"/>
          <p:nvPr/>
        </p:nvSpPr>
        <p:spPr>
          <a:xfrm>
            <a:off x="1073123" y="3157657"/>
            <a:ext cx="1193334"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Quem move o dado</a:t>
            </a:r>
            <a:endParaRPr lang="en-US" sz="900" dirty="0"/>
          </a:p>
        </p:txBody>
      </p:sp>
      <p:sp>
        <p:nvSpPr>
          <p:cNvPr id="19" name="Text 17"/>
          <p:cNvSpPr txBox="1"/>
          <p:nvPr/>
        </p:nvSpPr>
        <p:spPr>
          <a:xfrm>
            <a:off x="984225" y="3532298"/>
            <a:ext cx="3138988" cy="197143"/>
          </a:xfrm>
          <a:prstGeom prst="rect">
            <a:avLst/>
          </a:prstGeom>
          <a:noFill/>
          <a:ln/>
        </p:spPr>
        <p:txBody>
          <a:bodyPr wrap="square" lIns="0" tIns="0" rIns="0" bIns="0" rtlCol="0" anchor="t"/>
          <a:lstStyle/>
          <a:p>
            <a:pPr algn="l" indent="0" marL="0">
              <a:lnSpc>
                <a:spcPct val="115385"/>
              </a:lnSpc>
              <a:buNone/>
            </a:pPr>
            <a:r>
              <a:rPr lang="en-US" sz="1150" dirty="0">
                <a:solidFill>
                  <a:srgbClr val="A3A6B4"/>
                </a:solidFill>
                <a:latin typeface="Poppins" pitchFamily="34" charset="0"/>
                <a:ea typeface="Poppins" pitchFamily="34" charset="-122"/>
                <a:cs typeface="Poppins" pitchFamily="34" charset="-120"/>
              </a:rPr>
              <a:t>Data Ingestion · Lakeflow pipeline · Jobs</a:t>
            </a:r>
            <a:endParaRPr lang="en-US" sz="1150" dirty="0"/>
          </a:p>
        </p:txBody>
      </p:sp>
      <p:sp>
        <p:nvSpPr>
          <p:cNvPr id="20" name="Shape 18"/>
          <p:cNvSpPr/>
          <p:nvPr/>
        </p:nvSpPr>
        <p:spPr>
          <a:xfrm>
            <a:off x="4364424" y="2922713"/>
            <a:ext cx="3462747" cy="1200715"/>
          </a:xfrm>
          <a:prstGeom prst="roundRect">
            <a:avLst>
              <a:gd name="adj" fmla="val 12692"/>
            </a:avLst>
          </a:prstGeom>
          <a:solidFill>
            <a:srgbClr val="1E1E24"/>
          </a:solidFill>
          <a:ln w="6350">
            <a:solidFill>
              <a:srgbClr val="2F2F39"/>
            </a:solidFill>
            <a:prstDash val="solid"/>
          </a:ln>
        </p:spPr>
      </p:sp>
      <p:sp>
        <p:nvSpPr>
          <p:cNvPr id="21" name="Shape 19"/>
          <p:cNvSpPr/>
          <p:nvPr/>
        </p:nvSpPr>
        <p:spPr>
          <a:xfrm>
            <a:off x="4586669" y="3119558"/>
            <a:ext cx="1105468" cy="247644"/>
          </a:xfrm>
          <a:prstGeom prst="roundRect">
            <a:avLst>
              <a:gd name="adj" fmla="val 50000"/>
            </a:avLst>
          </a:prstGeom>
          <a:solidFill>
            <a:srgbClr val="22C2F4">
              <a:alpha val="14000"/>
            </a:srgbClr>
          </a:solidFill>
          <a:ln/>
        </p:spPr>
      </p:sp>
      <p:sp>
        <p:nvSpPr>
          <p:cNvPr id="22" name="Text 20"/>
          <p:cNvSpPr txBox="1"/>
          <p:nvPr/>
        </p:nvSpPr>
        <p:spPr>
          <a:xfrm>
            <a:off x="4675567" y="3157657"/>
            <a:ext cx="964779"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Quem pergunta</a:t>
            </a:r>
            <a:endParaRPr lang="en-US" sz="900" dirty="0"/>
          </a:p>
        </p:txBody>
      </p:sp>
      <p:sp>
        <p:nvSpPr>
          <p:cNvPr id="23" name="Text 21"/>
          <p:cNvSpPr txBox="1"/>
          <p:nvPr/>
        </p:nvSpPr>
        <p:spPr>
          <a:xfrm>
            <a:off x="4586669" y="3532298"/>
            <a:ext cx="3138988" cy="394285"/>
          </a:xfrm>
          <a:prstGeom prst="rect">
            <a:avLst/>
          </a:prstGeom>
          <a:noFill/>
          <a:ln/>
        </p:spPr>
        <p:txBody>
          <a:bodyPr wrap="square" lIns="0" tIns="0" rIns="0" bIns="0" rtlCol="0" anchor="t"/>
          <a:lstStyle/>
          <a:p>
            <a:pPr algn="l" indent="0" marL="0">
              <a:lnSpc>
                <a:spcPct val="115385"/>
              </a:lnSpc>
              <a:buNone/>
            </a:pPr>
            <a:r>
              <a:rPr lang="en-US" sz="1150" dirty="0">
                <a:solidFill>
                  <a:srgbClr val="A3A6B4"/>
                </a:solidFill>
                <a:latin typeface="Poppins" pitchFamily="34" charset="0"/>
                <a:ea typeface="Poppins" pitchFamily="34" charset="-122"/>
                <a:cs typeface="Poppins" pitchFamily="34" charset="-120"/>
              </a:rPr>
              <a:t>SQL Editor · Query History · AI/BI Dashboard · Genie · funções de IA</a:t>
            </a:r>
            <a:endParaRPr lang="en-US" sz="1150" dirty="0"/>
          </a:p>
        </p:txBody>
      </p:sp>
      <p:sp>
        <p:nvSpPr>
          <p:cNvPr id="24" name="Shape 22"/>
          <p:cNvSpPr/>
          <p:nvPr/>
        </p:nvSpPr>
        <p:spPr>
          <a:xfrm>
            <a:off x="7966868" y="2922713"/>
            <a:ext cx="3462747" cy="1200715"/>
          </a:xfrm>
          <a:prstGeom prst="roundRect">
            <a:avLst>
              <a:gd name="adj" fmla="val 12692"/>
            </a:avLst>
          </a:prstGeom>
          <a:solidFill>
            <a:srgbClr val="1E1E24"/>
          </a:solidFill>
          <a:ln w="6350">
            <a:solidFill>
              <a:srgbClr val="2F2F39"/>
            </a:solidFill>
            <a:prstDash val="solid"/>
          </a:ln>
        </p:spPr>
      </p:sp>
      <p:sp>
        <p:nvSpPr>
          <p:cNvPr id="25" name="Shape 23"/>
          <p:cNvSpPr/>
          <p:nvPr/>
        </p:nvSpPr>
        <p:spPr>
          <a:xfrm>
            <a:off x="8189112" y="3119558"/>
            <a:ext cx="957437" cy="247644"/>
          </a:xfrm>
          <a:prstGeom prst="roundRect">
            <a:avLst>
              <a:gd name="adj" fmla="val 50000"/>
            </a:avLst>
          </a:prstGeom>
          <a:solidFill>
            <a:srgbClr val="22C2F4">
              <a:alpha val="14000"/>
            </a:srgbClr>
          </a:solidFill>
          <a:ln/>
        </p:spPr>
      </p:sp>
      <p:sp>
        <p:nvSpPr>
          <p:cNvPr id="26" name="Text 24"/>
          <p:cNvSpPr txBox="1"/>
          <p:nvPr/>
        </p:nvSpPr>
        <p:spPr>
          <a:xfrm>
            <a:off x="8278010" y="3157657"/>
            <a:ext cx="810827"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Quem decide</a:t>
            </a:r>
            <a:endParaRPr lang="en-US" sz="900" dirty="0"/>
          </a:p>
        </p:txBody>
      </p:sp>
      <p:sp>
        <p:nvSpPr>
          <p:cNvPr id="27" name="Text 25"/>
          <p:cNvSpPr txBox="1"/>
          <p:nvPr/>
        </p:nvSpPr>
        <p:spPr>
          <a:xfrm>
            <a:off x="8189112" y="3532298"/>
            <a:ext cx="3138988" cy="394285"/>
          </a:xfrm>
          <a:prstGeom prst="rect">
            <a:avLst/>
          </a:prstGeom>
          <a:noFill/>
          <a:ln/>
        </p:spPr>
        <p:txBody>
          <a:bodyPr wrap="square" lIns="0" tIns="0" rIns="0" bIns="0" rtlCol="0" anchor="t"/>
          <a:lstStyle/>
          <a:p>
            <a:pPr algn="l" indent="0" marL="0">
              <a:lnSpc>
                <a:spcPct val="115385"/>
              </a:lnSpc>
              <a:buNone/>
            </a:pPr>
            <a:r>
              <a:rPr lang="en-US" sz="1150" dirty="0">
                <a:solidFill>
                  <a:srgbClr val="A3A6B4"/>
                </a:solidFill>
                <a:latin typeface="Poppins" pitchFamily="34" charset="0"/>
                <a:ea typeface="Poppins" pitchFamily="34" charset="-122"/>
                <a:cs typeface="Poppins" pitchFamily="34" charset="-120"/>
              </a:rPr>
              <a:t>MLflow · modelo no Unity Catalog · Lakebase · Apps</a:t>
            </a:r>
            <a:endParaRPr lang="en-US" sz="1150" dirty="0"/>
          </a:p>
        </p:txBody>
      </p:sp>
      <p:sp>
        <p:nvSpPr>
          <p:cNvPr id="28" name="Shape 26"/>
          <p:cNvSpPr/>
          <p:nvPr/>
        </p:nvSpPr>
        <p:spPr>
          <a:xfrm>
            <a:off x="761981" y="4288524"/>
            <a:ext cx="25399" cy="285743"/>
          </a:xfrm>
          <a:prstGeom prst="rect">
            <a:avLst/>
          </a:prstGeom>
          <a:solidFill>
            <a:srgbClr val="22C2F4"/>
          </a:solidFill>
          <a:ln/>
        </p:spPr>
      </p:sp>
      <p:sp>
        <p:nvSpPr>
          <p:cNvPr id="29" name="Text 27"/>
          <p:cNvSpPr txBox="1"/>
          <p:nvPr/>
        </p:nvSpPr>
        <p:spPr>
          <a:xfrm>
            <a:off x="914377" y="4326623"/>
            <a:ext cx="10935951" cy="209545"/>
          </a:xfrm>
          <a:prstGeom prst="rect">
            <a:avLst/>
          </a:prstGeom>
          <a:noFill/>
          <a:ln/>
        </p:spPr>
        <p:txBody>
          <a:bodyPr wrap="square" lIns="0" tIns="0" rIns="0" bIns="0" rtlCol="0" anchor="t"/>
          <a:lstStyle/>
          <a:p>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Tudo isto existe no </a:t>
            </a:r>
            <a:pPr algn="l" indent="0" marL="0">
              <a:lnSpc>
                <a:spcPct val="106838"/>
              </a:lnSpc>
              <a:buNone/>
            </a:pPr>
            <a:r>
              <a:rPr lang="en-US" sz="1100" b="1" dirty="0">
                <a:solidFill>
                  <a:srgbClr val="FFFFFF"/>
                </a:solidFill>
                <a:latin typeface="Poppins" pitchFamily="34" charset="0"/>
                <a:ea typeface="Poppins" pitchFamily="34" charset="-122"/>
                <a:cs typeface="Poppins" pitchFamily="34" charset="-120"/>
              </a:rPr>
              <a:t>Free Edition</a:t>
            </a:r>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 sem cartão de crédito. O tour completo, tela a tela, está no apêndice.</a:t>
            </a:r>
            <a:endParaRPr lang="en-US" sz="1100" dirty="0"/>
          </a:p>
        </p:txBody>
      </p:sp>
      <p:pic>
        <p:nvPicPr>
          <p:cNvPr id="30"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31" name="Text 28"/>
          <p:cNvSpPr txBox="1"/>
          <p:nvPr/>
        </p:nvSpPr>
        <p:spPr>
          <a:xfrm>
            <a:off x="10987507" y="6387940"/>
            <a:ext cx="459895"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17 / 133</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NIVELAMENTO · DATABRICKS · FREE EDITION</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Sua conta,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de graça e sem cartão</a:t>
            </a:r>
            <a:endParaRPr lang="en-US" sz="3100" dirty="0"/>
          </a:p>
        </p:txBody>
      </p:sp>
      <p:sp>
        <p:nvSpPr>
          <p:cNvPr id="4" name="Shape 2"/>
          <p:cNvSpPr/>
          <p:nvPr/>
        </p:nvSpPr>
        <p:spPr>
          <a:xfrm>
            <a:off x="761981" y="1582301"/>
            <a:ext cx="5238619" cy="2387243"/>
          </a:xfrm>
          <a:prstGeom prst="roundRect">
            <a:avLst>
              <a:gd name="adj" fmla="val 6384"/>
            </a:avLst>
          </a:prstGeom>
          <a:solidFill>
            <a:srgbClr val="0059DB"/>
          </a:solidFill>
          <a:ln/>
        </p:spPr>
      </p:sp>
      <p:sp>
        <p:nvSpPr>
          <p:cNvPr id="5" name="Shape 3"/>
          <p:cNvSpPr/>
          <p:nvPr/>
        </p:nvSpPr>
        <p:spPr>
          <a:xfrm>
            <a:off x="984225" y="1779146"/>
            <a:ext cx="1294872" cy="247644"/>
          </a:xfrm>
          <a:prstGeom prst="roundRect">
            <a:avLst>
              <a:gd name="adj" fmla="val 50000"/>
            </a:avLst>
          </a:prstGeom>
          <a:solidFill>
            <a:srgbClr val="FFFFFF">
              <a:alpha val="16000"/>
            </a:srgbClr>
          </a:solidFill>
          <a:ln/>
        </p:spPr>
      </p:sp>
      <p:sp>
        <p:nvSpPr>
          <p:cNvPr id="6" name="Text 4"/>
          <p:cNvSpPr txBox="1"/>
          <p:nvPr/>
        </p:nvSpPr>
        <p:spPr>
          <a:xfrm>
            <a:off x="1073123" y="1817245"/>
            <a:ext cx="1161759"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Como criar (5 min)</a:t>
            </a:r>
            <a:endParaRPr lang="en-US" sz="900" dirty="0"/>
          </a:p>
        </p:txBody>
      </p:sp>
      <p:sp>
        <p:nvSpPr>
          <p:cNvPr id="7" name="Shape 5"/>
          <p:cNvSpPr/>
          <p:nvPr/>
        </p:nvSpPr>
        <p:spPr>
          <a:xfrm>
            <a:off x="984225" y="2198236"/>
            <a:ext cx="76198" cy="76198"/>
          </a:xfrm>
          <a:prstGeom prst="roundRect">
            <a:avLst>
              <a:gd name="adj" fmla="val 25000"/>
            </a:avLst>
          </a:prstGeom>
          <a:solidFill>
            <a:srgbClr val="22C2F4"/>
          </a:solidFill>
          <a:ln/>
        </p:spPr>
      </p:sp>
      <p:sp>
        <p:nvSpPr>
          <p:cNvPr id="8" name="Text 6"/>
          <p:cNvSpPr txBox="1"/>
          <p:nvPr/>
        </p:nvSpPr>
        <p:spPr>
          <a:xfrm>
            <a:off x="1174721" y="2115688"/>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entre em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databricks.com/learn/free-edition</a:t>
            </a:r>
            <a:endParaRPr lang="en-US" sz="1200" dirty="0"/>
          </a:p>
        </p:txBody>
      </p:sp>
      <p:sp>
        <p:nvSpPr>
          <p:cNvPr id="9" name="Shape 7"/>
          <p:cNvSpPr/>
          <p:nvPr/>
        </p:nvSpPr>
        <p:spPr>
          <a:xfrm>
            <a:off x="984225" y="2480109"/>
            <a:ext cx="76198" cy="76198"/>
          </a:xfrm>
          <a:prstGeom prst="roundRect">
            <a:avLst>
              <a:gd name="adj" fmla="val 25000"/>
            </a:avLst>
          </a:prstGeom>
          <a:solidFill>
            <a:srgbClr val="22C2F4"/>
          </a:solidFill>
          <a:ln/>
        </p:spPr>
      </p:sp>
      <p:sp>
        <p:nvSpPr>
          <p:cNvPr id="10" name="Text 8"/>
          <p:cNvSpPr txBox="1"/>
          <p:nvPr/>
        </p:nvSpPr>
        <p:spPr>
          <a:xfrm>
            <a:off x="1174721" y="2397561"/>
            <a:ext cx="4787780" cy="411351"/>
          </a:xfrm>
          <a:prstGeom prst="rect">
            <a:avLst/>
          </a:prstGeom>
          <a:noFill/>
          <a:ln/>
        </p:spPr>
        <p:txBody>
          <a:bodyPr wrap="square" lIns="0" tIns="0" rIns="0" bIns="0" rtlCol="0" anchor="t"/>
          <a:lstStyle/>
          <a:p>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Sign up</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com Google, Microsoft ou e-mail (o login é por código, sem senha)</a:t>
            </a:r>
            <a:endParaRPr lang="en-US" sz="1200" dirty="0"/>
          </a:p>
        </p:txBody>
      </p:sp>
      <p:sp>
        <p:nvSpPr>
          <p:cNvPr id="11" name="Shape 9"/>
          <p:cNvSpPr/>
          <p:nvPr/>
        </p:nvSpPr>
        <p:spPr>
          <a:xfrm>
            <a:off x="984225" y="2967658"/>
            <a:ext cx="76198" cy="76198"/>
          </a:xfrm>
          <a:prstGeom prst="roundRect">
            <a:avLst>
              <a:gd name="adj" fmla="val 25000"/>
            </a:avLst>
          </a:prstGeom>
          <a:solidFill>
            <a:srgbClr val="22C2F4"/>
          </a:solidFill>
          <a:ln/>
        </p:spPr>
      </p:sp>
      <p:sp>
        <p:nvSpPr>
          <p:cNvPr id="12" name="Text 10"/>
          <p:cNvSpPr txBox="1"/>
          <p:nvPr/>
        </p:nvSpPr>
        <p:spPr>
          <a:xfrm>
            <a:off x="1174721" y="2885110"/>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o workspace abre pronto: não tem cluster para criar</a:t>
            </a:r>
            <a:endParaRPr lang="en-US" sz="1200" dirty="0"/>
          </a:p>
        </p:txBody>
      </p:sp>
      <p:sp>
        <p:nvSpPr>
          <p:cNvPr id="13" name="Shape 11"/>
          <p:cNvSpPr/>
          <p:nvPr/>
        </p:nvSpPr>
        <p:spPr>
          <a:xfrm>
            <a:off x="984225" y="3249531"/>
            <a:ext cx="76198" cy="76198"/>
          </a:xfrm>
          <a:prstGeom prst="roundRect">
            <a:avLst>
              <a:gd name="adj" fmla="val 25000"/>
            </a:avLst>
          </a:prstGeom>
          <a:solidFill>
            <a:srgbClr val="22C2F4"/>
          </a:solidFill>
          <a:ln/>
        </p:spPr>
      </p:sp>
      <p:sp>
        <p:nvSpPr>
          <p:cNvPr id="14" name="Text 12"/>
          <p:cNvSpPr txBox="1"/>
          <p:nvPr/>
        </p:nvSpPr>
        <p:spPr>
          <a:xfrm>
            <a:off x="1174721" y="3166983"/>
            <a:ext cx="4787780"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guarde o endereço do seu workspace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dbc-….cloud.databricks.com</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cada conta tem o seu</a:t>
            </a:r>
            <a:endParaRPr lang="en-US" sz="1200" dirty="0"/>
          </a:p>
        </p:txBody>
      </p:sp>
      <p:sp>
        <p:nvSpPr>
          <p:cNvPr id="15" name="Shape 13"/>
          <p:cNvSpPr/>
          <p:nvPr/>
        </p:nvSpPr>
        <p:spPr>
          <a:xfrm>
            <a:off x="6191095" y="1582301"/>
            <a:ext cx="5238619" cy="2387243"/>
          </a:xfrm>
          <a:prstGeom prst="roundRect">
            <a:avLst>
              <a:gd name="adj" fmla="val 6384"/>
            </a:avLst>
          </a:prstGeom>
          <a:solidFill>
            <a:srgbClr val="1E1E24"/>
          </a:solidFill>
          <a:ln w="6350">
            <a:solidFill>
              <a:srgbClr val="2F2F39"/>
            </a:solidFill>
            <a:prstDash val="solid"/>
          </a:ln>
        </p:spPr>
      </p:sp>
      <p:sp>
        <p:nvSpPr>
          <p:cNvPr id="16" name="Shape 14"/>
          <p:cNvSpPr/>
          <p:nvPr/>
        </p:nvSpPr>
        <p:spPr>
          <a:xfrm>
            <a:off x="6413340" y="1779146"/>
            <a:ext cx="804346" cy="247644"/>
          </a:xfrm>
          <a:prstGeom prst="roundRect">
            <a:avLst>
              <a:gd name="adj" fmla="val 50000"/>
            </a:avLst>
          </a:prstGeom>
          <a:solidFill>
            <a:srgbClr val="22C2F4">
              <a:alpha val="14000"/>
            </a:srgbClr>
          </a:solidFill>
          <a:ln/>
        </p:spPr>
      </p:sp>
      <p:sp>
        <p:nvSpPr>
          <p:cNvPr id="17" name="Text 15"/>
          <p:cNvSpPr txBox="1"/>
          <p:nvPr/>
        </p:nvSpPr>
        <p:spPr>
          <a:xfrm>
            <a:off x="6502237" y="1817245"/>
            <a:ext cx="651613"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O que vem</a:t>
            </a:r>
            <a:endParaRPr lang="en-US" sz="900" dirty="0"/>
          </a:p>
        </p:txBody>
      </p:sp>
      <p:sp>
        <p:nvSpPr>
          <p:cNvPr id="18" name="Shape 16"/>
          <p:cNvSpPr/>
          <p:nvPr/>
        </p:nvSpPr>
        <p:spPr>
          <a:xfrm>
            <a:off x="6413340" y="2198236"/>
            <a:ext cx="76198" cy="76198"/>
          </a:xfrm>
          <a:prstGeom prst="roundRect">
            <a:avLst>
              <a:gd name="adj" fmla="val 25000"/>
            </a:avLst>
          </a:prstGeom>
          <a:solidFill>
            <a:srgbClr val="22C2F4"/>
          </a:solidFill>
          <a:ln/>
        </p:spPr>
      </p:sp>
      <p:sp>
        <p:nvSpPr>
          <p:cNvPr id="19" name="Text 17"/>
          <p:cNvSpPr txBox="1"/>
          <p:nvPr/>
        </p:nvSpPr>
        <p:spPr>
          <a:xfrm>
            <a:off x="6603835" y="2115688"/>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tudo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serverless</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o Databricks liga e desliga a máquina</a:t>
            </a:r>
            <a:endParaRPr lang="en-US" sz="1200" dirty="0"/>
          </a:p>
        </p:txBody>
      </p:sp>
      <p:sp>
        <p:nvSpPr>
          <p:cNvPr id="20" name="Shape 18"/>
          <p:cNvSpPr/>
          <p:nvPr/>
        </p:nvSpPr>
        <p:spPr>
          <a:xfrm>
            <a:off x="6413340" y="2480109"/>
            <a:ext cx="76198" cy="76198"/>
          </a:xfrm>
          <a:prstGeom prst="roundRect">
            <a:avLst>
              <a:gd name="adj" fmla="val 25000"/>
            </a:avLst>
          </a:prstGeom>
          <a:solidFill>
            <a:srgbClr val="22C2F4"/>
          </a:solidFill>
          <a:ln/>
        </p:spPr>
      </p:sp>
      <p:sp>
        <p:nvSpPr>
          <p:cNvPr id="21" name="Text 19"/>
          <p:cNvSpPr txBox="1"/>
          <p:nvPr/>
        </p:nvSpPr>
        <p:spPr>
          <a:xfrm>
            <a:off x="6603835" y="2397561"/>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1 SQL Warehouse (2X-Small), notebooks, jobs, pipelines</a:t>
            </a:r>
            <a:endParaRPr lang="en-US" sz="1200" dirty="0"/>
          </a:p>
        </p:txBody>
      </p:sp>
      <p:sp>
        <p:nvSpPr>
          <p:cNvPr id="22" name="Shape 20"/>
          <p:cNvSpPr/>
          <p:nvPr/>
        </p:nvSpPr>
        <p:spPr>
          <a:xfrm>
            <a:off x="6413340" y="2761983"/>
            <a:ext cx="76198" cy="76198"/>
          </a:xfrm>
          <a:prstGeom prst="roundRect">
            <a:avLst>
              <a:gd name="adj" fmla="val 25000"/>
            </a:avLst>
          </a:prstGeom>
          <a:solidFill>
            <a:srgbClr val="22C2F4"/>
          </a:solidFill>
          <a:ln/>
        </p:spPr>
      </p:sp>
      <p:sp>
        <p:nvSpPr>
          <p:cNvPr id="23" name="Text 21"/>
          <p:cNvSpPr txBox="1"/>
          <p:nvPr/>
        </p:nvSpPr>
        <p:spPr>
          <a:xfrm>
            <a:off x="6603835" y="2679435"/>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dashboards, Genie, funções de IA, Lakebase e até 3 apps</a:t>
            </a:r>
            <a:endParaRPr lang="en-US" sz="1200" dirty="0"/>
          </a:p>
        </p:txBody>
      </p:sp>
      <p:sp>
        <p:nvSpPr>
          <p:cNvPr id="24" name="Shape 22"/>
          <p:cNvSpPr/>
          <p:nvPr/>
        </p:nvSpPr>
        <p:spPr>
          <a:xfrm>
            <a:off x="6413340" y="3024806"/>
            <a:ext cx="678342" cy="247644"/>
          </a:xfrm>
          <a:prstGeom prst="roundRect">
            <a:avLst>
              <a:gd name="adj" fmla="val 50000"/>
            </a:avLst>
          </a:prstGeom>
          <a:solidFill>
            <a:srgbClr val="22C2F4">
              <a:alpha val="14000"/>
            </a:srgbClr>
          </a:solidFill>
          <a:ln/>
        </p:spPr>
      </p:sp>
      <p:sp>
        <p:nvSpPr>
          <p:cNvPr id="25" name="Text 23"/>
          <p:cNvSpPr txBox="1"/>
          <p:nvPr/>
        </p:nvSpPr>
        <p:spPr>
          <a:xfrm>
            <a:off x="6502237" y="3062905"/>
            <a:ext cx="520568"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Cuidado</a:t>
            </a:r>
            <a:endParaRPr lang="en-US" sz="900" dirty="0"/>
          </a:p>
        </p:txBody>
      </p:sp>
      <p:sp>
        <p:nvSpPr>
          <p:cNvPr id="26" name="Shape 24"/>
          <p:cNvSpPr/>
          <p:nvPr/>
        </p:nvSpPr>
        <p:spPr>
          <a:xfrm>
            <a:off x="6413340" y="3443896"/>
            <a:ext cx="76198" cy="76198"/>
          </a:xfrm>
          <a:prstGeom prst="roundRect">
            <a:avLst>
              <a:gd name="adj" fmla="val 25000"/>
            </a:avLst>
          </a:prstGeom>
          <a:solidFill>
            <a:srgbClr val="22C2F4"/>
          </a:solidFill>
          <a:ln/>
        </p:spPr>
      </p:sp>
      <p:sp>
        <p:nvSpPr>
          <p:cNvPr id="27" name="Text 25"/>
          <p:cNvSpPr txBox="1"/>
          <p:nvPr/>
        </p:nvSpPr>
        <p:spPr>
          <a:xfrm>
            <a:off x="6603835" y="3361348"/>
            <a:ext cx="4787780"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entrou e viu tudo vazio? Confira se é a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conta certa</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o login leva ao workspace da última conta usada</a:t>
            </a:r>
            <a:endParaRPr lang="en-US" sz="1200" dirty="0"/>
          </a:p>
        </p:txBody>
      </p:sp>
      <p:pic>
        <p:nvPicPr>
          <p:cNvPr id="28"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29" name="Text 26"/>
          <p:cNvSpPr txBox="1"/>
          <p:nvPr/>
        </p:nvSpPr>
        <p:spPr>
          <a:xfrm>
            <a:off x="10977586" y="6387940"/>
            <a:ext cx="470214"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18 / 133</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RECURSO DO DATABRICKS · O QUE O FREE EDITION NÃO TEM</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E o que fizemos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no lugar</a:t>
            </a:r>
            <a:endParaRPr lang="en-US" sz="3100" dirty="0"/>
          </a:p>
        </p:txBody>
      </p:sp>
      <p:sp>
        <p:nvSpPr>
          <p:cNvPr id="4" name="Shape 2"/>
          <p:cNvSpPr/>
          <p:nvPr/>
        </p:nvSpPr>
        <p:spPr>
          <a:xfrm>
            <a:off x="761981" y="1582301"/>
            <a:ext cx="5257669" cy="1705329"/>
          </a:xfrm>
          <a:prstGeom prst="roundRect">
            <a:avLst>
              <a:gd name="adj" fmla="val 8936"/>
            </a:avLst>
          </a:prstGeom>
          <a:solidFill>
            <a:srgbClr val="1E1E24"/>
          </a:solidFill>
          <a:ln w="6350">
            <a:solidFill>
              <a:srgbClr val="2F2F39"/>
            </a:solidFill>
            <a:prstDash val="solid"/>
          </a:ln>
        </p:spPr>
      </p:sp>
      <p:sp>
        <p:nvSpPr>
          <p:cNvPr id="5" name="Shape 3"/>
          <p:cNvSpPr/>
          <p:nvPr/>
        </p:nvSpPr>
        <p:spPr>
          <a:xfrm>
            <a:off x="984225" y="1779146"/>
            <a:ext cx="674075" cy="247644"/>
          </a:xfrm>
          <a:prstGeom prst="roundRect">
            <a:avLst>
              <a:gd name="adj" fmla="val 50000"/>
            </a:avLst>
          </a:prstGeom>
          <a:solidFill>
            <a:srgbClr val="22C2F4">
              <a:alpha val="14000"/>
            </a:srgbClr>
          </a:solidFill>
          <a:ln/>
        </p:spPr>
      </p:sp>
      <p:sp>
        <p:nvSpPr>
          <p:cNvPr id="6" name="Text 4"/>
          <p:cNvSpPr txBox="1"/>
          <p:nvPr/>
        </p:nvSpPr>
        <p:spPr>
          <a:xfrm>
            <a:off x="1073123" y="1817245"/>
            <a:ext cx="516131"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Não tem</a:t>
            </a:r>
            <a:endParaRPr lang="en-US" sz="900" dirty="0"/>
          </a:p>
        </p:txBody>
      </p:sp>
      <p:sp>
        <p:nvSpPr>
          <p:cNvPr id="7" name="Shape 5"/>
          <p:cNvSpPr/>
          <p:nvPr/>
        </p:nvSpPr>
        <p:spPr>
          <a:xfrm>
            <a:off x="984225" y="2198236"/>
            <a:ext cx="76198" cy="76198"/>
          </a:xfrm>
          <a:prstGeom prst="roundRect">
            <a:avLst>
              <a:gd name="adj" fmla="val 25000"/>
            </a:avLst>
          </a:prstGeom>
          <a:solidFill>
            <a:srgbClr val="22C2F4"/>
          </a:solidFill>
          <a:ln/>
        </p:spPr>
      </p:sp>
      <p:sp>
        <p:nvSpPr>
          <p:cNvPr id="8" name="Text 6"/>
          <p:cNvSpPr txBox="1"/>
          <p:nvPr/>
        </p:nvSpPr>
        <p:spPr>
          <a:xfrm>
            <a:off x="1174721" y="2115688"/>
            <a:ext cx="4807592"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cluster clássico</a:t>
            </a:r>
            <a:endParaRPr lang="en-US" sz="1200" dirty="0"/>
          </a:p>
        </p:txBody>
      </p:sp>
      <p:sp>
        <p:nvSpPr>
          <p:cNvPr id="9" name="Shape 7"/>
          <p:cNvSpPr/>
          <p:nvPr/>
        </p:nvSpPr>
        <p:spPr>
          <a:xfrm>
            <a:off x="984225" y="2480109"/>
            <a:ext cx="76198" cy="76198"/>
          </a:xfrm>
          <a:prstGeom prst="roundRect">
            <a:avLst>
              <a:gd name="adj" fmla="val 25000"/>
            </a:avLst>
          </a:prstGeom>
          <a:solidFill>
            <a:srgbClr val="22C2F4"/>
          </a:solidFill>
          <a:ln/>
        </p:spPr>
      </p:sp>
      <p:sp>
        <p:nvSpPr>
          <p:cNvPr id="10" name="Text 8"/>
          <p:cNvSpPr txBox="1"/>
          <p:nvPr/>
        </p:nvSpPr>
        <p:spPr>
          <a:xfrm>
            <a:off x="1174721" y="2397561"/>
            <a:ext cx="4807592"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endpoint de modelo próprio (só Foundation Models)</a:t>
            </a:r>
            <a:endParaRPr lang="en-US" sz="1200" dirty="0"/>
          </a:p>
        </p:txBody>
      </p:sp>
      <p:sp>
        <p:nvSpPr>
          <p:cNvPr id="11" name="Shape 9"/>
          <p:cNvSpPr/>
          <p:nvPr/>
        </p:nvSpPr>
        <p:spPr>
          <a:xfrm>
            <a:off x="984225" y="2761983"/>
            <a:ext cx="76198" cy="76198"/>
          </a:xfrm>
          <a:prstGeom prst="roundRect">
            <a:avLst>
              <a:gd name="adj" fmla="val 25000"/>
            </a:avLst>
          </a:prstGeom>
          <a:solidFill>
            <a:srgbClr val="22C2F4"/>
          </a:solidFill>
          <a:ln/>
        </p:spPr>
      </p:sp>
      <p:sp>
        <p:nvSpPr>
          <p:cNvPr id="12" name="Text 10"/>
          <p:cNvSpPr txBox="1"/>
          <p:nvPr/>
        </p:nvSpPr>
        <p:spPr>
          <a:xfrm>
            <a:off x="1174721" y="2679435"/>
            <a:ext cx="4807592"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Knowledge Assistant e Supervisor Agent</a:t>
            </a:r>
            <a:endParaRPr lang="en-US" sz="1200" dirty="0"/>
          </a:p>
        </p:txBody>
      </p:sp>
      <p:sp>
        <p:nvSpPr>
          <p:cNvPr id="13" name="Shape 11"/>
          <p:cNvSpPr/>
          <p:nvPr/>
        </p:nvSpPr>
        <p:spPr>
          <a:xfrm>
            <a:off x="6172046" y="1582301"/>
            <a:ext cx="5257669" cy="1705329"/>
          </a:xfrm>
          <a:prstGeom prst="roundRect">
            <a:avLst>
              <a:gd name="adj" fmla="val 8936"/>
            </a:avLst>
          </a:prstGeom>
          <a:solidFill>
            <a:srgbClr val="0059DB"/>
          </a:solidFill>
          <a:ln/>
        </p:spPr>
      </p:sp>
      <p:sp>
        <p:nvSpPr>
          <p:cNvPr id="14" name="Shape 12"/>
          <p:cNvSpPr/>
          <p:nvPr/>
        </p:nvSpPr>
        <p:spPr>
          <a:xfrm>
            <a:off x="6394290" y="1779146"/>
            <a:ext cx="1031750" cy="247644"/>
          </a:xfrm>
          <a:prstGeom prst="roundRect">
            <a:avLst>
              <a:gd name="adj" fmla="val 50000"/>
            </a:avLst>
          </a:prstGeom>
          <a:solidFill>
            <a:srgbClr val="FFFFFF">
              <a:alpha val="16000"/>
            </a:srgbClr>
          </a:solidFill>
          <a:ln/>
        </p:spPr>
      </p:sp>
      <p:sp>
        <p:nvSpPr>
          <p:cNvPr id="15" name="Text 13"/>
          <p:cNvSpPr txBox="1"/>
          <p:nvPr/>
        </p:nvSpPr>
        <p:spPr>
          <a:xfrm>
            <a:off x="6483188" y="1817245"/>
            <a:ext cx="888113"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Fizemos assim</a:t>
            </a:r>
            <a:endParaRPr lang="en-US" sz="900" dirty="0"/>
          </a:p>
        </p:txBody>
      </p:sp>
      <p:sp>
        <p:nvSpPr>
          <p:cNvPr id="16" name="Shape 14"/>
          <p:cNvSpPr/>
          <p:nvPr/>
        </p:nvSpPr>
        <p:spPr>
          <a:xfrm>
            <a:off x="6394290" y="2198236"/>
            <a:ext cx="76198" cy="76198"/>
          </a:xfrm>
          <a:prstGeom prst="roundRect">
            <a:avLst>
              <a:gd name="adj" fmla="val 25000"/>
            </a:avLst>
          </a:prstGeom>
          <a:solidFill>
            <a:srgbClr val="22C2F4"/>
          </a:solidFill>
          <a:ln/>
        </p:spPr>
      </p:sp>
      <p:sp>
        <p:nvSpPr>
          <p:cNvPr id="17" name="Text 15"/>
          <p:cNvSpPr txBox="1"/>
          <p:nvPr/>
        </p:nvSpPr>
        <p:spPr>
          <a:xfrm>
            <a:off x="6584785" y="2115688"/>
            <a:ext cx="4807592"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tudo em serverless</a:t>
            </a:r>
            <a:endParaRPr lang="en-US" sz="1200" dirty="0"/>
          </a:p>
        </p:txBody>
      </p:sp>
      <p:sp>
        <p:nvSpPr>
          <p:cNvPr id="18" name="Shape 16"/>
          <p:cNvSpPr/>
          <p:nvPr/>
        </p:nvSpPr>
        <p:spPr>
          <a:xfrm>
            <a:off x="6394290" y="2480109"/>
            <a:ext cx="76198" cy="76198"/>
          </a:xfrm>
          <a:prstGeom prst="roundRect">
            <a:avLst>
              <a:gd name="adj" fmla="val 25000"/>
            </a:avLst>
          </a:prstGeom>
          <a:solidFill>
            <a:srgbClr val="22C2F4"/>
          </a:solidFill>
          <a:ln/>
        </p:spPr>
      </p:sp>
      <p:sp>
        <p:nvSpPr>
          <p:cNvPr id="19" name="Text 17"/>
          <p:cNvSpPr txBox="1"/>
          <p:nvPr/>
        </p:nvSpPr>
        <p:spPr>
          <a:xfrm>
            <a:off x="6584785" y="2397561"/>
            <a:ext cx="4807592"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score do modelo em lote, gravado na gold</a:t>
            </a:r>
            <a:endParaRPr lang="en-US" sz="1200" dirty="0"/>
          </a:p>
        </p:txBody>
      </p:sp>
      <p:sp>
        <p:nvSpPr>
          <p:cNvPr id="20" name="Shape 18"/>
          <p:cNvSpPr/>
          <p:nvPr/>
        </p:nvSpPr>
        <p:spPr>
          <a:xfrm>
            <a:off x="6394290" y="2761983"/>
            <a:ext cx="76198" cy="76198"/>
          </a:xfrm>
          <a:prstGeom prst="roundRect">
            <a:avLst>
              <a:gd name="adj" fmla="val 25000"/>
            </a:avLst>
          </a:prstGeom>
          <a:solidFill>
            <a:srgbClr val="22C2F4"/>
          </a:solidFill>
          <a:ln/>
        </p:spPr>
      </p:sp>
      <p:sp>
        <p:nvSpPr>
          <p:cNvPr id="21" name="Text 19"/>
          <p:cNvSpPr txBox="1"/>
          <p:nvPr/>
        </p:nvSpPr>
        <p:spPr>
          <a:xfrm>
            <a:off x="6584785" y="2679435"/>
            <a:ext cx="4807592"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contratos viram a </a:t>
            </a:r>
            <a:pPr algn="l" indent="0" marL="0">
              <a:lnSpc>
                <a:spcPct val="115385"/>
              </a:lnSpc>
              <a:buNone/>
            </a:pPr>
            <a:r>
              <a:rPr lang="en-US" sz="1200" dirty="0">
                <a:solidFill>
                  <a:srgbClr val="E6E8F2"/>
                </a:solidFill>
                <a:latin typeface="Courier New" pitchFamily="34" charset="0"/>
                <a:ea typeface="Courier New" pitchFamily="34" charset="-122"/>
                <a:cs typeface="Courier New" pitchFamily="34" charset="-120"/>
              </a:rPr>
              <a:t>gold.contratos</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no Genie "Diretoria + Contratos"</a:t>
            </a:r>
            <a:endParaRPr lang="en-US" sz="1200" dirty="0"/>
          </a:p>
        </p:txBody>
      </p:sp>
      <p:sp>
        <p:nvSpPr>
          <p:cNvPr id="22" name="Shape 20"/>
          <p:cNvSpPr/>
          <p:nvPr/>
        </p:nvSpPr>
        <p:spPr>
          <a:xfrm>
            <a:off x="761981" y="3452726"/>
            <a:ext cx="25399" cy="285743"/>
          </a:xfrm>
          <a:prstGeom prst="rect">
            <a:avLst/>
          </a:prstGeom>
          <a:solidFill>
            <a:srgbClr val="22C2F4"/>
          </a:solidFill>
          <a:ln/>
        </p:spPr>
      </p:sp>
      <p:sp>
        <p:nvSpPr>
          <p:cNvPr id="23" name="Text 21"/>
          <p:cNvSpPr txBox="1"/>
          <p:nvPr/>
        </p:nvSpPr>
        <p:spPr>
          <a:xfrm>
            <a:off x="914377" y="3490825"/>
            <a:ext cx="10935951" cy="209545"/>
          </a:xfrm>
          <a:prstGeom prst="rect">
            <a:avLst/>
          </a:prstGeom>
          <a:noFill/>
          <a:ln/>
        </p:spPr>
        <p:txBody>
          <a:bodyPr wrap="square" lIns="0" tIns="0" rIns="0" bIns="0" rtlCol="0" anchor="t"/>
          <a:lstStyle/>
          <a:p>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Na empresa, os mesmos arquivos rodam iguais: o bundle só troca o profile.</a:t>
            </a:r>
            <a:endParaRPr lang="en-US" sz="1100" dirty="0"/>
          </a:p>
        </p:txBody>
      </p:sp>
      <p:pic>
        <p:nvPicPr>
          <p:cNvPr id="24"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25" name="Text 22"/>
          <p:cNvSpPr txBox="1"/>
          <p:nvPr/>
        </p:nvSpPr>
        <p:spPr>
          <a:xfrm>
            <a:off x="10977983" y="6387940"/>
            <a:ext cx="469801"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19 / 133</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NIVELAMENTO · DATABRICKS · COMO SE USA</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O menu da esquerda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é o mapa da semana</a:t>
            </a:r>
            <a:endParaRPr lang="en-US" sz="3100" dirty="0"/>
          </a:p>
        </p:txBody>
      </p:sp>
      <p:sp>
        <p:nvSpPr>
          <p:cNvPr id="4" name="Text 2"/>
          <p:cNvSpPr txBox="1"/>
          <p:nvPr/>
        </p:nvSpPr>
        <p:spPr>
          <a:xfrm>
            <a:off x="876278" y="1582301"/>
            <a:ext cx="3087293" cy="171446"/>
          </a:xfrm>
          <a:prstGeom prst="rect">
            <a:avLst/>
          </a:prstGeom>
          <a:noFill/>
          <a:ln/>
        </p:spPr>
        <p:txBody>
          <a:bodyPr wrap="square" lIns="0" tIns="0" rIns="0" bIns="0" rtlCol="0" anchor="t"/>
          <a:lstStyle/>
          <a:p>
            <a:pPr algn="l"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NO MENU</a:t>
            </a:r>
            <a:endParaRPr lang="en-US" sz="900" dirty="0"/>
          </a:p>
        </p:txBody>
      </p:sp>
      <p:sp>
        <p:nvSpPr>
          <p:cNvPr id="5" name="Text 3"/>
          <p:cNvSpPr txBox="1"/>
          <p:nvPr/>
        </p:nvSpPr>
        <p:spPr>
          <a:xfrm>
            <a:off x="4073423" y="1582301"/>
            <a:ext cx="6013204" cy="171446"/>
          </a:xfrm>
          <a:prstGeom prst="rect">
            <a:avLst/>
          </a:prstGeom>
          <a:noFill/>
          <a:ln/>
        </p:spPr>
        <p:txBody>
          <a:bodyPr wrap="square" lIns="0" tIns="0" rIns="0" bIns="0" rtlCol="0" anchor="t"/>
          <a:lstStyle/>
          <a:p>
            <a:pPr algn="l"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PARA QUE SERVE</a:t>
            </a:r>
            <a:endParaRPr lang="en-US" sz="900" dirty="0"/>
          </a:p>
        </p:txBody>
      </p:sp>
      <p:sp>
        <p:nvSpPr>
          <p:cNvPr id="6" name="Text 4"/>
          <p:cNvSpPr txBox="1"/>
          <p:nvPr/>
        </p:nvSpPr>
        <p:spPr>
          <a:xfrm>
            <a:off x="10083945" y="1582301"/>
            <a:ext cx="1280731" cy="171446"/>
          </a:xfrm>
          <a:prstGeom prst="rect">
            <a:avLst/>
          </a:prstGeom>
          <a:noFill/>
          <a:ln/>
        </p:spPr>
        <p:txBody>
          <a:bodyPr wrap="square" lIns="0" tIns="0" rIns="0" bIns="0" rtlCol="0" anchor="t"/>
          <a:lstStyle/>
          <a:p>
            <a:pPr algn="l"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NOITE</a:t>
            </a:r>
            <a:endParaRPr lang="en-US" sz="900" dirty="0"/>
          </a:p>
        </p:txBody>
      </p:sp>
      <p:sp>
        <p:nvSpPr>
          <p:cNvPr id="7" name="Shape 5"/>
          <p:cNvSpPr/>
          <p:nvPr/>
        </p:nvSpPr>
        <p:spPr>
          <a:xfrm>
            <a:off x="761981" y="1880744"/>
            <a:ext cx="3197145" cy="384761"/>
          </a:xfrm>
          <a:prstGeom prst="rect">
            <a:avLst/>
          </a:prstGeom>
          <a:solidFill>
            <a:srgbClr val="1E1E24"/>
          </a:solidFill>
          <a:ln/>
        </p:spPr>
      </p:sp>
      <p:sp>
        <p:nvSpPr>
          <p:cNvPr id="8" name="Text 6"/>
          <p:cNvSpPr txBox="1"/>
          <p:nvPr/>
        </p:nvSpPr>
        <p:spPr>
          <a:xfrm>
            <a:off x="876278" y="1982341"/>
            <a:ext cx="3087293" cy="181566"/>
          </a:xfrm>
          <a:prstGeom prst="rect">
            <a:avLst/>
          </a:prstGeom>
          <a:noFill/>
          <a:ln/>
        </p:spPr>
        <p:txBody>
          <a:bodyPr wrap="square" lIns="0" tIns="0" rIns="0" bIns="0" rtlCol="0" anchor="t"/>
          <a:lstStyle/>
          <a:p>
            <a:pPr algn="l" indent="0" marL="0">
              <a:lnSpc>
                <a:spcPct val="111111"/>
              </a:lnSpc>
              <a:buNone/>
            </a:pPr>
            <a:r>
              <a:rPr lang="en-US" sz="1100" b="1" dirty="0">
                <a:solidFill>
                  <a:srgbClr val="F5F6FC"/>
                </a:solidFill>
                <a:latin typeface="Poppins" pitchFamily="34" charset="0"/>
                <a:ea typeface="Poppins" pitchFamily="34" charset="-122"/>
                <a:cs typeface="Poppins" pitchFamily="34" charset="-120"/>
              </a:rPr>
              <a:t>Catalog</a:t>
            </a:r>
            <a:endParaRPr lang="en-US" sz="1100" dirty="0"/>
          </a:p>
        </p:txBody>
      </p:sp>
      <p:sp>
        <p:nvSpPr>
          <p:cNvPr id="9" name="Shape 7"/>
          <p:cNvSpPr/>
          <p:nvPr/>
        </p:nvSpPr>
        <p:spPr>
          <a:xfrm>
            <a:off x="3959126" y="1880744"/>
            <a:ext cx="6010522" cy="384761"/>
          </a:xfrm>
          <a:prstGeom prst="rect">
            <a:avLst/>
          </a:prstGeom>
          <a:solidFill>
            <a:srgbClr val="1E1E24"/>
          </a:solidFill>
          <a:ln/>
        </p:spPr>
      </p:sp>
      <p:sp>
        <p:nvSpPr>
          <p:cNvPr id="10" name="Text 8"/>
          <p:cNvSpPr txBox="1"/>
          <p:nvPr/>
        </p:nvSpPr>
        <p:spPr>
          <a:xfrm>
            <a:off x="4073423" y="1982341"/>
            <a:ext cx="6013204"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ver catálogos, schemas, tabelas e volumes; subir arquivo</a:t>
            </a:r>
            <a:endParaRPr lang="en-US" sz="1100" dirty="0"/>
          </a:p>
        </p:txBody>
      </p:sp>
      <p:sp>
        <p:nvSpPr>
          <p:cNvPr id="11" name="Shape 9"/>
          <p:cNvSpPr/>
          <p:nvPr/>
        </p:nvSpPr>
        <p:spPr>
          <a:xfrm>
            <a:off x="9969648" y="1880744"/>
            <a:ext cx="1460067" cy="384761"/>
          </a:xfrm>
          <a:prstGeom prst="rect">
            <a:avLst/>
          </a:prstGeom>
          <a:solidFill>
            <a:srgbClr val="1E1E24"/>
          </a:solidFill>
          <a:ln/>
        </p:spPr>
      </p:sp>
      <p:sp>
        <p:nvSpPr>
          <p:cNvPr id="12" name="Text 10"/>
          <p:cNvSpPr txBox="1"/>
          <p:nvPr/>
        </p:nvSpPr>
        <p:spPr>
          <a:xfrm>
            <a:off x="10083945" y="1982341"/>
            <a:ext cx="1280731"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1 em diante</a:t>
            </a:r>
            <a:endParaRPr lang="en-US" sz="1100" dirty="0"/>
          </a:p>
        </p:txBody>
      </p:sp>
      <p:sp>
        <p:nvSpPr>
          <p:cNvPr id="13" name="Shape 11"/>
          <p:cNvSpPr/>
          <p:nvPr/>
        </p:nvSpPr>
        <p:spPr>
          <a:xfrm>
            <a:off x="761981" y="2316303"/>
            <a:ext cx="3197145" cy="384761"/>
          </a:xfrm>
          <a:prstGeom prst="rect">
            <a:avLst/>
          </a:prstGeom>
          <a:solidFill>
            <a:srgbClr val="1E1E24"/>
          </a:solidFill>
          <a:ln/>
        </p:spPr>
      </p:sp>
      <p:sp>
        <p:nvSpPr>
          <p:cNvPr id="14" name="Text 12"/>
          <p:cNvSpPr txBox="1"/>
          <p:nvPr/>
        </p:nvSpPr>
        <p:spPr>
          <a:xfrm>
            <a:off x="876278" y="2417900"/>
            <a:ext cx="3087293" cy="181566"/>
          </a:xfrm>
          <a:prstGeom prst="rect">
            <a:avLst/>
          </a:prstGeom>
          <a:noFill/>
          <a:ln/>
        </p:spPr>
        <p:txBody>
          <a:bodyPr wrap="square" lIns="0" tIns="0" rIns="0" bIns="0" rtlCol="0" anchor="t"/>
          <a:lstStyle/>
          <a:p>
            <a:pPr algn="l" indent="0" marL="0">
              <a:lnSpc>
                <a:spcPct val="111111"/>
              </a:lnSpc>
              <a:buNone/>
            </a:pPr>
            <a:r>
              <a:rPr lang="en-US" sz="1100" b="1" dirty="0">
                <a:solidFill>
                  <a:srgbClr val="F5F6FC"/>
                </a:solidFill>
                <a:latin typeface="Poppins" pitchFamily="34" charset="0"/>
                <a:ea typeface="Poppins" pitchFamily="34" charset="-122"/>
                <a:cs typeface="Poppins" pitchFamily="34" charset="-120"/>
              </a:rPr>
              <a:t>SQL Editor</a:t>
            </a:r>
            <a:endParaRPr lang="en-US" sz="1100" dirty="0"/>
          </a:p>
        </p:txBody>
      </p:sp>
      <p:sp>
        <p:nvSpPr>
          <p:cNvPr id="15" name="Shape 13"/>
          <p:cNvSpPr/>
          <p:nvPr/>
        </p:nvSpPr>
        <p:spPr>
          <a:xfrm>
            <a:off x="3959126" y="2316303"/>
            <a:ext cx="6010522" cy="384761"/>
          </a:xfrm>
          <a:prstGeom prst="rect">
            <a:avLst/>
          </a:prstGeom>
          <a:solidFill>
            <a:srgbClr val="1E1E24"/>
          </a:solidFill>
          <a:ln/>
        </p:spPr>
      </p:sp>
      <p:sp>
        <p:nvSpPr>
          <p:cNvPr id="16" name="Text 14"/>
          <p:cNvSpPr txBox="1"/>
          <p:nvPr/>
        </p:nvSpPr>
        <p:spPr>
          <a:xfrm>
            <a:off x="4073423" y="2417900"/>
            <a:ext cx="6013204"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escrever e rodar SQL</a:t>
            </a:r>
            <a:endParaRPr lang="en-US" sz="1100" dirty="0"/>
          </a:p>
        </p:txBody>
      </p:sp>
      <p:sp>
        <p:nvSpPr>
          <p:cNvPr id="17" name="Shape 15"/>
          <p:cNvSpPr/>
          <p:nvPr/>
        </p:nvSpPr>
        <p:spPr>
          <a:xfrm>
            <a:off x="9969648" y="2316303"/>
            <a:ext cx="1460067" cy="384761"/>
          </a:xfrm>
          <a:prstGeom prst="rect">
            <a:avLst/>
          </a:prstGeom>
          <a:solidFill>
            <a:srgbClr val="1E1E24"/>
          </a:solidFill>
          <a:ln/>
        </p:spPr>
      </p:sp>
      <p:sp>
        <p:nvSpPr>
          <p:cNvPr id="18" name="Text 16"/>
          <p:cNvSpPr txBox="1"/>
          <p:nvPr/>
        </p:nvSpPr>
        <p:spPr>
          <a:xfrm>
            <a:off x="10083945" y="2417900"/>
            <a:ext cx="1280731"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1</a:t>
            </a:r>
            <a:endParaRPr lang="en-US" sz="1100" dirty="0"/>
          </a:p>
        </p:txBody>
      </p:sp>
      <p:sp>
        <p:nvSpPr>
          <p:cNvPr id="19" name="Shape 17"/>
          <p:cNvSpPr/>
          <p:nvPr/>
        </p:nvSpPr>
        <p:spPr>
          <a:xfrm>
            <a:off x="761981" y="2751862"/>
            <a:ext cx="3197145" cy="384761"/>
          </a:xfrm>
          <a:prstGeom prst="rect">
            <a:avLst/>
          </a:prstGeom>
          <a:solidFill>
            <a:srgbClr val="1E1E24"/>
          </a:solidFill>
          <a:ln/>
        </p:spPr>
      </p:sp>
      <p:sp>
        <p:nvSpPr>
          <p:cNvPr id="20" name="Text 18"/>
          <p:cNvSpPr txBox="1"/>
          <p:nvPr/>
        </p:nvSpPr>
        <p:spPr>
          <a:xfrm>
            <a:off x="876278" y="2853460"/>
            <a:ext cx="3087293" cy="181566"/>
          </a:xfrm>
          <a:prstGeom prst="rect">
            <a:avLst/>
          </a:prstGeom>
          <a:noFill/>
          <a:ln/>
        </p:spPr>
        <p:txBody>
          <a:bodyPr wrap="square" lIns="0" tIns="0" rIns="0" bIns="0" rtlCol="0" anchor="t"/>
          <a:lstStyle/>
          <a:p>
            <a:pPr algn="l" indent="0" marL="0">
              <a:lnSpc>
                <a:spcPct val="111111"/>
              </a:lnSpc>
              <a:buNone/>
            </a:pPr>
            <a:r>
              <a:rPr lang="en-US" sz="1100" b="1" dirty="0">
                <a:solidFill>
                  <a:srgbClr val="F5F6FC"/>
                </a:solidFill>
                <a:latin typeface="Poppins" pitchFamily="34" charset="0"/>
                <a:ea typeface="Poppins" pitchFamily="34" charset="-122"/>
                <a:cs typeface="Poppins" pitchFamily="34" charset="-120"/>
              </a:rPr>
              <a:t>Dashboards</a:t>
            </a:r>
            <a:endParaRPr lang="en-US" sz="1100" dirty="0"/>
          </a:p>
        </p:txBody>
      </p:sp>
      <p:sp>
        <p:nvSpPr>
          <p:cNvPr id="21" name="Shape 19"/>
          <p:cNvSpPr/>
          <p:nvPr/>
        </p:nvSpPr>
        <p:spPr>
          <a:xfrm>
            <a:off x="3959126" y="2751862"/>
            <a:ext cx="6010522" cy="384761"/>
          </a:xfrm>
          <a:prstGeom prst="rect">
            <a:avLst/>
          </a:prstGeom>
          <a:solidFill>
            <a:srgbClr val="1E1E24"/>
          </a:solidFill>
          <a:ln/>
        </p:spPr>
      </p:sp>
      <p:sp>
        <p:nvSpPr>
          <p:cNvPr id="22" name="Text 20"/>
          <p:cNvSpPr txBox="1"/>
          <p:nvPr/>
        </p:nvSpPr>
        <p:spPr>
          <a:xfrm>
            <a:off x="4073423" y="2853460"/>
            <a:ext cx="6013204"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montar e publicar painéis</a:t>
            </a:r>
            <a:endParaRPr lang="en-US" sz="1100" dirty="0"/>
          </a:p>
        </p:txBody>
      </p:sp>
      <p:sp>
        <p:nvSpPr>
          <p:cNvPr id="23" name="Shape 21"/>
          <p:cNvSpPr/>
          <p:nvPr/>
        </p:nvSpPr>
        <p:spPr>
          <a:xfrm>
            <a:off x="9969648" y="2751862"/>
            <a:ext cx="1460067" cy="384761"/>
          </a:xfrm>
          <a:prstGeom prst="rect">
            <a:avLst/>
          </a:prstGeom>
          <a:solidFill>
            <a:srgbClr val="1E1E24"/>
          </a:solidFill>
          <a:ln/>
        </p:spPr>
      </p:sp>
      <p:sp>
        <p:nvSpPr>
          <p:cNvPr id="24" name="Text 22"/>
          <p:cNvSpPr txBox="1"/>
          <p:nvPr/>
        </p:nvSpPr>
        <p:spPr>
          <a:xfrm>
            <a:off x="10083945" y="2853460"/>
            <a:ext cx="1280731"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1 e 2</a:t>
            </a:r>
            <a:endParaRPr lang="en-US" sz="1100" dirty="0"/>
          </a:p>
        </p:txBody>
      </p:sp>
      <p:sp>
        <p:nvSpPr>
          <p:cNvPr id="25" name="Shape 23"/>
          <p:cNvSpPr/>
          <p:nvPr/>
        </p:nvSpPr>
        <p:spPr>
          <a:xfrm>
            <a:off x="761981" y="3187422"/>
            <a:ext cx="3197145" cy="384761"/>
          </a:xfrm>
          <a:prstGeom prst="rect">
            <a:avLst/>
          </a:prstGeom>
          <a:solidFill>
            <a:srgbClr val="1E1E24"/>
          </a:solidFill>
          <a:ln/>
        </p:spPr>
      </p:sp>
      <p:sp>
        <p:nvSpPr>
          <p:cNvPr id="26" name="Text 24"/>
          <p:cNvSpPr txBox="1"/>
          <p:nvPr/>
        </p:nvSpPr>
        <p:spPr>
          <a:xfrm>
            <a:off x="876278" y="3289019"/>
            <a:ext cx="3087293" cy="181566"/>
          </a:xfrm>
          <a:prstGeom prst="rect">
            <a:avLst/>
          </a:prstGeom>
          <a:noFill/>
          <a:ln/>
        </p:spPr>
        <p:txBody>
          <a:bodyPr wrap="square" lIns="0" tIns="0" rIns="0" bIns="0" rtlCol="0" anchor="t"/>
          <a:lstStyle/>
          <a:p>
            <a:pPr algn="l" indent="0" marL="0">
              <a:lnSpc>
                <a:spcPct val="111111"/>
              </a:lnSpc>
              <a:buNone/>
            </a:pPr>
            <a:r>
              <a:rPr lang="en-US" sz="1100" b="1" dirty="0">
                <a:solidFill>
                  <a:srgbClr val="F5F6FC"/>
                </a:solidFill>
                <a:latin typeface="Poppins" pitchFamily="34" charset="0"/>
                <a:ea typeface="Poppins" pitchFamily="34" charset="-122"/>
                <a:cs typeface="Poppins" pitchFamily="34" charset="-120"/>
              </a:rPr>
              <a:t>Genie Agents</a:t>
            </a:r>
            <a:endParaRPr lang="en-US" sz="1100" dirty="0"/>
          </a:p>
        </p:txBody>
      </p:sp>
      <p:sp>
        <p:nvSpPr>
          <p:cNvPr id="27" name="Shape 25"/>
          <p:cNvSpPr/>
          <p:nvPr/>
        </p:nvSpPr>
        <p:spPr>
          <a:xfrm>
            <a:off x="3959126" y="3187422"/>
            <a:ext cx="6010522" cy="384761"/>
          </a:xfrm>
          <a:prstGeom prst="rect">
            <a:avLst/>
          </a:prstGeom>
          <a:solidFill>
            <a:srgbClr val="1E1E24"/>
          </a:solidFill>
          <a:ln/>
        </p:spPr>
      </p:sp>
      <p:sp>
        <p:nvSpPr>
          <p:cNvPr id="28" name="Text 26"/>
          <p:cNvSpPr txBox="1"/>
          <p:nvPr/>
        </p:nvSpPr>
        <p:spPr>
          <a:xfrm>
            <a:off x="4073423" y="3289019"/>
            <a:ext cx="6013204"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perguntar em português para os dados</a:t>
            </a:r>
            <a:endParaRPr lang="en-US" sz="1100" dirty="0"/>
          </a:p>
        </p:txBody>
      </p:sp>
      <p:sp>
        <p:nvSpPr>
          <p:cNvPr id="29" name="Shape 27"/>
          <p:cNvSpPr/>
          <p:nvPr/>
        </p:nvSpPr>
        <p:spPr>
          <a:xfrm>
            <a:off x="9969648" y="3187422"/>
            <a:ext cx="1460067" cy="384761"/>
          </a:xfrm>
          <a:prstGeom prst="rect">
            <a:avLst/>
          </a:prstGeom>
          <a:solidFill>
            <a:srgbClr val="1E1E24"/>
          </a:solidFill>
          <a:ln/>
        </p:spPr>
      </p:sp>
      <p:sp>
        <p:nvSpPr>
          <p:cNvPr id="30" name="Text 28"/>
          <p:cNvSpPr txBox="1"/>
          <p:nvPr/>
        </p:nvSpPr>
        <p:spPr>
          <a:xfrm>
            <a:off x="10083945" y="3289019"/>
            <a:ext cx="1280731"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1, 2 e 4</a:t>
            </a:r>
            <a:endParaRPr lang="en-US" sz="1100" dirty="0"/>
          </a:p>
        </p:txBody>
      </p:sp>
      <p:sp>
        <p:nvSpPr>
          <p:cNvPr id="31" name="Shape 29"/>
          <p:cNvSpPr/>
          <p:nvPr/>
        </p:nvSpPr>
        <p:spPr>
          <a:xfrm>
            <a:off x="761981" y="3622981"/>
            <a:ext cx="3197145" cy="384761"/>
          </a:xfrm>
          <a:prstGeom prst="rect">
            <a:avLst/>
          </a:prstGeom>
          <a:solidFill>
            <a:srgbClr val="1E1E24"/>
          </a:solidFill>
          <a:ln/>
        </p:spPr>
      </p:sp>
      <p:sp>
        <p:nvSpPr>
          <p:cNvPr id="32" name="Text 30"/>
          <p:cNvSpPr txBox="1"/>
          <p:nvPr/>
        </p:nvSpPr>
        <p:spPr>
          <a:xfrm>
            <a:off x="876278" y="3724579"/>
            <a:ext cx="3087293" cy="181566"/>
          </a:xfrm>
          <a:prstGeom prst="rect">
            <a:avLst/>
          </a:prstGeom>
          <a:noFill/>
          <a:ln/>
        </p:spPr>
        <p:txBody>
          <a:bodyPr wrap="square" lIns="0" tIns="0" rIns="0" bIns="0" rtlCol="0" anchor="t"/>
          <a:lstStyle/>
          <a:p>
            <a:pPr algn="l" indent="0" marL="0">
              <a:lnSpc>
                <a:spcPct val="111111"/>
              </a:lnSpc>
              <a:buNone/>
            </a:pPr>
            <a:r>
              <a:rPr lang="en-US" sz="1100" b="1" dirty="0">
                <a:solidFill>
                  <a:srgbClr val="F5F6FC"/>
                </a:solidFill>
                <a:latin typeface="Poppins" pitchFamily="34" charset="0"/>
                <a:ea typeface="Poppins" pitchFamily="34" charset="-122"/>
                <a:cs typeface="Poppins" pitchFamily="34" charset="-120"/>
              </a:rPr>
              <a:t>Jobs &amp; Pipelines</a:t>
            </a:r>
            <a:endParaRPr lang="en-US" sz="1100" dirty="0"/>
          </a:p>
        </p:txBody>
      </p:sp>
      <p:sp>
        <p:nvSpPr>
          <p:cNvPr id="33" name="Shape 31"/>
          <p:cNvSpPr/>
          <p:nvPr/>
        </p:nvSpPr>
        <p:spPr>
          <a:xfrm>
            <a:off x="3959126" y="3622981"/>
            <a:ext cx="6010522" cy="384761"/>
          </a:xfrm>
          <a:prstGeom prst="rect">
            <a:avLst/>
          </a:prstGeom>
          <a:solidFill>
            <a:srgbClr val="1E1E24"/>
          </a:solidFill>
          <a:ln/>
        </p:spPr>
      </p:sp>
      <p:sp>
        <p:nvSpPr>
          <p:cNvPr id="34" name="Text 32"/>
          <p:cNvSpPr txBox="1"/>
          <p:nvPr/>
        </p:nvSpPr>
        <p:spPr>
          <a:xfrm>
            <a:off x="4073423" y="3724579"/>
            <a:ext cx="6013204"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o que roda sozinho, com agenda</a:t>
            </a:r>
            <a:endParaRPr lang="en-US" sz="1100" dirty="0"/>
          </a:p>
        </p:txBody>
      </p:sp>
      <p:sp>
        <p:nvSpPr>
          <p:cNvPr id="35" name="Shape 33"/>
          <p:cNvSpPr/>
          <p:nvPr/>
        </p:nvSpPr>
        <p:spPr>
          <a:xfrm>
            <a:off x="9969648" y="3622981"/>
            <a:ext cx="1460067" cy="384761"/>
          </a:xfrm>
          <a:prstGeom prst="rect">
            <a:avLst/>
          </a:prstGeom>
          <a:solidFill>
            <a:srgbClr val="1E1E24"/>
          </a:solidFill>
          <a:ln/>
        </p:spPr>
      </p:sp>
      <p:sp>
        <p:nvSpPr>
          <p:cNvPr id="36" name="Text 34"/>
          <p:cNvSpPr txBox="1"/>
          <p:nvPr/>
        </p:nvSpPr>
        <p:spPr>
          <a:xfrm>
            <a:off x="10083945" y="3724579"/>
            <a:ext cx="1280731"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2 e 3</a:t>
            </a:r>
            <a:endParaRPr lang="en-US" sz="1100" dirty="0"/>
          </a:p>
        </p:txBody>
      </p:sp>
      <p:sp>
        <p:nvSpPr>
          <p:cNvPr id="37" name="Shape 35"/>
          <p:cNvSpPr/>
          <p:nvPr/>
        </p:nvSpPr>
        <p:spPr>
          <a:xfrm>
            <a:off x="761981" y="4058541"/>
            <a:ext cx="3197145" cy="384761"/>
          </a:xfrm>
          <a:prstGeom prst="rect">
            <a:avLst/>
          </a:prstGeom>
          <a:solidFill>
            <a:srgbClr val="1E1E24"/>
          </a:solidFill>
          <a:ln/>
        </p:spPr>
      </p:sp>
      <p:sp>
        <p:nvSpPr>
          <p:cNvPr id="38" name="Text 36"/>
          <p:cNvSpPr txBox="1"/>
          <p:nvPr/>
        </p:nvSpPr>
        <p:spPr>
          <a:xfrm>
            <a:off x="876278" y="4160138"/>
            <a:ext cx="3087293" cy="181566"/>
          </a:xfrm>
          <a:prstGeom prst="rect">
            <a:avLst/>
          </a:prstGeom>
          <a:noFill/>
          <a:ln/>
        </p:spPr>
        <p:txBody>
          <a:bodyPr wrap="square" lIns="0" tIns="0" rIns="0" bIns="0" rtlCol="0" anchor="t"/>
          <a:lstStyle/>
          <a:p>
            <a:pPr algn="l" indent="0" marL="0">
              <a:lnSpc>
                <a:spcPct val="111111"/>
              </a:lnSpc>
              <a:buNone/>
            </a:pPr>
            <a:r>
              <a:rPr lang="en-US" sz="1100" b="1" dirty="0">
                <a:solidFill>
                  <a:srgbClr val="F5F6FC"/>
                </a:solidFill>
                <a:latin typeface="Poppins" pitchFamily="34" charset="0"/>
                <a:ea typeface="Poppins" pitchFamily="34" charset="-122"/>
                <a:cs typeface="Poppins" pitchFamily="34" charset="-120"/>
              </a:rPr>
              <a:t>Experiments · Models</a:t>
            </a:r>
            <a:endParaRPr lang="en-US" sz="1100" dirty="0"/>
          </a:p>
        </p:txBody>
      </p:sp>
      <p:sp>
        <p:nvSpPr>
          <p:cNvPr id="39" name="Shape 37"/>
          <p:cNvSpPr/>
          <p:nvPr/>
        </p:nvSpPr>
        <p:spPr>
          <a:xfrm>
            <a:off x="3959126" y="4058541"/>
            <a:ext cx="6010522" cy="384761"/>
          </a:xfrm>
          <a:prstGeom prst="rect">
            <a:avLst/>
          </a:prstGeom>
          <a:solidFill>
            <a:srgbClr val="1E1E24"/>
          </a:solidFill>
          <a:ln/>
        </p:spPr>
      </p:sp>
      <p:sp>
        <p:nvSpPr>
          <p:cNvPr id="40" name="Text 38"/>
          <p:cNvSpPr txBox="1"/>
          <p:nvPr/>
        </p:nvSpPr>
        <p:spPr>
          <a:xfrm>
            <a:off x="4073423" y="4160138"/>
            <a:ext cx="6013204"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MLflow e o modelo registrado</a:t>
            </a:r>
            <a:endParaRPr lang="en-US" sz="1100" dirty="0"/>
          </a:p>
        </p:txBody>
      </p:sp>
      <p:sp>
        <p:nvSpPr>
          <p:cNvPr id="41" name="Shape 39"/>
          <p:cNvSpPr/>
          <p:nvPr/>
        </p:nvSpPr>
        <p:spPr>
          <a:xfrm>
            <a:off x="9969648" y="4058541"/>
            <a:ext cx="1460067" cy="384761"/>
          </a:xfrm>
          <a:prstGeom prst="rect">
            <a:avLst/>
          </a:prstGeom>
          <a:solidFill>
            <a:srgbClr val="1E1E24"/>
          </a:solidFill>
          <a:ln/>
        </p:spPr>
      </p:sp>
      <p:sp>
        <p:nvSpPr>
          <p:cNvPr id="42" name="Text 40"/>
          <p:cNvSpPr txBox="1"/>
          <p:nvPr/>
        </p:nvSpPr>
        <p:spPr>
          <a:xfrm>
            <a:off x="10083945" y="4160138"/>
            <a:ext cx="1280731"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3</a:t>
            </a:r>
            <a:endParaRPr lang="en-US" sz="1100" dirty="0"/>
          </a:p>
        </p:txBody>
      </p:sp>
      <p:sp>
        <p:nvSpPr>
          <p:cNvPr id="43" name="Shape 41"/>
          <p:cNvSpPr/>
          <p:nvPr/>
        </p:nvSpPr>
        <p:spPr>
          <a:xfrm>
            <a:off x="761981" y="4494100"/>
            <a:ext cx="3197145" cy="384761"/>
          </a:xfrm>
          <a:prstGeom prst="rect">
            <a:avLst/>
          </a:prstGeom>
          <a:solidFill>
            <a:srgbClr val="1E1E24"/>
          </a:solidFill>
          <a:ln/>
        </p:spPr>
      </p:sp>
      <p:sp>
        <p:nvSpPr>
          <p:cNvPr id="44" name="Text 42"/>
          <p:cNvSpPr txBox="1"/>
          <p:nvPr/>
        </p:nvSpPr>
        <p:spPr>
          <a:xfrm>
            <a:off x="876278" y="4595698"/>
            <a:ext cx="3087293" cy="181566"/>
          </a:xfrm>
          <a:prstGeom prst="rect">
            <a:avLst/>
          </a:prstGeom>
          <a:noFill/>
          <a:ln/>
        </p:spPr>
        <p:txBody>
          <a:bodyPr wrap="square" lIns="0" tIns="0" rIns="0" bIns="0" rtlCol="0" anchor="t"/>
          <a:lstStyle/>
          <a:p>
            <a:pPr algn="l" indent="0" marL="0">
              <a:lnSpc>
                <a:spcPct val="111111"/>
              </a:lnSpc>
              <a:buNone/>
            </a:pPr>
            <a:r>
              <a:rPr lang="en-US" sz="1100" b="1" dirty="0">
                <a:solidFill>
                  <a:srgbClr val="F5F6FC"/>
                </a:solidFill>
                <a:latin typeface="Poppins" pitchFamily="34" charset="0"/>
                <a:ea typeface="Poppins" pitchFamily="34" charset="-122"/>
                <a:cs typeface="Poppins" pitchFamily="34" charset="-120"/>
              </a:rPr>
              <a:t>Compute → Apps · Lakebase</a:t>
            </a:r>
            <a:endParaRPr lang="en-US" sz="1100" dirty="0"/>
          </a:p>
        </p:txBody>
      </p:sp>
      <p:sp>
        <p:nvSpPr>
          <p:cNvPr id="45" name="Shape 43"/>
          <p:cNvSpPr/>
          <p:nvPr/>
        </p:nvSpPr>
        <p:spPr>
          <a:xfrm>
            <a:off x="3959126" y="4494100"/>
            <a:ext cx="6010522" cy="384761"/>
          </a:xfrm>
          <a:prstGeom prst="rect">
            <a:avLst/>
          </a:prstGeom>
          <a:solidFill>
            <a:srgbClr val="1E1E24"/>
          </a:solidFill>
          <a:ln/>
        </p:spPr>
      </p:sp>
      <p:sp>
        <p:nvSpPr>
          <p:cNvPr id="46" name="Text 44"/>
          <p:cNvSpPr txBox="1"/>
          <p:nvPr/>
        </p:nvSpPr>
        <p:spPr>
          <a:xfrm>
            <a:off x="4073423" y="4595698"/>
            <a:ext cx="6013204"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o app da Torre e o banco que grava as decisões</a:t>
            </a:r>
            <a:endParaRPr lang="en-US" sz="1100" dirty="0"/>
          </a:p>
        </p:txBody>
      </p:sp>
      <p:sp>
        <p:nvSpPr>
          <p:cNvPr id="47" name="Shape 45"/>
          <p:cNvSpPr/>
          <p:nvPr/>
        </p:nvSpPr>
        <p:spPr>
          <a:xfrm>
            <a:off x="9969648" y="4494100"/>
            <a:ext cx="1460067" cy="384761"/>
          </a:xfrm>
          <a:prstGeom prst="rect">
            <a:avLst/>
          </a:prstGeom>
          <a:solidFill>
            <a:srgbClr val="1E1E24"/>
          </a:solidFill>
          <a:ln/>
        </p:spPr>
      </p:sp>
      <p:sp>
        <p:nvSpPr>
          <p:cNvPr id="48" name="Text 46"/>
          <p:cNvSpPr txBox="1"/>
          <p:nvPr/>
        </p:nvSpPr>
        <p:spPr>
          <a:xfrm>
            <a:off x="10083945" y="4595698"/>
            <a:ext cx="1280731"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4</a:t>
            </a:r>
            <a:endParaRPr lang="en-US" sz="1100" dirty="0"/>
          </a:p>
        </p:txBody>
      </p:sp>
      <p:pic>
        <p:nvPicPr>
          <p:cNvPr id="49"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50" name="Text 47"/>
          <p:cNvSpPr txBox="1"/>
          <p:nvPr/>
        </p:nvSpPr>
        <p:spPr>
          <a:xfrm>
            <a:off x="10948317" y="6387940"/>
            <a:ext cx="500653"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20 / 133</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NIVELAMENTO · CONCEITOS DE DADO</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As palavras que você vai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ouvir o tempo todo</a:t>
            </a:r>
            <a:endParaRPr lang="en-US" sz="3100" dirty="0"/>
          </a:p>
        </p:txBody>
      </p:sp>
      <p:sp>
        <p:nvSpPr>
          <p:cNvPr id="4" name="Text 2"/>
          <p:cNvSpPr txBox="1"/>
          <p:nvPr/>
        </p:nvSpPr>
        <p:spPr>
          <a:xfrm>
            <a:off x="876278" y="1582301"/>
            <a:ext cx="2515442" cy="171446"/>
          </a:xfrm>
          <a:prstGeom prst="rect">
            <a:avLst/>
          </a:prstGeom>
          <a:noFill/>
          <a:ln/>
        </p:spPr>
        <p:txBody>
          <a:bodyPr wrap="square" lIns="0" tIns="0" rIns="0" bIns="0" rtlCol="0" anchor="t"/>
          <a:lstStyle/>
          <a:p>
            <a:pPr algn="l"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TERMO</a:t>
            </a:r>
            <a:endParaRPr lang="en-US" sz="900" dirty="0"/>
          </a:p>
        </p:txBody>
      </p:sp>
      <p:sp>
        <p:nvSpPr>
          <p:cNvPr id="5" name="Text 3"/>
          <p:cNvSpPr txBox="1"/>
          <p:nvPr/>
        </p:nvSpPr>
        <p:spPr>
          <a:xfrm>
            <a:off x="3523567" y="1582301"/>
            <a:ext cx="8103525" cy="171446"/>
          </a:xfrm>
          <a:prstGeom prst="rect">
            <a:avLst/>
          </a:prstGeom>
          <a:noFill/>
          <a:ln/>
        </p:spPr>
        <p:txBody>
          <a:bodyPr wrap="square" lIns="0" tIns="0" rIns="0" bIns="0" rtlCol="0" anchor="t"/>
          <a:lstStyle/>
          <a:p>
            <a:pPr algn="l"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EM UMA FRASE</a:t>
            </a:r>
            <a:endParaRPr lang="en-US" sz="900" dirty="0"/>
          </a:p>
        </p:txBody>
      </p:sp>
      <p:sp>
        <p:nvSpPr>
          <p:cNvPr id="6" name="Shape 4"/>
          <p:cNvSpPr/>
          <p:nvPr/>
        </p:nvSpPr>
        <p:spPr>
          <a:xfrm>
            <a:off x="761981" y="1880744"/>
            <a:ext cx="2647289" cy="376526"/>
          </a:xfrm>
          <a:prstGeom prst="rect">
            <a:avLst/>
          </a:prstGeom>
          <a:solidFill>
            <a:srgbClr val="1E1E24"/>
          </a:solidFill>
          <a:ln/>
        </p:spPr>
      </p:sp>
      <p:sp>
        <p:nvSpPr>
          <p:cNvPr id="7" name="Text 5"/>
          <p:cNvSpPr txBox="1"/>
          <p:nvPr/>
        </p:nvSpPr>
        <p:spPr>
          <a:xfrm>
            <a:off x="876278" y="1982341"/>
            <a:ext cx="2515442" cy="173331"/>
          </a:xfrm>
          <a:prstGeom prst="rect">
            <a:avLst/>
          </a:prstGeom>
          <a:noFill/>
          <a:ln/>
        </p:spPr>
        <p:txBody>
          <a:bodyPr wrap="square" lIns="0" tIns="0" rIns="0" bIns="0" rtlCol="0" anchor="t"/>
          <a:lstStyle/>
          <a:p>
            <a:pPr algn="l" indent="0" marL="0">
              <a:lnSpc>
                <a:spcPct val="111111"/>
              </a:lnSpc>
              <a:buNone/>
            </a:pPr>
            <a:r>
              <a:rPr lang="en-US" sz="1050" b="1" dirty="0">
                <a:solidFill>
                  <a:srgbClr val="F5F6FC"/>
                </a:solidFill>
                <a:latin typeface="Poppins" pitchFamily="34" charset="0"/>
                <a:ea typeface="Poppins" pitchFamily="34" charset="-122"/>
                <a:cs typeface="Poppins" pitchFamily="34" charset="-120"/>
              </a:rPr>
              <a:t>Tabela</a:t>
            </a:r>
            <a:endParaRPr lang="en-US" sz="1050" dirty="0"/>
          </a:p>
        </p:txBody>
      </p:sp>
      <p:sp>
        <p:nvSpPr>
          <p:cNvPr id="8" name="Shape 6"/>
          <p:cNvSpPr/>
          <p:nvPr/>
        </p:nvSpPr>
        <p:spPr>
          <a:xfrm>
            <a:off x="3409269" y="1880744"/>
            <a:ext cx="8020445" cy="376526"/>
          </a:xfrm>
          <a:prstGeom prst="rect">
            <a:avLst/>
          </a:prstGeom>
          <a:solidFill>
            <a:srgbClr val="1E1E24"/>
          </a:solidFill>
          <a:ln/>
        </p:spPr>
      </p:sp>
      <p:sp>
        <p:nvSpPr>
          <p:cNvPr id="9" name="Text 7"/>
          <p:cNvSpPr txBox="1"/>
          <p:nvPr/>
        </p:nvSpPr>
        <p:spPr>
          <a:xfrm>
            <a:off x="3523567" y="1982341"/>
            <a:ext cx="8103525" cy="173331"/>
          </a:xfrm>
          <a:prstGeom prst="rect">
            <a:avLst/>
          </a:prstGeom>
          <a:noFill/>
          <a:ln/>
        </p:spPr>
        <p:txBody>
          <a:bodyPr wrap="square" lIns="0" tIns="0" rIns="0" bIns="0" rtlCol="0" anchor="t"/>
          <a:lstStyle/>
          <a:p>
            <a:pPr algn="l" indent="0" marL="0">
              <a:lnSpc>
                <a:spcPct val="111111"/>
              </a:lnSpc>
              <a:buNone/>
            </a:pPr>
            <a:r>
              <a:rPr lang="en-US" sz="1050" dirty="0">
                <a:solidFill>
                  <a:srgbClr val="F5F6FC"/>
                </a:solidFill>
                <a:latin typeface="Poppins" pitchFamily="34" charset="0"/>
                <a:ea typeface="Poppins" pitchFamily="34" charset="-122"/>
                <a:cs typeface="Poppins" pitchFamily="34" charset="-120"/>
              </a:rPr>
              <a:t>linhas e colunas que o SQL consegue ler; no Databricks, uma tabela </a:t>
            </a:r>
            <a:pPr algn="l" indent="0" marL="0">
              <a:lnSpc>
                <a:spcPct val="111111"/>
              </a:lnSpc>
              <a:buNone/>
            </a:pPr>
            <a:r>
              <a:rPr lang="en-US" sz="1050" b="1" dirty="0">
                <a:solidFill>
                  <a:srgbClr val="FFFFFF"/>
                </a:solidFill>
                <a:latin typeface="Poppins" pitchFamily="34" charset="0"/>
                <a:ea typeface="Poppins" pitchFamily="34" charset="-122"/>
                <a:cs typeface="Poppins" pitchFamily="34" charset="-120"/>
              </a:rPr>
              <a:t>Delta</a:t>
            </a:r>
            <a:endParaRPr lang="en-US" sz="1050" dirty="0"/>
          </a:p>
        </p:txBody>
      </p:sp>
      <p:sp>
        <p:nvSpPr>
          <p:cNvPr id="10" name="Shape 8"/>
          <p:cNvSpPr/>
          <p:nvPr/>
        </p:nvSpPr>
        <p:spPr>
          <a:xfrm>
            <a:off x="761981" y="2308068"/>
            <a:ext cx="2647289" cy="376526"/>
          </a:xfrm>
          <a:prstGeom prst="rect">
            <a:avLst/>
          </a:prstGeom>
          <a:solidFill>
            <a:srgbClr val="1E1E24"/>
          </a:solidFill>
          <a:ln/>
        </p:spPr>
      </p:sp>
      <p:sp>
        <p:nvSpPr>
          <p:cNvPr id="11" name="Text 9"/>
          <p:cNvSpPr txBox="1"/>
          <p:nvPr/>
        </p:nvSpPr>
        <p:spPr>
          <a:xfrm>
            <a:off x="876278" y="2409666"/>
            <a:ext cx="2515442" cy="173331"/>
          </a:xfrm>
          <a:prstGeom prst="rect">
            <a:avLst/>
          </a:prstGeom>
          <a:noFill/>
          <a:ln/>
        </p:spPr>
        <p:txBody>
          <a:bodyPr wrap="square" lIns="0" tIns="0" rIns="0" bIns="0" rtlCol="0" anchor="t"/>
          <a:lstStyle/>
          <a:p>
            <a:pPr algn="l" indent="0" marL="0">
              <a:lnSpc>
                <a:spcPct val="111111"/>
              </a:lnSpc>
              <a:buNone/>
            </a:pPr>
            <a:r>
              <a:rPr lang="en-US" sz="1050" b="1" dirty="0">
                <a:solidFill>
                  <a:srgbClr val="F5F6FC"/>
                </a:solidFill>
                <a:latin typeface="Poppins" pitchFamily="34" charset="0"/>
                <a:ea typeface="Poppins" pitchFamily="34" charset="-122"/>
                <a:cs typeface="Poppins" pitchFamily="34" charset="-120"/>
              </a:rPr>
              <a:t>SQL</a:t>
            </a:r>
            <a:endParaRPr lang="en-US" sz="1050" dirty="0"/>
          </a:p>
        </p:txBody>
      </p:sp>
      <p:sp>
        <p:nvSpPr>
          <p:cNvPr id="12" name="Shape 10"/>
          <p:cNvSpPr/>
          <p:nvPr/>
        </p:nvSpPr>
        <p:spPr>
          <a:xfrm>
            <a:off x="3409269" y="2308068"/>
            <a:ext cx="8020445" cy="376526"/>
          </a:xfrm>
          <a:prstGeom prst="rect">
            <a:avLst/>
          </a:prstGeom>
          <a:solidFill>
            <a:srgbClr val="1E1E24"/>
          </a:solidFill>
          <a:ln/>
        </p:spPr>
      </p:sp>
      <p:sp>
        <p:nvSpPr>
          <p:cNvPr id="13" name="Text 11"/>
          <p:cNvSpPr txBox="1"/>
          <p:nvPr/>
        </p:nvSpPr>
        <p:spPr>
          <a:xfrm>
            <a:off x="3523567" y="2409666"/>
            <a:ext cx="8103525" cy="173331"/>
          </a:xfrm>
          <a:prstGeom prst="rect">
            <a:avLst/>
          </a:prstGeom>
          <a:noFill/>
          <a:ln/>
        </p:spPr>
        <p:txBody>
          <a:bodyPr wrap="square" lIns="0" tIns="0" rIns="0" bIns="0" rtlCol="0" anchor="t"/>
          <a:lstStyle/>
          <a:p>
            <a:pPr algn="l" indent="0" marL="0">
              <a:lnSpc>
                <a:spcPct val="111111"/>
              </a:lnSpc>
              <a:buNone/>
            </a:pPr>
            <a:r>
              <a:rPr lang="en-US" sz="1050" dirty="0">
                <a:solidFill>
                  <a:srgbClr val="F5F6FC"/>
                </a:solidFill>
                <a:latin typeface="Poppins" pitchFamily="34" charset="0"/>
                <a:ea typeface="Poppins" pitchFamily="34" charset="-122"/>
                <a:cs typeface="Poppins" pitchFamily="34" charset="-120"/>
              </a:rPr>
              <a:t>a língua para perguntar ao dado: SELECT o quê, FROM onde, WHERE com qual filtro</a:t>
            </a:r>
            <a:endParaRPr lang="en-US" sz="1050" dirty="0"/>
          </a:p>
        </p:txBody>
      </p:sp>
      <p:sp>
        <p:nvSpPr>
          <p:cNvPr id="14" name="Shape 12"/>
          <p:cNvSpPr/>
          <p:nvPr/>
        </p:nvSpPr>
        <p:spPr>
          <a:xfrm>
            <a:off x="761981" y="2735393"/>
            <a:ext cx="2647289" cy="376526"/>
          </a:xfrm>
          <a:prstGeom prst="rect">
            <a:avLst/>
          </a:prstGeom>
          <a:solidFill>
            <a:srgbClr val="1E1E24"/>
          </a:solidFill>
          <a:ln/>
        </p:spPr>
      </p:sp>
      <p:sp>
        <p:nvSpPr>
          <p:cNvPr id="15" name="Text 13"/>
          <p:cNvSpPr txBox="1"/>
          <p:nvPr/>
        </p:nvSpPr>
        <p:spPr>
          <a:xfrm>
            <a:off x="876278" y="2836990"/>
            <a:ext cx="2515442" cy="173331"/>
          </a:xfrm>
          <a:prstGeom prst="rect">
            <a:avLst/>
          </a:prstGeom>
          <a:noFill/>
          <a:ln/>
        </p:spPr>
        <p:txBody>
          <a:bodyPr wrap="square" lIns="0" tIns="0" rIns="0" bIns="0" rtlCol="0" anchor="t"/>
          <a:lstStyle/>
          <a:p>
            <a:pPr algn="l" indent="0" marL="0">
              <a:lnSpc>
                <a:spcPct val="111111"/>
              </a:lnSpc>
              <a:buNone/>
            </a:pPr>
            <a:r>
              <a:rPr lang="en-US" sz="1050" b="1" dirty="0">
                <a:solidFill>
                  <a:srgbClr val="F5F6FC"/>
                </a:solidFill>
                <a:latin typeface="Poppins" pitchFamily="34" charset="0"/>
                <a:ea typeface="Poppins" pitchFamily="34" charset="-122"/>
                <a:cs typeface="Poppins" pitchFamily="34" charset="-120"/>
              </a:rPr>
              <a:t>Catálogo · schema</a:t>
            </a:r>
            <a:endParaRPr lang="en-US" sz="1050" dirty="0"/>
          </a:p>
        </p:txBody>
      </p:sp>
      <p:sp>
        <p:nvSpPr>
          <p:cNvPr id="16" name="Shape 14"/>
          <p:cNvSpPr/>
          <p:nvPr/>
        </p:nvSpPr>
        <p:spPr>
          <a:xfrm>
            <a:off x="3409269" y="2735393"/>
            <a:ext cx="8020445" cy="376526"/>
          </a:xfrm>
          <a:prstGeom prst="rect">
            <a:avLst/>
          </a:prstGeom>
          <a:solidFill>
            <a:srgbClr val="1E1E24"/>
          </a:solidFill>
          <a:ln/>
        </p:spPr>
      </p:sp>
      <p:sp>
        <p:nvSpPr>
          <p:cNvPr id="17" name="Text 15"/>
          <p:cNvSpPr txBox="1"/>
          <p:nvPr/>
        </p:nvSpPr>
        <p:spPr>
          <a:xfrm>
            <a:off x="3523567" y="2836990"/>
            <a:ext cx="8103525" cy="173331"/>
          </a:xfrm>
          <a:prstGeom prst="rect">
            <a:avLst/>
          </a:prstGeom>
          <a:noFill/>
          <a:ln/>
        </p:spPr>
        <p:txBody>
          <a:bodyPr wrap="square" lIns="0" tIns="0" rIns="0" bIns="0" rtlCol="0" anchor="t"/>
          <a:lstStyle/>
          <a:p>
            <a:pPr algn="l" indent="0" marL="0">
              <a:lnSpc>
                <a:spcPct val="111111"/>
              </a:lnSpc>
              <a:buNone/>
            </a:pPr>
            <a:r>
              <a:rPr lang="en-US" sz="1050" dirty="0">
                <a:solidFill>
                  <a:srgbClr val="F5F6FC"/>
                </a:solidFill>
                <a:latin typeface="Poppins" pitchFamily="34" charset="0"/>
                <a:ea typeface="Poppins" pitchFamily="34" charset="-122"/>
                <a:cs typeface="Poppins" pitchFamily="34" charset="-120"/>
              </a:rPr>
              <a:t>a gaveta e a pasta: </a:t>
            </a:r>
            <a:pPr algn="l" indent="0" marL="0">
              <a:lnSpc>
                <a:spcPct val="111111"/>
              </a:lnSpc>
              <a:buNone/>
            </a:pPr>
            <a:r>
              <a:rPr lang="en-US" sz="1050" b="1" dirty="0">
                <a:solidFill>
                  <a:srgbClr val="FFFFFF"/>
                </a:solidFill>
                <a:latin typeface="Poppins" pitchFamily="34" charset="0"/>
                <a:ea typeface="Poppins" pitchFamily="34" charset="-122"/>
                <a:cs typeface="Poppins" pitchFamily="34" charset="-120"/>
              </a:rPr>
              <a:t>lakehouse_vertice</a:t>
            </a:r>
            <a:pPr algn="l" indent="0" marL="0">
              <a:lnSpc>
                <a:spcPct val="111111"/>
              </a:lnSpc>
              <a:buNone/>
            </a:pPr>
            <a:r>
              <a:rPr lang="en-US" sz="1050" dirty="0">
                <a:solidFill>
                  <a:srgbClr val="F5F6FC"/>
                </a:solidFill>
                <a:latin typeface="Poppins" pitchFamily="34" charset="0"/>
                <a:ea typeface="Poppins" pitchFamily="34" charset="-122"/>
                <a:cs typeface="Poppins" pitchFamily="34" charset="-120"/>
              </a:rPr>
              <a:t> &gt; </a:t>
            </a:r>
            <a:pPr algn="l" indent="0" marL="0">
              <a:lnSpc>
                <a:spcPct val="111111"/>
              </a:lnSpc>
              <a:buNone/>
            </a:pPr>
            <a:r>
              <a:rPr lang="en-US" sz="1050" b="1" dirty="0">
                <a:solidFill>
                  <a:srgbClr val="FFFFFF"/>
                </a:solidFill>
                <a:latin typeface="Poppins" pitchFamily="34" charset="0"/>
                <a:ea typeface="Poppins" pitchFamily="34" charset="-122"/>
                <a:cs typeface="Poppins" pitchFamily="34" charset="-120"/>
              </a:rPr>
              <a:t>bronze</a:t>
            </a:r>
            <a:pPr algn="l" indent="0" marL="0">
              <a:lnSpc>
                <a:spcPct val="111111"/>
              </a:lnSpc>
              <a:buNone/>
            </a:pPr>
            <a:r>
              <a:rPr lang="en-US" sz="1050" dirty="0">
                <a:solidFill>
                  <a:srgbClr val="F5F6FC"/>
                </a:solidFill>
                <a:latin typeface="Poppins" pitchFamily="34" charset="0"/>
                <a:ea typeface="Poppins" pitchFamily="34" charset="-122"/>
                <a:cs typeface="Poppins" pitchFamily="34" charset="-120"/>
              </a:rPr>
              <a:t> &gt; </a:t>
            </a:r>
            <a:pPr algn="l" indent="0" marL="0">
              <a:lnSpc>
                <a:spcPct val="111111"/>
              </a:lnSpc>
              <a:buNone/>
            </a:pPr>
            <a:r>
              <a:rPr lang="en-US" sz="1050" b="1" dirty="0">
                <a:solidFill>
                  <a:srgbClr val="FFFFFF"/>
                </a:solidFill>
                <a:latin typeface="Poppins" pitchFamily="34" charset="0"/>
                <a:ea typeface="Poppins" pitchFamily="34" charset="-122"/>
                <a:cs typeface="Poppins" pitchFamily="34" charset="-120"/>
              </a:rPr>
              <a:t>projetos</a:t>
            </a:r>
            <a:endParaRPr lang="en-US" sz="1050" dirty="0"/>
          </a:p>
        </p:txBody>
      </p:sp>
      <p:sp>
        <p:nvSpPr>
          <p:cNvPr id="18" name="Shape 16"/>
          <p:cNvSpPr/>
          <p:nvPr/>
        </p:nvSpPr>
        <p:spPr>
          <a:xfrm>
            <a:off x="761981" y="3162717"/>
            <a:ext cx="2647289" cy="376526"/>
          </a:xfrm>
          <a:prstGeom prst="rect">
            <a:avLst/>
          </a:prstGeom>
          <a:solidFill>
            <a:srgbClr val="1E1E24"/>
          </a:solidFill>
          <a:ln/>
        </p:spPr>
      </p:sp>
      <p:sp>
        <p:nvSpPr>
          <p:cNvPr id="19" name="Text 17"/>
          <p:cNvSpPr txBox="1"/>
          <p:nvPr/>
        </p:nvSpPr>
        <p:spPr>
          <a:xfrm>
            <a:off x="876278" y="3264314"/>
            <a:ext cx="2515442" cy="173331"/>
          </a:xfrm>
          <a:prstGeom prst="rect">
            <a:avLst/>
          </a:prstGeom>
          <a:noFill/>
          <a:ln/>
        </p:spPr>
        <p:txBody>
          <a:bodyPr wrap="square" lIns="0" tIns="0" rIns="0" bIns="0" rtlCol="0" anchor="t"/>
          <a:lstStyle/>
          <a:p>
            <a:pPr algn="l" indent="0" marL="0">
              <a:lnSpc>
                <a:spcPct val="111111"/>
              </a:lnSpc>
              <a:buNone/>
            </a:pPr>
            <a:r>
              <a:rPr lang="en-US" sz="1050" b="1" dirty="0">
                <a:solidFill>
                  <a:srgbClr val="F5F6FC"/>
                </a:solidFill>
                <a:latin typeface="Poppins" pitchFamily="34" charset="0"/>
                <a:ea typeface="Poppins" pitchFamily="34" charset="-122"/>
                <a:cs typeface="Poppins" pitchFamily="34" charset="-120"/>
              </a:rPr>
              <a:t>Volume</a:t>
            </a:r>
            <a:endParaRPr lang="en-US" sz="1050" dirty="0"/>
          </a:p>
        </p:txBody>
      </p:sp>
      <p:sp>
        <p:nvSpPr>
          <p:cNvPr id="20" name="Shape 18"/>
          <p:cNvSpPr/>
          <p:nvPr/>
        </p:nvSpPr>
        <p:spPr>
          <a:xfrm>
            <a:off x="3409269" y="3162717"/>
            <a:ext cx="8020445" cy="376526"/>
          </a:xfrm>
          <a:prstGeom prst="rect">
            <a:avLst/>
          </a:prstGeom>
          <a:solidFill>
            <a:srgbClr val="1E1E24"/>
          </a:solidFill>
          <a:ln/>
        </p:spPr>
      </p:sp>
      <p:sp>
        <p:nvSpPr>
          <p:cNvPr id="21" name="Text 19"/>
          <p:cNvSpPr txBox="1"/>
          <p:nvPr/>
        </p:nvSpPr>
        <p:spPr>
          <a:xfrm>
            <a:off x="3523567" y="3264314"/>
            <a:ext cx="8103525" cy="173331"/>
          </a:xfrm>
          <a:prstGeom prst="rect">
            <a:avLst/>
          </a:prstGeom>
          <a:noFill/>
          <a:ln/>
        </p:spPr>
        <p:txBody>
          <a:bodyPr wrap="square" lIns="0" tIns="0" rIns="0" bIns="0" rtlCol="0" anchor="t"/>
          <a:lstStyle/>
          <a:p>
            <a:pPr algn="l" indent="0" marL="0">
              <a:lnSpc>
                <a:spcPct val="111111"/>
              </a:lnSpc>
              <a:buNone/>
            </a:pPr>
            <a:r>
              <a:rPr lang="en-US" sz="1050" dirty="0">
                <a:solidFill>
                  <a:srgbClr val="F5F6FC"/>
                </a:solidFill>
                <a:latin typeface="Poppins" pitchFamily="34" charset="0"/>
                <a:ea typeface="Poppins" pitchFamily="34" charset="-122"/>
                <a:cs typeface="Poppins" pitchFamily="34" charset="-120"/>
              </a:rPr>
              <a:t>a pasta de </a:t>
            </a:r>
            <a:pPr algn="l" indent="0" marL="0">
              <a:lnSpc>
                <a:spcPct val="111111"/>
              </a:lnSpc>
              <a:buNone/>
            </a:pPr>
            <a:r>
              <a:rPr lang="en-US" sz="1050" b="1" dirty="0">
                <a:solidFill>
                  <a:srgbClr val="FFFFFF"/>
                </a:solidFill>
                <a:latin typeface="Poppins" pitchFamily="34" charset="0"/>
                <a:ea typeface="Poppins" pitchFamily="34" charset="-122"/>
                <a:cs typeface="Poppins" pitchFamily="34" charset="-120"/>
              </a:rPr>
              <a:t>arquivos</a:t>
            </a:r>
            <a:pPr algn="l" indent="0" marL="0">
              <a:lnSpc>
                <a:spcPct val="111111"/>
              </a:lnSpc>
              <a:buNone/>
            </a:pPr>
            <a:r>
              <a:rPr lang="en-US" sz="1050" dirty="0">
                <a:solidFill>
                  <a:srgbClr val="F5F6FC"/>
                </a:solidFill>
                <a:latin typeface="Poppins" pitchFamily="34" charset="0"/>
                <a:ea typeface="Poppins" pitchFamily="34" charset="-122"/>
                <a:cs typeface="Poppins" pitchFamily="34" charset="-120"/>
              </a:rPr>
              <a:t> (planilha, JSON, XML, PDF) dentro do catálogo</a:t>
            </a:r>
            <a:endParaRPr lang="en-US" sz="1050" dirty="0"/>
          </a:p>
        </p:txBody>
      </p:sp>
      <p:sp>
        <p:nvSpPr>
          <p:cNvPr id="22" name="Shape 20"/>
          <p:cNvSpPr/>
          <p:nvPr/>
        </p:nvSpPr>
        <p:spPr>
          <a:xfrm>
            <a:off x="761981" y="3590041"/>
            <a:ext cx="2647289" cy="376526"/>
          </a:xfrm>
          <a:prstGeom prst="rect">
            <a:avLst/>
          </a:prstGeom>
          <a:solidFill>
            <a:srgbClr val="1E1E24"/>
          </a:solidFill>
          <a:ln/>
        </p:spPr>
      </p:sp>
      <p:sp>
        <p:nvSpPr>
          <p:cNvPr id="23" name="Text 21"/>
          <p:cNvSpPr txBox="1"/>
          <p:nvPr/>
        </p:nvSpPr>
        <p:spPr>
          <a:xfrm>
            <a:off x="876278" y="3691639"/>
            <a:ext cx="2515442" cy="173331"/>
          </a:xfrm>
          <a:prstGeom prst="rect">
            <a:avLst/>
          </a:prstGeom>
          <a:noFill/>
          <a:ln/>
        </p:spPr>
        <p:txBody>
          <a:bodyPr wrap="square" lIns="0" tIns="0" rIns="0" bIns="0" rtlCol="0" anchor="t"/>
          <a:lstStyle/>
          <a:p>
            <a:pPr algn="l" indent="0" marL="0">
              <a:lnSpc>
                <a:spcPct val="111111"/>
              </a:lnSpc>
              <a:buNone/>
            </a:pPr>
            <a:r>
              <a:rPr lang="en-US" sz="1050" b="1" dirty="0">
                <a:solidFill>
                  <a:srgbClr val="F5F6FC"/>
                </a:solidFill>
                <a:latin typeface="Poppins" pitchFamily="34" charset="0"/>
                <a:ea typeface="Poppins" pitchFamily="34" charset="-122"/>
                <a:cs typeface="Poppins" pitchFamily="34" charset="-120"/>
              </a:rPr>
              <a:t>Serverless · warehouse</a:t>
            </a:r>
            <a:endParaRPr lang="en-US" sz="1050" dirty="0"/>
          </a:p>
        </p:txBody>
      </p:sp>
      <p:sp>
        <p:nvSpPr>
          <p:cNvPr id="24" name="Shape 22"/>
          <p:cNvSpPr/>
          <p:nvPr/>
        </p:nvSpPr>
        <p:spPr>
          <a:xfrm>
            <a:off x="3409269" y="3590041"/>
            <a:ext cx="8020445" cy="376526"/>
          </a:xfrm>
          <a:prstGeom prst="rect">
            <a:avLst/>
          </a:prstGeom>
          <a:solidFill>
            <a:srgbClr val="1E1E24"/>
          </a:solidFill>
          <a:ln/>
        </p:spPr>
      </p:sp>
      <p:sp>
        <p:nvSpPr>
          <p:cNvPr id="25" name="Text 23"/>
          <p:cNvSpPr txBox="1"/>
          <p:nvPr/>
        </p:nvSpPr>
        <p:spPr>
          <a:xfrm>
            <a:off x="3523567" y="3691639"/>
            <a:ext cx="8103525" cy="173331"/>
          </a:xfrm>
          <a:prstGeom prst="rect">
            <a:avLst/>
          </a:prstGeom>
          <a:noFill/>
          <a:ln/>
        </p:spPr>
        <p:txBody>
          <a:bodyPr wrap="square" lIns="0" tIns="0" rIns="0" bIns="0" rtlCol="0" anchor="t"/>
          <a:lstStyle/>
          <a:p>
            <a:pPr algn="l" indent="0" marL="0">
              <a:lnSpc>
                <a:spcPct val="111111"/>
              </a:lnSpc>
              <a:buNone/>
            </a:pPr>
            <a:r>
              <a:rPr lang="en-US" sz="1050" dirty="0">
                <a:solidFill>
                  <a:srgbClr val="F5F6FC"/>
                </a:solidFill>
                <a:latin typeface="Poppins" pitchFamily="34" charset="0"/>
                <a:ea typeface="Poppins" pitchFamily="34" charset="-122"/>
                <a:cs typeface="Poppins" pitchFamily="34" charset="-120"/>
              </a:rPr>
              <a:t>a máquina que roda tudo, ligada e desligada pelo Databricks</a:t>
            </a:r>
            <a:endParaRPr lang="en-US" sz="1050" dirty="0"/>
          </a:p>
        </p:txBody>
      </p:sp>
      <p:sp>
        <p:nvSpPr>
          <p:cNvPr id="26" name="Shape 24"/>
          <p:cNvSpPr/>
          <p:nvPr/>
        </p:nvSpPr>
        <p:spPr>
          <a:xfrm>
            <a:off x="761981" y="4017366"/>
            <a:ext cx="2647289" cy="376526"/>
          </a:xfrm>
          <a:prstGeom prst="rect">
            <a:avLst/>
          </a:prstGeom>
          <a:solidFill>
            <a:srgbClr val="1E1E24"/>
          </a:solidFill>
          <a:ln/>
        </p:spPr>
      </p:sp>
      <p:sp>
        <p:nvSpPr>
          <p:cNvPr id="27" name="Text 25"/>
          <p:cNvSpPr txBox="1"/>
          <p:nvPr/>
        </p:nvSpPr>
        <p:spPr>
          <a:xfrm>
            <a:off x="876278" y="4118963"/>
            <a:ext cx="2515442" cy="173331"/>
          </a:xfrm>
          <a:prstGeom prst="rect">
            <a:avLst/>
          </a:prstGeom>
          <a:noFill/>
          <a:ln/>
        </p:spPr>
        <p:txBody>
          <a:bodyPr wrap="square" lIns="0" tIns="0" rIns="0" bIns="0" rtlCol="0" anchor="t"/>
          <a:lstStyle/>
          <a:p>
            <a:pPr algn="l" indent="0" marL="0">
              <a:lnSpc>
                <a:spcPct val="111111"/>
              </a:lnSpc>
              <a:buNone/>
            </a:pPr>
            <a:r>
              <a:rPr lang="en-US" sz="1050" b="1" dirty="0">
                <a:solidFill>
                  <a:srgbClr val="F5F6FC"/>
                </a:solidFill>
                <a:latin typeface="Poppins" pitchFamily="34" charset="0"/>
                <a:ea typeface="Poppins" pitchFamily="34" charset="-122"/>
                <a:cs typeface="Poppins" pitchFamily="34" charset="-120"/>
              </a:rPr>
              <a:t>Pipeline · job</a:t>
            </a:r>
            <a:endParaRPr lang="en-US" sz="1050" dirty="0"/>
          </a:p>
        </p:txBody>
      </p:sp>
      <p:sp>
        <p:nvSpPr>
          <p:cNvPr id="28" name="Shape 26"/>
          <p:cNvSpPr/>
          <p:nvPr/>
        </p:nvSpPr>
        <p:spPr>
          <a:xfrm>
            <a:off x="3409269" y="4017366"/>
            <a:ext cx="8020445" cy="376526"/>
          </a:xfrm>
          <a:prstGeom prst="rect">
            <a:avLst/>
          </a:prstGeom>
          <a:solidFill>
            <a:srgbClr val="1E1E24"/>
          </a:solidFill>
          <a:ln/>
        </p:spPr>
      </p:sp>
      <p:sp>
        <p:nvSpPr>
          <p:cNvPr id="29" name="Text 27"/>
          <p:cNvSpPr txBox="1"/>
          <p:nvPr/>
        </p:nvSpPr>
        <p:spPr>
          <a:xfrm>
            <a:off x="3523567" y="4118963"/>
            <a:ext cx="8103525" cy="173331"/>
          </a:xfrm>
          <a:prstGeom prst="rect">
            <a:avLst/>
          </a:prstGeom>
          <a:noFill/>
          <a:ln/>
        </p:spPr>
        <p:txBody>
          <a:bodyPr wrap="square" lIns="0" tIns="0" rIns="0" bIns="0" rtlCol="0" anchor="t"/>
          <a:lstStyle/>
          <a:p>
            <a:pPr algn="l" indent="0" marL="0">
              <a:lnSpc>
                <a:spcPct val="111111"/>
              </a:lnSpc>
              <a:buNone/>
            </a:pPr>
            <a:r>
              <a:rPr lang="en-US" sz="1050" dirty="0">
                <a:solidFill>
                  <a:srgbClr val="F5F6FC"/>
                </a:solidFill>
                <a:latin typeface="Poppins" pitchFamily="34" charset="0"/>
                <a:ea typeface="Poppins" pitchFamily="34" charset="-122"/>
                <a:cs typeface="Poppins" pitchFamily="34" charset="-120"/>
              </a:rPr>
              <a:t>a sequência que roda sozinha e na ordem certa, toda segunda</a:t>
            </a:r>
            <a:endParaRPr lang="en-US" sz="1050" dirty="0"/>
          </a:p>
        </p:txBody>
      </p:sp>
      <p:sp>
        <p:nvSpPr>
          <p:cNvPr id="30" name="Shape 28"/>
          <p:cNvSpPr/>
          <p:nvPr/>
        </p:nvSpPr>
        <p:spPr>
          <a:xfrm>
            <a:off x="761981" y="4444690"/>
            <a:ext cx="2647289" cy="376526"/>
          </a:xfrm>
          <a:prstGeom prst="rect">
            <a:avLst/>
          </a:prstGeom>
          <a:solidFill>
            <a:srgbClr val="1E1E24"/>
          </a:solidFill>
          <a:ln/>
        </p:spPr>
      </p:sp>
      <p:sp>
        <p:nvSpPr>
          <p:cNvPr id="31" name="Text 29"/>
          <p:cNvSpPr txBox="1"/>
          <p:nvPr/>
        </p:nvSpPr>
        <p:spPr>
          <a:xfrm>
            <a:off x="876278" y="4546288"/>
            <a:ext cx="2515442" cy="173331"/>
          </a:xfrm>
          <a:prstGeom prst="rect">
            <a:avLst/>
          </a:prstGeom>
          <a:noFill/>
          <a:ln/>
        </p:spPr>
        <p:txBody>
          <a:bodyPr wrap="square" lIns="0" tIns="0" rIns="0" bIns="0" rtlCol="0" anchor="t"/>
          <a:lstStyle/>
          <a:p>
            <a:pPr algn="l" indent="0" marL="0">
              <a:lnSpc>
                <a:spcPct val="111111"/>
              </a:lnSpc>
              <a:buNone/>
            </a:pPr>
            <a:r>
              <a:rPr lang="en-US" sz="1050" b="1" dirty="0">
                <a:solidFill>
                  <a:srgbClr val="F5F6FC"/>
                </a:solidFill>
                <a:latin typeface="Poppins" pitchFamily="34" charset="0"/>
                <a:ea typeface="Poppins" pitchFamily="34" charset="-122"/>
                <a:cs typeface="Poppins" pitchFamily="34" charset="-120"/>
              </a:rPr>
              <a:t>KPI · métrica governada</a:t>
            </a:r>
            <a:endParaRPr lang="en-US" sz="1050" dirty="0"/>
          </a:p>
        </p:txBody>
      </p:sp>
      <p:sp>
        <p:nvSpPr>
          <p:cNvPr id="32" name="Shape 30"/>
          <p:cNvSpPr/>
          <p:nvPr/>
        </p:nvSpPr>
        <p:spPr>
          <a:xfrm>
            <a:off x="3409269" y="4444690"/>
            <a:ext cx="8020445" cy="376526"/>
          </a:xfrm>
          <a:prstGeom prst="rect">
            <a:avLst/>
          </a:prstGeom>
          <a:solidFill>
            <a:srgbClr val="1E1E24"/>
          </a:solidFill>
          <a:ln/>
        </p:spPr>
      </p:sp>
      <p:sp>
        <p:nvSpPr>
          <p:cNvPr id="33" name="Text 31"/>
          <p:cNvSpPr txBox="1"/>
          <p:nvPr/>
        </p:nvSpPr>
        <p:spPr>
          <a:xfrm>
            <a:off x="3523567" y="4546288"/>
            <a:ext cx="8103525" cy="173331"/>
          </a:xfrm>
          <a:prstGeom prst="rect">
            <a:avLst/>
          </a:prstGeom>
          <a:noFill/>
          <a:ln/>
        </p:spPr>
        <p:txBody>
          <a:bodyPr wrap="square" lIns="0" tIns="0" rIns="0" bIns="0" rtlCol="0" anchor="t"/>
          <a:lstStyle/>
          <a:p>
            <a:pPr algn="l" indent="0" marL="0">
              <a:lnSpc>
                <a:spcPct val="111111"/>
              </a:lnSpc>
              <a:buNone/>
            </a:pPr>
            <a:r>
              <a:rPr lang="en-US" sz="1050" dirty="0">
                <a:solidFill>
                  <a:srgbClr val="F5F6FC"/>
                </a:solidFill>
                <a:latin typeface="Poppins" pitchFamily="34" charset="0"/>
                <a:ea typeface="Poppins" pitchFamily="34" charset="-122"/>
                <a:cs typeface="Poppins" pitchFamily="34" charset="-120"/>
              </a:rPr>
              <a:t>o número do negócio, com a fórmula definida uma vez só</a:t>
            </a:r>
            <a:endParaRPr lang="en-US" sz="1050" dirty="0"/>
          </a:p>
        </p:txBody>
      </p:sp>
      <p:pic>
        <p:nvPicPr>
          <p:cNvPr id="34"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35" name="Text 32"/>
          <p:cNvSpPr txBox="1"/>
          <p:nvPr/>
        </p:nvSpPr>
        <p:spPr>
          <a:xfrm>
            <a:off x="10985325" y="6387940"/>
            <a:ext cx="462165"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21 / 133</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NIVELAMENTO · CONCEITOS DE DADO · O MEDALHÃO</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Três camadas: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bronze, silver e gold</a:t>
            </a:r>
            <a:endParaRPr lang="en-US" sz="3100" dirty="0"/>
          </a:p>
        </p:txBody>
      </p:sp>
      <p:sp>
        <p:nvSpPr>
          <p:cNvPr id="4" name="Shape 2"/>
          <p:cNvSpPr/>
          <p:nvPr/>
        </p:nvSpPr>
        <p:spPr>
          <a:xfrm>
            <a:off x="761981" y="1582301"/>
            <a:ext cx="3282372" cy="1861396"/>
          </a:xfrm>
          <a:prstGeom prst="roundRect">
            <a:avLst>
              <a:gd name="adj" fmla="val 8187"/>
            </a:avLst>
          </a:prstGeom>
          <a:solidFill>
            <a:srgbClr val="1E1E24"/>
          </a:solidFill>
          <a:ln w="6350">
            <a:solidFill>
              <a:srgbClr val="2F2F39"/>
            </a:solidFill>
            <a:prstDash val="solid"/>
          </a:ln>
        </p:spPr>
      </p:sp>
      <p:sp>
        <p:nvSpPr>
          <p:cNvPr id="5" name="Shape 3"/>
          <p:cNvSpPr/>
          <p:nvPr/>
        </p:nvSpPr>
        <p:spPr>
          <a:xfrm>
            <a:off x="984225" y="1779146"/>
            <a:ext cx="2837883" cy="361941"/>
          </a:xfrm>
          <a:prstGeom prst="roundRect">
            <a:avLst>
              <a:gd name="adj" fmla="val 24561"/>
            </a:avLst>
          </a:prstGeom>
          <a:solidFill>
            <a:srgbClr val="25252D"/>
          </a:solidFill>
          <a:ln/>
        </p:spPr>
      </p:sp>
      <p:sp>
        <p:nvSpPr>
          <p:cNvPr id="6" name="Text 4"/>
          <p:cNvSpPr txBox="1"/>
          <p:nvPr/>
        </p:nvSpPr>
        <p:spPr>
          <a:xfrm>
            <a:off x="1098523" y="1855344"/>
            <a:ext cx="2713660" cy="209545"/>
          </a:xfrm>
          <a:prstGeom prst="rect">
            <a:avLst/>
          </a:prstGeom>
          <a:noFill/>
          <a:ln/>
        </p:spPr>
        <p:txBody>
          <a:bodyPr wrap="square" lIns="0" tIns="0" rIns="0" bIns="0" rtlCol="0" anchor="t"/>
          <a:lstStyle/>
          <a:p>
            <a:pPr algn="l" indent="0" marL="0">
              <a:lnSpc>
                <a:spcPct val="106838"/>
              </a:lnSpc>
              <a:buNone/>
            </a:pPr>
            <a:r>
              <a:rPr lang="en-US" sz="1100" b="1" dirty="0">
                <a:solidFill>
                  <a:srgbClr val="C98B4B"/>
                </a:solidFill>
                <a:latin typeface="Poppins" pitchFamily="34" charset="0"/>
                <a:ea typeface="Poppins" pitchFamily="34" charset="-122"/>
                <a:cs typeface="Poppins" pitchFamily="34" charset="-120"/>
              </a:rPr>
              <a:t>● Bronze · como veio</a:t>
            </a:r>
            <a:endParaRPr lang="en-US" sz="1100" dirty="0"/>
          </a:p>
        </p:txBody>
      </p:sp>
      <p:sp>
        <p:nvSpPr>
          <p:cNvPr id="7" name="Text 5"/>
          <p:cNvSpPr txBox="1"/>
          <p:nvPr/>
        </p:nvSpPr>
        <p:spPr>
          <a:xfrm>
            <a:off x="984225" y="2217285"/>
            <a:ext cx="2951398" cy="591428"/>
          </a:xfrm>
          <a:prstGeom prst="rect">
            <a:avLst/>
          </a:prstGeom>
          <a:noFill/>
          <a:ln/>
        </p:spPr>
        <p:txBody>
          <a:bodyPr wrap="square" lIns="0" tIns="0" rIns="0" bIns="0" rtlCol="0" anchor="t"/>
          <a:lstStyle/>
          <a:p>
            <a:pPr algn="l" indent="0" marL="0">
              <a:lnSpc>
                <a:spcPct val="115385"/>
              </a:lnSpc>
              <a:buNone/>
            </a:pPr>
            <a:r>
              <a:rPr lang="en-US" sz="1150" dirty="0">
                <a:solidFill>
                  <a:srgbClr val="A3A6B4"/>
                </a:solidFill>
                <a:latin typeface="Poppins" pitchFamily="34" charset="0"/>
                <a:ea typeface="Poppins" pitchFamily="34" charset="-122"/>
                <a:cs typeface="Poppins" pitchFamily="34" charset="-120"/>
              </a:rPr>
              <a:t>o arquivo virou tabela, sem mexer em nada. A sujeira fica, de propósito: dá para voltar na origem e comparar.</a:t>
            </a:r>
            <a:endParaRPr lang="en-US" sz="1150" dirty="0"/>
          </a:p>
        </p:txBody>
      </p:sp>
      <p:sp>
        <p:nvSpPr>
          <p:cNvPr id="8" name="Shape 6"/>
          <p:cNvSpPr/>
          <p:nvPr/>
        </p:nvSpPr>
        <p:spPr>
          <a:xfrm>
            <a:off x="984225" y="2910311"/>
            <a:ext cx="541522" cy="247644"/>
          </a:xfrm>
          <a:prstGeom prst="roundRect">
            <a:avLst>
              <a:gd name="adj" fmla="val 50000"/>
            </a:avLst>
          </a:prstGeom>
          <a:solidFill>
            <a:srgbClr val="22C2F4">
              <a:alpha val="14000"/>
            </a:srgbClr>
          </a:solidFill>
          <a:ln/>
        </p:spPr>
      </p:sp>
      <p:sp>
        <p:nvSpPr>
          <p:cNvPr id="9" name="Text 7"/>
          <p:cNvSpPr txBox="1"/>
          <p:nvPr/>
        </p:nvSpPr>
        <p:spPr>
          <a:xfrm>
            <a:off x="1073123" y="2948410"/>
            <a:ext cx="378276"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noite 1</a:t>
            </a:r>
            <a:endParaRPr lang="en-US" sz="900" dirty="0"/>
          </a:p>
        </p:txBody>
      </p:sp>
      <p:sp>
        <p:nvSpPr>
          <p:cNvPr id="10" name="Text 8"/>
          <p:cNvSpPr txBox="1"/>
          <p:nvPr/>
        </p:nvSpPr>
        <p:spPr>
          <a:xfrm>
            <a:off x="4133251" y="2322454"/>
            <a:ext cx="241762" cy="380990"/>
          </a:xfrm>
          <a:prstGeom prst="rect">
            <a:avLst/>
          </a:prstGeom>
          <a:noFill/>
          <a:ln/>
        </p:spPr>
        <p:txBody>
          <a:bodyPr wrap="square" lIns="0" tIns="0" rIns="0" bIns="0" rtlCol="0" anchor="t"/>
          <a:lstStyle/>
          <a:p>
            <a:pPr algn="l" indent="0" marL="0">
              <a:lnSpc>
                <a:spcPct val="106838"/>
              </a:lnSpc>
              <a:buNone/>
            </a:pPr>
            <a:r>
              <a:rPr lang="en-US" sz="2000" dirty="0">
                <a:solidFill>
                  <a:srgbClr val="22C2F4"/>
                </a:solidFill>
                <a:latin typeface="Poppins" pitchFamily="34" charset="0"/>
                <a:ea typeface="Poppins" pitchFamily="34" charset="-122"/>
                <a:cs typeface="Poppins" pitchFamily="34" charset="-120"/>
              </a:rPr>
              <a:t>→</a:t>
            </a:r>
            <a:endParaRPr lang="en-US" sz="2000" dirty="0"/>
          </a:p>
        </p:txBody>
      </p:sp>
      <p:sp>
        <p:nvSpPr>
          <p:cNvPr id="11" name="Shape 9"/>
          <p:cNvSpPr/>
          <p:nvPr/>
        </p:nvSpPr>
        <p:spPr>
          <a:xfrm>
            <a:off x="4454612" y="1582301"/>
            <a:ext cx="3282471" cy="1861396"/>
          </a:xfrm>
          <a:prstGeom prst="roundRect">
            <a:avLst>
              <a:gd name="adj" fmla="val 8187"/>
            </a:avLst>
          </a:prstGeom>
          <a:solidFill>
            <a:srgbClr val="1E1E24"/>
          </a:solidFill>
          <a:ln w="6350">
            <a:solidFill>
              <a:srgbClr val="2F2F39"/>
            </a:solidFill>
            <a:prstDash val="solid"/>
          </a:ln>
        </p:spPr>
      </p:sp>
      <p:sp>
        <p:nvSpPr>
          <p:cNvPr id="12" name="Shape 10"/>
          <p:cNvSpPr/>
          <p:nvPr/>
        </p:nvSpPr>
        <p:spPr>
          <a:xfrm>
            <a:off x="4676857" y="1779146"/>
            <a:ext cx="2837982" cy="361941"/>
          </a:xfrm>
          <a:prstGeom prst="roundRect">
            <a:avLst>
              <a:gd name="adj" fmla="val 24561"/>
            </a:avLst>
          </a:prstGeom>
          <a:solidFill>
            <a:srgbClr val="25252D"/>
          </a:solidFill>
          <a:ln/>
        </p:spPr>
      </p:sp>
      <p:sp>
        <p:nvSpPr>
          <p:cNvPr id="13" name="Text 11"/>
          <p:cNvSpPr txBox="1"/>
          <p:nvPr/>
        </p:nvSpPr>
        <p:spPr>
          <a:xfrm>
            <a:off x="4791154" y="1855344"/>
            <a:ext cx="2713763" cy="209545"/>
          </a:xfrm>
          <a:prstGeom prst="rect">
            <a:avLst/>
          </a:prstGeom>
          <a:noFill/>
          <a:ln/>
        </p:spPr>
        <p:txBody>
          <a:bodyPr wrap="square" lIns="0" tIns="0" rIns="0" bIns="0" rtlCol="0" anchor="t"/>
          <a:lstStyle/>
          <a:p>
            <a:pPr algn="l" indent="0" marL="0">
              <a:lnSpc>
                <a:spcPct val="106838"/>
              </a:lnSpc>
              <a:buNone/>
            </a:pPr>
            <a:r>
              <a:rPr lang="en-US" sz="1100" b="1" dirty="0">
                <a:solidFill>
                  <a:srgbClr val="9FB0AA"/>
                </a:solidFill>
                <a:latin typeface="Poppins" pitchFamily="34" charset="0"/>
                <a:ea typeface="Poppins" pitchFamily="34" charset="-122"/>
                <a:cs typeface="Poppins" pitchFamily="34" charset="-120"/>
              </a:rPr>
              <a:t>● Silver · limpo e junto</a:t>
            </a:r>
            <a:endParaRPr lang="en-US" sz="1100" dirty="0"/>
          </a:p>
        </p:txBody>
      </p:sp>
      <p:sp>
        <p:nvSpPr>
          <p:cNvPr id="14" name="Text 12"/>
          <p:cNvSpPr txBox="1"/>
          <p:nvPr/>
        </p:nvSpPr>
        <p:spPr>
          <a:xfrm>
            <a:off x="4676857" y="2217285"/>
            <a:ext cx="2951501" cy="591428"/>
          </a:xfrm>
          <a:prstGeom prst="rect">
            <a:avLst/>
          </a:prstGeom>
          <a:noFill/>
          <a:ln/>
        </p:spPr>
        <p:txBody>
          <a:bodyPr wrap="square" lIns="0" tIns="0" rIns="0" bIns="0" rtlCol="0" anchor="t"/>
          <a:lstStyle/>
          <a:p>
            <a:pPr algn="l" indent="0" marL="0">
              <a:lnSpc>
                <a:spcPct val="115385"/>
              </a:lnSpc>
              <a:buNone/>
            </a:pPr>
            <a:r>
              <a:rPr lang="en-US" sz="1150" dirty="0">
                <a:solidFill>
                  <a:srgbClr val="A3A6B4"/>
                </a:solidFill>
                <a:latin typeface="Poppins" pitchFamily="34" charset="0"/>
                <a:ea typeface="Poppins" pitchFamily="34" charset="-122"/>
                <a:cs typeface="Poppins" pitchFamily="34" charset="-120"/>
              </a:rPr>
              <a:t>datas e números corrigidos, duplicatas fora, as 3 ferramentas num modelo só. Testado.</a:t>
            </a:r>
            <a:endParaRPr lang="en-US" sz="1150" dirty="0"/>
          </a:p>
        </p:txBody>
      </p:sp>
      <p:sp>
        <p:nvSpPr>
          <p:cNvPr id="15" name="Shape 13"/>
          <p:cNvSpPr/>
          <p:nvPr/>
        </p:nvSpPr>
        <p:spPr>
          <a:xfrm>
            <a:off x="4676857" y="2910311"/>
            <a:ext cx="565731" cy="247644"/>
          </a:xfrm>
          <a:prstGeom prst="roundRect">
            <a:avLst>
              <a:gd name="adj" fmla="val 50000"/>
            </a:avLst>
          </a:prstGeom>
          <a:solidFill>
            <a:srgbClr val="22C2F4">
              <a:alpha val="14000"/>
            </a:srgbClr>
          </a:solidFill>
          <a:ln/>
        </p:spPr>
      </p:sp>
      <p:sp>
        <p:nvSpPr>
          <p:cNvPr id="16" name="Text 14"/>
          <p:cNvSpPr txBox="1"/>
          <p:nvPr/>
        </p:nvSpPr>
        <p:spPr>
          <a:xfrm>
            <a:off x="4765754" y="2948410"/>
            <a:ext cx="403453"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noite 2</a:t>
            </a:r>
            <a:endParaRPr lang="en-US" sz="900" dirty="0"/>
          </a:p>
        </p:txBody>
      </p:sp>
      <p:sp>
        <p:nvSpPr>
          <p:cNvPr id="17" name="Text 15"/>
          <p:cNvSpPr txBox="1"/>
          <p:nvPr/>
        </p:nvSpPr>
        <p:spPr>
          <a:xfrm>
            <a:off x="7825981" y="2322454"/>
            <a:ext cx="241762" cy="380990"/>
          </a:xfrm>
          <a:prstGeom prst="rect">
            <a:avLst/>
          </a:prstGeom>
          <a:noFill/>
          <a:ln/>
        </p:spPr>
        <p:txBody>
          <a:bodyPr wrap="square" lIns="0" tIns="0" rIns="0" bIns="0" rtlCol="0" anchor="t"/>
          <a:lstStyle/>
          <a:p>
            <a:pPr algn="l" indent="0" marL="0">
              <a:lnSpc>
                <a:spcPct val="106838"/>
              </a:lnSpc>
              <a:buNone/>
            </a:pPr>
            <a:r>
              <a:rPr lang="en-US" sz="2000" dirty="0">
                <a:solidFill>
                  <a:srgbClr val="22C2F4"/>
                </a:solidFill>
                <a:latin typeface="Poppins" pitchFamily="34" charset="0"/>
                <a:ea typeface="Poppins" pitchFamily="34" charset="-122"/>
                <a:cs typeface="Poppins" pitchFamily="34" charset="-120"/>
              </a:rPr>
              <a:t>→</a:t>
            </a:r>
            <a:endParaRPr lang="en-US" sz="2000" dirty="0"/>
          </a:p>
        </p:txBody>
      </p:sp>
      <p:sp>
        <p:nvSpPr>
          <p:cNvPr id="18" name="Shape 16"/>
          <p:cNvSpPr/>
          <p:nvPr/>
        </p:nvSpPr>
        <p:spPr>
          <a:xfrm>
            <a:off x="8147342" y="1582301"/>
            <a:ext cx="3282372" cy="1861396"/>
          </a:xfrm>
          <a:prstGeom prst="roundRect">
            <a:avLst>
              <a:gd name="adj" fmla="val 8187"/>
            </a:avLst>
          </a:prstGeom>
          <a:solidFill>
            <a:srgbClr val="0059DB"/>
          </a:solidFill>
          <a:ln/>
        </p:spPr>
      </p:sp>
      <p:sp>
        <p:nvSpPr>
          <p:cNvPr id="19" name="Shape 17"/>
          <p:cNvSpPr/>
          <p:nvPr/>
        </p:nvSpPr>
        <p:spPr>
          <a:xfrm>
            <a:off x="8369587" y="1779146"/>
            <a:ext cx="2837883" cy="361941"/>
          </a:xfrm>
          <a:prstGeom prst="roundRect">
            <a:avLst>
              <a:gd name="adj" fmla="val 24561"/>
            </a:avLst>
          </a:prstGeom>
          <a:solidFill>
            <a:srgbClr val="25252D"/>
          </a:solidFill>
          <a:ln/>
        </p:spPr>
      </p:sp>
      <p:sp>
        <p:nvSpPr>
          <p:cNvPr id="20" name="Text 18"/>
          <p:cNvSpPr txBox="1"/>
          <p:nvPr/>
        </p:nvSpPr>
        <p:spPr>
          <a:xfrm>
            <a:off x="8483884" y="1855344"/>
            <a:ext cx="2713660" cy="209545"/>
          </a:xfrm>
          <a:prstGeom prst="rect">
            <a:avLst/>
          </a:prstGeom>
          <a:noFill/>
          <a:ln/>
        </p:spPr>
        <p:txBody>
          <a:bodyPr wrap="square" lIns="0" tIns="0" rIns="0" bIns="0" rtlCol="0" anchor="t"/>
          <a:lstStyle/>
          <a:p>
            <a:pPr algn="l" indent="0" marL="0">
              <a:lnSpc>
                <a:spcPct val="106838"/>
              </a:lnSpc>
              <a:buNone/>
            </a:pPr>
            <a:r>
              <a:rPr lang="en-US" sz="1100" b="1" dirty="0">
                <a:solidFill>
                  <a:srgbClr val="E8C34A"/>
                </a:solidFill>
                <a:latin typeface="Poppins" pitchFamily="34" charset="0"/>
                <a:ea typeface="Poppins" pitchFamily="34" charset="-122"/>
                <a:cs typeface="Poppins" pitchFamily="34" charset="-120"/>
              </a:rPr>
              <a:t>● Gold · pronto para decidir</a:t>
            </a:r>
            <a:endParaRPr lang="en-US" sz="1100" dirty="0"/>
          </a:p>
        </p:txBody>
      </p:sp>
      <p:sp>
        <p:nvSpPr>
          <p:cNvPr id="21" name="Text 19"/>
          <p:cNvSpPr txBox="1"/>
          <p:nvPr/>
        </p:nvSpPr>
        <p:spPr>
          <a:xfrm>
            <a:off x="8369587" y="2217285"/>
            <a:ext cx="2951398" cy="591428"/>
          </a:xfrm>
          <a:prstGeom prst="rect">
            <a:avLst/>
          </a:prstGeom>
          <a:noFill/>
          <a:ln/>
        </p:spPr>
        <p:txBody>
          <a:bodyPr wrap="square" lIns="0" tIns="0" rIns="0" bIns="0" rtlCol="0" anchor="t"/>
          <a:lstStyle/>
          <a:p>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uma tabela por pergunta do dono, com o KPI calculado. É o que dashboard, Genie e app leem.</a:t>
            </a:r>
            <a:endParaRPr lang="en-US" sz="1150" dirty="0"/>
          </a:p>
        </p:txBody>
      </p:sp>
      <p:sp>
        <p:nvSpPr>
          <p:cNvPr id="22" name="Shape 20"/>
          <p:cNvSpPr/>
          <p:nvPr/>
        </p:nvSpPr>
        <p:spPr>
          <a:xfrm>
            <a:off x="8369587" y="2910311"/>
            <a:ext cx="835500" cy="247644"/>
          </a:xfrm>
          <a:prstGeom prst="roundRect">
            <a:avLst>
              <a:gd name="adj" fmla="val 50000"/>
            </a:avLst>
          </a:prstGeom>
          <a:solidFill>
            <a:srgbClr val="FFFFFF">
              <a:alpha val="16000"/>
            </a:srgbClr>
          </a:solidFill>
          <a:ln/>
        </p:spPr>
      </p:sp>
      <p:sp>
        <p:nvSpPr>
          <p:cNvPr id="23" name="Text 21"/>
          <p:cNvSpPr txBox="1"/>
          <p:nvPr/>
        </p:nvSpPr>
        <p:spPr>
          <a:xfrm>
            <a:off x="8458485" y="2948410"/>
            <a:ext cx="684013"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noites 2 a 4</a:t>
            </a:r>
            <a:endParaRPr lang="en-US" sz="900" dirty="0"/>
          </a:p>
        </p:txBody>
      </p:sp>
      <p:sp>
        <p:nvSpPr>
          <p:cNvPr id="24" name="Shape 22"/>
          <p:cNvSpPr/>
          <p:nvPr/>
        </p:nvSpPr>
        <p:spPr>
          <a:xfrm>
            <a:off x="761981" y="3621493"/>
            <a:ext cx="25399" cy="285743"/>
          </a:xfrm>
          <a:prstGeom prst="rect">
            <a:avLst/>
          </a:prstGeom>
          <a:solidFill>
            <a:srgbClr val="22C2F4"/>
          </a:solidFill>
          <a:ln/>
        </p:spPr>
      </p:sp>
      <p:sp>
        <p:nvSpPr>
          <p:cNvPr id="25" name="Text 23"/>
          <p:cNvSpPr txBox="1"/>
          <p:nvPr/>
        </p:nvSpPr>
        <p:spPr>
          <a:xfrm>
            <a:off x="914377" y="3659592"/>
            <a:ext cx="10935951" cy="209545"/>
          </a:xfrm>
          <a:prstGeom prst="rect">
            <a:avLst/>
          </a:prstGeom>
          <a:noFill/>
          <a:ln/>
        </p:spPr>
        <p:txBody>
          <a:bodyPr wrap="square" lIns="0" tIns="0" rIns="0" bIns="0" rtlCol="0" anchor="t"/>
          <a:lstStyle/>
          <a:p>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Separar em camadas é o que permite consertar um erro sem perder a origem, e trocar uma fonte sem quebrar o dashboard.</a:t>
            </a:r>
            <a:endParaRPr lang="en-US" sz="1100" dirty="0"/>
          </a:p>
        </p:txBody>
      </p:sp>
      <p:pic>
        <p:nvPicPr>
          <p:cNvPr id="26"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27" name="Text 24"/>
          <p:cNvSpPr txBox="1"/>
          <p:nvPr/>
        </p:nvSpPr>
        <p:spPr>
          <a:xfrm>
            <a:off x="10956453" y="6387940"/>
            <a:ext cx="492192"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22 / 133</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2007244"/>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1 · SEGUNDA, 19/10 · ANALISTA</a:t>
            </a:r>
            <a:endParaRPr lang="en-US" sz="1200" dirty="0"/>
          </a:p>
        </p:txBody>
      </p:sp>
      <p:sp>
        <p:nvSpPr>
          <p:cNvPr id="3" name="Text 1"/>
          <p:cNvSpPr txBox="1"/>
          <p:nvPr/>
        </p:nvSpPr>
        <p:spPr>
          <a:xfrm>
            <a:off x="761981" y="2331086"/>
            <a:ext cx="11094443" cy="1554322"/>
          </a:xfrm>
          <a:prstGeom prst="rect">
            <a:avLst/>
          </a:prstGeom>
          <a:noFill/>
          <a:ln/>
        </p:spPr>
        <p:txBody>
          <a:bodyPr wrap="square" lIns="0" tIns="0" rIns="0" bIns="0" rtlCol="0" anchor="t"/>
          <a:lstStyle/>
          <a:p>
            <a:pPr algn="l" indent="0" marL="0">
              <a:lnSpc>
                <a:spcPct val="87179"/>
              </a:lnSpc>
              <a:buNone/>
            </a:pPr>
            <a:r>
              <a:rPr lang="en-US" sz="6000" b="1" spc="-120" kern="0" dirty="0">
                <a:solidFill>
                  <a:srgbClr val="F5F6FC"/>
                </a:solidFill>
                <a:latin typeface="Poppins" pitchFamily="34" charset="0"/>
                <a:ea typeface="Poppins" pitchFamily="34" charset="-122"/>
                <a:cs typeface="Poppins" pitchFamily="34" charset="-120"/>
              </a:rPr>
              <a:t>Ler tudo,</a:t>
            </a:r>
            <a:endParaRPr lang="en-US" sz="6000" dirty="0"/>
          </a:p>
          <a:p>
            <a:pPr algn="l" indent="0" marL="0">
              <a:lnSpc>
                <a:spcPct val="87179"/>
              </a:lnSpc>
              <a:buNone/>
            </a:pPr>
            <a:r>
              <a:rPr lang="en-US" sz="6000" b="1" spc="-120" kern="0" dirty="0">
                <a:solidFill>
                  <a:srgbClr val="22C2F4"/>
                </a:solidFill>
                <a:latin typeface="Poppins" pitchFamily="34" charset="0"/>
                <a:ea typeface="Poppins" pitchFamily="34" charset="-122"/>
                <a:cs typeface="Poppins" pitchFamily="34" charset="-120"/>
              </a:rPr>
              <a:t>sem converter nada</a:t>
            </a:r>
            <a:endParaRPr lang="en-US" sz="6000" dirty="0"/>
          </a:p>
        </p:txBody>
      </p:sp>
      <p:sp>
        <p:nvSpPr>
          <p:cNvPr id="4" name="Text 2"/>
          <p:cNvSpPr txBox="1"/>
          <p:nvPr/>
        </p:nvSpPr>
        <p:spPr>
          <a:xfrm>
            <a:off x="761981" y="4075904"/>
            <a:ext cx="11094443" cy="647684"/>
          </a:xfrm>
          <a:prstGeom prst="rect">
            <a:avLst/>
          </a:prstGeom>
          <a:noFill/>
          <a:ln/>
        </p:spPr>
        <p:txBody>
          <a:bodyPr wrap="square" lIns="0" tIns="0" rIns="0" bIns="0" rtlCol="0" anchor="t"/>
          <a:lstStyle/>
          <a:p>
            <a:pPr algn="l" indent="0" marL="0">
              <a:lnSpc>
                <a:spcPct val="106838"/>
              </a:lnSpc>
              <a:buNone/>
            </a:pPr>
            <a:r>
              <a:rPr lang="en-US" sz="1700" dirty="0">
                <a:solidFill>
                  <a:srgbClr val="A3A6B4"/>
                </a:solidFill>
                <a:latin typeface="Poppins" pitchFamily="34" charset="0"/>
                <a:ea typeface="Poppins" pitchFamily="34" charset="-122"/>
                <a:cs typeface="Poppins" pitchFamily="34" charset="-120"/>
              </a:rPr>
              <a:t>Só navegador. Planilha, JSON e XML viram tabela com o mesmo comando, e o SQL responde as perguntas 1 e 2.</a:t>
            </a:r>
            <a:endParaRPr lang="en-US" sz="1700" dirty="0"/>
          </a:p>
        </p:txBody>
      </p:sp>
      <p:pic>
        <p:nvPicPr>
          <p:cNvPr id="5" name="Image 0" descr="preencoded.png">    </p:cNvPr>
          <p:cNvPicPr>
            <a:picLocks noChangeAspect="1"/>
          </p:cNvPicPr>
          <p:nvPr/>
        </p:nvPicPr>
        <p:blipFill>
          <a:blip r:embed="rId2"/>
          <a:stretch>
            <a:fillRect/>
          </a:stretch>
        </p:blipFill>
        <p:spPr>
          <a:xfrm>
            <a:off x="761981" y="6299043"/>
            <a:ext cx="3021135" cy="279393"/>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1 · O QUE VOCÊ ENTREGA</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Seis entregas,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todas no navegador</a:t>
            </a:r>
            <a:endParaRPr lang="en-US" sz="3100" dirty="0"/>
          </a:p>
        </p:txBody>
      </p:sp>
      <p:sp>
        <p:nvSpPr>
          <p:cNvPr id="4" name="Text 2"/>
          <p:cNvSpPr txBox="1"/>
          <p:nvPr/>
        </p:nvSpPr>
        <p:spPr>
          <a:xfrm>
            <a:off x="876278" y="1582301"/>
            <a:ext cx="149825" cy="171446"/>
          </a:xfrm>
          <a:prstGeom prst="rect">
            <a:avLst/>
          </a:prstGeom>
          <a:noFill/>
          <a:ln/>
        </p:spPr>
        <p:txBody>
          <a:bodyPr wrap="square" lIns="0" tIns="0" rIns="0" bIns="0" rtlCol="0" anchor="t"/>
          <a:lstStyle/>
          <a:p>
            <a:pPr algn="l"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a:t>
            </a:r>
            <a:endParaRPr lang="en-US" sz="900" dirty="0"/>
          </a:p>
        </p:txBody>
      </p:sp>
      <p:sp>
        <p:nvSpPr>
          <p:cNvPr id="5" name="Text 3"/>
          <p:cNvSpPr txBox="1"/>
          <p:nvPr/>
        </p:nvSpPr>
        <p:spPr>
          <a:xfrm>
            <a:off x="1248934" y="1582301"/>
            <a:ext cx="4193642" cy="171446"/>
          </a:xfrm>
          <a:prstGeom prst="rect">
            <a:avLst/>
          </a:prstGeom>
          <a:noFill/>
          <a:ln/>
        </p:spPr>
        <p:txBody>
          <a:bodyPr wrap="square" lIns="0" tIns="0" rIns="0" bIns="0" rtlCol="0" anchor="t"/>
          <a:lstStyle/>
          <a:p>
            <a:pPr algn="l"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ENTREGA</a:t>
            </a:r>
            <a:endParaRPr lang="en-US" sz="900" dirty="0"/>
          </a:p>
        </p:txBody>
      </p:sp>
      <p:sp>
        <p:nvSpPr>
          <p:cNvPr id="6" name="Text 4"/>
          <p:cNvSpPr txBox="1"/>
          <p:nvPr/>
        </p:nvSpPr>
        <p:spPr>
          <a:xfrm>
            <a:off x="5509876" y="1582301"/>
            <a:ext cx="6037762" cy="171446"/>
          </a:xfrm>
          <a:prstGeom prst="rect">
            <a:avLst/>
          </a:prstGeom>
          <a:noFill/>
          <a:ln/>
        </p:spPr>
        <p:txBody>
          <a:bodyPr wrap="square" lIns="0" tIns="0" rIns="0" bIns="0" rtlCol="0" anchor="t"/>
          <a:lstStyle/>
          <a:p>
            <a:pPr algn="l"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COMO VOCÊ SABE QUE CHEGOU LÁ</a:t>
            </a:r>
            <a:endParaRPr lang="en-US" sz="900" dirty="0"/>
          </a:p>
        </p:txBody>
      </p:sp>
      <p:sp>
        <p:nvSpPr>
          <p:cNvPr id="7" name="Shape 5"/>
          <p:cNvSpPr/>
          <p:nvPr/>
        </p:nvSpPr>
        <p:spPr>
          <a:xfrm>
            <a:off x="761981" y="1880744"/>
            <a:ext cx="372656" cy="401231"/>
          </a:xfrm>
          <a:prstGeom prst="rect">
            <a:avLst/>
          </a:prstGeom>
          <a:solidFill>
            <a:srgbClr val="1E1E24"/>
          </a:solidFill>
          <a:ln/>
        </p:spPr>
      </p:sp>
      <p:sp>
        <p:nvSpPr>
          <p:cNvPr id="8" name="Text 6"/>
          <p:cNvSpPr txBox="1"/>
          <p:nvPr/>
        </p:nvSpPr>
        <p:spPr>
          <a:xfrm>
            <a:off x="876278" y="1982341"/>
            <a:ext cx="149825" cy="198036"/>
          </a:xfrm>
          <a:prstGeom prst="rect">
            <a:avLst/>
          </a:prstGeom>
          <a:noFill/>
          <a:ln/>
        </p:spPr>
        <p:txBody>
          <a:bodyPr wrap="square" lIns="0" tIns="0" rIns="0" bIns="0" rtlCol="0" anchor="t"/>
          <a:lstStyle/>
          <a:p>
            <a:pPr algn="l" indent="0" marL="0">
              <a:lnSpc>
                <a:spcPct val="111111"/>
              </a:lnSpc>
              <a:buNone/>
            </a:pPr>
            <a:r>
              <a:rPr lang="en-US" sz="1200" b="1" dirty="0">
                <a:solidFill>
                  <a:srgbClr val="F5F6FC"/>
                </a:solidFill>
                <a:latin typeface="Poppins" pitchFamily="34" charset="0"/>
                <a:ea typeface="Poppins" pitchFamily="34" charset="-122"/>
                <a:cs typeface="Poppins" pitchFamily="34" charset="-120"/>
              </a:rPr>
              <a:t>1</a:t>
            </a:r>
            <a:endParaRPr lang="en-US" sz="1200" dirty="0"/>
          </a:p>
        </p:txBody>
      </p:sp>
      <p:sp>
        <p:nvSpPr>
          <p:cNvPr id="9" name="Shape 7"/>
          <p:cNvSpPr/>
          <p:nvPr/>
        </p:nvSpPr>
        <p:spPr>
          <a:xfrm>
            <a:off x="1134637" y="1880744"/>
            <a:ext cx="4260942" cy="401231"/>
          </a:xfrm>
          <a:prstGeom prst="rect">
            <a:avLst/>
          </a:prstGeom>
          <a:solidFill>
            <a:srgbClr val="1E1E24"/>
          </a:solidFill>
          <a:ln/>
        </p:spPr>
      </p:sp>
      <p:sp>
        <p:nvSpPr>
          <p:cNvPr id="10" name="Text 8"/>
          <p:cNvSpPr txBox="1"/>
          <p:nvPr/>
        </p:nvSpPr>
        <p:spPr>
          <a:xfrm>
            <a:off x="1248934" y="1982341"/>
            <a:ext cx="4193642" cy="198036"/>
          </a:xfrm>
          <a:prstGeom prst="rect">
            <a:avLst/>
          </a:prstGeom>
          <a:noFill/>
          <a:ln/>
        </p:spPr>
        <p:txBody>
          <a:bodyPr wrap="square" lIns="0" tIns="0" rIns="0" bIns="0" rtlCol="0" anchor="t"/>
          <a:lstStyle/>
          <a:p>
            <a:pPr algn="l" indent="0" marL="0">
              <a:lnSpc>
                <a:spcPct val="111111"/>
              </a:lnSpc>
              <a:buNone/>
            </a:pPr>
            <a:r>
              <a:rPr lang="en-US" sz="1200" dirty="0">
                <a:solidFill>
                  <a:srgbClr val="F5F6FC"/>
                </a:solidFill>
                <a:latin typeface="Poppins" pitchFamily="34" charset="0"/>
                <a:ea typeface="Poppins" pitchFamily="34" charset="-122"/>
                <a:cs typeface="Poppins" pitchFamily="34" charset="-120"/>
              </a:rPr>
              <a:t>Ambiente no Databricks Free Edition</a:t>
            </a:r>
            <a:endParaRPr lang="en-US" sz="1200" dirty="0"/>
          </a:p>
        </p:txBody>
      </p:sp>
      <p:sp>
        <p:nvSpPr>
          <p:cNvPr id="11" name="Shape 9"/>
          <p:cNvSpPr/>
          <p:nvPr/>
        </p:nvSpPr>
        <p:spPr>
          <a:xfrm>
            <a:off x="5395579" y="1880744"/>
            <a:ext cx="6034135" cy="401231"/>
          </a:xfrm>
          <a:prstGeom prst="rect">
            <a:avLst/>
          </a:prstGeom>
          <a:solidFill>
            <a:srgbClr val="1E1E24"/>
          </a:solidFill>
          <a:ln/>
        </p:spPr>
      </p:sp>
      <p:sp>
        <p:nvSpPr>
          <p:cNvPr id="12" name="Text 10"/>
          <p:cNvSpPr txBox="1"/>
          <p:nvPr/>
        </p:nvSpPr>
        <p:spPr>
          <a:xfrm>
            <a:off x="5509876" y="1982341"/>
            <a:ext cx="6037762" cy="198036"/>
          </a:xfrm>
          <a:prstGeom prst="rect">
            <a:avLst/>
          </a:prstGeom>
          <a:noFill/>
          <a:ln/>
        </p:spPr>
        <p:txBody>
          <a:bodyPr wrap="square" lIns="0" tIns="0" rIns="0" bIns="0" rtlCol="0" anchor="t"/>
          <a:lstStyle/>
          <a:p>
            <a:pPr algn="l" indent="0" marL="0">
              <a:lnSpc>
                <a:spcPct val="111111"/>
              </a:lnSpc>
              <a:buNone/>
            </a:pPr>
            <a:r>
              <a:rPr lang="en-US" sz="1200" dirty="0">
                <a:solidFill>
                  <a:srgbClr val="F5F6FC"/>
                </a:solidFill>
                <a:latin typeface="Poppins" pitchFamily="34" charset="0"/>
                <a:ea typeface="Poppins" pitchFamily="34" charset="-122"/>
                <a:cs typeface="Poppins" pitchFamily="34" charset="-120"/>
              </a:rPr>
              <a:t>catálogo </a:t>
            </a:r>
            <a:pPr algn="l" indent="0" marL="0">
              <a:lnSpc>
                <a:spcPct val="111111"/>
              </a:lnSpc>
              <a:buNone/>
            </a:pPr>
            <a:r>
              <a:rPr lang="en-US" sz="1200" b="1" dirty="0">
                <a:solidFill>
                  <a:srgbClr val="FFFFFF"/>
                </a:solidFill>
                <a:latin typeface="Poppins" pitchFamily="34" charset="0"/>
                <a:ea typeface="Poppins" pitchFamily="34" charset="-122"/>
                <a:cs typeface="Poppins" pitchFamily="34" charset="-120"/>
              </a:rPr>
              <a:t>lakehouse_vertice</a:t>
            </a:r>
            <a:pPr algn="l" indent="0" marL="0">
              <a:lnSpc>
                <a:spcPct val="111111"/>
              </a:lnSpc>
              <a:buNone/>
            </a:pPr>
            <a:r>
              <a:rPr lang="en-US" sz="1200" dirty="0">
                <a:solidFill>
                  <a:srgbClr val="F5F6FC"/>
                </a:solidFill>
                <a:latin typeface="Poppins" pitchFamily="34" charset="0"/>
                <a:ea typeface="Poppins" pitchFamily="34" charset="-122"/>
                <a:cs typeface="Poppins" pitchFamily="34" charset="-120"/>
              </a:rPr>
              <a:t> com bronze, silver, gold e o volume </a:t>
            </a:r>
            <a:pPr algn="l" indent="0" marL="0">
              <a:lnSpc>
                <a:spcPct val="111111"/>
              </a:lnSpc>
              <a:buNone/>
            </a:pPr>
            <a:r>
              <a:rPr lang="en-US" sz="1200" b="1" dirty="0">
                <a:solidFill>
                  <a:srgbClr val="FFFFFF"/>
                </a:solidFill>
                <a:latin typeface="Poppins" pitchFamily="34" charset="0"/>
                <a:ea typeface="Poppins" pitchFamily="34" charset="-122"/>
                <a:cs typeface="Poppins" pitchFamily="34" charset="-120"/>
              </a:rPr>
              <a:t>raw</a:t>
            </a:r>
            <a:endParaRPr lang="en-US" sz="1200" dirty="0"/>
          </a:p>
        </p:txBody>
      </p:sp>
      <p:sp>
        <p:nvSpPr>
          <p:cNvPr id="13" name="Shape 11"/>
          <p:cNvSpPr/>
          <p:nvPr/>
        </p:nvSpPr>
        <p:spPr>
          <a:xfrm>
            <a:off x="761981" y="2332773"/>
            <a:ext cx="372656" cy="401231"/>
          </a:xfrm>
          <a:prstGeom prst="rect">
            <a:avLst/>
          </a:prstGeom>
          <a:solidFill>
            <a:srgbClr val="1E1E24"/>
          </a:solidFill>
          <a:ln/>
        </p:spPr>
      </p:sp>
      <p:sp>
        <p:nvSpPr>
          <p:cNvPr id="14" name="Text 12"/>
          <p:cNvSpPr txBox="1"/>
          <p:nvPr/>
        </p:nvSpPr>
        <p:spPr>
          <a:xfrm>
            <a:off x="876278" y="2434370"/>
            <a:ext cx="149825" cy="198036"/>
          </a:xfrm>
          <a:prstGeom prst="rect">
            <a:avLst/>
          </a:prstGeom>
          <a:noFill/>
          <a:ln/>
        </p:spPr>
        <p:txBody>
          <a:bodyPr wrap="square" lIns="0" tIns="0" rIns="0" bIns="0" rtlCol="0" anchor="t"/>
          <a:lstStyle/>
          <a:p>
            <a:pPr algn="l" indent="0" marL="0">
              <a:lnSpc>
                <a:spcPct val="111111"/>
              </a:lnSpc>
              <a:buNone/>
            </a:pPr>
            <a:r>
              <a:rPr lang="en-US" sz="1200" b="1" dirty="0">
                <a:solidFill>
                  <a:srgbClr val="F5F6FC"/>
                </a:solidFill>
                <a:latin typeface="Poppins" pitchFamily="34" charset="0"/>
                <a:ea typeface="Poppins" pitchFamily="34" charset="-122"/>
                <a:cs typeface="Poppins" pitchFamily="34" charset="-120"/>
              </a:rPr>
              <a:t>2</a:t>
            </a:r>
            <a:endParaRPr lang="en-US" sz="1200" dirty="0"/>
          </a:p>
        </p:txBody>
      </p:sp>
      <p:sp>
        <p:nvSpPr>
          <p:cNvPr id="15" name="Shape 13"/>
          <p:cNvSpPr/>
          <p:nvPr/>
        </p:nvSpPr>
        <p:spPr>
          <a:xfrm>
            <a:off x="1134637" y="2332773"/>
            <a:ext cx="4260942" cy="401231"/>
          </a:xfrm>
          <a:prstGeom prst="rect">
            <a:avLst/>
          </a:prstGeom>
          <a:solidFill>
            <a:srgbClr val="1E1E24"/>
          </a:solidFill>
          <a:ln/>
        </p:spPr>
      </p:sp>
      <p:sp>
        <p:nvSpPr>
          <p:cNvPr id="16" name="Text 14"/>
          <p:cNvSpPr txBox="1"/>
          <p:nvPr/>
        </p:nvSpPr>
        <p:spPr>
          <a:xfrm>
            <a:off x="1248934" y="2434370"/>
            <a:ext cx="4193642" cy="198036"/>
          </a:xfrm>
          <a:prstGeom prst="rect">
            <a:avLst/>
          </a:prstGeom>
          <a:noFill/>
          <a:ln/>
        </p:spPr>
        <p:txBody>
          <a:bodyPr wrap="square" lIns="0" tIns="0" rIns="0" bIns="0" rtlCol="0" anchor="t"/>
          <a:lstStyle/>
          <a:p>
            <a:pPr algn="l" indent="0" marL="0">
              <a:lnSpc>
                <a:spcPct val="111111"/>
              </a:lnSpc>
              <a:buNone/>
            </a:pPr>
            <a:r>
              <a:rPr lang="en-US" sz="1200" dirty="0">
                <a:solidFill>
                  <a:srgbClr val="F5F6FC"/>
                </a:solidFill>
                <a:latin typeface="Poppins" pitchFamily="34" charset="0"/>
                <a:ea typeface="Poppins" pitchFamily="34" charset="-122"/>
                <a:cs typeface="Poppins" pitchFamily="34" charset="-120"/>
              </a:rPr>
              <a:t>Excel, JSON e XML lidos com o mesmo comando</a:t>
            </a:r>
            <a:endParaRPr lang="en-US" sz="1200" dirty="0"/>
          </a:p>
        </p:txBody>
      </p:sp>
      <p:sp>
        <p:nvSpPr>
          <p:cNvPr id="17" name="Shape 15"/>
          <p:cNvSpPr/>
          <p:nvPr/>
        </p:nvSpPr>
        <p:spPr>
          <a:xfrm>
            <a:off x="5395579" y="2332773"/>
            <a:ext cx="6034135" cy="401231"/>
          </a:xfrm>
          <a:prstGeom prst="rect">
            <a:avLst/>
          </a:prstGeom>
          <a:solidFill>
            <a:srgbClr val="1E1E24"/>
          </a:solidFill>
          <a:ln/>
        </p:spPr>
      </p:sp>
      <p:sp>
        <p:nvSpPr>
          <p:cNvPr id="18" name="Text 16"/>
          <p:cNvSpPr txBox="1"/>
          <p:nvPr/>
        </p:nvSpPr>
        <p:spPr>
          <a:xfrm>
            <a:off x="5509876" y="2434370"/>
            <a:ext cx="6037762" cy="198036"/>
          </a:xfrm>
          <a:prstGeom prst="rect">
            <a:avLst/>
          </a:prstGeom>
          <a:noFill/>
          <a:ln/>
        </p:spPr>
        <p:txBody>
          <a:bodyPr wrap="square" lIns="0" tIns="0" rIns="0" bIns="0" rtlCol="0" anchor="t"/>
          <a:lstStyle/>
          <a:p>
            <a:pPr algn="l" indent="0" marL="0">
              <a:lnSpc>
                <a:spcPct val="111111"/>
              </a:lnSpc>
              <a:buNone/>
            </a:pPr>
            <a:r>
              <a:rPr lang="en-US" sz="1200" b="1" dirty="0">
                <a:solidFill>
                  <a:srgbClr val="FFFFFF"/>
                </a:solidFill>
                <a:latin typeface="Poppins" pitchFamily="34" charset="0"/>
                <a:ea typeface="Poppins" pitchFamily="34" charset="-122"/>
                <a:cs typeface="Poppins" pitchFamily="34" charset="-120"/>
              </a:rPr>
              <a:t>9 tabelas</a:t>
            </a:r>
            <a:pPr algn="l" indent="0" marL="0">
              <a:lnSpc>
                <a:spcPct val="111111"/>
              </a:lnSpc>
              <a:buNone/>
            </a:pPr>
            <a:r>
              <a:rPr lang="en-US" sz="1200" dirty="0">
                <a:solidFill>
                  <a:srgbClr val="F5F6FC"/>
                </a:solidFill>
                <a:latin typeface="Poppins" pitchFamily="34" charset="0"/>
                <a:ea typeface="Poppins" pitchFamily="34" charset="-122"/>
                <a:cs typeface="Poppins" pitchFamily="34" charset="-120"/>
              </a:rPr>
              <a:t> na bronze, contagens iguais às da verificação</a:t>
            </a:r>
            <a:endParaRPr lang="en-US" sz="1200" dirty="0"/>
          </a:p>
        </p:txBody>
      </p:sp>
      <p:sp>
        <p:nvSpPr>
          <p:cNvPr id="19" name="Shape 17"/>
          <p:cNvSpPr/>
          <p:nvPr/>
        </p:nvSpPr>
        <p:spPr>
          <a:xfrm>
            <a:off x="761981" y="2784802"/>
            <a:ext cx="372656" cy="401231"/>
          </a:xfrm>
          <a:prstGeom prst="rect">
            <a:avLst/>
          </a:prstGeom>
          <a:solidFill>
            <a:srgbClr val="1E1E24"/>
          </a:solidFill>
          <a:ln/>
        </p:spPr>
      </p:sp>
      <p:sp>
        <p:nvSpPr>
          <p:cNvPr id="20" name="Text 18"/>
          <p:cNvSpPr txBox="1"/>
          <p:nvPr/>
        </p:nvSpPr>
        <p:spPr>
          <a:xfrm>
            <a:off x="876278" y="2886400"/>
            <a:ext cx="149825" cy="198036"/>
          </a:xfrm>
          <a:prstGeom prst="rect">
            <a:avLst/>
          </a:prstGeom>
          <a:noFill/>
          <a:ln/>
        </p:spPr>
        <p:txBody>
          <a:bodyPr wrap="square" lIns="0" tIns="0" rIns="0" bIns="0" rtlCol="0" anchor="t"/>
          <a:lstStyle/>
          <a:p>
            <a:pPr algn="l" indent="0" marL="0">
              <a:lnSpc>
                <a:spcPct val="111111"/>
              </a:lnSpc>
              <a:buNone/>
            </a:pPr>
            <a:r>
              <a:rPr lang="en-US" sz="1200" b="1" dirty="0">
                <a:solidFill>
                  <a:srgbClr val="F5F6FC"/>
                </a:solidFill>
                <a:latin typeface="Poppins" pitchFamily="34" charset="0"/>
                <a:ea typeface="Poppins" pitchFamily="34" charset="-122"/>
                <a:cs typeface="Poppins" pitchFamily="34" charset="-120"/>
              </a:rPr>
              <a:t>3</a:t>
            </a:r>
            <a:endParaRPr lang="en-US" sz="1200" dirty="0"/>
          </a:p>
        </p:txBody>
      </p:sp>
      <p:sp>
        <p:nvSpPr>
          <p:cNvPr id="21" name="Shape 19"/>
          <p:cNvSpPr/>
          <p:nvPr/>
        </p:nvSpPr>
        <p:spPr>
          <a:xfrm>
            <a:off x="1134637" y="2784802"/>
            <a:ext cx="4260942" cy="401231"/>
          </a:xfrm>
          <a:prstGeom prst="rect">
            <a:avLst/>
          </a:prstGeom>
          <a:solidFill>
            <a:srgbClr val="1E1E24"/>
          </a:solidFill>
          <a:ln/>
        </p:spPr>
      </p:sp>
      <p:sp>
        <p:nvSpPr>
          <p:cNvPr id="22" name="Text 20"/>
          <p:cNvSpPr txBox="1"/>
          <p:nvPr/>
        </p:nvSpPr>
        <p:spPr>
          <a:xfrm>
            <a:off x="1248934" y="2886400"/>
            <a:ext cx="4193642" cy="198036"/>
          </a:xfrm>
          <a:prstGeom prst="rect">
            <a:avLst/>
          </a:prstGeom>
          <a:noFill/>
          <a:ln/>
        </p:spPr>
        <p:txBody>
          <a:bodyPr wrap="square" lIns="0" tIns="0" rIns="0" bIns="0" rtlCol="0" anchor="t"/>
          <a:lstStyle/>
          <a:p>
            <a:pPr algn="l" indent="0" marL="0">
              <a:lnSpc>
                <a:spcPct val="111111"/>
              </a:lnSpc>
              <a:buNone/>
            </a:pPr>
            <a:r>
              <a:rPr lang="en-US" sz="1200" dirty="0">
                <a:solidFill>
                  <a:srgbClr val="F5F6FC"/>
                </a:solidFill>
                <a:latin typeface="Poppins" pitchFamily="34" charset="0"/>
                <a:ea typeface="Poppins" pitchFamily="34" charset="-122"/>
                <a:cs typeface="Poppins" pitchFamily="34" charset="-120"/>
              </a:rPr>
              <a:t>A sujeira encontrada antes de virar decisão</a:t>
            </a:r>
            <a:endParaRPr lang="en-US" sz="1200" dirty="0"/>
          </a:p>
        </p:txBody>
      </p:sp>
      <p:sp>
        <p:nvSpPr>
          <p:cNvPr id="23" name="Shape 21"/>
          <p:cNvSpPr/>
          <p:nvPr/>
        </p:nvSpPr>
        <p:spPr>
          <a:xfrm>
            <a:off x="5395579" y="2784802"/>
            <a:ext cx="6034135" cy="401231"/>
          </a:xfrm>
          <a:prstGeom prst="rect">
            <a:avLst/>
          </a:prstGeom>
          <a:solidFill>
            <a:srgbClr val="1E1E24"/>
          </a:solidFill>
          <a:ln/>
        </p:spPr>
      </p:sp>
      <p:sp>
        <p:nvSpPr>
          <p:cNvPr id="24" name="Text 22"/>
          <p:cNvSpPr txBox="1"/>
          <p:nvPr/>
        </p:nvSpPr>
        <p:spPr>
          <a:xfrm>
            <a:off x="5509876" y="2886400"/>
            <a:ext cx="6037762" cy="198036"/>
          </a:xfrm>
          <a:prstGeom prst="rect">
            <a:avLst/>
          </a:prstGeom>
          <a:noFill/>
          <a:ln/>
        </p:spPr>
        <p:txBody>
          <a:bodyPr wrap="square" lIns="0" tIns="0" rIns="0" bIns="0" rtlCol="0" anchor="t"/>
          <a:lstStyle/>
          <a:p>
            <a:pPr algn="l" indent="0" marL="0">
              <a:lnSpc>
                <a:spcPct val="111111"/>
              </a:lnSpc>
              <a:buNone/>
            </a:pPr>
            <a:r>
              <a:rPr lang="en-US" sz="1200" dirty="0">
                <a:solidFill>
                  <a:srgbClr val="F5F6FC"/>
                </a:solidFill>
                <a:latin typeface="Poppins" pitchFamily="34" charset="0"/>
                <a:ea typeface="Poppins" pitchFamily="34" charset="-122"/>
                <a:cs typeface="Poppins" pitchFamily="34" charset="-120"/>
              </a:rPr>
              <a:t>os </a:t>
            </a:r>
            <a:pPr algn="l" indent="0" marL="0">
              <a:lnSpc>
                <a:spcPct val="111111"/>
              </a:lnSpc>
              <a:buNone/>
            </a:pPr>
            <a:r>
              <a:rPr lang="en-US" sz="1200" b="1" dirty="0">
                <a:solidFill>
                  <a:srgbClr val="FFFFFF"/>
                </a:solidFill>
                <a:latin typeface="Poppins" pitchFamily="34" charset="0"/>
                <a:ea typeface="Poppins" pitchFamily="34" charset="-122"/>
                <a:cs typeface="Poppins" pitchFamily="34" charset="-120"/>
              </a:rPr>
              <a:t>3 achados</a:t>
            </a:r>
            <a:pPr algn="l" indent="0" marL="0">
              <a:lnSpc>
                <a:spcPct val="111111"/>
              </a:lnSpc>
              <a:buNone/>
            </a:pPr>
            <a:r>
              <a:rPr lang="en-US" sz="1200" dirty="0">
                <a:solidFill>
                  <a:srgbClr val="F5F6FC"/>
                </a:solidFill>
                <a:latin typeface="Poppins" pitchFamily="34" charset="0"/>
                <a:ea typeface="Poppins" pitchFamily="34" charset="-122"/>
                <a:cs typeface="Poppins" pitchFamily="34" charset="-120"/>
              </a:rPr>
              <a:t> do exemplo 03</a:t>
            </a:r>
            <a:endParaRPr lang="en-US" sz="1200" dirty="0"/>
          </a:p>
        </p:txBody>
      </p:sp>
      <p:sp>
        <p:nvSpPr>
          <p:cNvPr id="25" name="Shape 23"/>
          <p:cNvSpPr/>
          <p:nvPr/>
        </p:nvSpPr>
        <p:spPr>
          <a:xfrm>
            <a:off x="761981" y="3236832"/>
            <a:ext cx="372656" cy="401231"/>
          </a:xfrm>
          <a:prstGeom prst="rect">
            <a:avLst/>
          </a:prstGeom>
          <a:solidFill>
            <a:srgbClr val="1E1E24"/>
          </a:solidFill>
          <a:ln/>
        </p:spPr>
      </p:sp>
      <p:sp>
        <p:nvSpPr>
          <p:cNvPr id="26" name="Text 24"/>
          <p:cNvSpPr txBox="1"/>
          <p:nvPr/>
        </p:nvSpPr>
        <p:spPr>
          <a:xfrm>
            <a:off x="876278" y="3338429"/>
            <a:ext cx="149825" cy="198036"/>
          </a:xfrm>
          <a:prstGeom prst="rect">
            <a:avLst/>
          </a:prstGeom>
          <a:noFill/>
          <a:ln/>
        </p:spPr>
        <p:txBody>
          <a:bodyPr wrap="square" lIns="0" tIns="0" rIns="0" bIns="0" rtlCol="0" anchor="t"/>
          <a:lstStyle/>
          <a:p>
            <a:pPr algn="l" indent="0" marL="0">
              <a:lnSpc>
                <a:spcPct val="111111"/>
              </a:lnSpc>
              <a:buNone/>
            </a:pPr>
            <a:r>
              <a:rPr lang="en-US" sz="1200" b="1" dirty="0">
                <a:solidFill>
                  <a:srgbClr val="F5F6FC"/>
                </a:solidFill>
                <a:latin typeface="Poppins" pitchFamily="34" charset="0"/>
                <a:ea typeface="Poppins" pitchFamily="34" charset="-122"/>
                <a:cs typeface="Poppins" pitchFamily="34" charset="-120"/>
              </a:rPr>
              <a:t>4</a:t>
            </a:r>
            <a:endParaRPr lang="en-US" sz="1200" dirty="0"/>
          </a:p>
        </p:txBody>
      </p:sp>
      <p:sp>
        <p:nvSpPr>
          <p:cNvPr id="27" name="Shape 25"/>
          <p:cNvSpPr/>
          <p:nvPr/>
        </p:nvSpPr>
        <p:spPr>
          <a:xfrm>
            <a:off x="1134637" y="3236832"/>
            <a:ext cx="4260942" cy="401231"/>
          </a:xfrm>
          <a:prstGeom prst="rect">
            <a:avLst/>
          </a:prstGeom>
          <a:solidFill>
            <a:srgbClr val="1E1E24"/>
          </a:solidFill>
          <a:ln/>
        </p:spPr>
      </p:sp>
      <p:sp>
        <p:nvSpPr>
          <p:cNvPr id="28" name="Text 26"/>
          <p:cNvSpPr txBox="1"/>
          <p:nvPr/>
        </p:nvSpPr>
        <p:spPr>
          <a:xfrm>
            <a:off x="1248934" y="3338429"/>
            <a:ext cx="4193642" cy="198036"/>
          </a:xfrm>
          <a:prstGeom prst="rect">
            <a:avLst/>
          </a:prstGeom>
          <a:noFill/>
          <a:ln/>
        </p:spPr>
        <p:txBody>
          <a:bodyPr wrap="square" lIns="0" tIns="0" rIns="0" bIns="0" rtlCol="0" anchor="t"/>
          <a:lstStyle/>
          <a:p>
            <a:pPr algn="l" indent="0" marL="0">
              <a:lnSpc>
                <a:spcPct val="111111"/>
              </a:lnSpc>
              <a:buNone/>
            </a:pPr>
            <a:r>
              <a:rPr lang="en-US" sz="1200" dirty="0">
                <a:solidFill>
                  <a:srgbClr val="F5F6FC"/>
                </a:solidFill>
                <a:latin typeface="Poppins" pitchFamily="34" charset="0"/>
                <a:ea typeface="Poppins" pitchFamily="34" charset="-122"/>
                <a:cs typeface="Poppins" pitchFamily="34" charset="-120"/>
              </a:rPr>
              <a:t>As 3 ferramentas numa fila só</a:t>
            </a:r>
            <a:endParaRPr lang="en-US" sz="1200" dirty="0"/>
          </a:p>
        </p:txBody>
      </p:sp>
      <p:sp>
        <p:nvSpPr>
          <p:cNvPr id="29" name="Shape 27"/>
          <p:cNvSpPr/>
          <p:nvPr/>
        </p:nvSpPr>
        <p:spPr>
          <a:xfrm>
            <a:off x="5395579" y="3236832"/>
            <a:ext cx="6034135" cy="401231"/>
          </a:xfrm>
          <a:prstGeom prst="rect">
            <a:avLst/>
          </a:prstGeom>
          <a:solidFill>
            <a:srgbClr val="1E1E24"/>
          </a:solidFill>
          <a:ln/>
        </p:spPr>
      </p:sp>
      <p:sp>
        <p:nvSpPr>
          <p:cNvPr id="30" name="Text 28"/>
          <p:cNvSpPr txBox="1"/>
          <p:nvPr/>
        </p:nvSpPr>
        <p:spPr>
          <a:xfrm>
            <a:off x="5509876" y="3338429"/>
            <a:ext cx="6037762" cy="198036"/>
          </a:xfrm>
          <a:prstGeom prst="rect">
            <a:avLst/>
          </a:prstGeom>
          <a:noFill/>
          <a:ln/>
        </p:spPr>
        <p:txBody>
          <a:bodyPr wrap="square" lIns="0" tIns="0" rIns="0" bIns="0" rtlCol="0" anchor="t"/>
          <a:lstStyle/>
          <a:p>
            <a:pPr algn="l" indent="0" marL="0">
              <a:lnSpc>
                <a:spcPct val="111111"/>
              </a:lnSpc>
              <a:buNone/>
            </a:pPr>
            <a:r>
              <a:rPr lang="en-US" sz="1200" dirty="0">
                <a:solidFill>
                  <a:srgbClr val="F5F6FC"/>
                </a:solidFill>
                <a:latin typeface="Poppins" pitchFamily="34" charset="0"/>
                <a:ea typeface="Poppins" pitchFamily="34" charset="-122"/>
                <a:cs typeface="Poppins" pitchFamily="34" charset="-120"/>
              </a:rPr>
              <a:t>SPI dos 41 projetos em andamento (exemplo 05)</a:t>
            </a:r>
            <a:endParaRPr lang="en-US" sz="1200" dirty="0"/>
          </a:p>
        </p:txBody>
      </p:sp>
      <p:sp>
        <p:nvSpPr>
          <p:cNvPr id="31" name="Shape 29"/>
          <p:cNvSpPr/>
          <p:nvPr/>
        </p:nvSpPr>
        <p:spPr>
          <a:xfrm>
            <a:off x="761981" y="3688861"/>
            <a:ext cx="372656" cy="401231"/>
          </a:xfrm>
          <a:prstGeom prst="rect">
            <a:avLst/>
          </a:prstGeom>
          <a:solidFill>
            <a:srgbClr val="1E1E24"/>
          </a:solidFill>
          <a:ln/>
        </p:spPr>
      </p:sp>
      <p:sp>
        <p:nvSpPr>
          <p:cNvPr id="32" name="Text 30"/>
          <p:cNvSpPr txBox="1"/>
          <p:nvPr/>
        </p:nvSpPr>
        <p:spPr>
          <a:xfrm>
            <a:off x="876278" y="3790458"/>
            <a:ext cx="149825" cy="198036"/>
          </a:xfrm>
          <a:prstGeom prst="rect">
            <a:avLst/>
          </a:prstGeom>
          <a:noFill/>
          <a:ln/>
        </p:spPr>
        <p:txBody>
          <a:bodyPr wrap="square" lIns="0" tIns="0" rIns="0" bIns="0" rtlCol="0" anchor="t"/>
          <a:lstStyle/>
          <a:p>
            <a:pPr algn="l" indent="0" marL="0">
              <a:lnSpc>
                <a:spcPct val="111111"/>
              </a:lnSpc>
              <a:buNone/>
            </a:pPr>
            <a:r>
              <a:rPr lang="en-US" sz="1200" b="1" dirty="0">
                <a:solidFill>
                  <a:srgbClr val="F5F6FC"/>
                </a:solidFill>
                <a:latin typeface="Poppins" pitchFamily="34" charset="0"/>
                <a:ea typeface="Poppins" pitchFamily="34" charset="-122"/>
                <a:cs typeface="Poppins" pitchFamily="34" charset="-120"/>
              </a:rPr>
              <a:t>5</a:t>
            </a:r>
            <a:endParaRPr lang="en-US" sz="1200" dirty="0"/>
          </a:p>
        </p:txBody>
      </p:sp>
      <p:sp>
        <p:nvSpPr>
          <p:cNvPr id="33" name="Shape 31"/>
          <p:cNvSpPr/>
          <p:nvPr/>
        </p:nvSpPr>
        <p:spPr>
          <a:xfrm>
            <a:off x="1134637" y="3688861"/>
            <a:ext cx="4260942" cy="401231"/>
          </a:xfrm>
          <a:prstGeom prst="rect">
            <a:avLst/>
          </a:prstGeom>
          <a:solidFill>
            <a:srgbClr val="1E1E24"/>
          </a:solidFill>
          <a:ln/>
        </p:spPr>
      </p:sp>
      <p:sp>
        <p:nvSpPr>
          <p:cNvPr id="34" name="Text 32"/>
          <p:cNvSpPr txBox="1"/>
          <p:nvPr/>
        </p:nvSpPr>
        <p:spPr>
          <a:xfrm>
            <a:off x="1248934" y="3790458"/>
            <a:ext cx="4193642" cy="198036"/>
          </a:xfrm>
          <a:prstGeom prst="rect">
            <a:avLst/>
          </a:prstGeom>
          <a:noFill/>
          <a:ln/>
        </p:spPr>
        <p:txBody>
          <a:bodyPr wrap="square" lIns="0" tIns="0" rIns="0" bIns="0" rtlCol="0" anchor="t"/>
          <a:lstStyle/>
          <a:p>
            <a:pPr algn="l" indent="0" marL="0">
              <a:lnSpc>
                <a:spcPct val="111111"/>
              </a:lnSpc>
              <a:buNone/>
            </a:pPr>
            <a:r>
              <a:rPr lang="en-US" sz="1200" dirty="0">
                <a:solidFill>
                  <a:srgbClr val="F5F6FC"/>
                </a:solidFill>
                <a:latin typeface="Poppins" pitchFamily="34" charset="0"/>
                <a:ea typeface="Poppins" pitchFamily="34" charset="-122"/>
                <a:cs typeface="Poppins" pitchFamily="34" charset="-120"/>
              </a:rPr>
              <a:t>O atraso em dinheiro, e o farol desmentido</a:t>
            </a:r>
            <a:endParaRPr lang="en-US" sz="1200" dirty="0"/>
          </a:p>
        </p:txBody>
      </p:sp>
      <p:sp>
        <p:nvSpPr>
          <p:cNvPr id="35" name="Shape 33"/>
          <p:cNvSpPr/>
          <p:nvPr/>
        </p:nvSpPr>
        <p:spPr>
          <a:xfrm>
            <a:off x="5395579" y="3688861"/>
            <a:ext cx="6034135" cy="401231"/>
          </a:xfrm>
          <a:prstGeom prst="rect">
            <a:avLst/>
          </a:prstGeom>
          <a:solidFill>
            <a:srgbClr val="1E1E24"/>
          </a:solidFill>
          <a:ln/>
        </p:spPr>
      </p:sp>
      <p:sp>
        <p:nvSpPr>
          <p:cNvPr id="36" name="Text 34"/>
          <p:cNvSpPr txBox="1"/>
          <p:nvPr/>
        </p:nvSpPr>
        <p:spPr>
          <a:xfrm>
            <a:off x="5509876" y="3790458"/>
            <a:ext cx="6037762" cy="198036"/>
          </a:xfrm>
          <a:prstGeom prst="rect">
            <a:avLst/>
          </a:prstGeom>
          <a:noFill/>
          <a:ln/>
        </p:spPr>
        <p:txBody>
          <a:bodyPr wrap="square" lIns="0" tIns="0" rIns="0" bIns="0" rtlCol="0" anchor="t"/>
          <a:lstStyle/>
          <a:p>
            <a:pPr algn="l" indent="0" marL="0">
              <a:lnSpc>
                <a:spcPct val="111111"/>
              </a:lnSpc>
              <a:buNone/>
            </a:pPr>
            <a:r>
              <a:rPr lang="en-US" sz="1200" b="1" dirty="0">
                <a:solidFill>
                  <a:srgbClr val="FFFFFF"/>
                </a:solidFill>
                <a:latin typeface="Poppins" pitchFamily="34" charset="0"/>
                <a:ea typeface="Poppins" pitchFamily="34" charset="-122"/>
                <a:cs typeface="Poppins" pitchFamily="34" charset="-120"/>
              </a:rPr>
              <a:t>R$ 6,47 mi</a:t>
            </a:r>
            <a:pPr algn="l" indent="0" marL="0">
              <a:lnSpc>
                <a:spcPct val="111111"/>
              </a:lnSpc>
              <a:buNone/>
            </a:pPr>
            <a:r>
              <a:rPr lang="en-US" sz="1200" dirty="0">
                <a:solidFill>
                  <a:srgbClr val="F5F6FC"/>
                </a:solidFill>
                <a:latin typeface="Poppins" pitchFamily="34" charset="0"/>
                <a:ea typeface="Poppins" pitchFamily="34" charset="-122"/>
                <a:cs typeface="Poppins" pitchFamily="34" charset="-120"/>
              </a:rPr>
              <a:t> de estouro e </a:t>
            </a:r>
            <a:pPr algn="l" indent="0" marL="0">
              <a:lnSpc>
                <a:spcPct val="111111"/>
              </a:lnSpc>
              <a:buNone/>
            </a:pPr>
            <a:r>
              <a:rPr lang="en-US" sz="1200" b="1" dirty="0">
                <a:solidFill>
                  <a:srgbClr val="FFFFFF"/>
                </a:solidFill>
                <a:latin typeface="Poppins" pitchFamily="34" charset="0"/>
                <a:ea typeface="Poppins" pitchFamily="34" charset="-122"/>
                <a:cs typeface="Poppins" pitchFamily="34" charset="-120"/>
              </a:rPr>
              <a:t>4 melancias</a:t>
            </a:r>
            <a:pPr algn="l" indent="0" marL="0">
              <a:lnSpc>
                <a:spcPct val="111111"/>
              </a:lnSpc>
              <a:buNone/>
            </a:pPr>
            <a:r>
              <a:rPr lang="en-US" sz="1200" dirty="0">
                <a:solidFill>
                  <a:srgbClr val="F5F6FC"/>
                </a:solidFill>
                <a:latin typeface="Poppins" pitchFamily="34" charset="0"/>
                <a:ea typeface="Poppins" pitchFamily="34" charset="-122"/>
                <a:cs typeface="Poppins" pitchFamily="34" charset="-120"/>
              </a:rPr>
              <a:t> (exemplo 06)</a:t>
            </a:r>
            <a:endParaRPr lang="en-US" sz="1200" dirty="0"/>
          </a:p>
        </p:txBody>
      </p:sp>
      <p:sp>
        <p:nvSpPr>
          <p:cNvPr id="37" name="Shape 35"/>
          <p:cNvSpPr/>
          <p:nvPr/>
        </p:nvSpPr>
        <p:spPr>
          <a:xfrm>
            <a:off x="761981" y="4140890"/>
            <a:ext cx="372656" cy="401231"/>
          </a:xfrm>
          <a:prstGeom prst="rect">
            <a:avLst/>
          </a:prstGeom>
          <a:solidFill>
            <a:srgbClr val="1E1E24"/>
          </a:solidFill>
          <a:ln/>
        </p:spPr>
      </p:sp>
      <p:sp>
        <p:nvSpPr>
          <p:cNvPr id="38" name="Text 36"/>
          <p:cNvSpPr txBox="1"/>
          <p:nvPr/>
        </p:nvSpPr>
        <p:spPr>
          <a:xfrm>
            <a:off x="876278" y="4242488"/>
            <a:ext cx="149825" cy="198036"/>
          </a:xfrm>
          <a:prstGeom prst="rect">
            <a:avLst/>
          </a:prstGeom>
          <a:noFill/>
          <a:ln/>
        </p:spPr>
        <p:txBody>
          <a:bodyPr wrap="square" lIns="0" tIns="0" rIns="0" bIns="0" rtlCol="0" anchor="t"/>
          <a:lstStyle/>
          <a:p>
            <a:pPr algn="l" indent="0" marL="0">
              <a:lnSpc>
                <a:spcPct val="111111"/>
              </a:lnSpc>
              <a:buNone/>
            </a:pPr>
            <a:r>
              <a:rPr lang="en-US" sz="1200" b="1" dirty="0">
                <a:solidFill>
                  <a:srgbClr val="F5F6FC"/>
                </a:solidFill>
                <a:latin typeface="Poppins" pitchFamily="34" charset="0"/>
                <a:ea typeface="Poppins" pitchFamily="34" charset="-122"/>
                <a:cs typeface="Poppins" pitchFamily="34" charset="-120"/>
              </a:rPr>
              <a:t>6</a:t>
            </a:r>
            <a:endParaRPr lang="en-US" sz="1200" dirty="0"/>
          </a:p>
        </p:txBody>
      </p:sp>
      <p:sp>
        <p:nvSpPr>
          <p:cNvPr id="39" name="Shape 37"/>
          <p:cNvSpPr/>
          <p:nvPr/>
        </p:nvSpPr>
        <p:spPr>
          <a:xfrm>
            <a:off x="1134637" y="4140890"/>
            <a:ext cx="4260942" cy="401231"/>
          </a:xfrm>
          <a:prstGeom prst="rect">
            <a:avLst/>
          </a:prstGeom>
          <a:solidFill>
            <a:srgbClr val="1E1E24"/>
          </a:solidFill>
          <a:ln/>
        </p:spPr>
      </p:sp>
      <p:sp>
        <p:nvSpPr>
          <p:cNvPr id="40" name="Text 38"/>
          <p:cNvSpPr txBox="1"/>
          <p:nvPr/>
        </p:nvSpPr>
        <p:spPr>
          <a:xfrm>
            <a:off x="1248934" y="4242488"/>
            <a:ext cx="4193642" cy="198036"/>
          </a:xfrm>
          <a:prstGeom prst="rect">
            <a:avLst/>
          </a:prstGeom>
          <a:noFill/>
          <a:ln/>
        </p:spPr>
        <p:txBody>
          <a:bodyPr wrap="square" lIns="0" tIns="0" rIns="0" bIns="0" rtlCol="0" anchor="t"/>
          <a:lstStyle/>
          <a:p>
            <a:pPr algn="l" indent="0" marL="0">
              <a:lnSpc>
                <a:spcPct val="111111"/>
              </a:lnSpc>
              <a:buNone/>
            </a:pPr>
            <a:r>
              <a:rPr lang="en-US" sz="1200" dirty="0">
                <a:solidFill>
                  <a:srgbClr val="F5F6FC"/>
                </a:solidFill>
                <a:latin typeface="Poppins" pitchFamily="34" charset="0"/>
                <a:ea typeface="Poppins" pitchFamily="34" charset="-122"/>
                <a:cs typeface="Poppins" pitchFamily="34" charset="-120"/>
              </a:rPr>
              <a:t>Dashboard publicado e o Genie errando</a:t>
            </a:r>
            <a:endParaRPr lang="en-US" sz="1200" dirty="0"/>
          </a:p>
        </p:txBody>
      </p:sp>
      <p:sp>
        <p:nvSpPr>
          <p:cNvPr id="41" name="Shape 39"/>
          <p:cNvSpPr/>
          <p:nvPr/>
        </p:nvSpPr>
        <p:spPr>
          <a:xfrm>
            <a:off x="5395579" y="4140890"/>
            <a:ext cx="6034135" cy="401231"/>
          </a:xfrm>
          <a:prstGeom prst="rect">
            <a:avLst/>
          </a:prstGeom>
          <a:solidFill>
            <a:srgbClr val="1E1E24"/>
          </a:solidFill>
          <a:ln/>
        </p:spPr>
      </p:sp>
      <p:sp>
        <p:nvSpPr>
          <p:cNvPr id="42" name="Text 40"/>
          <p:cNvSpPr txBox="1"/>
          <p:nvPr/>
        </p:nvSpPr>
        <p:spPr>
          <a:xfrm>
            <a:off x="5509876" y="4242488"/>
            <a:ext cx="6037762" cy="198036"/>
          </a:xfrm>
          <a:prstGeom prst="rect">
            <a:avLst/>
          </a:prstGeom>
          <a:noFill/>
          <a:ln/>
        </p:spPr>
        <p:txBody>
          <a:bodyPr wrap="square" lIns="0" tIns="0" rIns="0" bIns="0" rtlCol="0" anchor="t"/>
          <a:lstStyle/>
          <a:p>
            <a:pPr algn="l" indent="0" marL="0">
              <a:lnSpc>
                <a:spcPct val="111111"/>
              </a:lnSpc>
              <a:buNone/>
            </a:pPr>
            <a:r>
              <a:rPr lang="en-US" sz="1200" dirty="0">
                <a:solidFill>
                  <a:srgbClr val="F5F6FC"/>
                </a:solidFill>
                <a:latin typeface="Poppins" pitchFamily="34" charset="0"/>
                <a:ea typeface="Poppins" pitchFamily="34" charset="-122"/>
                <a:cs typeface="Poppins" pitchFamily="34" charset="-120"/>
              </a:rPr>
              <a:t>o dashboard da bronze e as 4 perguntas no Genie sem curadoria</a:t>
            </a:r>
            <a:endParaRPr lang="en-US" sz="1200" dirty="0"/>
          </a:p>
        </p:txBody>
      </p:sp>
      <p:pic>
        <p:nvPicPr>
          <p:cNvPr id="43"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44" name="Text 41"/>
          <p:cNvSpPr txBox="1"/>
          <p:nvPr/>
        </p:nvSpPr>
        <p:spPr>
          <a:xfrm>
            <a:off x="10947622" y="6387940"/>
            <a:ext cx="501376"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24 / 133</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380990"/>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RECURSO DO DATABRICKS · SERVERLESS</a:t>
            </a:r>
            <a:endParaRPr lang="en-US" sz="1200" dirty="0"/>
          </a:p>
        </p:txBody>
      </p:sp>
      <p:sp>
        <p:nvSpPr>
          <p:cNvPr id="3" name="Text 1"/>
          <p:cNvSpPr txBox="1"/>
          <p:nvPr/>
        </p:nvSpPr>
        <p:spPr>
          <a:xfrm>
            <a:off x="761981" y="704832"/>
            <a:ext cx="11094443" cy="363132"/>
          </a:xfrm>
          <a:prstGeom prst="rect">
            <a:avLst/>
          </a:prstGeom>
          <a:noFill/>
          <a:ln/>
        </p:spPr>
        <p:txBody>
          <a:bodyPr wrap="square" lIns="0" tIns="0" rIns="0" bIns="0" rtlCol="0" anchor="t"/>
          <a:lstStyle/>
          <a:p>
            <a:pPr algn="l" indent="0" marL="0">
              <a:lnSpc>
                <a:spcPct val="94017"/>
              </a:lnSpc>
              <a:buNone/>
            </a:pPr>
            <a:r>
              <a:rPr lang="en-US" sz="2600" b="1" spc="-26" kern="0" dirty="0">
                <a:solidFill>
                  <a:srgbClr val="F5F6FC"/>
                </a:solidFill>
                <a:latin typeface="Poppins" pitchFamily="34" charset="0"/>
                <a:ea typeface="Poppins" pitchFamily="34" charset="-122"/>
                <a:cs typeface="Poppins" pitchFamily="34" charset="-120"/>
              </a:rPr>
              <a:t>Serverless: ninguém liga cluster</a:t>
            </a:r>
            <a:endParaRPr lang="en-US" sz="2600" dirty="0"/>
          </a:p>
        </p:txBody>
      </p:sp>
      <p:pic>
        <p:nvPicPr>
          <p:cNvPr id="4" name="Image 0" descr="preencoded.png">    </p:cNvPr>
          <p:cNvPicPr>
            <a:picLocks noChangeAspect="1"/>
          </p:cNvPicPr>
          <p:nvPr/>
        </p:nvPicPr>
        <p:blipFill>
          <a:blip r:embed="rId2"/>
          <a:srcRect l="13802" r="13802" t="0" b="0"/>
          <a:stretch/>
        </p:blipFill>
        <p:spPr>
          <a:xfrm>
            <a:off x="761981" y="1182261"/>
            <a:ext cx="6455308" cy="4063898"/>
          </a:xfrm>
          <a:prstGeom prst="rect">
            <a:avLst/>
          </a:prstGeom>
        </p:spPr>
      </p:pic>
      <p:sp>
        <p:nvSpPr>
          <p:cNvPr id="5" name="Shape 2"/>
          <p:cNvSpPr/>
          <p:nvPr/>
        </p:nvSpPr>
        <p:spPr>
          <a:xfrm>
            <a:off x="7395085" y="1182261"/>
            <a:ext cx="4034630" cy="4063898"/>
          </a:xfrm>
          <a:prstGeom prst="roundRect">
            <a:avLst>
              <a:gd name="adj" fmla="val 3777"/>
            </a:avLst>
          </a:prstGeom>
          <a:solidFill>
            <a:srgbClr val="0059DB"/>
          </a:solidFill>
          <a:ln/>
        </p:spPr>
      </p:sp>
      <p:sp>
        <p:nvSpPr>
          <p:cNvPr id="6" name="Shape 3"/>
          <p:cNvSpPr/>
          <p:nvPr/>
        </p:nvSpPr>
        <p:spPr>
          <a:xfrm>
            <a:off x="7617329" y="1379106"/>
            <a:ext cx="616034" cy="247644"/>
          </a:xfrm>
          <a:prstGeom prst="roundRect">
            <a:avLst>
              <a:gd name="adj" fmla="val 50000"/>
            </a:avLst>
          </a:prstGeom>
          <a:solidFill>
            <a:srgbClr val="FFFFFF">
              <a:alpha val="16000"/>
            </a:srgbClr>
          </a:solidFill>
          <a:ln/>
        </p:spPr>
      </p:sp>
      <p:sp>
        <p:nvSpPr>
          <p:cNvPr id="7" name="Text 4"/>
          <p:cNvSpPr txBox="1"/>
          <p:nvPr/>
        </p:nvSpPr>
        <p:spPr>
          <a:xfrm>
            <a:off x="7706227" y="1417205"/>
            <a:ext cx="455768"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O que é</a:t>
            </a:r>
            <a:endParaRPr lang="en-US" sz="900" dirty="0"/>
          </a:p>
        </p:txBody>
      </p:sp>
      <p:sp>
        <p:nvSpPr>
          <p:cNvPr id="8" name="Shape 5"/>
          <p:cNvSpPr/>
          <p:nvPr/>
        </p:nvSpPr>
        <p:spPr>
          <a:xfrm>
            <a:off x="7617329" y="1798196"/>
            <a:ext cx="76198" cy="76198"/>
          </a:xfrm>
          <a:prstGeom prst="roundRect">
            <a:avLst>
              <a:gd name="adj" fmla="val 25000"/>
            </a:avLst>
          </a:prstGeom>
          <a:solidFill>
            <a:srgbClr val="22C2F4"/>
          </a:solidFill>
          <a:ln/>
        </p:spPr>
      </p:sp>
      <p:sp>
        <p:nvSpPr>
          <p:cNvPr id="9" name="Text 6"/>
          <p:cNvSpPr txBox="1"/>
          <p:nvPr/>
        </p:nvSpPr>
        <p:spPr>
          <a:xfrm>
            <a:off x="7807824" y="1715648"/>
            <a:ext cx="3535631"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o Databricks liga a máquina quando a tarefa começa e desliga no fim</a:t>
            </a:r>
            <a:endParaRPr lang="en-US" sz="1200" dirty="0"/>
          </a:p>
        </p:txBody>
      </p:sp>
      <p:sp>
        <p:nvSpPr>
          <p:cNvPr id="10" name="Shape 7"/>
          <p:cNvSpPr/>
          <p:nvPr/>
        </p:nvSpPr>
        <p:spPr>
          <a:xfrm>
            <a:off x="7617329" y="2285744"/>
            <a:ext cx="76198" cy="76198"/>
          </a:xfrm>
          <a:prstGeom prst="roundRect">
            <a:avLst>
              <a:gd name="adj" fmla="val 25000"/>
            </a:avLst>
          </a:prstGeom>
          <a:solidFill>
            <a:srgbClr val="22C2F4"/>
          </a:solidFill>
          <a:ln/>
        </p:spPr>
      </p:sp>
      <p:sp>
        <p:nvSpPr>
          <p:cNvPr id="11" name="Text 8"/>
          <p:cNvSpPr txBox="1"/>
          <p:nvPr/>
        </p:nvSpPr>
        <p:spPr>
          <a:xfrm>
            <a:off x="7807824" y="2203196"/>
            <a:ext cx="3535631" cy="411351"/>
          </a:xfrm>
          <a:prstGeom prst="rect">
            <a:avLst/>
          </a:prstGeom>
          <a:noFill/>
          <a:ln/>
        </p:spPr>
        <p:txBody>
          <a:bodyPr wrap="square" lIns="0" tIns="0" rIns="0" bIns="0" rtlCol="0" anchor="t"/>
          <a:lstStyle/>
          <a:p>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Interactive</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notebook aberto por uma pessoa</a:t>
            </a:r>
            <a:endParaRPr lang="en-US" sz="1200" dirty="0"/>
          </a:p>
        </p:txBody>
      </p:sp>
      <p:sp>
        <p:nvSpPr>
          <p:cNvPr id="12" name="Shape 9"/>
          <p:cNvSpPr/>
          <p:nvPr/>
        </p:nvSpPr>
        <p:spPr>
          <a:xfrm>
            <a:off x="7617329" y="2773293"/>
            <a:ext cx="76198" cy="76198"/>
          </a:xfrm>
          <a:prstGeom prst="roundRect">
            <a:avLst>
              <a:gd name="adj" fmla="val 25000"/>
            </a:avLst>
          </a:prstGeom>
          <a:solidFill>
            <a:srgbClr val="22C2F4"/>
          </a:solidFill>
          <a:ln/>
        </p:spPr>
      </p:sp>
      <p:sp>
        <p:nvSpPr>
          <p:cNvPr id="13" name="Text 10"/>
          <p:cNvSpPr txBox="1"/>
          <p:nvPr/>
        </p:nvSpPr>
        <p:spPr>
          <a:xfrm>
            <a:off x="7807824" y="2690745"/>
            <a:ext cx="3535631" cy="205675"/>
          </a:xfrm>
          <a:prstGeom prst="rect">
            <a:avLst/>
          </a:prstGeom>
          <a:noFill/>
          <a:ln/>
        </p:spPr>
        <p:txBody>
          <a:bodyPr wrap="square" lIns="0" tIns="0" rIns="0" bIns="0" rtlCol="0" anchor="t"/>
          <a:lstStyle/>
          <a:p>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Automated</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tarefa de job e pipeline</a:t>
            </a:r>
            <a:endParaRPr lang="en-US" sz="1200" dirty="0"/>
          </a:p>
        </p:txBody>
      </p:sp>
      <p:sp>
        <p:nvSpPr>
          <p:cNvPr id="14" name="Shape 11"/>
          <p:cNvSpPr/>
          <p:nvPr/>
        </p:nvSpPr>
        <p:spPr>
          <a:xfrm>
            <a:off x="7617329" y="3036117"/>
            <a:ext cx="650958" cy="247644"/>
          </a:xfrm>
          <a:prstGeom prst="roundRect">
            <a:avLst>
              <a:gd name="adj" fmla="val 50000"/>
            </a:avLst>
          </a:prstGeom>
          <a:solidFill>
            <a:srgbClr val="FFFFFF">
              <a:alpha val="16000"/>
            </a:srgbClr>
          </a:solidFill>
          <a:ln/>
        </p:spPr>
      </p:sp>
      <p:sp>
        <p:nvSpPr>
          <p:cNvPr id="15" name="Text 12"/>
          <p:cNvSpPr txBox="1"/>
          <p:nvPr/>
        </p:nvSpPr>
        <p:spPr>
          <a:xfrm>
            <a:off x="7706227" y="3074216"/>
            <a:ext cx="492089"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No Farol</a:t>
            </a:r>
            <a:endParaRPr lang="en-US" sz="900" dirty="0"/>
          </a:p>
        </p:txBody>
      </p:sp>
      <p:sp>
        <p:nvSpPr>
          <p:cNvPr id="16" name="Text 13"/>
          <p:cNvSpPr txBox="1"/>
          <p:nvPr/>
        </p:nvSpPr>
        <p:spPr>
          <a:xfrm>
            <a:off x="7617329" y="3448857"/>
            <a:ext cx="3733746" cy="394285"/>
          </a:xfrm>
          <a:prstGeom prst="rect">
            <a:avLst/>
          </a:prstGeom>
          <a:noFill/>
          <a:ln/>
        </p:spPr>
        <p:txBody>
          <a:bodyPr wrap="square" lIns="0" tIns="0" rIns="0" bIns="0" rtlCol="0" anchor="t"/>
          <a:lstStyle/>
          <a:p>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todo o processamento das 4 noites. No Free Edition não há cluster clássico: é só serverless</a:t>
            </a:r>
            <a:endParaRPr lang="en-US" sz="1150" dirty="0"/>
          </a:p>
        </p:txBody>
      </p:sp>
      <p:pic>
        <p:nvPicPr>
          <p:cNvPr id="17" name="Image 1" descr="preencoded.png">    </p:cNvPr>
          <p:cNvPicPr>
            <a:picLocks noChangeAspect="1"/>
          </p:cNvPicPr>
          <p:nvPr/>
        </p:nvPicPr>
        <p:blipFill>
          <a:blip r:embed="rId3"/>
          <a:stretch>
            <a:fillRect/>
          </a:stretch>
        </p:blipFill>
        <p:spPr>
          <a:xfrm>
            <a:off x="761981" y="6387940"/>
            <a:ext cx="2059928" cy="190495"/>
          </a:xfrm>
          <a:prstGeom prst="rect">
            <a:avLst/>
          </a:prstGeom>
        </p:spPr>
      </p:pic>
      <p:sp>
        <p:nvSpPr>
          <p:cNvPr id="18" name="Text 14"/>
          <p:cNvSpPr txBox="1"/>
          <p:nvPr/>
        </p:nvSpPr>
        <p:spPr>
          <a:xfrm>
            <a:off x="10948615" y="6387940"/>
            <a:ext cx="500344"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25 / 133</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380990"/>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RECURSO DO DATABRICKS · UNITY CATALOG</a:t>
            </a:r>
            <a:endParaRPr lang="en-US" sz="1200" dirty="0"/>
          </a:p>
        </p:txBody>
      </p:sp>
      <p:sp>
        <p:nvSpPr>
          <p:cNvPr id="3" name="Text 1"/>
          <p:cNvSpPr txBox="1"/>
          <p:nvPr/>
        </p:nvSpPr>
        <p:spPr>
          <a:xfrm>
            <a:off x="761981" y="704832"/>
            <a:ext cx="11094443" cy="363132"/>
          </a:xfrm>
          <a:prstGeom prst="rect">
            <a:avLst/>
          </a:prstGeom>
          <a:noFill/>
          <a:ln/>
        </p:spPr>
        <p:txBody>
          <a:bodyPr wrap="square" lIns="0" tIns="0" rIns="0" bIns="0" rtlCol="0" anchor="t"/>
          <a:lstStyle/>
          <a:p>
            <a:pPr algn="l" indent="0" marL="0">
              <a:lnSpc>
                <a:spcPct val="94017"/>
              </a:lnSpc>
              <a:buNone/>
            </a:pPr>
            <a:r>
              <a:rPr lang="en-US" sz="2600" b="1" spc="-26" kern="0" dirty="0">
                <a:solidFill>
                  <a:srgbClr val="F5F6FC"/>
                </a:solidFill>
                <a:latin typeface="Poppins" pitchFamily="34" charset="0"/>
                <a:ea typeface="Poppins" pitchFamily="34" charset="-122"/>
                <a:cs typeface="Poppins" pitchFamily="34" charset="-120"/>
              </a:rPr>
              <a:t>Unity Catalog: catálogo e schemas</a:t>
            </a:r>
            <a:endParaRPr lang="en-US" sz="2600" dirty="0"/>
          </a:p>
        </p:txBody>
      </p:sp>
      <p:pic>
        <p:nvPicPr>
          <p:cNvPr id="4" name="Image 0" descr="preencoded.png">    </p:cNvPr>
          <p:cNvPicPr>
            <a:picLocks noChangeAspect="1"/>
          </p:cNvPicPr>
          <p:nvPr/>
        </p:nvPicPr>
        <p:blipFill>
          <a:blip r:embed="rId2"/>
          <a:srcRect l="9532" r="9532" t="0" b="0"/>
          <a:stretch/>
        </p:blipFill>
        <p:spPr>
          <a:xfrm>
            <a:off x="761981" y="1182261"/>
            <a:ext cx="6455308" cy="4063898"/>
          </a:xfrm>
          <a:prstGeom prst="rect">
            <a:avLst/>
          </a:prstGeom>
        </p:spPr>
      </p:pic>
      <p:sp>
        <p:nvSpPr>
          <p:cNvPr id="5" name="Shape 2"/>
          <p:cNvSpPr/>
          <p:nvPr/>
        </p:nvSpPr>
        <p:spPr>
          <a:xfrm>
            <a:off x="7395085" y="1182261"/>
            <a:ext cx="4034630" cy="4063898"/>
          </a:xfrm>
          <a:prstGeom prst="roundRect">
            <a:avLst>
              <a:gd name="adj" fmla="val 3777"/>
            </a:avLst>
          </a:prstGeom>
          <a:solidFill>
            <a:srgbClr val="0059DB"/>
          </a:solidFill>
          <a:ln/>
        </p:spPr>
      </p:sp>
      <p:sp>
        <p:nvSpPr>
          <p:cNvPr id="6" name="Shape 3"/>
          <p:cNvSpPr/>
          <p:nvPr/>
        </p:nvSpPr>
        <p:spPr>
          <a:xfrm>
            <a:off x="7617329" y="1379106"/>
            <a:ext cx="616034" cy="247644"/>
          </a:xfrm>
          <a:prstGeom prst="roundRect">
            <a:avLst>
              <a:gd name="adj" fmla="val 50000"/>
            </a:avLst>
          </a:prstGeom>
          <a:solidFill>
            <a:srgbClr val="FFFFFF">
              <a:alpha val="16000"/>
            </a:srgbClr>
          </a:solidFill>
          <a:ln/>
        </p:spPr>
      </p:sp>
      <p:sp>
        <p:nvSpPr>
          <p:cNvPr id="7" name="Text 4"/>
          <p:cNvSpPr txBox="1"/>
          <p:nvPr/>
        </p:nvSpPr>
        <p:spPr>
          <a:xfrm>
            <a:off x="7706227" y="1417205"/>
            <a:ext cx="455768"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O que é</a:t>
            </a:r>
            <a:endParaRPr lang="en-US" sz="900" dirty="0"/>
          </a:p>
        </p:txBody>
      </p:sp>
      <p:sp>
        <p:nvSpPr>
          <p:cNvPr id="8" name="Shape 5"/>
          <p:cNvSpPr/>
          <p:nvPr/>
        </p:nvSpPr>
        <p:spPr>
          <a:xfrm>
            <a:off x="7617329" y="1798196"/>
            <a:ext cx="76198" cy="76198"/>
          </a:xfrm>
          <a:prstGeom prst="roundRect">
            <a:avLst>
              <a:gd name="adj" fmla="val 25000"/>
            </a:avLst>
          </a:prstGeom>
          <a:solidFill>
            <a:srgbClr val="22C2F4"/>
          </a:solidFill>
          <a:ln/>
        </p:spPr>
      </p:sp>
      <p:sp>
        <p:nvSpPr>
          <p:cNvPr id="9" name="Text 6"/>
          <p:cNvSpPr txBox="1"/>
          <p:nvPr/>
        </p:nvSpPr>
        <p:spPr>
          <a:xfrm>
            <a:off x="7807824" y="1715648"/>
            <a:ext cx="3535631"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o endereço de todo dado: </a:t>
            </a:r>
            <a:pPr algn="l" indent="0" marL="0">
              <a:lnSpc>
                <a:spcPct val="115385"/>
              </a:lnSpc>
              <a:buNone/>
            </a:pPr>
            <a:r>
              <a:rPr lang="en-US" sz="1200" dirty="0">
                <a:solidFill>
                  <a:srgbClr val="E6E8F2"/>
                </a:solidFill>
                <a:latin typeface="Courier New" pitchFamily="34" charset="0"/>
                <a:ea typeface="Courier New" pitchFamily="34" charset="-122"/>
                <a:cs typeface="Courier New" pitchFamily="34" charset="-120"/>
              </a:rPr>
              <a:t>catálogo.schema.tabela</a:t>
            </a:r>
            <a:endParaRPr lang="en-US" sz="1200" dirty="0"/>
          </a:p>
        </p:txBody>
      </p:sp>
      <p:sp>
        <p:nvSpPr>
          <p:cNvPr id="10" name="Shape 7"/>
          <p:cNvSpPr/>
          <p:nvPr/>
        </p:nvSpPr>
        <p:spPr>
          <a:xfrm>
            <a:off x="7617329" y="2285744"/>
            <a:ext cx="76198" cy="76198"/>
          </a:xfrm>
          <a:prstGeom prst="roundRect">
            <a:avLst>
              <a:gd name="adj" fmla="val 25000"/>
            </a:avLst>
          </a:prstGeom>
          <a:solidFill>
            <a:srgbClr val="22C2F4"/>
          </a:solidFill>
          <a:ln/>
        </p:spPr>
      </p:sp>
      <p:sp>
        <p:nvSpPr>
          <p:cNvPr id="11" name="Text 8"/>
          <p:cNvSpPr txBox="1"/>
          <p:nvPr/>
        </p:nvSpPr>
        <p:spPr>
          <a:xfrm>
            <a:off x="7807824" y="2203196"/>
            <a:ext cx="3535631"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permissão, dono, comentário e histórico num lugar só</a:t>
            </a:r>
            <a:endParaRPr lang="en-US" sz="1200" dirty="0"/>
          </a:p>
        </p:txBody>
      </p:sp>
      <p:sp>
        <p:nvSpPr>
          <p:cNvPr id="12" name="Shape 9"/>
          <p:cNvSpPr/>
          <p:nvPr/>
        </p:nvSpPr>
        <p:spPr>
          <a:xfrm>
            <a:off x="7617329" y="2773293"/>
            <a:ext cx="76198" cy="76198"/>
          </a:xfrm>
          <a:prstGeom prst="roundRect">
            <a:avLst>
              <a:gd name="adj" fmla="val 25000"/>
            </a:avLst>
          </a:prstGeom>
          <a:solidFill>
            <a:srgbClr val="22C2F4"/>
          </a:solidFill>
          <a:ln/>
        </p:spPr>
      </p:sp>
      <p:sp>
        <p:nvSpPr>
          <p:cNvPr id="13" name="Text 10"/>
          <p:cNvSpPr txBox="1"/>
          <p:nvPr/>
        </p:nvSpPr>
        <p:spPr>
          <a:xfrm>
            <a:off x="7807824" y="2690745"/>
            <a:ext cx="3535631"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modelo, função e volume também moram aqui</a:t>
            </a:r>
            <a:endParaRPr lang="en-US" sz="1200" dirty="0"/>
          </a:p>
        </p:txBody>
      </p:sp>
      <p:sp>
        <p:nvSpPr>
          <p:cNvPr id="14" name="Shape 11"/>
          <p:cNvSpPr/>
          <p:nvPr/>
        </p:nvSpPr>
        <p:spPr>
          <a:xfrm>
            <a:off x="7617329" y="3241792"/>
            <a:ext cx="650958" cy="247644"/>
          </a:xfrm>
          <a:prstGeom prst="roundRect">
            <a:avLst>
              <a:gd name="adj" fmla="val 50000"/>
            </a:avLst>
          </a:prstGeom>
          <a:solidFill>
            <a:srgbClr val="FFFFFF">
              <a:alpha val="16000"/>
            </a:srgbClr>
          </a:solidFill>
          <a:ln/>
        </p:spPr>
      </p:sp>
      <p:sp>
        <p:nvSpPr>
          <p:cNvPr id="15" name="Text 12"/>
          <p:cNvSpPr txBox="1"/>
          <p:nvPr/>
        </p:nvSpPr>
        <p:spPr>
          <a:xfrm>
            <a:off x="7706227" y="3279891"/>
            <a:ext cx="492089"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No Farol</a:t>
            </a:r>
            <a:endParaRPr lang="en-US" sz="900" dirty="0"/>
          </a:p>
        </p:txBody>
      </p:sp>
      <p:sp>
        <p:nvSpPr>
          <p:cNvPr id="16" name="Text 13"/>
          <p:cNvSpPr txBox="1"/>
          <p:nvPr/>
        </p:nvSpPr>
        <p:spPr>
          <a:xfrm>
            <a:off x="7617329" y="3654532"/>
            <a:ext cx="3733746" cy="788571"/>
          </a:xfrm>
          <a:prstGeom prst="rect">
            <a:avLst/>
          </a:prstGeom>
          <a:noFill/>
          <a:ln/>
        </p:spPr>
        <p:txBody>
          <a:bodyPr wrap="square" lIns="0" tIns="0" rIns="0" bIns="0" rtlCol="0" anchor="t"/>
          <a:lstStyle/>
          <a:p>
            <a:pPr algn="l" indent="0" marL="0">
              <a:lnSpc>
                <a:spcPct val="115385"/>
              </a:lnSpc>
              <a:buNone/>
            </a:pPr>
            <a:r>
              <a:rPr lang="en-US" sz="1150" dirty="0">
                <a:solidFill>
                  <a:srgbClr val="DBE6FF"/>
                </a:solidFill>
                <a:latin typeface="Courier New" pitchFamily="34" charset="0"/>
                <a:ea typeface="Courier New" pitchFamily="34" charset="-122"/>
                <a:cs typeface="Courier New" pitchFamily="34" charset="-120"/>
              </a:rPr>
              <a:t>lakehouse_vertice</a:t>
            </a:r>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 com a arquitetura medalhão: </a:t>
            </a:r>
            <a:pPr algn="l" indent="0" marL="0">
              <a:lnSpc>
                <a:spcPct val="115385"/>
              </a:lnSpc>
              <a:buNone/>
            </a:pPr>
            <a:r>
              <a:rPr lang="en-US" sz="1150" b="1" dirty="0">
                <a:solidFill>
                  <a:srgbClr val="FFFFFF"/>
                </a:solidFill>
                <a:latin typeface="Poppins" pitchFamily="34" charset="0"/>
                <a:ea typeface="Poppins" pitchFamily="34" charset="-122"/>
                <a:cs typeface="Poppins" pitchFamily="34" charset="-120"/>
              </a:rPr>
              <a:t>bronze</a:t>
            </a:r>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 (como chegou), </a:t>
            </a:r>
            <a:pPr algn="l" indent="0" marL="0">
              <a:lnSpc>
                <a:spcPct val="115385"/>
              </a:lnSpc>
              <a:buNone/>
            </a:pPr>
            <a:r>
              <a:rPr lang="en-US" sz="1150" b="1" dirty="0">
                <a:solidFill>
                  <a:srgbClr val="FFFFFF"/>
                </a:solidFill>
                <a:latin typeface="Poppins" pitchFamily="34" charset="0"/>
                <a:ea typeface="Poppins" pitchFamily="34" charset="-122"/>
                <a:cs typeface="Poppins" pitchFamily="34" charset="-120"/>
              </a:rPr>
              <a:t>silver</a:t>
            </a:r>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 (limpo e unificado), </a:t>
            </a:r>
            <a:pPr algn="l" indent="0" marL="0">
              <a:lnSpc>
                <a:spcPct val="115385"/>
              </a:lnSpc>
              <a:buNone/>
            </a:pPr>
            <a:r>
              <a:rPr lang="en-US" sz="1150" b="1" dirty="0">
                <a:solidFill>
                  <a:srgbClr val="FFFFFF"/>
                </a:solidFill>
                <a:latin typeface="Poppins" pitchFamily="34" charset="0"/>
                <a:ea typeface="Poppins" pitchFamily="34" charset="-122"/>
                <a:cs typeface="Poppins" pitchFamily="34" charset="-120"/>
              </a:rPr>
              <a:t>gold</a:t>
            </a:r>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 (pronto para o dono), e o </a:t>
            </a:r>
            <a:pPr algn="l" indent="0" marL="0">
              <a:lnSpc>
                <a:spcPct val="115385"/>
              </a:lnSpc>
              <a:buNone/>
            </a:pPr>
            <a:r>
              <a:rPr lang="en-US" sz="1150" b="1" dirty="0">
                <a:solidFill>
                  <a:srgbClr val="FFFFFF"/>
                </a:solidFill>
                <a:latin typeface="Poppins" pitchFamily="34" charset="0"/>
                <a:ea typeface="Poppins" pitchFamily="34" charset="-122"/>
                <a:cs typeface="Poppins" pitchFamily="34" charset="-120"/>
              </a:rPr>
              <a:t>ml</a:t>
            </a:r>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 da noite 3 (o laboratório do modelo)</a:t>
            </a:r>
            <a:endParaRPr lang="en-US" sz="1150" dirty="0"/>
          </a:p>
        </p:txBody>
      </p:sp>
      <p:pic>
        <p:nvPicPr>
          <p:cNvPr id="17" name="Image 1" descr="preencoded.png">    </p:cNvPr>
          <p:cNvPicPr>
            <a:picLocks noChangeAspect="1"/>
          </p:cNvPicPr>
          <p:nvPr/>
        </p:nvPicPr>
        <p:blipFill>
          <a:blip r:embed="rId3"/>
          <a:stretch>
            <a:fillRect/>
          </a:stretch>
        </p:blipFill>
        <p:spPr>
          <a:xfrm>
            <a:off x="761981" y="6387940"/>
            <a:ext cx="2059928" cy="190495"/>
          </a:xfrm>
          <a:prstGeom prst="rect">
            <a:avLst/>
          </a:prstGeom>
        </p:spPr>
      </p:pic>
      <p:sp>
        <p:nvSpPr>
          <p:cNvPr id="18" name="Text 14"/>
          <p:cNvSpPr txBox="1"/>
          <p:nvPr/>
        </p:nvSpPr>
        <p:spPr>
          <a:xfrm>
            <a:off x="10948218" y="6387940"/>
            <a:ext cx="500756"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26 / 133</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1 · COMO RODAR</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Seis passos,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nesta ordem</a:t>
            </a:r>
            <a:endParaRPr lang="en-US" sz="3100" dirty="0"/>
          </a:p>
        </p:txBody>
      </p:sp>
      <p:sp>
        <p:nvSpPr>
          <p:cNvPr id="4" name="Shape 2"/>
          <p:cNvSpPr/>
          <p:nvPr/>
        </p:nvSpPr>
        <p:spPr>
          <a:xfrm>
            <a:off x="761981" y="1582301"/>
            <a:ext cx="1337535" cy="1834806"/>
          </a:xfrm>
          <a:prstGeom prst="roundRect">
            <a:avLst>
              <a:gd name="adj" fmla="val 11394"/>
            </a:avLst>
          </a:prstGeom>
          <a:solidFill>
            <a:srgbClr val="0059DB"/>
          </a:solidFill>
          <a:ln/>
        </p:spPr>
      </p:sp>
      <p:sp>
        <p:nvSpPr>
          <p:cNvPr id="5" name="Shape 3"/>
          <p:cNvSpPr/>
          <p:nvPr/>
        </p:nvSpPr>
        <p:spPr>
          <a:xfrm>
            <a:off x="984225" y="1779146"/>
            <a:ext cx="643616" cy="247644"/>
          </a:xfrm>
          <a:prstGeom prst="roundRect">
            <a:avLst>
              <a:gd name="adj" fmla="val 50000"/>
            </a:avLst>
          </a:prstGeom>
          <a:solidFill>
            <a:srgbClr val="FFFFFF">
              <a:alpha val="16000"/>
            </a:srgbClr>
          </a:solidFill>
          <a:ln/>
        </p:spPr>
      </p:sp>
      <p:sp>
        <p:nvSpPr>
          <p:cNvPr id="6" name="Text 4"/>
          <p:cNvSpPr txBox="1"/>
          <p:nvPr/>
        </p:nvSpPr>
        <p:spPr>
          <a:xfrm>
            <a:off x="1073123" y="1817245"/>
            <a:ext cx="484453"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1 · conta</a:t>
            </a:r>
            <a:endParaRPr lang="en-US" sz="900" dirty="0"/>
          </a:p>
        </p:txBody>
      </p:sp>
      <p:sp>
        <p:nvSpPr>
          <p:cNvPr id="7" name="Text 5"/>
          <p:cNvSpPr txBox="1"/>
          <p:nvPr/>
        </p:nvSpPr>
        <p:spPr>
          <a:xfrm>
            <a:off x="984225" y="2191886"/>
            <a:ext cx="928767" cy="617026"/>
          </a:xfrm>
          <a:prstGeom prst="rect">
            <a:avLst/>
          </a:prstGeom>
          <a:noFill/>
          <a:ln/>
        </p:spPr>
        <p:txBody>
          <a:bodyPr wrap="square" lIns="0" tIns="0" rIns="0" bIns="0" rtlCol="0" anchor="t"/>
          <a:lstStyle/>
          <a:p>
            <a:pPr algn="l" indent="0" marL="0">
              <a:lnSpc>
                <a:spcPct val="115385"/>
              </a:lnSpc>
              <a:buNone/>
            </a:pPr>
            <a:r>
              <a:rPr lang="en-US" sz="1200" dirty="0">
                <a:solidFill>
                  <a:srgbClr val="DBE6FF"/>
                </a:solidFill>
                <a:latin typeface="Poppins" pitchFamily="34" charset="0"/>
                <a:ea typeface="Poppins" pitchFamily="34" charset="-122"/>
                <a:cs typeface="Poppins" pitchFamily="34" charset="-120"/>
              </a:rPr>
              <a:t>Free Edition,</a:t>
            </a:r>
            <a:endParaRPr lang="en-US" sz="1200" dirty="0"/>
          </a:p>
          <a:p>
            <a:pPr algn="l" indent="0" marL="0">
              <a:lnSpc>
                <a:spcPct val="115385"/>
              </a:lnSpc>
              <a:buNone/>
            </a:pPr>
            <a:r>
              <a:rPr lang="en-US" sz="1200" dirty="0">
                <a:solidFill>
                  <a:srgbClr val="DBE6FF"/>
                </a:solidFill>
                <a:latin typeface="Poppins" pitchFamily="34" charset="0"/>
                <a:ea typeface="Poppins" pitchFamily="34" charset="-122"/>
                <a:cs typeface="Poppins" pitchFamily="34" charset="-120"/>
              </a:rPr>
              <a:t>sem cartão</a:t>
            </a:r>
            <a:endParaRPr lang="en-US" sz="1200" dirty="0"/>
          </a:p>
        </p:txBody>
      </p:sp>
      <p:sp>
        <p:nvSpPr>
          <p:cNvPr id="8" name="Text 6"/>
          <p:cNvSpPr txBox="1"/>
          <p:nvPr/>
        </p:nvSpPr>
        <p:spPr>
          <a:xfrm>
            <a:off x="2188413" y="2309159"/>
            <a:ext cx="241762" cy="380990"/>
          </a:xfrm>
          <a:prstGeom prst="rect">
            <a:avLst/>
          </a:prstGeom>
          <a:noFill/>
          <a:ln/>
        </p:spPr>
        <p:txBody>
          <a:bodyPr wrap="square" lIns="0" tIns="0" rIns="0" bIns="0" rtlCol="0" anchor="t"/>
          <a:lstStyle/>
          <a:p>
            <a:pPr algn="l" indent="0" marL="0">
              <a:lnSpc>
                <a:spcPct val="106838"/>
              </a:lnSpc>
              <a:buNone/>
            </a:pPr>
            <a:r>
              <a:rPr lang="en-US" sz="2000" dirty="0">
                <a:solidFill>
                  <a:srgbClr val="22C2F4"/>
                </a:solidFill>
                <a:latin typeface="Poppins" pitchFamily="34" charset="0"/>
                <a:ea typeface="Poppins" pitchFamily="34" charset="-122"/>
                <a:cs typeface="Poppins" pitchFamily="34" charset="-120"/>
              </a:rPr>
              <a:t>→</a:t>
            </a:r>
            <a:endParaRPr lang="en-US" sz="2000" dirty="0"/>
          </a:p>
        </p:txBody>
      </p:sp>
      <p:sp>
        <p:nvSpPr>
          <p:cNvPr id="9" name="Shape 7"/>
          <p:cNvSpPr/>
          <p:nvPr/>
        </p:nvSpPr>
        <p:spPr>
          <a:xfrm>
            <a:off x="2509775" y="1582301"/>
            <a:ext cx="1928764" cy="1834806"/>
          </a:xfrm>
          <a:prstGeom prst="roundRect">
            <a:avLst>
              <a:gd name="adj" fmla="val 8306"/>
            </a:avLst>
          </a:prstGeom>
          <a:solidFill>
            <a:srgbClr val="0059DB"/>
          </a:solidFill>
          <a:ln/>
        </p:spPr>
      </p:sp>
      <p:sp>
        <p:nvSpPr>
          <p:cNvPr id="10" name="Shape 8"/>
          <p:cNvSpPr/>
          <p:nvPr/>
        </p:nvSpPr>
        <p:spPr>
          <a:xfrm>
            <a:off x="2732019" y="1779146"/>
            <a:ext cx="851970" cy="247644"/>
          </a:xfrm>
          <a:prstGeom prst="roundRect">
            <a:avLst>
              <a:gd name="adj" fmla="val 50000"/>
            </a:avLst>
          </a:prstGeom>
          <a:solidFill>
            <a:srgbClr val="FFFFFF">
              <a:alpha val="16000"/>
            </a:srgbClr>
          </a:solidFill>
          <a:ln/>
        </p:spPr>
      </p:sp>
      <p:sp>
        <p:nvSpPr>
          <p:cNvPr id="11" name="Text 9"/>
          <p:cNvSpPr txBox="1"/>
          <p:nvPr/>
        </p:nvSpPr>
        <p:spPr>
          <a:xfrm>
            <a:off x="2820917" y="1817245"/>
            <a:ext cx="701142"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2 · catálogo</a:t>
            </a:r>
            <a:endParaRPr lang="en-US" sz="900" dirty="0"/>
          </a:p>
        </p:txBody>
      </p:sp>
      <p:sp>
        <p:nvSpPr>
          <p:cNvPr id="12" name="Text 10"/>
          <p:cNvSpPr txBox="1"/>
          <p:nvPr/>
        </p:nvSpPr>
        <p:spPr>
          <a:xfrm>
            <a:off x="2732019" y="2191886"/>
            <a:ext cx="1543646" cy="617026"/>
          </a:xfrm>
          <a:prstGeom prst="rect">
            <a:avLst/>
          </a:prstGeom>
          <a:noFill/>
          <a:ln/>
        </p:spPr>
        <p:txBody>
          <a:bodyPr wrap="square" lIns="0" tIns="0" rIns="0" bIns="0" rtlCol="0" anchor="t"/>
          <a:lstStyle/>
          <a:p>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lakehouse_vertice</a:t>
            </a:r>
            <a:pPr algn="l" indent="0" marL="0">
              <a:lnSpc>
                <a:spcPct val="115385"/>
              </a:lnSpc>
              <a:buNone/>
            </a:pPr>
            <a:r>
              <a:rPr lang="en-US" sz="1200" dirty="0">
                <a:solidFill>
                  <a:srgbClr val="DBE6FF"/>
                </a:solidFill>
                <a:latin typeface="Poppins" pitchFamily="34" charset="0"/>
                <a:ea typeface="Poppins" pitchFamily="34" charset="-122"/>
                <a:cs typeface="Poppins" pitchFamily="34" charset="-120"/>
              </a:rPr>
              <a:t> +</a:t>
            </a:r>
            <a:endParaRPr lang="en-US" sz="1200" dirty="0"/>
          </a:p>
          <a:p>
            <a:pPr algn="l" indent="0" marL="0">
              <a:lnSpc>
                <a:spcPct val="115385"/>
              </a:lnSpc>
              <a:buNone/>
            </a:pPr>
            <a:r>
              <a:rPr lang="en-US" sz="1200" dirty="0">
                <a:solidFill>
                  <a:srgbClr val="DBE6FF"/>
                </a:solidFill>
                <a:latin typeface="Poppins" pitchFamily="34" charset="0"/>
                <a:ea typeface="Poppins" pitchFamily="34" charset="-122"/>
                <a:cs typeface="Poppins" pitchFamily="34" charset="-120"/>
              </a:rPr>
              <a:t>bronze, silver, gold</a:t>
            </a:r>
            <a:endParaRPr lang="en-US" sz="1200" dirty="0"/>
          </a:p>
        </p:txBody>
      </p:sp>
      <p:sp>
        <p:nvSpPr>
          <p:cNvPr id="13" name="Text 11"/>
          <p:cNvSpPr txBox="1"/>
          <p:nvPr/>
        </p:nvSpPr>
        <p:spPr>
          <a:xfrm>
            <a:off x="4527437" y="2309159"/>
            <a:ext cx="241762" cy="380990"/>
          </a:xfrm>
          <a:prstGeom prst="rect">
            <a:avLst/>
          </a:prstGeom>
          <a:noFill/>
          <a:ln/>
        </p:spPr>
        <p:txBody>
          <a:bodyPr wrap="square" lIns="0" tIns="0" rIns="0" bIns="0" rtlCol="0" anchor="t"/>
          <a:lstStyle/>
          <a:p>
            <a:pPr algn="l" indent="0" marL="0">
              <a:lnSpc>
                <a:spcPct val="106838"/>
              </a:lnSpc>
              <a:buNone/>
            </a:pPr>
            <a:r>
              <a:rPr lang="en-US" sz="2000" dirty="0">
                <a:solidFill>
                  <a:srgbClr val="22C2F4"/>
                </a:solidFill>
                <a:latin typeface="Poppins" pitchFamily="34" charset="0"/>
                <a:ea typeface="Poppins" pitchFamily="34" charset="-122"/>
                <a:cs typeface="Poppins" pitchFamily="34" charset="-120"/>
              </a:rPr>
              <a:t>→</a:t>
            </a:r>
            <a:endParaRPr lang="en-US" sz="2000" dirty="0"/>
          </a:p>
        </p:txBody>
      </p:sp>
      <p:sp>
        <p:nvSpPr>
          <p:cNvPr id="14" name="Shape 12"/>
          <p:cNvSpPr/>
          <p:nvPr/>
        </p:nvSpPr>
        <p:spPr>
          <a:xfrm>
            <a:off x="4848798" y="1582301"/>
            <a:ext cx="1337535" cy="1834806"/>
          </a:xfrm>
          <a:prstGeom prst="roundRect">
            <a:avLst>
              <a:gd name="adj" fmla="val 11394"/>
            </a:avLst>
          </a:prstGeom>
          <a:solidFill>
            <a:srgbClr val="0059DB"/>
          </a:solidFill>
          <a:ln/>
        </p:spPr>
      </p:sp>
      <p:sp>
        <p:nvSpPr>
          <p:cNvPr id="15" name="Shape 13"/>
          <p:cNvSpPr/>
          <p:nvPr/>
        </p:nvSpPr>
        <p:spPr>
          <a:xfrm>
            <a:off x="5071043" y="1779146"/>
            <a:ext cx="770613" cy="247644"/>
          </a:xfrm>
          <a:prstGeom prst="roundRect">
            <a:avLst>
              <a:gd name="adj" fmla="val 50000"/>
            </a:avLst>
          </a:prstGeom>
          <a:solidFill>
            <a:srgbClr val="FFFFFF">
              <a:alpha val="16000"/>
            </a:srgbClr>
          </a:solidFill>
          <a:ln/>
        </p:spPr>
      </p:sp>
      <p:sp>
        <p:nvSpPr>
          <p:cNvPr id="16" name="Text 14"/>
          <p:cNvSpPr txBox="1"/>
          <p:nvPr/>
        </p:nvSpPr>
        <p:spPr>
          <a:xfrm>
            <a:off x="5159941" y="1817245"/>
            <a:ext cx="616530"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3 · volume</a:t>
            </a:r>
            <a:endParaRPr lang="en-US" sz="900" dirty="0"/>
          </a:p>
        </p:txBody>
      </p:sp>
      <p:sp>
        <p:nvSpPr>
          <p:cNvPr id="17" name="Text 15"/>
          <p:cNvSpPr txBox="1"/>
          <p:nvPr/>
        </p:nvSpPr>
        <p:spPr>
          <a:xfrm>
            <a:off x="5071043" y="2191886"/>
            <a:ext cx="928767" cy="617026"/>
          </a:xfrm>
          <a:prstGeom prst="rect">
            <a:avLst/>
          </a:prstGeom>
          <a:noFill/>
          <a:ln/>
        </p:spPr>
        <p:txBody>
          <a:bodyPr wrap="square" lIns="0" tIns="0" rIns="0" bIns="0" rtlCol="0" anchor="t"/>
          <a:lstStyle/>
          <a:p>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bronze.raw</a:t>
            </a:r>
            <a:pPr algn="l" indent="0" marL="0">
              <a:lnSpc>
                <a:spcPct val="115385"/>
              </a:lnSpc>
              <a:buNone/>
            </a:pPr>
            <a:r>
              <a:rPr lang="en-US" sz="1200" dirty="0">
                <a:solidFill>
                  <a:srgbClr val="DBE6FF"/>
                </a:solidFill>
                <a:latin typeface="Poppins" pitchFamily="34" charset="0"/>
                <a:ea typeface="Poppins" pitchFamily="34" charset="-122"/>
                <a:cs typeface="Poppins" pitchFamily="34" charset="-120"/>
              </a:rPr>
              <a:t> e</a:t>
            </a:r>
            <a:endParaRPr lang="en-US" sz="1200" dirty="0"/>
          </a:p>
          <a:p>
            <a:pPr algn="l" indent="0" marL="0">
              <a:lnSpc>
                <a:spcPct val="115385"/>
              </a:lnSpc>
              <a:buNone/>
            </a:pPr>
            <a:r>
              <a:rPr lang="en-US" sz="1200" dirty="0">
                <a:solidFill>
                  <a:srgbClr val="DBE6FF"/>
                </a:solidFill>
                <a:latin typeface="Poppins" pitchFamily="34" charset="0"/>
                <a:ea typeface="Poppins" pitchFamily="34" charset="-122"/>
                <a:cs typeface="Poppins" pitchFamily="34" charset="-120"/>
              </a:rPr>
              <a:t>as 8 pastas</a:t>
            </a:r>
            <a:endParaRPr lang="en-US" sz="1200" dirty="0"/>
          </a:p>
        </p:txBody>
      </p:sp>
      <p:sp>
        <p:nvSpPr>
          <p:cNvPr id="18" name="Text 16"/>
          <p:cNvSpPr txBox="1"/>
          <p:nvPr/>
        </p:nvSpPr>
        <p:spPr>
          <a:xfrm>
            <a:off x="6275231" y="2309159"/>
            <a:ext cx="241762" cy="380990"/>
          </a:xfrm>
          <a:prstGeom prst="rect">
            <a:avLst/>
          </a:prstGeom>
          <a:noFill/>
          <a:ln/>
        </p:spPr>
        <p:txBody>
          <a:bodyPr wrap="square" lIns="0" tIns="0" rIns="0" bIns="0" rtlCol="0" anchor="t"/>
          <a:lstStyle/>
          <a:p>
            <a:pPr algn="l" indent="0" marL="0">
              <a:lnSpc>
                <a:spcPct val="106838"/>
              </a:lnSpc>
              <a:buNone/>
            </a:pPr>
            <a:r>
              <a:rPr lang="en-US" sz="2000" dirty="0">
                <a:solidFill>
                  <a:srgbClr val="22C2F4"/>
                </a:solidFill>
                <a:latin typeface="Poppins" pitchFamily="34" charset="0"/>
                <a:ea typeface="Poppins" pitchFamily="34" charset="-122"/>
                <a:cs typeface="Poppins" pitchFamily="34" charset="-120"/>
              </a:rPr>
              <a:t>→</a:t>
            </a:r>
            <a:endParaRPr lang="en-US" sz="2000" dirty="0"/>
          </a:p>
        </p:txBody>
      </p:sp>
      <p:sp>
        <p:nvSpPr>
          <p:cNvPr id="19" name="Shape 17"/>
          <p:cNvSpPr/>
          <p:nvPr/>
        </p:nvSpPr>
        <p:spPr>
          <a:xfrm>
            <a:off x="6596592" y="1582301"/>
            <a:ext cx="1337535" cy="1834806"/>
          </a:xfrm>
          <a:prstGeom prst="roundRect">
            <a:avLst>
              <a:gd name="adj" fmla="val 11394"/>
            </a:avLst>
          </a:prstGeom>
          <a:solidFill>
            <a:srgbClr val="0059DB"/>
          </a:solidFill>
          <a:ln/>
        </p:spPr>
      </p:sp>
      <p:sp>
        <p:nvSpPr>
          <p:cNvPr id="20" name="Shape 18"/>
          <p:cNvSpPr/>
          <p:nvPr/>
        </p:nvSpPr>
        <p:spPr>
          <a:xfrm>
            <a:off x="6818837" y="1779146"/>
            <a:ext cx="850780" cy="247644"/>
          </a:xfrm>
          <a:prstGeom prst="roundRect">
            <a:avLst>
              <a:gd name="adj" fmla="val 50000"/>
            </a:avLst>
          </a:prstGeom>
          <a:solidFill>
            <a:srgbClr val="FFFFFF">
              <a:alpha val="16000"/>
            </a:srgbClr>
          </a:solidFill>
          <a:ln/>
        </p:spPr>
      </p:sp>
      <p:sp>
        <p:nvSpPr>
          <p:cNvPr id="21" name="Text 19"/>
          <p:cNvSpPr txBox="1"/>
          <p:nvPr/>
        </p:nvSpPr>
        <p:spPr>
          <a:xfrm>
            <a:off x="6907734" y="1817245"/>
            <a:ext cx="699903"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4 · arquivos</a:t>
            </a:r>
            <a:endParaRPr lang="en-US" sz="900" dirty="0"/>
          </a:p>
        </p:txBody>
      </p:sp>
      <p:sp>
        <p:nvSpPr>
          <p:cNvPr id="22" name="Text 20"/>
          <p:cNvSpPr txBox="1"/>
          <p:nvPr/>
        </p:nvSpPr>
        <p:spPr>
          <a:xfrm>
            <a:off x="6818837" y="2191886"/>
            <a:ext cx="928767" cy="822701"/>
          </a:xfrm>
          <a:prstGeom prst="rect">
            <a:avLst/>
          </a:prstGeom>
          <a:noFill/>
          <a:ln/>
        </p:spPr>
        <p:txBody>
          <a:bodyPr wrap="square" lIns="0" tIns="0" rIns="0" bIns="0" rtlCol="0" anchor="t"/>
          <a:lstStyle/>
          <a:p>
            <a:pPr algn="l" indent="0" marL="0">
              <a:lnSpc>
                <a:spcPct val="115385"/>
              </a:lnSpc>
              <a:buNone/>
            </a:pPr>
            <a:r>
              <a:rPr lang="en-US" sz="1200" dirty="0">
                <a:solidFill>
                  <a:srgbClr val="DBE6FF"/>
                </a:solidFill>
                <a:latin typeface="Poppins" pitchFamily="34" charset="0"/>
                <a:ea typeface="Poppins" pitchFamily="34" charset="-122"/>
                <a:cs typeface="Poppins" pitchFamily="34" charset="-120"/>
              </a:rPr>
              <a:t>o zip do Drive,</a:t>
            </a:r>
            <a:endParaRPr lang="en-US" sz="1200" dirty="0"/>
          </a:p>
          <a:p>
            <a:pPr algn="l" indent="0" marL="0">
              <a:lnSpc>
                <a:spcPct val="115385"/>
              </a:lnSpc>
              <a:buNone/>
            </a:pPr>
            <a:r>
              <a:rPr lang="en-US" sz="1200" dirty="0">
                <a:solidFill>
                  <a:srgbClr val="DBE6FF"/>
                </a:solidFill>
                <a:latin typeface="Poppins" pitchFamily="34" charset="0"/>
                <a:ea typeface="Poppins" pitchFamily="34" charset="-122"/>
                <a:cs typeface="Poppins" pitchFamily="34" charset="-120"/>
              </a:rPr>
              <a:t>pasta por pasta</a:t>
            </a:r>
            <a:endParaRPr lang="en-US" sz="1200" dirty="0"/>
          </a:p>
        </p:txBody>
      </p:sp>
      <p:sp>
        <p:nvSpPr>
          <p:cNvPr id="23" name="Text 21"/>
          <p:cNvSpPr txBox="1"/>
          <p:nvPr/>
        </p:nvSpPr>
        <p:spPr>
          <a:xfrm>
            <a:off x="8023024" y="2309159"/>
            <a:ext cx="241762" cy="380990"/>
          </a:xfrm>
          <a:prstGeom prst="rect">
            <a:avLst/>
          </a:prstGeom>
          <a:noFill/>
          <a:ln/>
        </p:spPr>
        <p:txBody>
          <a:bodyPr wrap="square" lIns="0" tIns="0" rIns="0" bIns="0" rtlCol="0" anchor="t"/>
          <a:lstStyle/>
          <a:p>
            <a:pPr algn="l" indent="0" marL="0">
              <a:lnSpc>
                <a:spcPct val="106838"/>
              </a:lnSpc>
              <a:buNone/>
            </a:pPr>
            <a:r>
              <a:rPr lang="en-US" sz="2000" dirty="0">
                <a:solidFill>
                  <a:srgbClr val="22C2F4"/>
                </a:solidFill>
                <a:latin typeface="Poppins" pitchFamily="34" charset="0"/>
                <a:ea typeface="Poppins" pitchFamily="34" charset="-122"/>
                <a:cs typeface="Poppins" pitchFamily="34" charset="-120"/>
              </a:rPr>
              <a:t>→</a:t>
            </a:r>
            <a:endParaRPr lang="en-US" sz="2000" dirty="0"/>
          </a:p>
        </p:txBody>
      </p:sp>
      <p:sp>
        <p:nvSpPr>
          <p:cNvPr id="24" name="Shape 22"/>
          <p:cNvSpPr/>
          <p:nvPr/>
        </p:nvSpPr>
        <p:spPr>
          <a:xfrm>
            <a:off x="8344386" y="1582301"/>
            <a:ext cx="1337535" cy="1834806"/>
          </a:xfrm>
          <a:prstGeom prst="roundRect">
            <a:avLst>
              <a:gd name="adj" fmla="val 11394"/>
            </a:avLst>
          </a:prstGeom>
          <a:solidFill>
            <a:srgbClr val="0059DB"/>
          </a:solidFill>
          <a:ln/>
        </p:spPr>
      </p:sp>
      <p:sp>
        <p:nvSpPr>
          <p:cNvPr id="25" name="Shape 23"/>
          <p:cNvSpPr/>
          <p:nvPr/>
        </p:nvSpPr>
        <p:spPr>
          <a:xfrm>
            <a:off x="8566630" y="1779146"/>
            <a:ext cx="548765" cy="247644"/>
          </a:xfrm>
          <a:prstGeom prst="roundRect">
            <a:avLst>
              <a:gd name="adj" fmla="val 50000"/>
            </a:avLst>
          </a:prstGeom>
          <a:solidFill>
            <a:srgbClr val="FFFFFF">
              <a:alpha val="16000"/>
            </a:srgbClr>
          </a:solidFill>
          <a:ln/>
        </p:spPr>
      </p:sp>
      <p:sp>
        <p:nvSpPr>
          <p:cNvPr id="26" name="Text 24"/>
          <p:cNvSpPr txBox="1"/>
          <p:nvPr/>
        </p:nvSpPr>
        <p:spPr>
          <a:xfrm>
            <a:off x="8655528" y="1817245"/>
            <a:ext cx="385808"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5 · SQL</a:t>
            </a:r>
            <a:endParaRPr lang="en-US" sz="900" dirty="0"/>
          </a:p>
        </p:txBody>
      </p:sp>
      <p:sp>
        <p:nvSpPr>
          <p:cNvPr id="27" name="Text 25"/>
          <p:cNvSpPr txBox="1"/>
          <p:nvPr/>
        </p:nvSpPr>
        <p:spPr>
          <a:xfrm>
            <a:off x="8566630" y="2191886"/>
            <a:ext cx="928767" cy="1028377"/>
          </a:xfrm>
          <a:prstGeom prst="rect">
            <a:avLst/>
          </a:prstGeom>
          <a:noFill/>
          <a:ln/>
        </p:spPr>
        <p:txBody>
          <a:bodyPr wrap="square" lIns="0" tIns="0" rIns="0" bIns="0" rtlCol="0" anchor="t"/>
          <a:lstStyle/>
          <a:p>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01-ingestao-bronze</a:t>
            </a:r>
            <a:endParaRPr lang="en-US" sz="1200" dirty="0"/>
          </a:p>
          <a:p>
            <a:pPr algn="l" indent="0" marL="0">
              <a:lnSpc>
                <a:spcPct val="115385"/>
              </a:lnSpc>
              <a:buNone/>
            </a:pPr>
            <a:r>
              <a:rPr lang="en-US" sz="1200" dirty="0">
                <a:solidFill>
                  <a:srgbClr val="DBE6FF"/>
                </a:solidFill>
                <a:latin typeface="Poppins" pitchFamily="34" charset="0"/>
                <a:ea typeface="Poppins" pitchFamily="34" charset="-122"/>
                <a:cs typeface="Poppins" pitchFamily="34" charset="-120"/>
              </a:rPr>
              <a:t>no SQL Editor</a:t>
            </a:r>
            <a:endParaRPr lang="en-US" sz="1200" dirty="0"/>
          </a:p>
        </p:txBody>
      </p:sp>
      <p:sp>
        <p:nvSpPr>
          <p:cNvPr id="28" name="Text 26"/>
          <p:cNvSpPr txBox="1"/>
          <p:nvPr/>
        </p:nvSpPr>
        <p:spPr>
          <a:xfrm>
            <a:off x="9770818" y="2309159"/>
            <a:ext cx="241762" cy="380990"/>
          </a:xfrm>
          <a:prstGeom prst="rect">
            <a:avLst/>
          </a:prstGeom>
          <a:noFill/>
          <a:ln/>
        </p:spPr>
        <p:txBody>
          <a:bodyPr wrap="square" lIns="0" tIns="0" rIns="0" bIns="0" rtlCol="0" anchor="t"/>
          <a:lstStyle/>
          <a:p>
            <a:pPr algn="l" indent="0" marL="0">
              <a:lnSpc>
                <a:spcPct val="106838"/>
              </a:lnSpc>
              <a:buNone/>
            </a:pPr>
            <a:r>
              <a:rPr lang="en-US" sz="2000" dirty="0">
                <a:solidFill>
                  <a:srgbClr val="22C2F4"/>
                </a:solidFill>
                <a:latin typeface="Poppins" pitchFamily="34" charset="0"/>
                <a:ea typeface="Poppins" pitchFamily="34" charset="-122"/>
                <a:cs typeface="Poppins" pitchFamily="34" charset="-120"/>
              </a:rPr>
              <a:t>→</a:t>
            </a:r>
            <a:endParaRPr lang="en-US" sz="2000" dirty="0"/>
          </a:p>
        </p:txBody>
      </p:sp>
      <p:sp>
        <p:nvSpPr>
          <p:cNvPr id="29" name="Shape 27"/>
          <p:cNvSpPr/>
          <p:nvPr/>
        </p:nvSpPr>
        <p:spPr>
          <a:xfrm>
            <a:off x="10092180" y="1582301"/>
            <a:ext cx="1337535" cy="1834806"/>
          </a:xfrm>
          <a:prstGeom prst="roundRect">
            <a:avLst>
              <a:gd name="adj" fmla="val 11394"/>
            </a:avLst>
          </a:prstGeom>
          <a:solidFill>
            <a:srgbClr val="0059DB"/>
          </a:solidFill>
          <a:ln/>
        </p:spPr>
      </p:sp>
      <p:sp>
        <p:nvSpPr>
          <p:cNvPr id="30" name="Shape 28"/>
          <p:cNvSpPr/>
          <p:nvPr/>
        </p:nvSpPr>
        <p:spPr>
          <a:xfrm>
            <a:off x="10314424" y="1779146"/>
            <a:ext cx="748388" cy="247644"/>
          </a:xfrm>
          <a:prstGeom prst="roundRect">
            <a:avLst>
              <a:gd name="adj" fmla="val 50000"/>
            </a:avLst>
          </a:prstGeom>
          <a:solidFill>
            <a:srgbClr val="FFFFFF">
              <a:alpha val="16000"/>
            </a:srgbClr>
          </a:solidFill>
          <a:ln/>
        </p:spPr>
      </p:sp>
      <p:sp>
        <p:nvSpPr>
          <p:cNvPr id="31" name="Text 29"/>
          <p:cNvSpPr txBox="1"/>
          <p:nvPr/>
        </p:nvSpPr>
        <p:spPr>
          <a:xfrm>
            <a:off x="10403322" y="1817245"/>
            <a:ext cx="593416"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6 · confira</a:t>
            </a:r>
            <a:endParaRPr lang="en-US" sz="900" dirty="0"/>
          </a:p>
        </p:txBody>
      </p:sp>
      <p:sp>
        <p:nvSpPr>
          <p:cNvPr id="32" name="Text 30"/>
          <p:cNvSpPr txBox="1"/>
          <p:nvPr/>
        </p:nvSpPr>
        <p:spPr>
          <a:xfrm>
            <a:off x="10314424" y="2191886"/>
            <a:ext cx="928767" cy="411351"/>
          </a:xfrm>
          <a:prstGeom prst="rect">
            <a:avLst/>
          </a:prstGeom>
          <a:noFill/>
          <a:ln/>
        </p:spPr>
        <p:txBody>
          <a:bodyPr wrap="square" lIns="0" tIns="0" rIns="0" bIns="0" rtlCol="0" anchor="t"/>
          <a:lstStyle/>
          <a:p>
            <a:pPr algn="l" indent="0" marL="0">
              <a:lnSpc>
                <a:spcPct val="115385"/>
              </a:lnSpc>
              <a:buNone/>
            </a:pPr>
            <a:r>
              <a:rPr lang="en-US" sz="1200" dirty="0">
                <a:solidFill>
                  <a:srgbClr val="DBE6FF"/>
                </a:solidFill>
                <a:latin typeface="Poppins" pitchFamily="34" charset="0"/>
                <a:ea typeface="Poppins" pitchFamily="34" charset="-122"/>
                <a:cs typeface="Poppins" pitchFamily="34" charset="-120"/>
              </a:rPr>
              <a:t>9 tabelas</a:t>
            </a:r>
            <a:endParaRPr lang="en-US" sz="1200" dirty="0"/>
          </a:p>
          <a:p>
            <a:pPr algn="l" indent="0" marL="0">
              <a:lnSpc>
                <a:spcPct val="115385"/>
              </a:lnSpc>
              <a:buNone/>
            </a:pPr>
            <a:r>
              <a:rPr lang="en-US" sz="1200" dirty="0">
                <a:solidFill>
                  <a:srgbClr val="DBE6FF"/>
                </a:solidFill>
                <a:latin typeface="Poppins" pitchFamily="34" charset="0"/>
                <a:ea typeface="Poppins" pitchFamily="34" charset="-122"/>
                <a:cs typeface="Poppins" pitchFamily="34" charset="-120"/>
              </a:rPr>
              <a:t>na bronze</a:t>
            </a:r>
            <a:endParaRPr lang="en-US" sz="1200" dirty="0"/>
          </a:p>
        </p:txBody>
      </p:sp>
      <p:sp>
        <p:nvSpPr>
          <p:cNvPr id="33" name="Shape 31"/>
          <p:cNvSpPr/>
          <p:nvPr/>
        </p:nvSpPr>
        <p:spPr>
          <a:xfrm>
            <a:off x="761981" y="3582203"/>
            <a:ext cx="25399" cy="571486"/>
          </a:xfrm>
          <a:prstGeom prst="rect">
            <a:avLst/>
          </a:prstGeom>
          <a:solidFill>
            <a:srgbClr val="22C2F4"/>
          </a:solidFill>
          <a:ln/>
        </p:spPr>
      </p:sp>
      <p:sp>
        <p:nvSpPr>
          <p:cNvPr id="34" name="Text 32"/>
          <p:cNvSpPr txBox="1"/>
          <p:nvPr/>
        </p:nvSpPr>
        <p:spPr>
          <a:xfrm>
            <a:off x="914377" y="3620302"/>
            <a:ext cx="10935951" cy="495288"/>
          </a:xfrm>
          <a:prstGeom prst="rect">
            <a:avLst/>
          </a:prstGeom>
          <a:noFill/>
          <a:ln/>
        </p:spPr>
        <p:txBody>
          <a:bodyPr wrap="square" lIns="0" tIns="0" rIns="0" bIns="0" rtlCol="0" anchor="t"/>
          <a:lstStyle/>
          <a:p>
            <a:pPr algn="l" indent="0" marL="0">
              <a:lnSpc>
                <a:spcPct val="106838"/>
              </a:lnSpc>
              <a:buNone/>
            </a:pPr>
            <a:r>
              <a:rPr lang="en-US" sz="1300" dirty="0">
                <a:solidFill>
                  <a:srgbClr val="A3A6B4"/>
                </a:solidFill>
                <a:latin typeface="Poppins" pitchFamily="34" charset="0"/>
                <a:ea typeface="Poppins" pitchFamily="34" charset="-122"/>
                <a:cs typeface="Poppins" pitchFamily="34" charset="-120"/>
              </a:rPr>
              <a:t>Primeiro a casa, depois o dado: o catálogo e o volume existem </a:t>
            </a:r>
            <a:pPr algn="l" indent="0" marL="0">
              <a:lnSpc>
                <a:spcPct val="106838"/>
              </a:lnSpc>
              <a:buNone/>
            </a:pPr>
            <a:r>
              <a:rPr lang="en-US" sz="1300" b="1" dirty="0">
                <a:solidFill>
                  <a:srgbClr val="FFFFFF"/>
                </a:solidFill>
                <a:latin typeface="Poppins" pitchFamily="34" charset="0"/>
                <a:ea typeface="Poppins" pitchFamily="34" charset="-122"/>
                <a:cs typeface="Poppins" pitchFamily="34" charset="-120"/>
              </a:rPr>
              <a:t>antes</a:t>
            </a:r>
            <a:pPr algn="l" indent="0" marL="0">
              <a:lnSpc>
                <a:spcPct val="106838"/>
              </a:lnSpc>
              <a:buNone/>
            </a:pPr>
            <a:r>
              <a:rPr lang="en-US" sz="1300" dirty="0">
                <a:solidFill>
                  <a:srgbClr val="A3A6B4"/>
                </a:solidFill>
                <a:latin typeface="Poppins" pitchFamily="34" charset="0"/>
                <a:ea typeface="Poppins" pitchFamily="34" charset="-122"/>
                <a:cs typeface="Poppins" pitchFamily="34" charset="-120"/>
              </a:rPr>
              <a:t> de qualquer arquivo subir. Tudo pelo navegador, nenhum código até o passo 5.</a:t>
            </a:r>
            <a:endParaRPr lang="en-US" sz="1300" dirty="0"/>
          </a:p>
        </p:txBody>
      </p:sp>
      <p:pic>
        <p:nvPicPr>
          <p:cNvPr id="35"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36" name="Text 33"/>
          <p:cNvSpPr txBox="1"/>
          <p:nvPr/>
        </p:nvSpPr>
        <p:spPr>
          <a:xfrm>
            <a:off x="10958635" y="6387940"/>
            <a:ext cx="489922"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27 / 133</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1 · PASSO 1 DE 6</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Crie a conta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no Free Edition</a:t>
            </a:r>
            <a:endParaRPr lang="en-US" sz="3100" dirty="0"/>
          </a:p>
        </p:txBody>
      </p:sp>
      <p:sp>
        <p:nvSpPr>
          <p:cNvPr id="4" name="Shape 2"/>
          <p:cNvSpPr/>
          <p:nvPr/>
        </p:nvSpPr>
        <p:spPr>
          <a:xfrm>
            <a:off x="761981" y="1582301"/>
            <a:ext cx="5238619" cy="1499654"/>
          </a:xfrm>
          <a:prstGeom prst="roundRect">
            <a:avLst>
              <a:gd name="adj" fmla="val 10162"/>
            </a:avLst>
          </a:prstGeom>
          <a:solidFill>
            <a:srgbClr val="0059DB"/>
          </a:solidFill>
          <a:ln/>
        </p:spPr>
      </p:sp>
      <p:sp>
        <p:nvSpPr>
          <p:cNvPr id="5" name="Shape 3"/>
          <p:cNvSpPr/>
          <p:nvPr/>
        </p:nvSpPr>
        <p:spPr>
          <a:xfrm>
            <a:off x="984225" y="1779146"/>
            <a:ext cx="491121" cy="247644"/>
          </a:xfrm>
          <a:prstGeom prst="roundRect">
            <a:avLst>
              <a:gd name="adj" fmla="val 50000"/>
            </a:avLst>
          </a:prstGeom>
          <a:solidFill>
            <a:srgbClr val="FFFFFF">
              <a:alpha val="16000"/>
            </a:srgbClr>
          </a:solidFill>
          <a:ln/>
        </p:spPr>
      </p:sp>
      <p:sp>
        <p:nvSpPr>
          <p:cNvPr id="6" name="Text 4"/>
          <p:cNvSpPr txBox="1"/>
          <p:nvPr/>
        </p:nvSpPr>
        <p:spPr>
          <a:xfrm>
            <a:off x="1073123" y="1817245"/>
            <a:ext cx="325858"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Onde</a:t>
            </a:r>
            <a:endParaRPr lang="en-US" sz="900" dirty="0"/>
          </a:p>
        </p:txBody>
      </p:sp>
      <p:sp>
        <p:nvSpPr>
          <p:cNvPr id="7" name="Shape 5"/>
          <p:cNvSpPr/>
          <p:nvPr/>
        </p:nvSpPr>
        <p:spPr>
          <a:xfrm>
            <a:off x="984225" y="2198236"/>
            <a:ext cx="76198" cy="76198"/>
          </a:xfrm>
          <a:prstGeom prst="roundRect">
            <a:avLst>
              <a:gd name="adj" fmla="val 25000"/>
            </a:avLst>
          </a:prstGeom>
          <a:solidFill>
            <a:srgbClr val="22C2F4"/>
          </a:solidFill>
          <a:ln/>
        </p:spPr>
      </p:sp>
      <p:sp>
        <p:nvSpPr>
          <p:cNvPr id="8" name="Text 6"/>
          <p:cNvSpPr txBox="1"/>
          <p:nvPr/>
        </p:nvSpPr>
        <p:spPr>
          <a:xfrm>
            <a:off x="1174721" y="2115688"/>
            <a:ext cx="4787780" cy="205675"/>
          </a:xfrm>
          <a:prstGeom prst="rect">
            <a:avLst/>
          </a:prstGeom>
          <a:noFill/>
          <a:ln/>
        </p:spPr>
        <p:txBody>
          <a:bodyPr wrap="square" lIns="0" tIns="0" rIns="0" bIns="0" rtlCol="0" anchor="t"/>
          <a:lstStyle/>
          <a:p>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databricks.com/learn/free-edition</a:t>
            </a:r>
            <a:endParaRPr lang="en-US" sz="1200" dirty="0"/>
          </a:p>
        </p:txBody>
      </p:sp>
      <p:sp>
        <p:nvSpPr>
          <p:cNvPr id="9" name="Shape 7"/>
          <p:cNvSpPr/>
          <p:nvPr/>
        </p:nvSpPr>
        <p:spPr>
          <a:xfrm>
            <a:off x="984225" y="2480109"/>
            <a:ext cx="76198" cy="76198"/>
          </a:xfrm>
          <a:prstGeom prst="roundRect">
            <a:avLst>
              <a:gd name="adj" fmla="val 25000"/>
            </a:avLst>
          </a:prstGeom>
          <a:solidFill>
            <a:srgbClr val="22C2F4"/>
          </a:solidFill>
          <a:ln/>
        </p:spPr>
      </p:sp>
      <p:sp>
        <p:nvSpPr>
          <p:cNvPr id="10" name="Text 8"/>
          <p:cNvSpPr txBox="1"/>
          <p:nvPr/>
        </p:nvSpPr>
        <p:spPr>
          <a:xfrm>
            <a:off x="1174721" y="2397561"/>
            <a:ext cx="4787780" cy="205675"/>
          </a:xfrm>
          <a:prstGeom prst="rect">
            <a:avLst/>
          </a:prstGeom>
          <a:noFill/>
          <a:ln/>
        </p:spPr>
        <p:txBody>
          <a:bodyPr wrap="square" lIns="0" tIns="0" rIns="0" bIns="0" rtlCol="0" anchor="t"/>
          <a:lstStyle/>
          <a:p>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Sign up</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com Google ou e-mail</a:t>
            </a:r>
            <a:endParaRPr lang="en-US" sz="1200" dirty="0"/>
          </a:p>
        </p:txBody>
      </p:sp>
      <p:sp>
        <p:nvSpPr>
          <p:cNvPr id="11" name="Shape 9"/>
          <p:cNvSpPr/>
          <p:nvPr/>
        </p:nvSpPr>
        <p:spPr>
          <a:xfrm>
            <a:off x="984225" y="2761983"/>
            <a:ext cx="76198" cy="76198"/>
          </a:xfrm>
          <a:prstGeom prst="roundRect">
            <a:avLst>
              <a:gd name="adj" fmla="val 25000"/>
            </a:avLst>
          </a:prstGeom>
          <a:solidFill>
            <a:srgbClr val="22C2F4"/>
          </a:solidFill>
          <a:ln/>
        </p:spPr>
      </p:sp>
      <p:sp>
        <p:nvSpPr>
          <p:cNvPr id="12" name="Text 10"/>
          <p:cNvSpPr txBox="1"/>
          <p:nvPr/>
        </p:nvSpPr>
        <p:spPr>
          <a:xfrm>
            <a:off x="1174721" y="2679435"/>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não pede cartão, não expira</a:t>
            </a:r>
            <a:endParaRPr lang="en-US" sz="1200" dirty="0"/>
          </a:p>
        </p:txBody>
      </p:sp>
      <p:sp>
        <p:nvSpPr>
          <p:cNvPr id="13" name="Shape 11"/>
          <p:cNvSpPr/>
          <p:nvPr/>
        </p:nvSpPr>
        <p:spPr>
          <a:xfrm>
            <a:off x="6191095" y="1582301"/>
            <a:ext cx="5238619" cy="1499654"/>
          </a:xfrm>
          <a:prstGeom prst="roundRect">
            <a:avLst>
              <a:gd name="adj" fmla="val 10162"/>
            </a:avLst>
          </a:prstGeom>
          <a:solidFill>
            <a:srgbClr val="1E1E24"/>
          </a:solidFill>
          <a:ln w="6350">
            <a:solidFill>
              <a:srgbClr val="2F2F39"/>
            </a:solidFill>
            <a:prstDash val="solid"/>
          </a:ln>
        </p:spPr>
      </p:sp>
      <p:sp>
        <p:nvSpPr>
          <p:cNvPr id="14" name="Shape 12"/>
          <p:cNvSpPr/>
          <p:nvPr/>
        </p:nvSpPr>
        <p:spPr>
          <a:xfrm>
            <a:off x="6413340" y="1779146"/>
            <a:ext cx="1237028" cy="247644"/>
          </a:xfrm>
          <a:prstGeom prst="roundRect">
            <a:avLst>
              <a:gd name="adj" fmla="val 50000"/>
            </a:avLst>
          </a:prstGeom>
          <a:solidFill>
            <a:srgbClr val="22C2F4">
              <a:alpha val="14000"/>
            </a:srgbClr>
          </a:solidFill>
          <a:ln/>
        </p:spPr>
      </p:sp>
      <p:sp>
        <p:nvSpPr>
          <p:cNvPr id="15" name="Text 13"/>
          <p:cNvSpPr txBox="1"/>
          <p:nvPr/>
        </p:nvSpPr>
        <p:spPr>
          <a:xfrm>
            <a:off x="6502237" y="1817245"/>
            <a:ext cx="1101602"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O que você ganha</a:t>
            </a:r>
            <a:endParaRPr lang="en-US" sz="900" dirty="0"/>
          </a:p>
        </p:txBody>
      </p:sp>
      <p:sp>
        <p:nvSpPr>
          <p:cNvPr id="16" name="Shape 14"/>
          <p:cNvSpPr/>
          <p:nvPr/>
        </p:nvSpPr>
        <p:spPr>
          <a:xfrm>
            <a:off x="6413340" y="2198236"/>
            <a:ext cx="76198" cy="76198"/>
          </a:xfrm>
          <a:prstGeom prst="roundRect">
            <a:avLst>
              <a:gd name="adj" fmla="val 25000"/>
            </a:avLst>
          </a:prstGeom>
          <a:solidFill>
            <a:srgbClr val="22C2F4"/>
          </a:solidFill>
          <a:ln/>
        </p:spPr>
      </p:sp>
      <p:sp>
        <p:nvSpPr>
          <p:cNvPr id="17" name="Text 15"/>
          <p:cNvSpPr txBox="1"/>
          <p:nvPr/>
        </p:nvSpPr>
        <p:spPr>
          <a:xfrm>
            <a:off x="6603835" y="2115688"/>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um workspace só seu, tudo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serverless</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ninguém liga cluster</a:t>
            </a:r>
            <a:endParaRPr lang="en-US" sz="1200" dirty="0"/>
          </a:p>
        </p:txBody>
      </p:sp>
      <p:sp>
        <p:nvSpPr>
          <p:cNvPr id="18" name="Shape 16"/>
          <p:cNvSpPr/>
          <p:nvPr/>
        </p:nvSpPr>
        <p:spPr>
          <a:xfrm>
            <a:off x="6413340" y="2480109"/>
            <a:ext cx="76198" cy="76198"/>
          </a:xfrm>
          <a:prstGeom prst="roundRect">
            <a:avLst>
              <a:gd name="adj" fmla="val 25000"/>
            </a:avLst>
          </a:prstGeom>
          <a:solidFill>
            <a:srgbClr val="22C2F4"/>
          </a:solidFill>
          <a:ln/>
        </p:spPr>
      </p:sp>
      <p:sp>
        <p:nvSpPr>
          <p:cNvPr id="19" name="Text 17"/>
          <p:cNvSpPr txBox="1"/>
          <p:nvPr/>
        </p:nvSpPr>
        <p:spPr>
          <a:xfrm>
            <a:off x="6603835" y="2397561"/>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SQL Editor, dashboards, Genie, pipelines e apps</a:t>
            </a:r>
            <a:endParaRPr lang="en-US" sz="1200" dirty="0"/>
          </a:p>
        </p:txBody>
      </p:sp>
      <p:sp>
        <p:nvSpPr>
          <p:cNvPr id="20" name="Shape 18"/>
          <p:cNvSpPr/>
          <p:nvPr/>
        </p:nvSpPr>
        <p:spPr>
          <a:xfrm>
            <a:off x="6413340" y="2761983"/>
            <a:ext cx="76198" cy="76198"/>
          </a:xfrm>
          <a:prstGeom prst="roundRect">
            <a:avLst>
              <a:gd name="adj" fmla="val 25000"/>
            </a:avLst>
          </a:prstGeom>
          <a:solidFill>
            <a:srgbClr val="22C2F4"/>
          </a:solidFill>
          <a:ln/>
        </p:spPr>
      </p:sp>
      <p:sp>
        <p:nvSpPr>
          <p:cNvPr id="21" name="Text 19"/>
          <p:cNvSpPr txBox="1"/>
          <p:nvPr/>
        </p:nvSpPr>
        <p:spPr>
          <a:xfrm>
            <a:off x="6603835" y="2679435"/>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já tem conta de agosto? use a mesma</a:t>
            </a:r>
            <a:endParaRPr lang="en-US" sz="1200" dirty="0"/>
          </a:p>
        </p:txBody>
      </p:sp>
      <p:pic>
        <p:nvPicPr>
          <p:cNvPr id="22"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23" name="Text 20"/>
          <p:cNvSpPr txBox="1"/>
          <p:nvPr/>
        </p:nvSpPr>
        <p:spPr>
          <a:xfrm>
            <a:off x="10948714" y="6387940"/>
            <a:ext cx="500240"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28 / 133</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1 · PASSO 2 DE 6</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Crie o catálogo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e as três camadas</a:t>
            </a:r>
            <a:endParaRPr lang="en-US" sz="3100" dirty="0"/>
          </a:p>
        </p:txBody>
      </p:sp>
      <p:sp>
        <p:nvSpPr>
          <p:cNvPr id="4" name="Shape 2"/>
          <p:cNvSpPr/>
          <p:nvPr/>
        </p:nvSpPr>
        <p:spPr>
          <a:xfrm>
            <a:off x="761981" y="1582301"/>
            <a:ext cx="5238619" cy="1987203"/>
          </a:xfrm>
          <a:prstGeom prst="roundRect">
            <a:avLst>
              <a:gd name="adj" fmla="val 7669"/>
            </a:avLst>
          </a:prstGeom>
          <a:solidFill>
            <a:srgbClr val="0059DB"/>
          </a:solidFill>
          <a:ln/>
        </p:spPr>
      </p:sp>
      <p:sp>
        <p:nvSpPr>
          <p:cNvPr id="5" name="Shape 3"/>
          <p:cNvSpPr/>
          <p:nvPr/>
        </p:nvSpPr>
        <p:spPr>
          <a:xfrm>
            <a:off x="984225" y="1779146"/>
            <a:ext cx="615042" cy="247644"/>
          </a:xfrm>
          <a:prstGeom prst="roundRect">
            <a:avLst>
              <a:gd name="adj" fmla="val 50000"/>
            </a:avLst>
          </a:prstGeom>
          <a:solidFill>
            <a:srgbClr val="FFFFFF">
              <a:alpha val="16000"/>
            </a:srgbClr>
          </a:solidFill>
          <a:ln/>
        </p:spPr>
      </p:sp>
      <p:sp>
        <p:nvSpPr>
          <p:cNvPr id="6" name="Text 4"/>
          <p:cNvSpPr txBox="1"/>
          <p:nvPr/>
        </p:nvSpPr>
        <p:spPr>
          <a:xfrm>
            <a:off x="1073123" y="1817245"/>
            <a:ext cx="454736"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Cliques</a:t>
            </a:r>
            <a:endParaRPr lang="en-US" sz="900" dirty="0"/>
          </a:p>
        </p:txBody>
      </p:sp>
      <p:sp>
        <p:nvSpPr>
          <p:cNvPr id="7" name="Shape 5"/>
          <p:cNvSpPr/>
          <p:nvPr/>
        </p:nvSpPr>
        <p:spPr>
          <a:xfrm>
            <a:off x="984225" y="2198236"/>
            <a:ext cx="76198" cy="76198"/>
          </a:xfrm>
          <a:prstGeom prst="roundRect">
            <a:avLst>
              <a:gd name="adj" fmla="val 25000"/>
            </a:avLst>
          </a:prstGeom>
          <a:solidFill>
            <a:srgbClr val="22C2F4"/>
          </a:solidFill>
          <a:ln/>
        </p:spPr>
      </p:sp>
      <p:sp>
        <p:nvSpPr>
          <p:cNvPr id="8" name="Text 6"/>
          <p:cNvSpPr txBox="1"/>
          <p:nvPr/>
        </p:nvSpPr>
        <p:spPr>
          <a:xfrm>
            <a:off x="1174721" y="2115688"/>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menu da esquerda →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Catalog</a:t>
            </a:r>
            <a:endParaRPr lang="en-US" sz="1200" dirty="0"/>
          </a:p>
        </p:txBody>
      </p:sp>
      <p:sp>
        <p:nvSpPr>
          <p:cNvPr id="9" name="Shape 7"/>
          <p:cNvSpPr/>
          <p:nvPr/>
        </p:nvSpPr>
        <p:spPr>
          <a:xfrm>
            <a:off x="984225" y="2480109"/>
            <a:ext cx="76198" cy="76198"/>
          </a:xfrm>
          <a:prstGeom prst="roundRect">
            <a:avLst>
              <a:gd name="adj" fmla="val 25000"/>
            </a:avLst>
          </a:prstGeom>
          <a:solidFill>
            <a:srgbClr val="22C2F4"/>
          </a:solidFill>
          <a:ln/>
        </p:spPr>
      </p:sp>
      <p:sp>
        <p:nvSpPr>
          <p:cNvPr id="10" name="Text 8"/>
          <p:cNvSpPr txBox="1"/>
          <p:nvPr/>
        </p:nvSpPr>
        <p:spPr>
          <a:xfrm>
            <a:off x="1174721" y="2397561"/>
            <a:ext cx="4787780" cy="205675"/>
          </a:xfrm>
          <a:prstGeom prst="rect">
            <a:avLst/>
          </a:prstGeom>
          <a:noFill/>
          <a:ln/>
        </p:spPr>
        <p:txBody>
          <a:bodyPr wrap="square" lIns="0" tIns="0" rIns="0" bIns="0" rtlCol="0" anchor="t"/>
          <a:lstStyle/>
          <a:p>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(ao lado de "Catalog") →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Create a catalog</a:t>
            </a:r>
            <a:endParaRPr lang="en-US" sz="1200" dirty="0"/>
          </a:p>
        </p:txBody>
      </p:sp>
      <p:sp>
        <p:nvSpPr>
          <p:cNvPr id="11" name="Shape 9"/>
          <p:cNvSpPr/>
          <p:nvPr/>
        </p:nvSpPr>
        <p:spPr>
          <a:xfrm>
            <a:off x="984225" y="2761983"/>
            <a:ext cx="76198" cy="76198"/>
          </a:xfrm>
          <a:prstGeom prst="roundRect">
            <a:avLst>
              <a:gd name="adj" fmla="val 25000"/>
            </a:avLst>
          </a:prstGeom>
          <a:solidFill>
            <a:srgbClr val="22C2F4"/>
          </a:solidFill>
          <a:ln/>
        </p:spPr>
      </p:sp>
      <p:sp>
        <p:nvSpPr>
          <p:cNvPr id="12" name="Text 10"/>
          <p:cNvSpPr txBox="1"/>
          <p:nvPr/>
        </p:nvSpPr>
        <p:spPr>
          <a:xfrm>
            <a:off x="1174721" y="2679435"/>
            <a:ext cx="4787780"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nome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lakehouse_vertice</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tipo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Standard</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storage padrão →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Create</a:t>
            </a:r>
            <a:endParaRPr lang="en-US" sz="1200" dirty="0"/>
          </a:p>
        </p:txBody>
      </p:sp>
      <p:sp>
        <p:nvSpPr>
          <p:cNvPr id="13" name="Shape 11"/>
          <p:cNvSpPr/>
          <p:nvPr/>
        </p:nvSpPr>
        <p:spPr>
          <a:xfrm>
            <a:off x="984225" y="3249531"/>
            <a:ext cx="76198" cy="76198"/>
          </a:xfrm>
          <a:prstGeom prst="roundRect">
            <a:avLst>
              <a:gd name="adj" fmla="val 25000"/>
            </a:avLst>
          </a:prstGeom>
          <a:solidFill>
            <a:srgbClr val="22C2F4"/>
          </a:solidFill>
          <a:ln/>
        </p:spPr>
      </p:sp>
      <p:sp>
        <p:nvSpPr>
          <p:cNvPr id="14" name="Text 12"/>
          <p:cNvSpPr txBox="1"/>
          <p:nvPr/>
        </p:nvSpPr>
        <p:spPr>
          <a:xfrm>
            <a:off x="1174721" y="3166983"/>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dentro dele,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Create schema</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três vezes: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bronze</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silver</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gold</a:t>
            </a:r>
            <a:endParaRPr lang="en-US" sz="1200" dirty="0"/>
          </a:p>
        </p:txBody>
      </p:sp>
      <p:sp>
        <p:nvSpPr>
          <p:cNvPr id="15" name="Shape 13"/>
          <p:cNvSpPr/>
          <p:nvPr/>
        </p:nvSpPr>
        <p:spPr>
          <a:xfrm>
            <a:off x="6191095" y="1582301"/>
            <a:ext cx="5238619" cy="2438041"/>
          </a:xfrm>
          <a:prstGeom prst="roundRect">
            <a:avLst>
              <a:gd name="adj" fmla="val 6251"/>
            </a:avLst>
          </a:prstGeom>
          <a:solidFill>
            <a:srgbClr val="1E1E24"/>
          </a:solidFill>
          <a:ln w="6350">
            <a:solidFill>
              <a:srgbClr val="2F2F39"/>
            </a:solidFill>
            <a:prstDash val="solid"/>
          </a:ln>
        </p:spPr>
      </p:sp>
      <p:sp>
        <p:nvSpPr>
          <p:cNvPr id="16" name="Shape 14"/>
          <p:cNvSpPr/>
          <p:nvPr/>
        </p:nvSpPr>
        <p:spPr>
          <a:xfrm>
            <a:off x="6413340" y="1779146"/>
            <a:ext cx="867745" cy="247644"/>
          </a:xfrm>
          <a:prstGeom prst="roundRect">
            <a:avLst>
              <a:gd name="adj" fmla="val 50000"/>
            </a:avLst>
          </a:prstGeom>
          <a:solidFill>
            <a:srgbClr val="22C2F4">
              <a:alpha val="14000"/>
            </a:srgbClr>
          </a:solidFill>
          <a:ln/>
        </p:spPr>
      </p:sp>
      <p:sp>
        <p:nvSpPr>
          <p:cNvPr id="17" name="Text 15"/>
          <p:cNvSpPr txBox="1"/>
          <p:nvPr/>
        </p:nvSpPr>
        <p:spPr>
          <a:xfrm>
            <a:off x="6502237" y="1817245"/>
            <a:ext cx="717548"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Por que três</a:t>
            </a:r>
            <a:endParaRPr lang="en-US" sz="900" dirty="0"/>
          </a:p>
        </p:txBody>
      </p:sp>
      <p:sp>
        <p:nvSpPr>
          <p:cNvPr id="18" name="Shape 16"/>
          <p:cNvSpPr/>
          <p:nvPr/>
        </p:nvSpPr>
        <p:spPr>
          <a:xfrm>
            <a:off x="6413340" y="2198236"/>
            <a:ext cx="76198" cy="76198"/>
          </a:xfrm>
          <a:prstGeom prst="roundRect">
            <a:avLst>
              <a:gd name="adj" fmla="val 25000"/>
            </a:avLst>
          </a:prstGeom>
          <a:solidFill>
            <a:srgbClr val="22C2F4"/>
          </a:solidFill>
          <a:ln/>
        </p:spPr>
      </p:sp>
      <p:sp>
        <p:nvSpPr>
          <p:cNvPr id="19" name="Text 17"/>
          <p:cNvSpPr txBox="1"/>
          <p:nvPr/>
        </p:nvSpPr>
        <p:spPr>
          <a:xfrm>
            <a:off x="6603835" y="2115688"/>
            <a:ext cx="4787780" cy="205675"/>
          </a:xfrm>
          <a:prstGeom prst="rect">
            <a:avLst/>
          </a:prstGeom>
          <a:noFill/>
          <a:ln/>
        </p:spPr>
        <p:txBody>
          <a:bodyPr wrap="square" lIns="0" tIns="0" rIns="0" bIns="0" rtlCol="0" anchor="t"/>
          <a:lstStyle/>
          <a:p>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bronze</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o dado como chegou, sujeira inclusa (hoje)</a:t>
            </a:r>
            <a:endParaRPr lang="en-US" sz="1200" dirty="0"/>
          </a:p>
        </p:txBody>
      </p:sp>
      <p:sp>
        <p:nvSpPr>
          <p:cNvPr id="20" name="Shape 18"/>
          <p:cNvSpPr/>
          <p:nvPr/>
        </p:nvSpPr>
        <p:spPr>
          <a:xfrm>
            <a:off x="6413340" y="2480109"/>
            <a:ext cx="76198" cy="76198"/>
          </a:xfrm>
          <a:prstGeom prst="roundRect">
            <a:avLst>
              <a:gd name="adj" fmla="val 25000"/>
            </a:avLst>
          </a:prstGeom>
          <a:solidFill>
            <a:srgbClr val="22C2F4"/>
          </a:solidFill>
          <a:ln/>
        </p:spPr>
      </p:sp>
      <p:sp>
        <p:nvSpPr>
          <p:cNvPr id="21" name="Text 19"/>
          <p:cNvSpPr txBox="1"/>
          <p:nvPr/>
        </p:nvSpPr>
        <p:spPr>
          <a:xfrm>
            <a:off x="6603835" y="2397561"/>
            <a:ext cx="4787780" cy="205675"/>
          </a:xfrm>
          <a:prstGeom prst="rect">
            <a:avLst/>
          </a:prstGeom>
          <a:noFill/>
          <a:ln/>
        </p:spPr>
        <p:txBody>
          <a:bodyPr wrap="square" lIns="0" tIns="0" rIns="0" bIns="0" rtlCol="0" anchor="t"/>
          <a:lstStyle/>
          <a:p>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silver</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limpo e integrado (noite 2)</a:t>
            </a:r>
            <a:endParaRPr lang="en-US" sz="1200" dirty="0"/>
          </a:p>
        </p:txBody>
      </p:sp>
      <p:sp>
        <p:nvSpPr>
          <p:cNvPr id="22" name="Shape 20"/>
          <p:cNvSpPr/>
          <p:nvPr/>
        </p:nvSpPr>
        <p:spPr>
          <a:xfrm>
            <a:off x="6413340" y="2761983"/>
            <a:ext cx="76198" cy="76198"/>
          </a:xfrm>
          <a:prstGeom prst="roundRect">
            <a:avLst>
              <a:gd name="adj" fmla="val 25000"/>
            </a:avLst>
          </a:prstGeom>
          <a:solidFill>
            <a:srgbClr val="22C2F4"/>
          </a:solidFill>
          <a:ln/>
        </p:spPr>
      </p:sp>
      <p:sp>
        <p:nvSpPr>
          <p:cNvPr id="23" name="Text 21"/>
          <p:cNvSpPr txBox="1"/>
          <p:nvPr/>
        </p:nvSpPr>
        <p:spPr>
          <a:xfrm>
            <a:off x="6603835" y="2679435"/>
            <a:ext cx="4787780" cy="205675"/>
          </a:xfrm>
          <a:prstGeom prst="rect">
            <a:avLst/>
          </a:prstGeom>
          <a:noFill/>
          <a:ln/>
        </p:spPr>
        <p:txBody>
          <a:bodyPr wrap="square" lIns="0" tIns="0" rIns="0" bIns="0" rtlCol="0" anchor="t"/>
          <a:lstStyle/>
          <a:p>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gold</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pronto para o dono (noite 2)</a:t>
            </a:r>
            <a:endParaRPr lang="en-US" sz="1200" dirty="0"/>
          </a:p>
        </p:txBody>
      </p:sp>
      <p:sp>
        <p:nvSpPr>
          <p:cNvPr id="24" name="Shape 22"/>
          <p:cNvSpPr/>
          <p:nvPr/>
        </p:nvSpPr>
        <p:spPr>
          <a:xfrm>
            <a:off x="6413340" y="2999407"/>
            <a:ext cx="730331" cy="247644"/>
          </a:xfrm>
          <a:prstGeom prst="roundRect">
            <a:avLst>
              <a:gd name="adj" fmla="val 50000"/>
            </a:avLst>
          </a:prstGeom>
          <a:solidFill>
            <a:srgbClr val="22C2F4">
              <a:alpha val="14000"/>
            </a:srgbClr>
          </a:solidFill>
          <a:ln/>
        </p:spPr>
      </p:sp>
      <p:sp>
        <p:nvSpPr>
          <p:cNvPr id="25" name="Text 23"/>
          <p:cNvSpPr txBox="1"/>
          <p:nvPr/>
        </p:nvSpPr>
        <p:spPr>
          <a:xfrm>
            <a:off x="6502237" y="3037506"/>
            <a:ext cx="574637"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Deu erro?</a:t>
            </a:r>
            <a:endParaRPr lang="en-US" sz="900" dirty="0"/>
          </a:p>
        </p:txBody>
      </p:sp>
      <p:sp>
        <p:nvSpPr>
          <p:cNvPr id="26" name="Text 24"/>
          <p:cNvSpPr txBox="1"/>
          <p:nvPr/>
        </p:nvSpPr>
        <p:spPr>
          <a:xfrm>
            <a:off x="6413340" y="3412147"/>
            <a:ext cx="4985895" cy="411351"/>
          </a:xfrm>
          <a:prstGeom prst="rect">
            <a:avLst/>
          </a:prstGeom>
          <a:noFill/>
          <a:ln/>
        </p:spPr>
        <p:txBody>
          <a:bodyPr wrap="square" lIns="0" tIns="0" rIns="0" bIns="0" rtlCol="0" anchor="t"/>
          <a:lstStyle/>
          <a:p>
            <a:pPr algn="l" indent="0" marL="0">
              <a:lnSpc>
                <a:spcPct val="115385"/>
              </a:lnSpc>
              <a:buNone/>
            </a:pPr>
            <a:r>
              <a:rPr lang="en-US" sz="1200" dirty="0">
                <a:solidFill>
                  <a:srgbClr val="A3A6B4"/>
                </a:solidFill>
                <a:latin typeface="Poppins" pitchFamily="34" charset="0"/>
                <a:ea typeface="Poppins" pitchFamily="34" charset="-122"/>
                <a:cs typeface="Poppins" pitchFamily="34" charset="-120"/>
              </a:rPr>
              <a:t>rode o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00-setup-catalogo.sql</a:t>
            </a:r>
            <a:pPr algn="l" indent="0" marL="0">
              <a:lnSpc>
                <a:spcPct val="115385"/>
              </a:lnSpc>
              <a:buNone/>
            </a:pPr>
            <a:r>
              <a:rPr lang="en-US" sz="1200" dirty="0">
                <a:solidFill>
                  <a:srgbClr val="A3A6B4"/>
                </a:solidFill>
                <a:latin typeface="Poppins" pitchFamily="34" charset="0"/>
                <a:ea typeface="Poppins" pitchFamily="34" charset="-122"/>
                <a:cs typeface="Poppins" pitchFamily="34" charset="-120"/>
              </a:rPr>
              <a:t> no SQL Editor: cria o catálogo, os 3 schemas e o volume de uma vez</a:t>
            </a:r>
            <a:endParaRPr lang="en-US" sz="1200" dirty="0"/>
          </a:p>
        </p:txBody>
      </p:sp>
      <p:pic>
        <p:nvPicPr>
          <p:cNvPr id="27"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28" name="Text 25"/>
          <p:cNvSpPr txBox="1"/>
          <p:nvPr/>
        </p:nvSpPr>
        <p:spPr>
          <a:xfrm>
            <a:off x="10949111" y="6387940"/>
            <a:ext cx="499828"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29 / 133</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380990"/>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RECURSO DO DATABRICKS · VOLUME</a:t>
            </a:r>
            <a:endParaRPr lang="en-US" sz="1200" dirty="0"/>
          </a:p>
        </p:txBody>
      </p:sp>
      <p:sp>
        <p:nvSpPr>
          <p:cNvPr id="3" name="Text 1"/>
          <p:cNvSpPr txBox="1"/>
          <p:nvPr/>
        </p:nvSpPr>
        <p:spPr>
          <a:xfrm>
            <a:off x="761981" y="704832"/>
            <a:ext cx="11094443" cy="363132"/>
          </a:xfrm>
          <a:prstGeom prst="rect">
            <a:avLst/>
          </a:prstGeom>
          <a:noFill/>
          <a:ln/>
        </p:spPr>
        <p:txBody>
          <a:bodyPr wrap="square" lIns="0" tIns="0" rIns="0" bIns="0" rtlCol="0" anchor="t"/>
          <a:lstStyle/>
          <a:p>
            <a:pPr algn="l" indent="0" marL="0">
              <a:lnSpc>
                <a:spcPct val="94017"/>
              </a:lnSpc>
              <a:buNone/>
            </a:pPr>
            <a:r>
              <a:rPr lang="en-US" sz="2600" b="1" spc="-26" kern="0" dirty="0">
                <a:solidFill>
                  <a:srgbClr val="F5F6FC"/>
                </a:solidFill>
                <a:latin typeface="Poppins" pitchFamily="34" charset="0"/>
                <a:ea typeface="Poppins" pitchFamily="34" charset="-122"/>
                <a:cs typeface="Poppins" pitchFamily="34" charset="-120"/>
              </a:rPr>
              <a:t>Volume: a pasta de arquivos crus</a:t>
            </a:r>
            <a:endParaRPr lang="en-US" sz="2600" dirty="0"/>
          </a:p>
        </p:txBody>
      </p:sp>
      <p:pic>
        <p:nvPicPr>
          <p:cNvPr id="4" name="Image 0" descr="preencoded.png">    </p:cNvPr>
          <p:cNvPicPr>
            <a:picLocks noChangeAspect="1"/>
          </p:cNvPicPr>
          <p:nvPr/>
        </p:nvPicPr>
        <p:blipFill>
          <a:blip r:embed="rId2"/>
          <a:srcRect l="4616" r="4616" t="0" b="0"/>
          <a:stretch/>
        </p:blipFill>
        <p:spPr>
          <a:xfrm>
            <a:off x="761981" y="1182261"/>
            <a:ext cx="6455308" cy="4063898"/>
          </a:xfrm>
          <a:prstGeom prst="rect">
            <a:avLst/>
          </a:prstGeom>
        </p:spPr>
      </p:pic>
      <p:sp>
        <p:nvSpPr>
          <p:cNvPr id="5" name="Shape 2"/>
          <p:cNvSpPr/>
          <p:nvPr/>
        </p:nvSpPr>
        <p:spPr>
          <a:xfrm>
            <a:off x="7395085" y="1182261"/>
            <a:ext cx="4034630" cy="4063898"/>
          </a:xfrm>
          <a:prstGeom prst="roundRect">
            <a:avLst>
              <a:gd name="adj" fmla="val 3777"/>
            </a:avLst>
          </a:prstGeom>
          <a:solidFill>
            <a:srgbClr val="0059DB"/>
          </a:solidFill>
          <a:ln/>
        </p:spPr>
      </p:sp>
      <p:sp>
        <p:nvSpPr>
          <p:cNvPr id="6" name="Shape 3"/>
          <p:cNvSpPr/>
          <p:nvPr/>
        </p:nvSpPr>
        <p:spPr>
          <a:xfrm>
            <a:off x="7617329" y="1379106"/>
            <a:ext cx="616034" cy="247644"/>
          </a:xfrm>
          <a:prstGeom prst="roundRect">
            <a:avLst>
              <a:gd name="adj" fmla="val 50000"/>
            </a:avLst>
          </a:prstGeom>
          <a:solidFill>
            <a:srgbClr val="FFFFFF">
              <a:alpha val="16000"/>
            </a:srgbClr>
          </a:solidFill>
          <a:ln/>
        </p:spPr>
      </p:sp>
      <p:sp>
        <p:nvSpPr>
          <p:cNvPr id="7" name="Text 4"/>
          <p:cNvSpPr txBox="1"/>
          <p:nvPr/>
        </p:nvSpPr>
        <p:spPr>
          <a:xfrm>
            <a:off x="7706227" y="1417205"/>
            <a:ext cx="455768"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O que é</a:t>
            </a:r>
            <a:endParaRPr lang="en-US" sz="900" dirty="0"/>
          </a:p>
        </p:txBody>
      </p:sp>
      <p:sp>
        <p:nvSpPr>
          <p:cNvPr id="8" name="Shape 5"/>
          <p:cNvSpPr/>
          <p:nvPr/>
        </p:nvSpPr>
        <p:spPr>
          <a:xfrm>
            <a:off x="7617329" y="1798196"/>
            <a:ext cx="76198" cy="76198"/>
          </a:xfrm>
          <a:prstGeom prst="roundRect">
            <a:avLst>
              <a:gd name="adj" fmla="val 25000"/>
            </a:avLst>
          </a:prstGeom>
          <a:solidFill>
            <a:srgbClr val="22C2F4"/>
          </a:solidFill>
          <a:ln/>
        </p:spPr>
      </p:sp>
      <p:sp>
        <p:nvSpPr>
          <p:cNvPr id="9" name="Text 6"/>
          <p:cNvSpPr txBox="1"/>
          <p:nvPr/>
        </p:nvSpPr>
        <p:spPr>
          <a:xfrm>
            <a:off x="7807824" y="1715648"/>
            <a:ext cx="3535631"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pasta governada pelo Unity Catalog para qualquer arquivo: xlsx, json, xml, pdf, csv</a:t>
            </a:r>
            <a:endParaRPr lang="en-US" sz="1200" dirty="0"/>
          </a:p>
        </p:txBody>
      </p:sp>
      <p:sp>
        <p:nvSpPr>
          <p:cNvPr id="10" name="Shape 7"/>
          <p:cNvSpPr/>
          <p:nvPr/>
        </p:nvSpPr>
        <p:spPr>
          <a:xfrm>
            <a:off x="7617329" y="2285744"/>
            <a:ext cx="76198" cy="76198"/>
          </a:xfrm>
          <a:prstGeom prst="roundRect">
            <a:avLst>
              <a:gd name="adj" fmla="val 25000"/>
            </a:avLst>
          </a:prstGeom>
          <a:solidFill>
            <a:srgbClr val="22C2F4"/>
          </a:solidFill>
          <a:ln/>
        </p:spPr>
      </p:sp>
      <p:sp>
        <p:nvSpPr>
          <p:cNvPr id="11" name="Text 8"/>
          <p:cNvSpPr txBox="1"/>
          <p:nvPr/>
        </p:nvSpPr>
        <p:spPr>
          <a:xfrm>
            <a:off x="7807824" y="2203196"/>
            <a:ext cx="3535631"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o </a:t>
            </a:r>
            <a:pPr algn="l" indent="0" marL="0">
              <a:lnSpc>
                <a:spcPct val="115385"/>
              </a:lnSpc>
              <a:buNone/>
            </a:pPr>
            <a:r>
              <a:rPr lang="en-US" sz="1200" dirty="0">
                <a:solidFill>
                  <a:srgbClr val="E6E8F2"/>
                </a:solidFill>
                <a:latin typeface="Courier New" pitchFamily="34" charset="0"/>
                <a:ea typeface="Courier New" pitchFamily="34" charset="-122"/>
                <a:cs typeface="Courier New" pitchFamily="34" charset="-120"/>
              </a:rPr>
              <a:t>read_files</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lê direto daqui, no formato certo</a:t>
            </a:r>
            <a:endParaRPr lang="en-US" sz="1200" dirty="0"/>
          </a:p>
        </p:txBody>
      </p:sp>
      <p:sp>
        <p:nvSpPr>
          <p:cNvPr id="12" name="Shape 9"/>
          <p:cNvSpPr/>
          <p:nvPr/>
        </p:nvSpPr>
        <p:spPr>
          <a:xfrm>
            <a:off x="7617329" y="2754244"/>
            <a:ext cx="650958" cy="247644"/>
          </a:xfrm>
          <a:prstGeom prst="roundRect">
            <a:avLst>
              <a:gd name="adj" fmla="val 50000"/>
            </a:avLst>
          </a:prstGeom>
          <a:solidFill>
            <a:srgbClr val="FFFFFF">
              <a:alpha val="16000"/>
            </a:srgbClr>
          </a:solidFill>
          <a:ln/>
        </p:spPr>
      </p:sp>
      <p:sp>
        <p:nvSpPr>
          <p:cNvPr id="13" name="Text 10"/>
          <p:cNvSpPr txBox="1"/>
          <p:nvPr/>
        </p:nvSpPr>
        <p:spPr>
          <a:xfrm>
            <a:off x="7706227" y="2792343"/>
            <a:ext cx="492089"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No Farol</a:t>
            </a:r>
            <a:endParaRPr lang="en-US" sz="900" dirty="0"/>
          </a:p>
        </p:txBody>
      </p:sp>
      <p:sp>
        <p:nvSpPr>
          <p:cNvPr id="14" name="Text 11"/>
          <p:cNvSpPr txBox="1"/>
          <p:nvPr/>
        </p:nvSpPr>
        <p:spPr>
          <a:xfrm>
            <a:off x="7617329" y="3166983"/>
            <a:ext cx="3733746" cy="394285"/>
          </a:xfrm>
          <a:prstGeom prst="rect">
            <a:avLst/>
          </a:prstGeom>
          <a:noFill/>
          <a:ln/>
        </p:spPr>
        <p:txBody>
          <a:bodyPr wrap="square" lIns="0" tIns="0" rIns="0" bIns="0" rtlCol="0" anchor="t"/>
          <a:lstStyle/>
          <a:p>
            <a:pPr algn="l" indent="0" marL="0">
              <a:lnSpc>
                <a:spcPct val="115385"/>
              </a:lnSpc>
              <a:buNone/>
            </a:pPr>
            <a:r>
              <a:rPr lang="en-US" sz="1150" dirty="0">
                <a:solidFill>
                  <a:srgbClr val="DBE6FF"/>
                </a:solidFill>
                <a:latin typeface="Courier New" pitchFamily="34" charset="0"/>
                <a:ea typeface="Courier New" pitchFamily="34" charset="-122"/>
                <a:cs typeface="Courier New" pitchFamily="34" charset="-120"/>
              </a:rPr>
              <a:t>bronze.raw</a:t>
            </a:r>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 as 20 planilhas, os 25 JSON do ClickUp, os 15 XML do Project, os PDFs de contrato</a:t>
            </a:r>
            <a:endParaRPr lang="en-US" sz="1150" dirty="0"/>
          </a:p>
        </p:txBody>
      </p:sp>
      <p:pic>
        <p:nvPicPr>
          <p:cNvPr id="15" name="Image 1" descr="preencoded.png">    </p:cNvPr>
          <p:cNvPicPr>
            <a:picLocks noChangeAspect="1"/>
          </p:cNvPicPr>
          <p:nvPr/>
        </p:nvPicPr>
        <p:blipFill>
          <a:blip r:embed="rId3"/>
          <a:stretch>
            <a:fillRect/>
          </a:stretch>
        </p:blipFill>
        <p:spPr>
          <a:xfrm>
            <a:off x="761981" y="6387940"/>
            <a:ext cx="2059928" cy="190495"/>
          </a:xfrm>
          <a:prstGeom prst="rect">
            <a:avLst/>
          </a:prstGeom>
        </p:spPr>
      </p:pic>
      <p:sp>
        <p:nvSpPr>
          <p:cNvPr id="16" name="Text 12"/>
          <p:cNvSpPr txBox="1"/>
          <p:nvPr/>
        </p:nvSpPr>
        <p:spPr>
          <a:xfrm>
            <a:off x="10946233" y="6387940"/>
            <a:ext cx="502820"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30 / 133</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380990"/>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RECURSO DO DATABRICKS · INGESTÃO</a:t>
            </a:r>
            <a:endParaRPr lang="en-US" sz="1200" dirty="0"/>
          </a:p>
        </p:txBody>
      </p:sp>
      <p:sp>
        <p:nvSpPr>
          <p:cNvPr id="3" name="Text 1"/>
          <p:cNvSpPr txBox="1"/>
          <p:nvPr/>
        </p:nvSpPr>
        <p:spPr>
          <a:xfrm>
            <a:off x="761981" y="704832"/>
            <a:ext cx="11094443" cy="363132"/>
          </a:xfrm>
          <a:prstGeom prst="rect">
            <a:avLst/>
          </a:prstGeom>
          <a:noFill/>
          <a:ln/>
        </p:spPr>
        <p:txBody>
          <a:bodyPr wrap="square" lIns="0" tIns="0" rIns="0" bIns="0" rtlCol="0" anchor="t"/>
          <a:lstStyle/>
          <a:p>
            <a:pPr algn="l" indent="0" marL="0">
              <a:lnSpc>
                <a:spcPct val="94017"/>
              </a:lnSpc>
              <a:buNone/>
            </a:pPr>
            <a:r>
              <a:rPr lang="en-US" sz="2600" b="1" spc="-26" kern="0" dirty="0">
                <a:solidFill>
                  <a:srgbClr val="F5F6FC"/>
                </a:solidFill>
                <a:latin typeface="Poppins" pitchFamily="34" charset="0"/>
                <a:ea typeface="Poppins" pitchFamily="34" charset="-122"/>
                <a:cs typeface="Poppins" pitchFamily="34" charset="-120"/>
              </a:rPr>
              <a:t>Data Ingestion: os conectores prontos</a:t>
            </a:r>
            <a:endParaRPr lang="en-US" sz="2600" dirty="0"/>
          </a:p>
        </p:txBody>
      </p:sp>
      <p:pic>
        <p:nvPicPr>
          <p:cNvPr id="4" name="Image 0" descr="preencoded.png">    </p:cNvPr>
          <p:cNvPicPr>
            <a:picLocks noChangeAspect="1"/>
          </p:cNvPicPr>
          <p:nvPr/>
        </p:nvPicPr>
        <p:blipFill>
          <a:blip r:embed="rId2"/>
          <a:srcRect l="13802" r="13802" t="0" b="0"/>
          <a:stretch/>
        </p:blipFill>
        <p:spPr>
          <a:xfrm>
            <a:off x="761981" y="1182261"/>
            <a:ext cx="6455308" cy="4063898"/>
          </a:xfrm>
          <a:prstGeom prst="rect">
            <a:avLst/>
          </a:prstGeom>
        </p:spPr>
      </p:pic>
      <p:sp>
        <p:nvSpPr>
          <p:cNvPr id="5" name="Shape 2"/>
          <p:cNvSpPr/>
          <p:nvPr/>
        </p:nvSpPr>
        <p:spPr>
          <a:xfrm>
            <a:off x="7395085" y="1182261"/>
            <a:ext cx="4034630" cy="4063898"/>
          </a:xfrm>
          <a:prstGeom prst="roundRect">
            <a:avLst>
              <a:gd name="adj" fmla="val 3777"/>
            </a:avLst>
          </a:prstGeom>
          <a:solidFill>
            <a:srgbClr val="0059DB"/>
          </a:solidFill>
          <a:ln/>
        </p:spPr>
      </p:sp>
      <p:sp>
        <p:nvSpPr>
          <p:cNvPr id="6" name="Shape 3"/>
          <p:cNvSpPr/>
          <p:nvPr/>
        </p:nvSpPr>
        <p:spPr>
          <a:xfrm>
            <a:off x="7617329" y="1379106"/>
            <a:ext cx="616034" cy="247644"/>
          </a:xfrm>
          <a:prstGeom prst="roundRect">
            <a:avLst>
              <a:gd name="adj" fmla="val 50000"/>
            </a:avLst>
          </a:prstGeom>
          <a:solidFill>
            <a:srgbClr val="FFFFFF">
              <a:alpha val="16000"/>
            </a:srgbClr>
          </a:solidFill>
          <a:ln/>
        </p:spPr>
      </p:sp>
      <p:sp>
        <p:nvSpPr>
          <p:cNvPr id="7" name="Text 4"/>
          <p:cNvSpPr txBox="1"/>
          <p:nvPr/>
        </p:nvSpPr>
        <p:spPr>
          <a:xfrm>
            <a:off x="7706227" y="1417205"/>
            <a:ext cx="455768"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O que é</a:t>
            </a:r>
            <a:endParaRPr lang="en-US" sz="900" dirty="0"/>
          </a:p>
        </p:txBody>
      </p:sp>
      <p:sp>
        <p:nvSpPr>
          <p:cNvPr id="8" name="Shape 5"/>
          <p:cNvSpPr/>
          <p:nvPr/>
        </p:nvSpPr>
        <p:spPr>
          <a:xfrm>
            <a:off x="7617329" y="1798196"/>
            <a:ext cx="76198" cy="76198"/>
          </a:xfrm>
          <a:prstGeom prst="roundRect">
            <a:avLst>
              <a:gd name="adj" fmla="val 25000"/>
            </a:avLst>
          </a:prstGeom>
          <a:solidFill>
            <a:srgbClr val="22C2F4"/>
          </a:solidFill>
          <a:ln/>
        </p:spPr>
      </p:sp>
      <p:sp>
        <p:nvSpPr>
          <p:cNvPr id="9" name="Text 6"/>
          <p:cNvSpPr txBox="1"/>
          <p:nvPr/>
        </p:nvSpPr>
        <p:spPr>
          <a:xfrm>
            <a:off x="7807824" y="1715648"/>
            <a:ext cx="3535631" cy="617026"/>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conectores gerenciados: Salesforce, SQL Server, SharePoint, Google Drive, ServiceNow…</a:t>
            </a:r>
            <a:endParaRPr lang="en-US" sz="1200" dirty="0"/>
          </a:p>
        </p:txBody>
      </p:sp>
      <p:sp>
        <p:nvSpPr>
          <p:cNvPr id="10" name="Shape 7"/>
          <p:cNvSpPr/>
          <p:nvPr/>
        </p:nvSpPr>
        <p:spPr>
          <a:xfrm>
            <a:off x="7617329" y="2491420"/>
            <a:ext cx="76198" cy="76198"/>
          </a:xfrm>
          <a:prstGeom prst="roundRect">
            <a:avLst>
              <a:gd name="adj" fmla="val 25000"/>
            </a:avLst>
          </a:prstGeom>
          <a:solidFill>
            <a:srgbClr val="22C2F4"/>
          </a:solidFill>
          <a:ln/>
        </p:spPr>
      </p:sp>
      <p:sp>
        <p:nvSpPr>
          <p:cNvPr id="11" name="Text 8"/>
          <p:cNvSpPr txBox="1"/>
          <p:nvPr/>
        </p:nvSpPr>
        <p:spPr>
          <a:xfrm>
            <a:off x="7807824" y="2408872"/>
            <a:ext cx="3535631"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o Databricks puxa o dado incremental, sem código</a:t>
            </a:r>
            <a:endParaRPr lang="en-US" sz="1200" dirty="0"/>
          </a:p>
        </p:txBody>
      </p:sp>
      <p:sp>
        <p:nvSpPr>
          <p:cNvPr id="12" name="Shape 9"/>
          <p:cNvSpPr/>
          <p:nvPr/>
        </p:nvSpPr>
        <p:spPr>
          <a:xfrm>
            <a:off x="7617329" y="2959919"/>
            <a:ext cx="650958" cy="247644"/>
          </a:xfrm>
          <a:prstGeom prst="roundRect">
            <a:avLst>
              <a:gd name="adj" fmla="val 50000"/>
            </a:avLst>
          </a:prstGeom>
          <a:solidFill>
            <a:srgbClr val="FFFFFF">
              <a:alpha val="16000"/>
            </a:srgbClr>
          </a:solidFill>
          <a:ln/>
        </p:spPr>
      </p:sp>
      <p:sp>
        <p:nvSpPr>
          <p:cNvPr id="13" name="Text 10"/>
          <p:cNvSpPr txBox="1"/>
          <p:nvPr/>
        </p:nvSpPr>
        <p:spPr>
          <a:xfrm>
            <a:off x="7706227" y="2998018"/>
            <a:ext cx="492089"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No Farol</a:t>
            </a:r>
            <a:endParaRPr lang="en-US" sz="900" dirty="0"/>
          </a:p>
        </p:txBody>
      </p:sp>
      <p:sp>
        <p:nvSpPr>
          <p:cNvPr id="14" name="Text 11"/>
          <p:cNvSpPr txBox="1"/>
          <p:nvPr/>
        </p:nvSpPr>
        <p:spPr>
          <a:xfrm>
            <a:off x="7617329" y="3372659"/>
            <a:ext cx="3733746" cy="591428"/>
          </a:xfrm>
          <a:prstGeom prst="rect">
            <a:avLst/>
          </a:prstGeom>
          <a:noFill/>
          <a:ln/>
        </p:spPr>
        <p:txBody>
          <a:bodyPr wrap="square" lIns="0" tIns="0" rIns="0" bIns="0" rtlCol="0" anchor="t"/>
          <a:lstStyle/>
          <a:p>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não usamos: os arquivos chegam por volume. Na vida real, é aqui que entra o ClickUp de verdade ou o SharePoint do PMO</a:t>
            </a:r>
            <a:endParaRPr lang="en-US" sz="1150" dirty="0"/>
          </a:p>
        </p:txBody>
      </p:sp>
      <p:pic>
        <p:nvPicPr>
          <p:cNvPr id="15" name="Image 1" descr="preencoded.png">    </p:cNvPr>
          <p:cNvPicPr>
            <a:picLocks noChangeAspect="1"/>
          </p:cNvPicPr>
          <p:nvPr/>
        </p:nvPicPr>
        <p:blipFill>
          <a:blip r:embed="rId3"/>
          <a:stretch>
            <a:fillRect/>
          </a:stretch>
        </p:blipFill>
        <p:spPr>
          <a:xfrm>
            <a:off x="761981" y="6387940"/>
            <a:ext cx="2059928" cy="190495"/>
          </a:xfrm>
          <a:prstGeom prst="rect">
            <a:avLst/>
          </a:prstGeom>
        </p:spPr>
      </p:pic>
      <p:sp>
        <p:nvSpPr>
          <p:cNvPr id="16" name="Text 12"/>
          <p:cNvSpPr txBox="1"/>
          <p:nvPr/>
        </p:nvSpPr>
        <p:spPr>
          <a:xfrm>
            <a:off x="10983142" y="6387940"/>
            <a:ext cx="464435"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31 / 133</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1 · PASSO 3 DE 6</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Crie o volume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e as pastas</a:t>
            </a:r>
            <a:endParaRPr lang="en-US" sz="3100" dirty="0"/>
          </a:p>
        </p:txBody>
      </p:sp>
      <p:sp>
        <p:nvSpPr>
          <p:cNvPr id="4" name="Shape 2"/>
          <p:cNvSpPr/>
          <p:nvPr/>
        </p:nvSpPr>
        <p:spPr>
          <a:xfrm>
            <a:off x="761981" y="1582301"/>
            <a:ext cx="5238619" cy="1705329"/>
          </a:xfrm>
          <a:prstGeom prst="roundRect">
            <a:avLst>
              <a:gd name="adj" fmla="val 8936"/>
            </a:avLst>
          </a:prstGeom>
          <a:solidFill>
            <a:srgbClr val="0059DB"/>
          </a:solidFill>
          <a:ln/>
        </p:spPr>
      </p:sp>
      <p:sp>
        <p:nvSpPr>
          <p:cNvPr id="5" name="Shape 3"/>
          <p:cNvSpPr/>
          <p:nvPr/>
        </p:nvSpPr>
        <p:spPr>
          <a:xfrm>
            <a:off x="984225" y="1779146"/>
            <a:ext cx="615042" cy="247644"/>
          </a:xfrm>
          <a:prstGeom prst="roundRect">
            <a:avLst>
              <a:gd name="adj" fmla="val 50000"/>
            </a:avLst>
          </a:prstGeom>
          <a:solidFill>
            <a:srgbClr val="FFFFFF">
              <a:alpha val="16000"/>
            </a:srgbClr>
          </a:solidFill>
          <a:ln/>
        </p:spPr>
      </p:sp>
      <p:sp>
        <p:nvSpPr>
          <p:cNvPr id="6" name="Text 4"/>
          <p:cNvSpPr txBox="1"/>
          <p:nvPr/>
        </p:nvSpPr>
        <p:spPr>
          <a:xfrm>
            <a:off x="1073123" y="1817245"/>
            <a:ext cx="454736"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Cliques</a:t>
            </a:r>
            <a:endParaRPr lang="en-US" sz="900" dirty="0"/>
          </a:p>
        </p:txBody>
      </p:sp>
      <p:sp>
        <p:nvSpPr>
          <p:cNvPr id="7" name="Shape 5"/>
          <p:cNvSpPr/>
          <p:nvPr/>
        </p:nvSpPr>
        <p:spPr>
          <a:xfrm>
            <a:off x="984225" y="2198236"/>
            <a:ext cx="76198" cy="76198"/>
          </a:xfrm>
          <a:prstGeom prst="roundRect">
            <a:avLst>
              <a:gd name="adj" fmla="val 25000"/>
            </a:avLst>
          </a:prstGeom>
          <a:solidFill>
            <a:srgbClr val="22C2F4"/>
          </a:solidFill>
          <a:ln/>
        </p:spPr>
      </p:sp>
      <p:sp>
        <p:nvSpPr>
          <p:cNvPr id="8" name="Text 6"/>
          <p:cNvSpPr txBox="1"/>
          <p:nvPr/>
        </p:nvSpPr>
        <p:spPr>
          <a:xfrm>
            <a:off x="1174721" y="2115688"/>
            <a:ext cx="4787780" cy="205675"/>
          </a:xfrm>
          <a:prstGeom prst="rect">
            <a:avLst/>
          </a:prstGeom>
          <a:noFill/>
          <a:ln/>
        </p:spPr>
        <p:txBody>
          <a:bodyPr wrap="square" lIns="0" tIns="0" rIns="0" bIns="0" rtlCol="0" anchor="t"/>
          <a:lstStyle/>
          <a:p>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Catalog → lakehouse_vertice → bronze</a:t>
            </a:r>
            <a:endParaRPr lang="en-US" sz="1200" dirty="0"/>
          </a:p>
        </p:txBody>
      </p:sp>
      <p:sp>
        <p:nvSpPr>
          <p:cNvPr id="9" name="Shape 7"/>
          <p:cNvSpPr/>
          <p:nvPr/>
        </p:nvSpPr>
        <p:spPr>
          <a:xfrm>
            <a:off x="984225" y="2480109"/>
            <a:ext cx="76198" cy="76198"/>
          </a:xfrm>
          <a:prstGeom prst="roundRect">
            <a:avLst>
              <a:gd name="adj" fmla="val 25000"/>
            </a:avLst>
          </a:prstGeom>
          <a:solidFill>
            <a:srgbClr val="22C2F4"/>
          </a:solidFill>
          <a:ln/>
        </p:spPr>
      </p:sp>
      <p:sp>
        <p:nvSpPr>
          <p:cNvPr id="10" name="Text 8"/>
          <p:cNvSpPr txBox="1"/>
          <p:nvPr/>
        </p:nvSpPr>
        <p:spPr>
          <a:xfrm>
            <a:off x="1174721" y="2397561"/>
            <a:ext cx="4787780" cy="205675"/>
          </a:xfrm>
          <a:prstGeom prst="rect">
            <a:avLst/>
          </a:prstGeom>
          <a:noFill/>
          <a:ln/>
        </p:spPr>
        <p:txBody>
          <a:bodyPr wrap="square" lIns="0" tIns="0" rIns="0" bIns="0" rtlCol="0" anchor="t"/>
          <a:lstStyle/>
          <a:p>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Create → Volume</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nome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raw</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tipo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Managed</a:t>
            </a:r>
            <a:endParaRPr lang="en-US" sz="1200" dirty="0"/>
          </a:p>
        </p:txBody>
      </p:sp>
      <p:sp>
        <p:nvSpPr>
          <p:cNvPr id="11" name="Shape 9"/>
          <p:cNvSpPr/>
          <p:nvPr/>
        </p:nvSpPr>
        <p:spPr>
          <a:xfrm>
            <a:off x="984225" y="2761983"/>
            <a:ext cx="76198" cy="76198"/>
          </a:xfrm>
          <a:prstGeom prst="roundRect">
            <a:avLst>
              <a:gd name="adj" fmla="val 25000"/>
            </a:avLst>
          </a:prstGeom>
          <a:solidFill>
            <a:srgbClr val="22C2F4"/>
          </a:solidFill>
          <a:ln/>
        </p:spPr>
      </p:sp>
      <p:sp>
        <p:nvSpPr>
          <p:cNvPr id="12" name="Text 10"/>
          <p:cNvSpPr txBox="1"/>
          <p:nvPr/>
        </p:nvSpPr>
        <p:spPr>
          <a:xfrm>
            <a:off x="1174721" y="2679435"/>
            <a:ext cx="4787780"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dentro do volume,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Create directory</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8 vezes, com estes nomes exatos</a:t>
            </a:r>
            <a:endParaRPr lang="en-US" sz="1200" dirty="0"/>
          </a:p>
        </p:txBody>
      </p:sp>
      <p:sp>
        <p:nvSpPr>
          <p:cNvPr id="13" name="Shape 11"/>
          <p:cNvSpPr/>
          <p:nvPr/>
        </p:nvSpPr>
        <p:spPr>
          <a:xfrm>
            <a:off x="6191095" y="1582301"/>
            <a:ext cx="5238619" cy="2414527"/>
          </a:xfrm>
          <a:prstGeom prst="roundRect">
            <a:avLst>
              <a:gd name="adj" fmla="val 4734"/>
            </a:avLst>
          </a:prstGeom>
          <a:solidFill>
            <a:srgbClr val="0C0C10"/>
          </a:solidFill>
          <a:ln w="6350">
            <a:solidFill>
              <a:srgbClr val="2F2F39"/>
            </a:solidFill>
            <a:prstDash val="solid"/>
          </a:ln>
        </p:spPr>
      </p:sp>
      <p:sp>
        <p:nvSpPr>
          <p:cNvPr id="14" name="Text 12"/>
          <p:cNvSpPr txBox="1"/>
          <p:nvPr/>
        </p:nvSpPr>
        <p:spPr>
          <a:xfrm>
            <a:off x="6387940" y="1753747"/>
            <a:ext cx="5045330" cy="2077986"/>
          </a:xfrm>
          <a:prstGeom prst="rect">
            <a:avLst/>
          </a:prstGeom>
          <a:noFill/>
          <a:ln/>
        </p:spPr>
        <p:txBody>
          <a:bodyPr wrap="square" lIns="0" tIns="0" rIns="0" bIns="0" rtlCol="0" anchor="t"/>
          <a:lstStyle/>
          <a:p>
            <a:pPr algn="l" indent="0" marL="0">
              <a:lnSpc>
                <a:spcPct val="123932"/>
              </a:lnSpc>
              <a:buNone/>
            </a:pPr>
            <a:r>
              <a:rPr lang="en-US" sz="1250" dirty="0">
                <a:solidFill>
                  <a:srgbClr val="E6E8F2"/>
                </a:solidFill>
                <a:latin typeface="Courier New" pitchFamily="34" charset="0"/>
                <a:ea typeface="Courier New" pitchFamily="34" charset="-122"/>
                <a:cs typeface="Courier New" pitchFamily="34" charset="-120"/>
              </a:rPr>
              <a:t>/Volumes/lakehouse_vertice/bronze/raw</a:t>
            </a:r>
            <a:endParaRPr lang="en-US" sz="1250" dirty="0"/>
          </a:p>
          <a:p>
            <a:pPr algn="l" indent="0" marL="0">
              <a:lnSpc>
                <a:spcPct val="123932"/>
              </a:lnSpc>
              <a:buNone/>
            </a:pPr>
            <a:r>
              <a:rPr lang="en-US" sz="1250" dirty="0">
                <a:solidFill>
                  <a:srgbClr val="E6E8F2"/>
                </a:solidFill>
                <a:latin typeface="Courier New" pitchFamily="34" charset="0"/>
                <a:ea typeface="Courier New" pitchFamily="34" charset="-122"/>
                <a:cs typeface="Courier New" pitchFamily="34" charset="-120"/>
              </a:rPr>
              <a:t>├── pmo/</a:t>
            </a:r>
            <a:endParaRPr lang="en-US" sz="1250" dirty="0"/>
          </a:p>
          <a:p>
            <a:pPr algn="l" indent="0" marL="0">
              <a:lnSpc>
                <a:spcPct val="123932"/>
              </a:lnSpc>
              <a:buNone/>
            </a:pPr>
            <a:r>
              <a:rPr lang="en-US" sz="1250" dirty="0">
                <a:solidFill>
                  <a:srgbClr val="E6E8F2"/>
                </a:solidFill>
                <a:latin typeface="Courier New" pitchFamily="34" charset="0"/>
                <a:ea typeface="Courier New" pitchFamily="34" charset="-122"/>
                <a:cs typeface="Courier New" pitchFamily="34" charset="-120"/>
              </a:rPr>
              <a:t>├── excel/</a:t>
            </a:r>
            <a:endParaRPr lang="en-US" sz="1250" dirty="0"/>
          </a:p>
          <a:p>
            <a:pPr algn="l" indent="0" marL="0">
              <a:lnSpc>
                <a:spcPct val="123932"/>
              </a:lnSpc>
              <a:buNone/>
            </a:pPr>
            <a:r>
              <a:rPr lang="en-US" sz="1250" dirty="0">
                <a:solidFill>
                  <a:srgbClr val="E6E8F2"/>
                </a:solidFill>
                <a:latin typeface="Courier New" pitchFamily="34" charset="0"/>
                <a:ea typeface="Courier New" pitchFamily="34" charset="-122"/>
                <a:cs typeface="Courier New" pitchFamily="34" charset="-120"/>
              </a:rPr>
              <a:t>├── clickup/</a:t>
            </a:r>
            <a:endParaRPr lang="en-US" sz="1250" dirty="0"/>
          </a:p>
          <a:p>
            <a:pPr algn="l" indent="0" marL="0">
              <a:lnSpc>
                <a:spcPct val="123932"/>
              </a:lnSpc>
              <a:buNone/>
            </a:pPr>
            <a:r>
              <a:rPr lang="en-US" sz="1250" dirty="0">
                <a:solidFill>
                  <a:srgbClr val="E6E8F2"/>
                </a:solidFill>
                <a:latin typeface="Courier New" pitchFamily="34" charset="0"/>
                <a:ea typeface="Courier New" pitchFamily="34" charset="-122"/>
                <a:cs typeface="Courier New" pitchFamily="34" charset="-120"/>
              </a:rPr>
              <a:t>├── msproject/</a:t>
            </a:r>
            <a:endParaRPr lang="en-US" sz="1250" dirty="0"/>
          </a:p>
          <a:p>
            <a:pPr algn="l" indent="0" marL="0">
              <a:lnSpc>
                <a:spcPct val="123932"/>
              </a:lnSpc>
              <a:buNone/>
            </a:pPr>
            <a:r>
              <a:rPr lang="en-US" sz="1250" dirty="0">
                <a:solidFill>
                  <a:srgbClr val="E6E8F2"/>
                </a:solidFill>
                <a:latin typeface="Courier New" pitchFamily="34" charset="0"/>
                <a:ea typeface="Courier New" pitchFamily="34" charset="-122"/>
                <a:cs typeface="Courier New" pitchFamily="34" charset="-120"/>
              </a:rPr>
              <a:t>├── rh/</a:t>
            </a:r>
            <a:endParaRPr lang="en-US" sz="1250" dirty="0"/>
          </a:p>
          <a:p>
            <a:pPr algn="l" indent="0" marL="0">
              <a:lnSpc>
                <a:spcPct val="123932"/>
              </a:lnSpc>
              <a:buNone/>
            </a:pPr>
            <a:r>
              <a:rPr lang="en-US" sz="1250" dirty="0">
                <a:solidFill>
                  <a:srgbClr val="E6E8F2"/>
                </a:solidFill>
                <a:latin typeface="Courier New" pitchFamily="34" charset="0"/>
                <a:ea typeface="Courier New" pitchFamily="34" charset="-122"/>
                <a:cs typeface="Courier New" pitchFamily="34" charset="-120"/>
              </a:rPr>
              <a:t>├── timesheet/</a:t>
            </a:r>
            <a:endParaRPr lang="en-US" sz="1250" dirty="0"/>
          </a:p>
          <a:p>
            <a:pPr algn="l" indent="0" marL="0">
              <a:lnSpc>
                <a:spcPct val="123932"/>
              </a:lnSpc>
              <a:buNone/>
            </a:pPr>
            <a:r>
              <a:rPr lang="en-US" sz="1250" dirty="0">
                <a:solidFill>
                  <a:srgbClr val="E6E8F2"/>
                </a:solidFill>
                <a:latin typeface="Courier New" pitchFamily="34" charset="0"/>
                <a:ea typeface="Courier New" pitchFamily="34" charset="-122"/>
                <a:cs typeface="Courier New" pitchFamily="34" charset="-120"/>
              </a:rPr>
              <a:t>├── financeiro/</a:t>
            </a:r>
            <a:endParaRPr lang="en-US" sz="1250" dirty="0"/>
          </a:p>
          <a:p>
            <a:pPr algn="l" indent="0" marL="0">
              <a:lnSpc>
                <a:spcPct val="123932"/>
              </a:lnSpc>
              <a:buNone/>
            </a:pPr>
            <a:r>
              <a:rPr lang="en-US" sz="1250" dirty="0">
                <a:solidFill>
                  <a:srgbClr val="E6E8F2"/>
                </a:solidFill>
                <a:latin typeface="Courier New" pitchFamily="34" charset="0"/>
                <a:ea typeface="Courier New" pitchFamily="34" charset="-122"/>
                <a:cs typeface="Courier New" pitchFamily="34" charset="-120"/>
              </a:rPr>
              <a:t>└── compras/</a:t>
            </a:r>
            <a:endParaRPr lang="en-US" sz="1250" dirty="0"/>
          </a:p>
        </p:txBody>
      </p:sp>
      <p:sp>
        <p:nvSpPr>
          <p:cNvPr id="15" name="Shape 13"/>
          <p:cNvSpPr/>
          <p:nvPr/>
        </p:nvSpPr>
        <p:spPr>
          <a:xfrm>
            <a:off x="761981" y="4123825"/>
            <a:ext cx="25399" cy="495288"/>
          </a:xfrm>
          <a:prstGeom prst="rect">
            <a:avLst/>
          </a:prstGeom>
          <a:solidFill>
            <a:srgbClr val="22C2F4"/>
          </a:solidFill>
          <a:ln/>
        </p:spPr>
      </p:sp>
      <p:sp>
        <p:nvSpPr>
          <p:cNvPr id="16" name="Text 14"/>
          <p:cNvSpPr txBox="1"/>
          <p:nvPr/>
        </p:nvSpPr>
        <p:spPr>
          <a:xfrm>
            <a:off x="914377" y="4161924"/>
            <a:ext cx="10935951" cy="419090"/>
          </a:xfrm>
          <a:prstGeom prst="rect">
            <a:avLst/>
          </a:prstGeom>
          <a:noFill/>
          <a:ln/>
        </p:spPr>
        <p:txBody>
          <a:bodyPr wrap="square" lIns="0" tIns="0" rIns="0" bIns="0" rtlCol="0" anchor="t"/>
          <a:lstStyle/>
          <a:p>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O nome da pasta importa: o SQL do passo 5 procura </a:t>
            </a:r>
            <a:pPr algn="l" indent="0" marL="0">
              <a:lnSpc>
                <a:spcPct val="106838"/>
              </a:lnSpc>
              <a:buNone/>
            </a:pPr>
            <a:r>
              <a:rPr lang="en-US" sz="1100" b="1" dirty="0">
                <a:solidFill>
                  <a:srgbClr val="FFFFFF"/>
                </a:solidFill>
                <a:latin typeface="Poppins" pitchFamily="34" charset="0"/>
                <a:ea typeface="Poppins" pitchFamily="34" charset="-122"/>
                <a:cs typeface="Poppins" pitchFamily="34" charset="-120"/>
              </a:rPr>
              <a:t>/Volumes/lakehouse_vertice/bronze/raw/excel/</a:t>
            </a:r>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 Pasta com outro nome vira tabela com 0 linhas.</a:t>
            </a:r>
            <a:endParaRPr lang="en-US" sz="1100" dirty="0"/>
          </a:p>
        </p:txBody>
      </p:sp>
      <p:pic>
        <p:nvPicPr>
          <p:cNvPr id="17"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18" name="Text 15"/>
          <p:cNvSpPr txBox="1"/>
          <p:nvPr/>
        </p:nvSpPr>
        <p:spPr>
          <a:xfrm>
            <a:off x="10954270" y="6387940"/>
            <a:ext cx="494462"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32 / 133</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1 · PASSO 4 DE 6</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Suba os arquivos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pasta por pasta</a:t>
            </a:r>
            <a:endParaRPr lang="en-US" sz="3100" dirty="0"/>
          </a:p>
        </p:txBody>
      </p:sp>
      <p:sp>
        <p:nvSpPr>
          <p:cNvPr id="4" name="Shape 2"/>
          <p:cNvSpPr/>
          <p:nvPr/>
        </p:nvSpPr>
        <p:spPr>
          <a:xfrm>
            <a:off x="761981" y="1582301"/>
            <a:ext cx="5238619" cy="2192878"/>
          </a:xfrm>
          <a:prstGeom prst="roundRect">
            <a:avLst>
              <a:gd name="adj" fmla="val 6950"/>
            </a:avLst>
          </a:prstGeom>
          <a:solidFill>
            <a:srgbClr val="0059DB"/>
          </a:solidFill>
          <a:ln/>
        </p:spPr>
      </p:sp>
      <p:sp>
        <p:nvSpPr>
          <p:cNvPr id="5" name="Shape 3"/>
          <p:cNvSpPr/>
          <p:nvPr/>
        </p:nvSpPr>
        <p:spPr>
          <a:xfrm>
            <a:off x="984225" y="1779146"/>
            <a:ext cx="615042" cy="247644"/>
          </a:xfrm>
          <a:prstGeom prst="roundRect">
            <a:avLst>
              <a:gd name="adj" fmla="val 50000"/>
            </a:avLst>
          </a:prstGeom>
          <a:solidFill>
            <a:srgbClr val="FFFFFF">
              <a:alpha val="16000"/>
            </a:srgbClr>
          </a:solidFill>
          <a:ln/>
        </p:spPr>
      </p:sp>
      <p:sp>
        <p:nvSpPr>
          <p:cNvPr id="6" name="Text 4"/>
          <p:cNvSpPr txBox="1"/>
          <p:nvPr/>
        </p:nvSpPr>
        <p:spPr>
          <a:xfrm>
            <a:off x="1073123" y="1817245"/>
            <a:ext cx="454736"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Cliques</a:t>
            </a:r>
            <a:endParaRPr lang="en-US" sz="900" dirty="0"/>
          </a:p>
        </p:txBody>
      </p:sp>
      <p:sp>
        <p:nvSpPr>
          <p:cNvPr id="7" name="Shape 5"/>
          <p:cNvSpPr/>
          <p:nvPr/>
        </p:nvSpPr>
        <p:spPr>
          <a:xfrm>
            <a:off x="984225" y="2198236"/>
            <a:ext cx="76198" cy="76198"/>
          </a:xfrm>
          <a:prstGeom prst="roundRect">
            <a:avLst>
              <a:gd name="adj" fmla="val 25000"/>
            </a:avLst>
          </a:prstGeom>
          <a:solidFill>
            <a:srgbClr val="22C2F4"/>
          </a:solidFill>
          <a:ln/>
        </p:spPr>
      </p:sp>
      <p:sp>
        <p:nvSpPr>
          <p:cNvPr id="8" name="Text 6"/>
          <p:cNvSpPr txBox="1"/>
          <p:nvPr/>
        </p:nvSpPr>
        <p:spPr>
          <a:xfrm>
            <a:off x="1174721" y="2115688"/>
            <a:ext cx="4787780"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baixe o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dados-vertice.zip</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do Drive (link no chat) e descompacte</a:t>
            </a:r>
            <a:endParaRPr lang="en-US" sz="1200" dirty="0"/>
          </a:p>
        </p:txBody>
      </p:sp>
      <p:sp>
        <p:nvSpPr>
          <p:cNvPr id="9" name="Shape 7"/>
          <p:cNvSpPr/>
          <p:nvPr/>
        </p:nvSpPr>
        <p:spPr>
          <a:xfrm>
            <a:off x="984225" y="2685784"/>
            <a:ext cx="76198" cy="76198"/>
          </a:xfrm>
          <a:prstGeom prst="roundRect">
            <a:avLst>
              <a:gd name="adj" fmla="val 25000"/>
            </a:avLst>
          </a:prstGeom>
          <a:solidFill>
            <a:srgbClr val="22C2F4"/>
          </a:solidFill>
          <a:ln/>
        </p:spPr>
      </p:sp>
      <p:sp>
        <p:nvSpPr>
          <p:cNvPr id="10" name="Text 8"/>
          <p:cNvSpPr txBox="1"/>
          <p:nvPr/>
        </p:nvSpPr>
        <p:spPr>
          <a:xfrm>
            <a:off x="1174721" y="2603236"/>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entre em cada pasta do volume →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Upload to this volume</a:t>
            </a:r>
            <a:endParaRPr lang="en-US" sz="1200" dirty="0"/>
          </a:p>
        </p:txBody>
      </p:sp>
      <p:sp>
        <p:nvSpPr>
          <p:cNvPr id="11" name="Shape 9"/>
          <p:cNvSpPr/>
          <p:nvPr/>
        </p:nvSpPr>
        <p:spPr>
          <a:xfrm>
            <a:off x="984225" y="2967658"/>
            <a:ext cx="76198" cy="76198"/>
          </a:xfrm>
          <a:prstGeom prst="roundRect">
            <a:avLst>
              <a:gd name="adj" fmla="val 25000"/>
            </a:avLst>
          </a:prstGeom>
          <a:solidFill>
            <a:srgbClr val="22C2F4"/>
          </a:solidFill>
          <a:ln/>
        </p:spPr>
      </p:sp>
      <p:sp>
        <p:nvSpPr>
          <p:cNvPr id="12" name="Text 10"/>
          <p:cNvSpPr txBox="1"/>
          <p:nvPr/>
        </p:nvSpPr>
        <p:spPr>
          <a:xfrm>
            <a:off x="1174721" y="2885110"/>
            <a:ext cx="4787780"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selecione todos os arquivos da pasta de mesmo nome de uma vez</a:t>
            </a:r>
            <a:endParaRPr lang="en-US" sz="1200" dirty="0"/>
          </a:p>
        </p:txBody>
      </p:sp>
      <p:sp>
        <p:nvSpPr>
          <p:cNvPr id="13" name="Shape 11"/>
          <p:cNvSpPr/>
          <p:nvPr/>
        </p:nvSpPr>
        <p:spPr>
          <a:xfrm>
            <a:off x="984225" y="3455207"/>
            <a:ext cx="76198" cy="76198"/>
          </a:xfrm>
          <a:prstGeom prst="roundRect">
            <a:avLst>
              <a:gd name="adj" fmla="val 25000"/>
            </a:avLst>
          </a:prstGeom>
          <a:solidFill>
            <a:srgbClr val="22C2F4"/>
          </a:solidFill>
          <a:ln/>
        </p:spPr>
      </p:sp>
      <p:sp>
        <p:nvSpPr>
          <p:cNvPr id="14" name="Text 12"/>
          <p:cNvSpPr txBox="1"/>
          <p:nvPr/>
        </p:nvSpPr>
        <p:spPr>
          <a:xfrm>
            <a:off x="1174721" y="3372659"/>
            <a:ext cx="4787780" cy="205675"/>
          </a:xfrm>
          <a:prstGeom prst="rect">
            <a:avLst/>
          </a:prstGeom>
          <a:noFill/>
          <a:ln/>
        </p:spPr>
        <p:txBody>
          <a:bodyPr wrap="square" lIns="0" tIns="0" rIns="0" bIns="0" rtlCol="0" anchor="t"/>
          <a:lstStyle/>
          <a:p>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documentos/</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(os PDFs) fica para a noite 4</a:t>
            </a:r>
            <a:endParaRPr lang="en-US" sz="1200" dirty="0"/>
          </a:p>
        </p:txBody>
      </p:sp>
      <p:pic>
        <p:nvPicPr>
          <p:cNvPr id="15" name="Image 0" descr="preencoded.png">    </p:cNvPr>
          <p:cNvPicPr>
            <a:picLocks noChangeAspect="1"/>
          </p:cNvPicPr>
          <p:nvPr/>
        </p:nvPicPr>
        <p:blipFill>
          <a:blip r:embed="rId2"/>
          <a:srcRect l="0" r="0" t="0" b="2424"/>
          <a:stretch/>
        </p:blipFill>
        <p:spPr>
          <a:xfrm>
            <a:off x="6191095" y="1582301"/>
            <a:ext cx="5238619" cy="2920927"/>
          </a:xfrm>
          <a:prstGeom prst="rect">
            <a:avLst/>
          </a:prstGeom>
        </p:spPr>
      </p:pic>
      <p:sp>
        <p:nvSpPr>
          <p:cNvPr id="16" name="Text 13"/>
          <p:cNvSpPr txBox="1"/>
          <p:nvPr/>
        </p:nvSpPr>
        <p:spPr>
          <a:xfrm>
            <a:off x="6191095" y="4554027"/>
            <a:ext cx="5448164" cy="190495"/>
          </a:xfrm>
          <a:prstGeom prst="rect">
            <a:avLst/>
          </a:prstGeom>
          <a:noFill/>
          <a:ln/>
        </p:spPr>
        <p:txBody>
          <a:bodyPr wrap="square" lIns="0" tIns="0" rIns="0" bIns="0" rtlCol="0" anchor="t"/>
          <a:lstStyle/>
          <a:p>
            <a:pPr algn="l" indent="0" marL="0">
              <a:lnSpc>
                <a:spcPct val="106838"/>
              </a:lnSpc>
              <a:buNone/>
            </a:pPr>
            <a:r>
              <a:rPr lang="en-US" sz="1000" dirty="0">
                <a:solidFill>
                  <a:srgbClr val="A3A6B4"/>
                </a:solidFill>
                <a:latin typeface="Poppins" pitchFamily="34" charset="0"/>
                <a:ea typeface="Poppins" pitchFamily="34" charset="-122"/>
                <a:cs typeface="Poppins" pitchFamily="34" charset="-120"/>
              </a:rPr>
              <a:t>A pasta </a:t>
            </a:r>
            <a:pPr algn="l" indent="0" marL="0">
              <a:lnSpc>
                <a:spcPct val="106838"/>
              </a:lnSpc>
              <a:buNone/>
            </a:pPr>
            <a:r>
              <a:rPr lang="en-US" sz="1000" b="1" dirty="0">
                <a:solidFill>
                  <a:srgbClr val="FFFFFF"/>
                </a:solidFill>
                <a:latin typeface="Poppins" pitchFamily="34" charset="0"/>
                <a:ea typeface="Poppins" pitchFamily="34" charset="-122"/>
                <a:cs typeface="Poppins" pitchFamily="34" charset="-120"/>
              </a:rPr>
              <a:t>excel/</a:t>
            </a:r>
            <a:pPr algn="l" indent="0" marL="0">
              <a:lnSpc>
                <a:spcPct val="106838"/>
              </a:lnSpc>
              <a:buNone/>
            </a:pPr>
            <a:r>
              <a:rPr lang="en-US" sz="1000" dirty="0">
                <a:solidFill>
                  <a:srgbClr val="A3A6B4"/>
                </a:solidFill>
                <a:latin typeface="Poppins" pitchFamily="34" charset="0"/>
                <a:ea typeface="Poppins" pitchFamily="34" charset="-122"/>
                <a:cs typeface="Poppins" pitchFamily="34" charset="-120"/>
              </a:rPr>
              <a:t> pronta: 20 planilhas, uma por projeto. Ainda é arquivo, não tabela.</a:t>
            </a:r>
            <a:endParaRPr lang="en-US" sz="1000" dirty="0"/>
          </a:p>
        </p:txBody>
      </p:sp>
      <p:pic>
        <p:nvPicPr>
          <p:cNvPr id="17" name="Image 1" descr="preencoded.png">    </p:cNvPr>
          <p:cNvPicPr>
            <a:picLocks noChangeAspect="1"/>
          </p:cNvPicPr>
          <p:nvPr/>
        </p:nvPicPr>
        <p:blipFill>
          <a:blip r:embed="rId3"/>
          <a:stretch>
            <a:fillRect/>
          </a:stretch>
        </p:blipFill>
        <p:spPr>
          <a:xfrm>
            <a:off x="761981" y="6387940"/>
            <a:ext cx="2059928" cy="190495"/>
          </a:xfrm>
          <a:prstGeom prst="rect">
            <a:avLst/>
          </a:prstGeom>
        </p:spPr>
      </p:pic>
      <p:sp>
        <p:nvSpPr>
          <p:cNvPr id="18" name="Text 14"/>
          <p:cNvSpPr txBox="1"/>
          <p:nvPr/>
        </p:nvSpPr>
        <p:spPr>
          <a:xfrm>
            <a:off x="10952186" y="6387940"/>
            <a:ext cx="496629"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33 / 133</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1 · PASSO 5 DE 6</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Transforme arquivo em tabela: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um SQL só</a:t>
            </a:r>
            <a:endParaRPr lang="en-US" sz="3100" dirty="0"/>
          </a:p>
        </p:txBody>
      </p:sp>
      <p:sp>
        <p:nvSpPr>
          <p:cNvPr id="4" name="Shape 2"/>
          <p:cNvSpPr/>
          <p:nvPr/>
        </p:nvSpPr>
        <p:spPr>
          <a:xfrm>
            <a:off x="761981" y="1582301"/>
            <a:ext cx="5238619" cy="1499654"/>
          </a:xfrm>
          <a:prstGeom prst="roundRect">
            <a:avLst>
              <a:gd name="adj" fmla="val 10162"/>
            </a:avLst>
          </a:prstGeom>
          <a:solidFill>
            <a:srgbClr val="0059DB"/>
          </a:solidFill>
          <a:ln/>
        </p:spPr>
      </p:sp>
      <p:sp>
        <p:nvSpPr>
          <p:cNvPr id="5" name="Shape 3"/>
          <p:cNvSpPr/>
          <p:nvPr/>
        </p:nvSpPr>
        <p:spPr>
          <a:xfrm>
            <a:off x="984225" y="1779146"/>
            <a:ext cx="615042" cy="247644"/>
          </a:xfrm>
          <a:prstGeom prst="roundRect">
            <a:avLst>
              <a:gd name="adj" fmla="val 50000"/>
            </a:avLst>
          </a:prstGeom>
          <a:solidFill>
            <a:srgbClr val="FFFFFF">
              <a:alpha val="16000"/>
            </a:srgbClr>
          </a:solidFill>
          <a:ln/>
        </p:spPr>
      </p:sp>
      <p:sp>
        <p:nvSpPr>
          <p:cNvPr id="6" name="Text 4"/>
          <p:cNvSpPr txBox="1"/>
          <p:nvPr/>
        </p:nvSpPr>
        <p:spPr>
          <a:xfrm>
            <a:off x="1073123" y="1817245"/>
            <a:ext cx="454736"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Cliques</a:t>
            </a:r>
            <a:endParaRPr lang="en-US" sz="900" dirty="0"/>
          </a:p>
        </p:txBody>
      </p:sp>
      <p:sp>
        <p:nvSpPr>
          <p:cNvPr id="7" name="Shape 5"/>
          <p:cNvSpPr/>
          <p:nvPr/>
        </p:nvSpPr>
        <p:spPr>
          <a:xfrm>
            <a:off x="984225" y="2198236"/>
            <a:ext cx="76198" cy="76198"/>
          </a:xfrm>
          <a:prstGeom prst="roundRect">
            <a:avLst>
              <a:gd name="adj" fmla="val 25000"/>
            </a:avLst>
          </a:prstGeom>
          <a:solidFill>
            <a:srgbClr val="22C2F4"/>
          </a:solidFill>
          <a:ln/>
        </p:spPr>
      </p:sp>
      <p:sp>
        <p:nvSpPr>
          <p:cNvPr id="8" name="Text 6"/>
          <p:cNvSpPr txBox="1"/>
          <p:nvPr/>
        </p:nvSpPr>
        <p:spPr>
          <a:xfrm>
            <a:off x="1174721" y="2115688"/>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abra o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01-ingestao-bronze.sql</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no GitHub e copie tudo</a:t>
            </a:r>
            <a:endParaRPr lang="en-US" sz="1200" dirty="0"/>
          </a:p>
        </p:txBody>
      </p:sp>
      <p:sp>
        <p:nvSpPr>
          <p:cNvPr id="9" name="Shape 7"/>
          <p:cNvSpPr/>
          <p:nvPr/>
        </p:nvSpPr>
        <p:spPr>
          <a:xfrm>
            <a:off x="984225" y="2480109"/>
            <a:ext cx="76198" cy="76198"/>
          </a:xfrm>
          <a:prstGeom prst="roundRect">
            <a:avLst>
              <a:gd name="adj" fmla="val 25000"/>
            </a:avLst>
          </a:prstGeom>
          <a:solidFill>
            <a:srgbClr val="22C2F4"/>
          </a:solidFill>
          <a:ln/>
        </p:spPr>
      </p:sp>
      <p:sp>
        <p:nvSpPr>
          <p:cNvPr id="10" name="Text 8"/>
          <p:cNvSpPr txBox="1"/>
          <p:nvPr/>
        </p:nvSpPr>
        <p:spPr>
          <a:xfrm>
            <a:off x="1174721" y="2397561"/>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menu da esquerda →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SQL Editor</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nova query</a:t>
            </a:r>
            <a:endParaRPr lang="en-US" sz="1200" dirty="0"/>
          </a:p>
        </p:txBody>
      </p:sp>
      <p:sp>
        <p:nvSpPr>
          <p:cNvPr id="11" name="Shape 9"/>
          <p:cNvSpPr/>
          <p:nvPr/>
        </p:nvSpPr>
        <p:spPr>
          <a:xfrm>
            <a:off x="984225" y="2761983"/>
            <a:ext cx="76198" cy="76198"/>
          </a:xfrm>
          <a:prstGeom prst="roundRect">
            <a:avLst>
              <a:gd name="adj" fmla="val 25000"/>
            </a:avLst>
          </a:prstGeom>
          <a:solidFill>
            <a:srgbClr val="22C2F4"/>
          </a:solidFill>
          <a:ln/>
        </p:spPr>
      </p:sp>
      <p:sp>
        <p:nvSpPr>
          <p:cNvPr id="12" name="Text 10"/>
          <p:cNvSpPr txBox="1"/>
          <p:nvPr/>
        </p:nvSpPr>
        <p:spPr>
          <a:xfrm>
            <a:off x="1174721" y="2679435"/>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cole e clique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Run all</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(~1 min)</a:t>
            </a:r>
            <a:endParaRPr lang="en-US" sz="1200" dirty="0"/>
          </a:p>
        </p:txBody>
      </p:sp>
      <p:sp>
        <p:nvSpPr>
          <p:cNvPr id="13" name="Shape 11"/>
          <p:cNvSpPr/>
          <p:nvPr/>
        </p:nvSpPr>
        <p:spPr>
          <a:xfrm>
            <a:off x="6191095" y="1582301"/>
            <a:ext cx="5238619" cy="2082351"/>
          </a:xfrm>
          <a:prstGeom prst="roundRect">
            <a:avLst>
              <a:gd name="adj" fmla="val 5489"/>
            </a:avLst>
          </a:prstGeom>
          <a:solidFill>
            <a:srgbClr val="0C0C10"/>
          </a:solidFill>
          <a:ln w="6350">
            <a:solidFill>
              <a:srgbClr val="2F2F39"/>
            </a:solidFill>
            <a:prstDash val="solid"/>
          </a:ln>
        </p:spPr>
      </p:sp>
      <p:sp>
        <p:nvSpPr>
          <p:cNvPr id="14" name="Text 12"/>
          <p:cNvSpPr txBox="1"/>
          <p:nvPr/>
        </p:nvSpPr>
        <p:spPr>
          <a:xfrm>
            <a:off x="6387940" y="1753747"/>
            <a:ext cx="5045330" cy="1745809"/>
          </a:xfrm>
          <a:prstGeom prst="rect">
            <a:avLst/>
          </a:prstGeom>
          <a:noFill/>
          <a:ln/>
        </p:spPr>
        <p:txBody>
          <a:bodyPr wrap="square" lIns="0" tIns="0" rIns="0" bIns="0" rtlCol="0" anchor="t"/>
          <a:lstStyle/>
          <a:p>
            <a:pPr algn="l" indent="0" marL="0">
              <a:lnSpc>
                <a:spcPct val="123932"/>
              </a:lnSpc>
              <a:buNone/>
            </a:pPr>
            <a:r>
              <a:rPr lang="en-US" sz="1050" dirty="0">
                <a:solidFill>
                  <a:srgbClr val="6E7180"/>
                </a:solidFill>
                <a:latin typeface="Courier New" pitchFamily="34" charset="0"/>
                <a:ea typeface="Courier New" pitchFamily="34" charset="-122"/>
                <a:cs typeface="Courier New" pitchFamily="34" charset="-120"/>
              </a:rPr>
              <a:t>-- um bloco por arquivo; o mesmo comando para</a:t>
            </a:r>
            <a:pPr algn="l" indent="0" marL="0">
              <a:lnSpc>
                <a:spcPct val="123932"/>
              </a:lnSpc>
              <a:buNone/>
            </a:pPr>
            <a:endParaRPr lang="en-US" sz="1050" dirty="0"/>
          </a:p>
          <a:p>
            <a:pPr algn="l" indent="0" marL="0">
              <a:lnSpc>
                <a:spcPct val="123932"/>
              </a:lnSpc>
              <a:buNone/>
            </a:pPr>
            <a:pPr algn="l" indent="0" marL="0">
              <a:lnSpc>
                <a:spcPct val="123932"/>
              </a:lnSpc>
              <a:buNone/>
            </a:pPr>
            <a:r>
              <a:rPr lang="en-US" sz="1050" dirty="0">
                <a:solidFill>
                  <a:srgbClr val="6E7180"/>
                </a:solidFill>
                <a:latin typeface="Courier New" pitchFamily="34" charset="0"/>
                <a:ea typeface="Courier New" pitchFamily="34" charset="-122"/>
                <a:cs typeface="Courier New" pitchFamily="34" charset="-120"/>
              </a:rPr>
              <a:t>-- CSV, Excel, JSON e XML</a:t>
            </a:r>
            <a:pPr algn="l" indent="0" marL="0">
              <a:lnSpc>
                <a:spcPct val="123932"/>
              </a:lnSpc>
              <a:buNone/>
            </a:pPr>
            <a:endParaRPr lang="en-US" sz="1050" dirty="0"/>
          </a:p>
          <a:p>
            <a:pPr algn="l" indent="0" marL="0">
              <a:lnSpc>
                <a:spcPct val="123932"/>
              </a:lnSpc>
              <a:buNone/>
            </a:pPr>
            <a:pPr algn="l" indent="0" marL="0">
              <a:lnSpc>
                <a:spcPct val="123932"/>
              </a:lnSpc>
              <a:buNone/>
            </a:pPr>
            <a:r>
              <a:rPr lang="en-US" sz="1050" dirty="0">
                <a:solidFill>
                  <a:srgbClr val="22C2F4"/>
                </a:solidFill>
                <a:latin typeface="Courier New" pitchFamily="34" charset="0"/>
                <a:ea typeface="Courier New" pitchFamily="34" charset="-122"/>
                <a:cs typeface="Courier New" pitchFamily="34" charset="-120"/>
              </a:rPr>
              <a:t>CREATE OR REPLACE TABLE</a:t>
            </a:r>
            <a:pPr algn="l" indent="0" marL="0">
              <a:lnSpc>
                <a:spcPct val="123932"/>
              </a:lnSpc>
              <a:buNone/>
            </a:pPr>
            <a:endParaRPr lang="en-US" sz="1050" dirty="0"/>
          </a:p>
          <a:p>
            <a:pPr algn="l" indent="0" marL="0">
              <a:lnSpc>
                <a:spcPct val="123932"/>
              </a:lnSpc>
              <a:buNone/>
            </a:pPr>
            <a:r>
              <a:rPr lang="en-US" sz="1050" dirty="0">
                <a:solidFill>
                  <a:srgbClr val="E6E8F2"/>
                </a:solidFill>
                <a:latin typeface="Courier New" pitchFamily="34" charset="0"/>
                <a:ea typeface="Courier New" pitchFamily="34" charset="-122"/>
                <a:cs typeface="Courier New" pitchFamily="34" charset="-120"/>
              </a:rPr>
              <a:t>  lakehouse_vertice.bronze.projetos </a:t>
            </a:r>
            <a:pPr algn="l" indent="0" marL="0">
              <a:lnSpc>
                <a:spcPct val="123932"/>
              </a:lnSpc>
              <a:buNone/>
            </a:pPr>
            <a:r>
              <a:rPr lang="en-US" sz="1050" dirty="0">
                <a:solidFill>
                  <a:srgbClr val="22C2F4"/>
                </a:solidFill>
                <a:latin typeface="Courier New" pitchFamily="34" charset="0"/>
                <a:ea typeface="Courier New" pitchFamily="34" charset="-122"/>
                <a:cs typeface="Courier New" pitchFamily="34" charset="-120"/>
              </a:rPr>
              <a:t>AS</a:t>
            </a:r>
            <a:pPr algn="l" indent="0" marL="0">
              <a:lnSpc>
                <a:spcPct val="123932"/>
              </a:lnSpc>
              <a:buNone/>
            </a:pPr>
            <a:endParaRPr lang="en-US" sz="1050" dirty="0"/>
          </a:p>
          <a:p>
            <a:pPr algn="l" indent="0" marL="0">
              <a:lnSpc>
                <a:spcPct val="123932"/>
              </a:lnSpc>
              <a:buNone/>
            </a:pPr>
            <a:pPr algn="l" indent="0" marL="0">
              <a:lnSpc>
                <a:spcPct val="123932"/>
              </a:lnSpc>
              <a:buNone/>
            </a:pPr>
            <a:r>
              <a:rPr lang="en-US" sz="1050" dirty="0">
                <a:solidFill>
                  <a:srgbClr val="22C2F4"/>
                </a:solidFill>
                <a:latin typeface="Courier New" pitchFamily="34" charset="0"/>
                <a:ea typeface="Courier New" pitchFamily="34" charset="-122"/>
                <a:cs typeface="Courier New" pitchFamily="34" charset="-120"/>
              </a:rPr>
              <a:t>SELECT</a:t>
            </a:r>
            <a:pPr algn="l" indent="0" marL="0">
              <a:lnSpc>
                <a:spcPct val="123932"/>
              </a:lnSpc>
              <a:buNone/>
            </a:pPr>
            <a:r>
              <a:rPr lang="en-US" sz="1050" dirty="0">
                <a:solidFill>
                  <a:srgbClr val="E6E8F2"/>
                </a:solidFill>
                <a:latin typeface="Courier New" pitchFamily="34" charset="0"/>
                <a:ea typeface="Courier New" pitchFamily="34" charset="-122"/>
                <a:cs typeface="Courier New" pitchFamily="34" charset="-120"/>
              </a:rPr>
              <a:t> * </a:t>
            </a:r>
            <a:pPr algn="l" indent="0" marL="0">
              <a:lnSpc>
                <a:spcPct val="123932"/>
              </a:lnSpc>
              <a:buNone/>
            </a:pPr>
            <a:r>
              <a:rPr lang="en-US" sz="1050" dirty="0">
                <a:solidFill>
                  <a:srgbClr val="22C2F4"/>
                </a:solidFill>
                <a:latin typeface="Courier New" pitchFamily="34" charset="0"/>
                <a:ea typeface="Courier New" pitchFamily="34" charset="-122"/>
                <a:cs typeface="Courier New" pitchFamily="34" charset="-120"/>
              </a:rPr>
              <a:t>EXCEPT</a:t>
            </a:r>
            <a:pPr algn="l" indent="0" marL="0">
              <a:lnSpc>
                <a:spcPct val="123932"/>
              </a:lnSpc>
              <a:buNone/>
            </a:pPr>
            <a:r>
              <a:rPr lang="en-US" sz="1050" dirty="0">
                <a:solidFill>
                  <a:srgbClr val="E6E8F2"/>
                </a:solidFill>
                <a:latin typeface="Courier New" pitchFamily="34" charset="0"/>
                <a:ea typeface="Courier New" pitchFamily="34" charset="-122"/>
                <a:cs typeface="Courier New" pitchFamily="34" charset="-120"/>
              </a:rPr>
              <a:t> (_rescued_data)</a:t>
            </a:r>
            <a:endParaRPr lang="en-US" sz="1050" dirty="0"/>
          </a:p>
          <a:p>
            <a:pPr algn="l" indent="0" marL="0">
              <a:lnSpc>
                <a:spcPct val="123932"/>
              </a:lnSpc>
              <a:buNone/>
            </a:pPr>
            <a:pPr algn="l" indent="0" marL="0">
              <a:lnSpc>
                <a:spcPct val="123932"/>
              </a:lnSpc>
              <a:buNone/>
            </a:pPr>
            <a:r>
              <a:rPr lang="en-US" sz="1050" dirty="0">
                <a:solidFill>
                  <a:srgbClr val="22C2F4"/>
                </a:solidFill>
                <a:latin typeface="Courier New" pitchFamily="34" charset="0"/>
                <a:ea typeface="Courier New" pitchFamily="34" charset="-122"/>
                <a:cs typeface="Courier New" pitchFamily="34" charset="-120"/>
              </a:rPr>
              <a:t>FROM</a:t>
            </a:r>
            <a:pPr algn="l" indent="0" marL="0">
              <a:lnSpc>
                <a:spcPct val="123932"/>
              </a:lnSpc>
              <a:buNone/>
            </a:pPr>
            <a:r>
              <a:rPr lang="en-US" sz="1050" dirty="0">
                <a:solidFill>
                  <a:srgbClr val="E6E8F2"/>
                </a:solidFill>
                <a:latin typeface="Courier New" pitchFamily="34" charset="0"/>
                <a:ea typeface="Courier New" pitchFamily="34" charset="-122"/>
                <a:cs typeface="Courier New" pitchFamily="34" charset="-120"/>
              </a:rPr>
              <a:t> read_files(</a:t>
            </a:r>
            <a:endParaRPr lang="en-US" sz="1050" dirty="0"/>
          </a:p>
          <a:p>
            <a:pPr algn="l" indent="0" marL="0">
              <a:lnSpc>
                <a:spcPct val="123932"/>
              </a:lnSpc>
              <a:buNone/>
            </a:pPr>
            <a:r>
              <a:rPr lang="en-US" sz="1050" dirty="0">
                <a:solidFill>
                  <a:srgbClr val="E6E8F2"/>
                </a:solidFill>
                <a:latin typeface="Courier New" pitchFamily="34" charset="0"/>
                <a:ea typeface="Courier New" pitchFamily="34" charset="-122"/>
                <a:cs typeface="Courier New" pitchFamily="34" charset="-120"/>
              </a:rPr>
              <a:t>  </a:t>
            </a:r>
            <a:pPr algn="l" indent="0" marL="0">
              <a:lnSpc>
                <a:spcPct val="123932"/>
              </a:lnSpc>
              <a:buNone/>
            </a:pPr>
            <a:r>
              <a:rPr lang="en-US" sz="1050" dirty="0">
                <a:solidFill>
                  <a:srgbClr val="F6C344"/>
                </a:solidFill>
                <a:latin typeface="Courier New" pitchFamily="34" charset="0"/>
                <a:ea typeface="Courier New" pitchFamily="34" charset="-122"/>
                <a:cs typeface="Courier New" pitchFamily="34" charset="-120"/>
              </a:rPr>
              <a:t>'/Volumes/lakehouse_vertice/bronze/raw/pmo/projetos.csv'</a:t>
            </a:r>
            <a:pPr algn="l" indent="0" marL="0">
              <a:lnSpc>
                <a:spcPct val="123932"/>
              </a:lnSpc>
              <a:buNone/>
            </a:pPr>
            <a:r>
              <a:rPr lang="en-US" sz="1050" dirty="0">
                <a:solidFill>
                  <a:srgbClr val="E6E8F2"/>
                </a:solidFill>
                <a:latin typeface="Courier New" pitchFamily="34" charset="0"/>
                <a:ea typeface="Courier New" pitchFamily="34" charset="-122"/>
                <a:cs typeface="Courier New" pitchFamily="34" charset="-120"/>
              </a:rPr>
              <a:t>,</a:t>
            </a:r>
            <a:endParaRPr lang="en-US" sz="1050" dirty="0"/>
          </a:p>
          <a:p>
            <a:pPr algn="l" indent="0" marL="0">
              <a:lnSpc>
                <a:spcPct val="123932"/>
              </a:lnSpc>
              <a:buNone/>
            </a:pPr>
            <a:r>
              <a:rPr lang="en-US" sz="1050" dirty="0">
                <a:solidFill>
                  <a:srgbClr val="E6E8F2"/>
                </a:solidFill>
                <a:latin typeface="Courier New" pitchFamily="34" charset="0"/>
                <a:ea typeface="Courier New" pitchFamily="34" charset="-122"/>
                <a:cs typeface="Courier New" pitchFamily="34" charset="-120"/>
              </a:rPr>
              <a:t>  format =&gt; </a:t>
            </a:r>
            <a:pPr algn="l" indent="0" marL="0">
              <a:lnSpc>
                <a:spcPct val="123932"/>
              </a:lnSpc>
              <a:buNone/>
            </a:pPr>
            <a:r>
              <a:rPr lang="en-US" sz="1050" dirty="0">
                <a:solidFill>
                  <a:srgbClr val="F6C344"/>
                </a:solidFill>
                <a:latin typeface="Courier New" pitchFamily="34" charset="0"/>
                <a:ea typeface="Courier New" pitchFamily="34" charset="-122"/>
                <a:cs typeface="Courier New" pitchFamily="34" charset="-120"/>
              </a:rPr>
              <a:t>'csv'</a:t>
            </a:r>
            <a:pPr algn="l" indent="0" marL="0">
              <a:lnSpc>
                <a:spcPct val="123932"/>
              </a:lnSpc>
              <a:buNone/>
            </a:pPr>
            <a:r>
              <a:rPr lang="en-US" sz="1050" dirty="0">
                <a:solidFill>
                  <a:srgbClr val="E6E8F2"/>
                </a:solidFill>
                <a:latin typeface="Courier New" pitchFamily="34" charset="0"/>
                <a:ea typeface="Courier New" pitchFamily="34" charset="-122"/>
                <a:cs typeface="Courier New" pitchFamily="34" charset="-120"/>
              </a:rPr>
              <a:t>, header =&gt; true,</a:t>
            </a:r>
            <a:endParaRPr lang="en-US" sz="1050" dirty="0"/>
          </a:p>
          <a:p>
            <a:pPr algn="l" indent="0" marL="0">
              <a:lnSpc>
                <a:spcPct val="123932"/>
              </a:lnSpc>
              <a:buNone/>
            </a:pPr>
            <a:r>
              <a:rPr lang="en-US" sz="1050" dirty="0">
                <a:solidFill>
                  <a:srgbClr val="E6E8F2"/>
                </a:solidFill>
                <a:latin typeface="Courier New" pitchFamily="34" charset="0"/>
                <a:ea typeface="Courier New" pitchFamily="34" charset="-122"/>
                <a:cs typeface="Courier New" pitchFamily="34" charset="-120"/>
              </a:rPr>
              <a:t>  inferColumnTypes =&gt; false);</a:t>
            </a:r>
            <a:endParaRPr lang="en-US" sz="1050" dirty="0"/>
          </a:p>
        </p:txBody>
      </p:sp>
      <p:sp>
        <p:nvSpPr>
          <p:cNvPr id="15" name="Shape 13"/>
          <p:cNvSpPr/>
          <p:nvPr/>
        </p:nvSpPr>
        <p:spPr>
          <a:xfrm>
            <a:off x="761981" y="3804349"/>
            <a:ext cx="25399" cy="520687"/>
          </a:xfrm>
          <a:prstGeom prst="rect">
            <a:avLst/>
          </a:prstGeom>
          <a:solidFill>
            <a:srgbClr val="22C2F4"/>
          </a:solidFill>
          <a:ln/>
        </p:spPr>
      </p:sp>
      <p:sp>
        <p:nvSpPr>
          <p:cNvPr id="16" name="Text 14"/>
          <p:cNvSpPr txBox="1"/>
          <p:nvPr/>
        </p:nvSpPr>
        <p:spPr>
          <a:xfrm>
            <a:off x="914377" y="3842448"/>
            <a:ext cx="10935951" cy="444489"/>
          </a:xfrm>
          <a:prstGeom prst="rect">
            <a:avLst/>
          </a:prstGeom>
          <a:noFill/>
          <a:ln/>
        </p:spPr>
        <p:txBody>
          <a:bodyPr wrap="square" lIns="0" tIns="0" rIns="0" bIns="0" rtlCol="0" anchor="t"/>
          <a:lstStyle/>
          <a:p>
            <a:pPr algn="l" indent="0" marL="0">
              <a:lnSpc>
                <a:spcPct val="106838"/>
              </a:lnSpc>
              <a:buNone/>
            </a:pPr>
            <a:r>
              <a:rPr lang="en-US" sz="1200" b="1" dirty="0">
                <a:solidFill>
                  <a:srgbClr val="FFFFFF"/>
                </a:solidFill>
                <a:latin typeface="Poppins" pitchFamily="34" charset="0"/>
                <a:ea typeface="Poppins" pitchFamily="34" charset="-122"/>
                <a:cs typeface="Poppins" pitchFamily="34" charset="-120"/>
              </a:rPr>
              <a:t>inferColumnTypes =&gt; false</a:t>
            </a:r>
            <a:pPr algn="l" indent="0" marL="0">
              <a:lnSpc>
                <a:spcPct val="106838"/>
              </a:lnSpc>
              <a:buNone/>
            </a:pPr>
            <a:r>
              <a:rPr lang="en-US" sz="1200" dirty="0">
                <a:solidFill>
                  <a:srgbClr val="A3A6B4"/>
                </a:solidFill>
                <a:latin typeface="Poppins" pitchFamily="34" charset="0"/>
                <a:ea typeface="Poppins" pitchFamily="34" charset="-122"/>
                <a:cs typeface="Poppins" pitchFamily="34" charset="-120"/>
              </a:rPr>
              <a:t>: tudo entra como texto, para a sujeira aparecer. </a:t>
            </a:r>
            <a:pPr algn="l" indent="0" marL="0">
              <a:lnSpc>
                <a:spcPct val="106838"/>
              </a:lnSpc>
              <a:buNone/>
            </a:pPr>
            <a:r>
              <a:rPr lang="en-US" sz="1200" b="1" dirty="0">
                <a:solidFill>
                  <a:srgbClr val="FFFFFF"/>
                </a:solidFill>
                <a:latin typeface="Poppins" pitchFamily="34" charset="0"/>
                <a:ea typeface="Poppins" pitchFamily="34" charset="-122"/>
                <a:cs typeface="Poppins" pitchFamily="34" charset="-120"/>
              </a:rPr>
              <a:t>_rescued_data</a:t>
            </a:r>
            <a:pPr algn="l" indent="0" marL="0">
              <a:lnSpc>
                <a:spcPct val="106838"/>
              </a:lnSpc>
              <a:buNone/>
            </a:pPr>
            <a:r>
              <a:rPr lang="en-US" sz="1200" dirty="0">
                <a:solidFill>
                  <a:srgbClr val="A3A6B4"/>
                </a:solidFill>
                <a:latin typeface="Poppins" pitchFamily="34" charset="0"/>
                <a:ea typeface="Poppins" pitchFamily="34" charset="-122"/>
                <a:cs typeface="Poppins" pitchFamily="34" charset="-120"/>
              </a:rPr>
              <a:t>: a coluna "rede de segurança" que o read_files cria sozinho; o que não cabe nas colunas cai ali em vez de sumir. Nos nossos arquivos vem vazia, então o </a:t>
            </a:r>
            <a:pPr algn="l" indent="0" marL="0">
              <a:lnSpc>
                <a:spcPct val="106838"/>
              </a:lnSpc>
              <a:buNone/>
            </a:pPr>
            <a:r>
              <a:rPr lang="en-US" sz="1200" b="1" dirty="0">
                <a:solidFill>
                  <a:srgbClr val="FFFFFF"/>
                </a:solidFill>
                <a:latin typeface="Poppins" pitchFamily="34" charset="0"/>
                <a:ea typeface="Poppins" pitchFamily="34" charset="-122"/>
                <a:cs typeface="Poppins" pitchFamily="34" charset="-120"/>
              </a:rPr>
              <a:t>EXCEPT</a:t>
            </a:r>
            <a:pPr algn="l" indent="0" marL="0">
              <a:lnSpc>
                <a:spcPct val="106838"/>
              </a:lnSpc>
              <a:buNone/>
            </a:pPr>
            <a:r>
              <a:rPr lang="en-US" sz="1200" dirty="0">
                <a:solidFill>
                  <a:srgbClr val="A3A6B4"/>
                </a:solidFill>
                <a:latin typeface="Poppins" pitchFamily="34" charset="0"/>
                <a:ea typeface="Poppins" pitchFamily="34" charset="-122"/>
                <a:cs typeface="Poppins" pitchFamily="34" charset="-120"/>
              </a:rPr>
              <a:t> tira.</a:t>
            </a:r>
            <a:endParaRPr lang="en-US" sz="1200" dirty="0"/>
          </a:p>
        </p:txBody>
      </p:sp>
      <p:pic>
        <p:nvPicPr>
          <p:cNvPr id="17"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18" name="Text 15"/>
          <p:cNvSpPr txBox="1"/>
          <p:nvPr/>
        </p:nvSpPr>
        <p:spPr>
          <a:xfrm>
            <a:off x="10945440" y="6387940"/>
            <a:ext cx="503646"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34 / 133</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1 · PASSO 6 DE 6</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Confira: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9 tabelas na bronze</a:t>
            </a:r>
            <a:endParaRPr lang="en-US" sz="3100" dirty="0"/>
          </a:p>
        </p:txBody>
      </p:sp>
      <p:sp>
        <p:nvSpPr>
          <p:cNvPr id="4" name="Shape 2"/>
          <p:cNvSpPr/>
          <p:nvPr/>
        </p:nvSpPr>
        <p:spPr>
          <a:xfrm>
            <a:off x="761981" y="1582301"/>
            <a:ext cx="5238619" cy="2886102"/>
          </a:xfrm>
          <a:prstGeom prst="roundRect">
            <a:avLst>
              <a:gd name="adj" fmla="val 5280"/>
            </a:avLst>
          </a:prstGeom>
          <a:solidFill>
            <a:srgbClr val="0059DB"/>
          </a:solidFill>
          <a:ln/>
        </p:spPr>
      </p:sp>
      <p:sp>
        <p:nvSpPr>
          <p:cNvPr id="5" name="Shape 3"/>
          <p:cNvSpPr/>
          <p:nvPr/>
        </p:nvSpPr>
        <p:spPr>
          <a:xfrm>
            <a:off x="984225" y="1779146"/>
            <a:ext cx="1592818" cy="247644"/>
          </a:xfrm>
          <a:prstGeom prst="roundRect">
            <a:avLst>
              <a:gd name="adj" fmla="val 50000"/>
            </a:avLst>
          </a:prstGeom>
          <a:solidFill>
            <a:srgbClr val="FFFFFF">
              <a:alpha val="16000"/>
            </a:srgbClr>
          </a:solidFill>
          <a:ln/>
        </p:spPr>
      </p:sp>
      <p:sp>
        <p:nvSpPr>
          <p:cNvPr id="6" name="Text 4"/>
          <p:cNvSpPr txBox="1"/>
          <p:nvPr/>
        </p:nvSpPr>
        <p:spPr>
          <a:xfrm>
            <a:off x="1073123" y="1817245"/>
            <a:ext cx="1471623"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O que tem que aparecer</a:t>
            </a:r>
            <a:endParaRPr lang="en-US" sz="900" dirty="0"/>
          </a:p>
        </p:txBody>
      </p:sp>
      <p:sp>
        <p:nvSpPr>
          <p:cNvPr id="7" name="Shape 5"/>
          <p:cNvSpPr/>
          <p:nvPr/>
        </p:nvSpPr>
        <p:spPr>
          <a:xfrm>
            <a:off x="984225" y="2198236"/>
            <a:ext cx="76198" cy="76198"/>
          </a:xfrm>
          <a:prstGeom prst="roundRect">
            <a:avLst>
              <a:gd name="adj" fmla="val 25000"/>
            </a:avLst>
          </a:prstGeom>
          <a:solidFill>
            <a:srgbClr val="22C2F4"/>
          </a:solidFill>
          <a:ln/>
        </p:spPr>
      </p:sp>
      <p:sp>
        <p:nvSpPr>
          <p:cNvPr id="8" name="Text 6"/>
          <p:cNvSpPr txBox="1"/>
          <p:nvPr/>
        </p:nvSpPr>
        <p:spPr>
          <a:xfrm>
            <a:off x="1174721" y="2115688"/>
            <a:ext cx="4787780"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a última query do passo 5 lista as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9 tabelas</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e as linhas de cada uma</a:t>
            </a:r>
            <a:endParaRPr lang="en-US" sz="1200" dirty="0"/>
          </a:p>
        </p:txBody>
      </p:sp>
      <p:sp>
        <p:nvSpPr>
          <p:cNvPr id="9" name="Shape 7"/>
          <p:cNvSpPr/>
          <p:nvPr/>
        </p:nvSpPr>
        <p:spPr>
          <a:xfrm>
            <a:off x="984225" y="2685784"/>
            <a:ext cx="76198" cy="76198"/>
          </a:xfrm>
          <a:prstGeom prst="roundRect">
            <a:avLst>
              <a:gd name="adj" fmla="val 25000"/>
            </a:avLst>
          </a:prstGeom>
          <a:solidFill>
            <a:srgbClr val="22C2F4"/>
          </a:solidFill>
          <a:ln/>
        </p:spPr>
      </p:sp>
      <p:sp>
        <p:nvSpPr>
          <p:cNvPr id="10" name="Text 8"/>
          <p:cNvSpPr txBox="1"/>
          <p:nvPr/>
        </p:nvSpPr>
        <p:spPr>
          <a:xfrm>
            <a:off x="1174721" y="2603236"/>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em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Catalog → bronze</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as tabelas ao lado do volume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raw</a:t>
            </a:r>
            <a:endParaRPr lang="en-US" sz="1200" dirty="0"/>
          </a:p>
        </p:txBody>
      </p:sp>
      <p:sp>
        <p:nvSpPr>
          <p:cNvPr id="11" name="Shape 9"/>
          <p:cNvSpPr/>
          <p:nvPr/>
        </p:nvSpPr>
        <p:spPr>
          <a:xfrm>
            <a:off x="984225" y="2967658"/>
            <a:ext cx="76198" cy="76198"/>
          </a:xfrm>
          <a:prstGeom prst="roundRect">
            <a:avLst>
              <a:gd name="adj" fmla="val 25000"/>
            </a:avLst>
          </a:prstGeom>
          <a:solidFill>
            <a:srgbClr val="22C2F4"/>
          </a:solidFill>
          <a:ln/>
        </p:spPr>
      </p:sp>
      <p:sp>
        <p:nvSpPr>
          <p:cNvPr id="12" name="Text 10"/>
          <p:cNvSpPr txBox="1"/>
          <p:nvPr/>
        </p:nvSpPr>
        <p:spPr>
          <a:xfrm>
            <a:off x="1174721" y="2885110"/>
            <a:ext cx="4787780"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clique numa tabela → aba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Sample Data</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olhe o dado antes de fazer conta</a:t>
            </a:r>
            <a:endParaRPr lang="en-US" sz="1200" dirty="0"/>
          </a:p>
        </p:txBody>
      </p:sp>
      <p:sp>
        <p:nvSpPr>
          <p:cNvPr id="13" name="Shape 11"/>
          <p:cNvSpPr/>
          <p:nvPr/>
        </p:nvSpPr>
        <p:spPr>
          <a:xfrm>
            <a:off x="984225" y="3455207"/>
            <a:ext cx="76198" cy="76198"/>
          </a:xfrm>
          <a:prstGeom prst="roundRect">
            <a:avLst>
              <a:gd name="adj" fmla="val 25000"/>
            </a:avLst>
          </a:prstGeom>
          <a:solidFill>
            <a:srgbClr val="22C2F4"/>
          </a:solidFill>
          <a:ln/>
        </p:spPr>
      </p:sp>
      <p:sp>
        <p:nvSpPr>
          <p:cNvPr id="14" name="Text 12"/>
          <p:cNvSpPr txBox="1"/>
          <p:nvPr/>
        </p:nvSpPr>
        <p:spPr>
          <a:xfrm>
            <a:off x="1174721" y="3372659"/>
            <a:ext cx="4787780"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alguma com 0 linhas? o arquivo está na pasta errada (volte ao passo 4)</a:t>
            </a:r>
            <a:endParaRPr lang="en-US" sz="1200" dirty="0"/>
          </a:p>
        </p:txBody>
      </p:sp>
      <p:sp>
        <p:nvSpPr>
          <p:cNvPr id="15" name="Shape 13"/>
          <p:cNvSpPr/>
          <p:nvPr/>
        </p:nvSpPr>
        <p:spPr>
          <a:xfrm>
            <a:off x="984225" y="3942755"/>
            <a:ext cx="76198" cy="76198"/>
          </a:xfrm>
          <a:prstGeom prst="roundRect">
            <a:avLst>
              <a:gd name="adj" fmla="val 25000"/>
            </a:avLst>
          </a:prstGeom>
          <a:solidFill>
            <a:srgbClr val="22C2F4"/>
          </a:solidFill>
          <a:ln/>
        </p:spPr>
      </p:sp>
      <p:sp>
        <p:nvSpPr>
          <p:cNvPr id="16" name="Text 14"/>
          <p:cNvSpPr txBox="1"/>
          <p:nvPr/>
        </p:nvSpPr>
        <p:spPr>
          <a:xfrm>
            <a:off x="1174721" y="3860207"/>
            <a:ext cx="4787780"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depois do exemplo 05, o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99-verificacao.sql</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confere tudo: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18 de 18 ok</a:t>
            </a:r>
            <a:endParaRPr lang="en-US" sz="1200" dirty="0"/>
          </a:p>
        </p:txBody>
      </p:sp>
      <p:pic>
        <p:nvPicPr>
          <p:cNvPr id="17" name="Image 0" descr="preencoded.png">    </p:cNvPr>
          <p:cNvPicPr>
            <a:picLocks noChangeAspect="1"/>
          </p:cNvPicPr>
          <p:nvPr/>
        </p:nvPicPr>
        <p:blipFill>
          <a:blip r:embed="rId2"/>
          <a:srcRect l="11683" r="11683" t="0" b="0"/>
          <a:stretch/>
        </p:blipFill>
        <p:spPr>
          <a:xfrm>
            <a:off x="6191095" y="1582301"/>
            <a:ext cx="5238619" cy="2920927"/>
          </a:xfrm>
          <a:prstGeom prst="rect">
            <a:avLst/>
          </a:prstGeom>
        </p:spPr>
      </p:pic>
      <p:pic>
        <p:nvPicPr>
          <p:cNvPr id="18" name="Image 1" descr="preencoded.png">    </p:cNvPr>
          <p:cNvPicPr>
            <a:picLocks noChangeAspect="1"/>
          </p:cNvPicPr>
          <p:nvPr/>
        </p:nvPicPr>
        <p:blipFill>
          <a:blip r:embed="rId3"/>
          <a:stretch>
            <a:fillRect/>
          </a:stretch>
        </p:blipFill>
        <p:spPr>
          <a:xfrm>
            <a:off x="761981" y="6387940"/>
            <a:ext cx="2059928" cy="190495"/>
          </a:xfrm>
          <a:prstGeom prst="rect">
            <a:avLst/>
          </a:prstGeom>
        </p:spPr>
      </p:pic>
      <p:sp>
        <p:nvSpPr>
          <p:cNvPr id="19" name="Text 15"/>
          <p:cNvSpPr txBox="1"/>
          <p:nvPr/>
        </p:nvSpPr>
        <p:spPr>
          <a:xfrm>
            <a:off x="10946432" y="6387940"/>
            <a:ext cx="502614"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35 / 133</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380990"/>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RECURSO DO DATABRICKS · TABELAS</a:t>
            </a:r>
            <a:endParaRPr lang="en-US" sz="1200" dirty="0"/>
          </a:p>
        </p:txBody>
      </p:sp>
      <p:sp>
        <p:nvSpPr>
          <p:cNvPr id="3" name="Text 1"/>
          <p:cNvSpPr txBox="1"/>
          <p:nvPr/>
        </p:nvSpPr>
        <p:spPr>
          <a:xfrm>
            <a:off x="761981" y="704832"/>
            <a:ext cx="11094443" cy="363132"/>
          </a:xfrm>
          <a:prstGeom prst="rect">
            <a:avLst/>
          </a:prstGeom>
          <a:noFill/>
          <a:ln/>
        </p:spPr>
        <p:txBody>
          <a:bodyPr wrap="square" lIns="0" tIns="0" rIns="0" bIns="0" rtlCol="0" anchor="t"/>
          <a:lstStyle/>
          <a:p>
            <a:pPr algn="l" indent="0" marL="0">
              <a:lnSpc>
                <a:spcPct val="94017"/>
              </a:lnSpc>
              <a:buNone/>
            </a:pPr>
            <a:r>
              <a:rPr lang="en-US" sz="2600" b="1" spc="-26" kern="0" dirty="0">
                <a:solidFill>
                  <a:srgbClr val="F5F6FC"/>
                </a:solidFill>
                <a:latin typeface="Poppins" pitchFamily="34" charset="0"/>
                <a:ea typeface="Poppins" pitchFamily="34" charset="-122"/>
                <a:cs typeface="Poppins" pitchFamily="34" charset="-120"/>
              </a:rPr>
              <a:t>Schema e tabelas</a:t>
            </a:r>
            <a:endParaRPr lang="en-US" sz="2600" dirty="0"/>
          </a:p>
        </p:txBody>
      </p:sp>
      <p:pic>
        <p:nvPicPr>
          <p:cNvPr id="4" name="Image 0" descr="preencoded.png">    </p:cNvPr>
          <p:cNvPicPr>
            <a:picLocks noChangeAspect="1"/>
          </p:cNvPicPr>
          <p:nvPr/>
        </p:nvPicPr>
        <p:blipFill>
          <a:blip r:embed="rId2"/>
          <a:srcRect l="16063" r="16063" t="0" b="0"/>
          <a:stretch/>
        </p:blipFill>
        <p:spPr>
          <a:xfrm>
            <a:off x="761981" y="1182261"/>
            <a:ext cx="6455308" cy="4063898"/>
          </a:xfrm>
          <a:prstGeom prst="rect">
            <a:avLst/>
          </a:prstGeom>
        </p:spPr>
      </p:pic>
      <p:sp>
        <p:nvSpPr>
          <p:cNvPr id="5" name="Shape 2"/>
          <p:cNvSpPr/>
          <p:nvPr/>
        </p:nvSpPr>
        <p:spPr>
          <a:xfrm>
            <a:off x="7395085" y="1182261"/>
            <a:ext cx="4034630" cy="4063898"/>
          </a:xfrm>
          <a:prstGeom prst="roundRect">
            <a:avLst>
              <a:gd name="adj" fmla="val 3777"/>
            </a:avLst>
          </a:prstGeom>
          <a:solidFill>
            <a:srgbClr val="0059DB"/>
          </a:solidFill>
          <a:ln/>
        </p:spPr>
      </p:sp>
      <p:sp>
        <p:nvSpPr>
          <p:cNvPr id="6" name="Shape 3"/>
          <p:cNvSpPr/>
          <p:nvPr/>
        </p:nvSpPr>
        <p:spPr>
          <a:xfrm>
            <a:off x="7617329" y="1379106"/>
            <a:ext cx="616034" cy="247644"/>
          </a:xfrm>
          <a:prstGeom prst="roundRect">
            <a:avLst>
              <a:gd name="adj" fmla="val 50000"/>
            </a:avLst>
          </a:prstGeom>
          <a:solidFill>
            <a:srgbClr val="FFFFFF">
              <a:alpha val="16000"/>
            </a:srgbClr>
          </a:solidFill>
          <a:ln/>
        </p:spPr>
      </p:sp>
      <p:sp>
        <p:nvSpPr>
          <p:cNvPr id="7" name="Text 4"/>
          <p:cNvSpPr txBox="1"/>
          <p:nvPr/>
        </p:nvSpPr>
        <p:spPr>
          <a:xfrm>
            <a:off x="7706227" y="1417205"/>
            <a:ext cx="455768"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O que é</a:t>
            </a:r>
            <a:endParaRPr lang="en-US" sz="900" dirty="0"/>
          </a:p>
        </p:txBody>
      </p:sp>
      <p:sp>
        <p:nvSpPr>
          <p:cNvPr id="8" name="Shape 5"/>
          <p:cNvSpPr/>
          <p:nvPr/>
        </p:nvSpPr>
        <p:spPr>
          <a:xfrm>
            <a:off x="7617329" y="1798196"/>
            <a:ext cx="76198" cy="76198"/>
          </a:xfrm>
          <a:prstGeom prst="roundRect">
            <a:avLst>
              <a:gd name="adj" fmla="val 25000"/>
            </a:avLst>
          </a:prstGeom>
          <a:solidFill>
            <a:srgbClr val="22C2F4"/>
          </a:solidFill>
          <a:ln/>
        </p:spPr>
      </p:sp>
      <p:sp>
        <p:nvSpPr>
          <p:cNvPr id="9" name="Text 6"/>
          <p:cNvSpPr txBox="1"/>
          <p:nvPr/>
        </p:nvSpPr>
        <p:spPr>
          <a:xfrm>
            <a:off x="7807824" y="1715648"/>
            <a:ext cx="3535631"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tabela Delta: arquivo no storage com transação, versão e schema</a:t>
            </a:r>
            <a:endParaRPr lang="en-US" sz="1200" dirty="0"/>
          </a:p>
        </p:txBody>
      </p:sp>
      <p:sp>
        <p:nvSpPr>
          <p:cNvPr id="10" name="Shape 7"/>
          <p:cNvSpPr/>
          <p:nvPr/>
        </p:nvSpPr>
        <p:spPr>
          <a:xfrm>
            <a:off x="7617329" y="2285744"/>
            <a:ext cx="76198" cy="76198"/>
          </a:xfrm>
          <a:prstGeom prst="roundRect">
            <a:avLst>
              <a:gd name="adj" fmla="val 25000"/>
            </a:avLst>
          </a:prstGeom>
          <a:solidFill>
            <a:srgbClr val="22C2F4"/>
          </a:solidFill>
          <a:ln/>
        </p:spPr>
      </p:sp>
      <p:sp>
        <p:nvSpPr>
          <p:cNvPr id="11" name="Text 8"/>
          <p:cNvSpPr txBox="1"/>
          <p:nvPr/>
        </p:nvSpPr>
        <p:spPr>
          <a:xfrm>
            <a:off x="7807824" y="2203196"/>
            <a:ext cx="3535631"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cada aba mostra dono, amostra, histórico, permissão e lineage</a:t>
            </a:r>
            <a:endParaRPr lang="en-US" sz="1200" dirty="0"/>
          </a:p>
        </p:txBody>
      </p:sp>
      <p:sp>
        <p:nvSpPr>
          <p:cNvPr id="12" name="Shape 9"/>
          <p:cNvSpPr/>
          <p:nvPr/>
        </p:nvSpPr>
        <p:spPr>
          <a:xfrm>
            <a:off x="7617329" y="2754244"/>
            <a:ext cx="650958" cy="247644"/>
          </a:xfrm>
          <a:prstGeom prst="roundRect">
            <a:avLst>
              <a:gd name="adj" fmla="val 50000"/>
            </a:avLst>
          </a:prstGeom>
          <a:solidFill>
            <a:srgbClr val="FFFFFF">
              <a:alpha val="16000"/>
            </a:srgbClr>
          </a:solidFill>
          <a:ln/>
        </p:spPr>
      </p:sp>
      <p:sp>
        <p:nvSpPr>
          <p:cNvPr id="13" name="Text 10"/>
          <p:cNvSpPr txBox="1"/>
          <p:nvPr/>
        </p:nvSpPr>
        <p:spPr>
          <a:xfrm>
            <a:off x="7706227" y="2792343"/>
            <a:ext cx="492089"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No Farol</a:t>
            </a:r>
            <a:endParaRPr lang="en-US" sz="900" dirty="0"/>
          </a:p>
        </p:txBody>
      </p:sp>
      <p:sp>
        <p:nvSpPr>
          <p:cNvPr id="14" name="Text 11"/>
          <p:cNvSpPr txBox="1"/>
          <p:nvPr/>
        </p:nvSpPr>
        <p:spPr>
          <a:xfrm>
            <a:off x="7617329" y="3166983"/>
            <a:ext cx="3733746" cy="591428"/>
          </a:xfrm>
          <a:prstGeom prst="rect">
            <a:avLst/>
          </a:prstGeom>
          <a:noFill/>
          <a:ln/>
        </p:spPr>
        <p:txBody>
          <a:bodyPr wrap="square" lIns="0" tIns="0" rIns="0" bIns="0" rtlCol="0" anchor="t"/>
          <a:lstStyle/>
          <a:p>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noite 1: 9 tabelas na bronze, uma por fonte, mais o </a:t>
            </a:r>
            <a:pPr algn="l" indent="0" marL="0">
              <a:lnSpc>
                <a:spcPct val="115385"/>
              </a:lnSpc>
              <a:buNone/>
            </a:pPr>
            <a:r>
              <a:rPr lang="en-US" sz="1150" dirty="0">
                <a:solidFill>
                  <a:srgbClr val="DBE6FF"/>
                </a:solidFill>
                <a:latin typeface="Courier New" pitchFamily="34" charset="0"/>
                <a:ea typeface="Courier New" pitchFamily="34" charset="-122"/>
                <a:cs typeface="Courier New" pitchFamily="34" charset="-120"/>
              </a:rPr>
              <a:t>rascunho_tarefas</a:t>
            </a:r>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 (a view que junta as 3 ferramentas à mão)</a:t>
            </a:r>
            <a:endParaRPr lang="en-US" sz="1150" dirty="0"/>
          </a:p>
        </p:txBody>
      </p:sp>
      <p:pic>
        <p:nvPicPr>
          <p:cNvPr id="15" name="Image 1" descr="preencoded.png">    </p:cNvPr>
          <p:cNvPicPr>
            <a:picLocks noChangeAspect="1"/>
          </p:cNvPicPr>
          <p:nvPr/>
        </p:nvPicPr>
        <p:blipFill>
          <a:blip r:embed="rId3"/>
          <a:stretch>
            <a:fillRect/>
          </a:stretch>
        </p:blipFill>
        <p:spPr>
          <a:xfrm>
            <a:off x="761981" y="6387940"/>
            <a:ext cx="2059928" cy="190495"/>
          </a:xfrm>
          <a:prstGeom prst="rect">
            <a:avLst/>
          </a:prstGeom>
        </p:spPr>
      </p:pic>
      <p:sp>
        <p:nvSpPr>
          <p:cNvPr id="16" name="Text 12"/>
          <p:cNvSpPr txBox="1"/>
          <p:nvPr/>
        </p:nvSpPr>
        <p:spPr>
          <a:xfrm>
            <a:off x="10946035" y="6387940"/>
            <a:ext cx="503026"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36 / 133</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1 · EXEMPLO 00 · TIME TRAVEL</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Errei a tabela.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Volta no tempo.</a:t>
            </a:r>
            <a:endParaRPr lang="en-US" sz="3100" dirty="0"/>
          </a:p>
        </p:txBody>
      </p:sp>
      <p:sp>
        <p:nvSpPr>
          <p:cNvPr id="4" name="Shape 2"/>
          <p:cNvSpPr/>
          <p:nvPr/>
        </p:nvSpPr>
        <p:spPr>
          <a:xfrm>
            <a:off x="761981" y="1582301"/>
            <a:ext cx="3282372" cy="1325132"/>
          </a:xfrm>
          <a:prstGeom prst="roundRect">
            <a:avLst>
              <a:gd name="adj" fmla="val 11500"/>
            </a:avLst>
          </a:prstGeom>
          <a:solidFill>
            <a:srgbClr val="1E1E24"/>
          </a:solidFill>
          <a:ln w="6350">
            <a:solidFill>
              <a:srgbClr val="2F2F39"/>
            </a:solidFill>
            <a:prstDash val="solid"/>
          </a:ln>
        </p:spPr>
      </p:sp>
      <p:sp>
        <p:nvSpPr>
          <p:cNvPr id="5" name="Shape 3"/>
          <p:cNvSpPr/>
          <p:nvPr/>
        </p:nvSpPr>
        <p:spPr>
          <a:xfrm>
            <a:off x="984225" y="1779146"/>
            <a:ext cx="676754" cy="247644"/>
          </a:xfrm>
          <a:prstGeom prst="roundRect">
            <a:avLst>
              <a:gd name="adj" fmla="val 50000"/>
            </a:avLst>
          </a:prstGeom>
          <a:solidFill>
            <a:srgbClr val="22C2F4">
              <a:alpha val="14000"/>
            </a:srgbClr>
          </a:solidFill>
          <a:ln/>
        </p:spPr>
      </p:sp>
      <p:sp>
        <p:nvSpPr>
          <p:cNvPr id="6" name="Text 4"/>
          <p:cNvSpPr txBox="1"/>
          <p:nvPr/>
        </p:nvSpPr>
        <p:spPr>
          <a:xfrm>
            <a:off x="1073123" y="1817245"/>
            <a:ext cx="518917"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versão 0</a:t>
            </a:r>
            <a:endParaRPr lang="en-US" sz="900" dirty="0"/>
          </a:p>
        </p:txBody>
      </p:sp>
      <p:sp>
        <p:nvSpPr>
          <p:cNvPr id="7" name="Text 5"/>
          <p:cNvSpPr txBox="1"/>
          <p:nvPr/>
        </p:nvSpPr>
        <p:spPr>
          <a:xfrm>
            <a:off x="984225" y="2115688"/>
            <a:ext cx="2951398" cy="330192"/>
          </a:xfrm>
          <a:prstGeom prst="rect">
            <a:avLst/>
          </a:prstGeom>
          <a:noFill/>
          <a:ln/>
        </p:spPr>
        <p:txBody>
          <a:bodyPr wrap="square" lIns="0" tIns="0" rIns="0" bIns="0" rtlCol="0" anchor="t"/>
          <a:lstStyle/>
          <a:p>
            <a:pPr algn="l" indent="0" marL="0">
              <a:lnSpc>
                <a:spcPct val="85470"/>
              </a:lnSpc>
              <a:buNone/>
            </a:pPr>
            <a:r>
              <a:rPr lang="en-US" sz="2600" b="1" spc="-52" kern="0" dirty="0">
                <a:solidFill>
                  <a:srgbClr val="F5F6FC"/>
                </a:solidFill>
                <a:latin typeface="Poppins" pitchFamily="34" charset="0"/>
                <a:ea typeface="Poppins" pitchFamily="34" charset="-122"/>
                <a:cs typeface="Poppins" pitchFamily="34" charset="-120"/>
              </a:rPr>
              <a:t>60</a:t>
            </a:r>
            <a:endParaRPr lang="en-US" sz="2600" dirty="0"/>
          </a:p>
        </p:txBody>
      </p:sp>
      <p:sp>
        <p:nvSpPr>
          <p:cNvPr id="8" name="Text 6"/>
          <p:cNvSpPr txBox="1"/>
          <p:nvPr/>
        </p:nvSpPr>
        <p:spPr>
          <a:xfrm>
            <a:off x="984225" y="2522078"/>
            <a:ext cx="2951398" cy="188511"/>
          </a:xfrm>
          <a:prstGeom prst="rect">
            <a:avLst/>
          </a:prstGeom>
          <a:noFill/>
          <a:ln/>
        </p:spPr>
        <p:txBody>
          <a:bodyPr wrap="square" lIns="0" tIns="0" rIns="0" bIns="0" rtlCol="0" anchor="t"/>
          <a:lstStyle/>
          <a:p>
            <a:pPr algn="l" indent="0" marL="0">
              <a:lnSpc>
                <a:spcPct val="115385"/>
              </a:lnSpc>
              <a:buNone/>
            </a:pPr>
            <a:r>
              <a:rPr lang="en-US" sz="1100" dirty="0">
                <a:solidFill>
                  <a:srgbClr val="A3A6B4"/>
                </a:solidFill>
                <a:latin typeface="Poppins" pitchFamily="34" charset="0"/>
                <a:ea typeface="Poppins" pitchFamily="34" charset="-122"/>
                <a:cs typeface="Poppins" pitchFamily="34" charset="-120"/>
              </a:rPr>
              <a:t>projetos · R$ 305,2 mi</a:t>
            </a:r>
            <a:endParaRPr lang="en-US" sz="1100" dirty="0"/>
          </a:p>
        </p:txBody>
      </p:sp>
      <p:sp>
        <p:nvSpPr>
          <p:cNvPr id="9" name="Text 7"/>
          <p:cNvSpPr txBox="1"/>
          <p:nvPr/>
        </p:nvSpPr>
        <p:spPr>
          <a:xfrm>
            <a:off x="4133251" y="2054372"/>
            <a:ext cx="241762" cy="380990"/>
          </a:xfrm>
          <a:prstGeom prst="rect">
            <a:avLst/>
          </a:prstGeom>
          <a:noFill/>
          <a:ln/>
        </p:spPr>
        <p:txBody>
          <a:bodyPr wrap="square" lIns="0" tIns="0" rIns="0" bIns="0" rtlCol="0" anchor="t"/>
          <a:lstStyle/>
          <a:p>
            <a:pPr algn="l" indent="0" marL="0">
              <a:lnSpc>
                <a:spcPct val="106838"/>
              </a:lnSpc>
              <a:buNone/>
            </a:pPr>
            <a:r>
              <a:rPr lang="en-US" sz="2000" dirty="0">
                <a:solidFill>
                  <a:srgbClr val="22C2F4"/>
                </a:solidFill>
                <a:latin typeface="Poppins" pitchFamily="34" charset="0"/>
                <a:ea typeface="Poppins" pitchFamily="34" charset="-122"/>
                <a:cs typeface="Poppins" pitchFamily="34" charset="-120"/>
              </a:rPr>
              <a:t>→</a:t>
            </a:r>
            <a:endParaRPr lang="en-US" sz="2000" dirty="0"/>
          </a:p>
        </p:txBody>
      </p:sp>
      <p:sp>
        <p:nvSpPr>
          <p:cNvPr id="10" name="Shape 8"/>
          <p:cNvSpPr/>
          <p:nvPr/>
        </p:nvSpPr>
        <p:spPr>
          <a:xfrm>
            <a:off x="4454612" y="1582301"/>
            <a:ext cx="3282471" cy="1325132"/>
          </a:xfrm>
          <a:prstGeom prst="roundRect">
            <a:avLst>
              <a:gd name="adj" fmla="val 11500"/>
            </a:avLst>
          </a:prstGeom>
          <a:solidFill>
            <a:srgbClr val="1E1E24"/>
          </a:solidFill>
          <a:ln w="6350">
            <a:solidFill>
              <a:srgbClr val="E5484D"/>
            </a:solidFill>
            <a:prstDash val="solid"/>
          </a:ln>
        </p:spPr>
      </p:sp>
      <p:sp>
        <p:nvSpPr>
          <p:cNvPr id="11" name="Shape 9"/>
          <p:cNvSpPr/>
          <p:nvPr/>
        </p:nvSpPr>
        <p:spPr>
          <a:xfrm>
            <a:off x="4676857" y="1779146"/>
            <a:ext cx="1065484" cy="247644"/>
          </a:xfrm>
          <a:prstGeom prst="roundRect">
            <a:avLst>
              <a:gd name="adj" fmla="val 50000"/>
            </a:avLst>
          </a:prstGeom>
          <a:solidFill>
            <a:srgbClr val="22C2F4">
              <a:alpha val="14000"/>
            </a:srgbClr>
          </a:solidFill>
          <a:ln/>
        </p:spPr>
      </p:sp>
      <p:sp>
        <p:nvSpPr>
          <p:cNvPr id="12" name="Text 10"/>
          <p:cNvSpPr txBox="1"/>
          <p:nvPr/>
        </p:nvSpPr>
        <p:spPr>
          <a:xfrm>
            <a:off x="4765754" y="1817245"/>
            <a:ext cx="923195"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versão 1 · o erro</a:t>
            </a:r>
            <a:endParaRPr lang="en-US" sz="900" dirty="0"/>
          </a:p>
        </p:txBody>
      </p:sp>
      <p:sp>
        <p:nvSpPr>
          <p:cNvPr id="13" name="Text 11"/>
          <p:cNvSpPr txBox="1"/>
          <p:nvPr/>
        </p:nvSpPr>
        <p:spPr>
          <a:xfrm>
            <a:off x="4676857" y="2115688"/>
            <a:ext cx="2951501" cy="330192"/>
          </a:xfrm>
          <a:prstGeom prst="rect">
            <a:avLst/>
          </a:prstGeom>
          <a:noFill/>
          <a:ln/>
        </p:spPr>
        <p:txBody>
          <a:bodyPr wrap="square" lIns="0" tIns="0" rIns="0" bIns="0" rtlCol="0" anchor="t"/>
          <a:lstStyle/>
          <a:p>
            <a:pPr algn="l" indent="0" marL="0">
              <a:lnSpc>
                <a:spcPct val="85470"/>
              </a:lnSpc>
              <a:buNone/>
            </a:pPr>
            <a:r>
              <a:rPr lang="en-US" sz="2600" b="1" spc="-52" kern="0" dirty="0">
                <a:solidFill>
                  <a:srgbClr val="F5F6FC"/>
                </a:solidFill>
                <a:latin typeface="Poppins" pitchFamily="34" charset="0"/>
                <a:ea typeface="Poppins" pitchFamily="34" charset="-122"/>
                <a:cs typeface="Poppins" pitchFamily="34" charset="-120"/>
              </a:rPr>
              <a:t>61</a:t>
            </a:r>
            <a:endParaRPr lang="en-US" sz="2600" dirty="0"/>
          </a:p>
        </p:txBody>
      </p:sp>
      <p:sp>
        <p:nvSpPr>
          <p:cNvPr id="14" name="Text 12"/>
          <p:cNvSpPr txBox="1"/>
          <p:nvPr/>
        </p:nvSpPr>
        <p:spPr>
          <a:xfrm>
            <a:off x="4676857" y="2522078"/>
            <a:ext cx="2951501" cy="188511"/>
          </a:xfrm>
          <a:prstGeom prst="rect">
            <a:avLst/>
          </a:prstGeom>
          <a:noFill/>
          <a:ln/>
        </p:spPr>
        <p:txBody>
          <a:bodyPr wrap="square" lIns="0" tIns="0" rIns="0" bIns="0" rtlCol="0" anchor="t"/>
          <a:lstStyle/>
          <a:p>
            <a:pPr algn="l" indent="0" marL="0">
              <a:lnSpc>
                <a:spcPct val="115385"/>
              </a:lnSpc>
              <a:buNone/>
            </a:pPr>
            <a:r>
              <a:rPr lang="en-US" sz="1100" dirty="0">
                <a:solidFill>
                  <a:srgbClr val="A3A6B4"/>
                </a:solidFill>
                <a:latin typeface="Poppins" pitchFamily="34" charset="0"/>
                <a:ea typeface="Poppins" pitchFamily="34" charset="-122"/>
                <a:cs typeface="Poppins" pitchFamily="34" charset="-120"/>
              </a:rPr>
              <a:t>PRJ-021 duplicado · R$ 318,8 mi</a:t>
            </a:r>
            <a:endParaRPr lang="en-US" sz="1100" dirty="0"/>
          </a:p>
        </p:txBody>
      </p:sp>
      <p:sp>
        <p:nvSpPr>
          <p:cNvPr id="15" name="Text 13"/>
          <p:cNvSpPr txBox="1"/>
          <p:nvPr/>
        </p:nvSpPr>
        <p:spPr>
          <a:xfrm>
            <a:off x="7825981" y="2054372"/>
            <a:ext cx="241762" cy="380990"/>
          </a:xfrm>
          <a:prstGeom prst="rect">
            <a:avLst/>
          </a:prstGeom>
          <a:noFill/>
          <a:ln/>
        </p:spPr>
        <p:txBody>
          <a:bodyPr wrap="square" lIns="0" tIns="0" rIns="0" bIns="0" rtlCol="0" anchor="t"/>
          <a:lstStyle/>
          <a:p>
            <a:pPr algn="l" indent="0" marL="0">
              <a:lnSpc>
                <a:spcPct val="106838"/>
              </a:lnSpc>
              <a:buNone/>
            </a:pPr>
            <a:r>
              <a:rPr lang="en-US" sz="2000" dirty="0">
                <a:solidFill>
                  <a:srgbClr val="22C2F4"/>
                </a:solidFill>
                <a:latin typeface="Poppins" pitchFamily="34" charset="0"/>
                <a:ea typeface="Poppins" pitchFamily="34" charset="-122"/>
                <a:cs typeface="Poppins" pitchFamily="34" charset="-120"/>
              </a:rPr>
              <a:t>→</a:t>
            </a:r>
            <a:endParaRPr lang="en-US" sz="2000" dirty="0"/>
          </a:p>
        </p:txBody>
      </p:sp>
      <p:sp>
        <p:nvSpPr>
          <p:cNvPr id="16" name="Shape 14"/>
          <p:cNvSpPr/>
          <p:nvPr/>
        </p:nvSpPr>
        <p:spPr>
          <a:xfrm>
            <a:off x="8147342" y="1582301"/>
            <a:ext cx="3282372" cy="1325132"/>
          </a:xfrm>
          <a:prstGeom prst="roundRect">
            <a:avLst>
              <a:gd name="adj" fmla="val 11500"/>
            </a:avLst>
          </a:prstGeom>
          <a:solidFill>
            <a:srgbClr val="0059DB"/>
          </a:solidFill>
          <a:ln/>
        </p:spPr>
      </p:sp>
      <p:sp>
        <p:nvSpPr>
          <p:cNvPr id="17" name="Shape 15"/>
          <p:cNvSpPr/>
          <p:nvPr/>
        </p:nvSpPr>
        <p:spPr>
          <a:xfrm>
            <a:off x="8369587" y="1779146"/>
            <a:ext cx="1247248" cy="247644"/>
          </a:xfrm>
          <a:prstGeom prst="roundRect">
            <a:avLst>
              <a:gd name="adj" fmla="val 50000"/>
            </a:avLst>
          </a:prstGeom>
          <a:solidFill>
            <a:srgbClr val="FFFFFF">
              <a:alpha val="16000"/>
            </a:srgbClr>
          </a:solidFill>
          <a:ln/>
        </p:spPr>
      </p:sp>
      <p:sp>
        <p:nvSpPr>
          <p:cNvPr id="18" name="Text 16"/>
          <p:cNvSpPr txBox="1"/>
          <p:nvPr/>
        </p:nvSpPr>
        <p:spPr>
          <a:xfrm>
            <a:off x="8458485" y="1817245"/>
            <a:ext cx="1112230"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versão 2 · RESTORE</a:t>
            </a:r>
            <a:endParaRPr lang="en-US" sz="900" dirty="0"/>
          </a:p>
        </p:txBody>
      </p:sp>
      <p:sp>
        <p:nvSpPr>
          <p:cNvPr id="19" name="Text 17"/>
          <p:cNvSpPr txBox="1"/>
          <p:nvPr/>
        </p:nvSpPr>
        <p:spPr>
          <a:xfrm>
            <a:off x="8369587" y="2115688"/>
            <a:ext cx="2951398" cy="330192"/>
          </a:xfrm>
          <a:prstGeom prst="rect">
            <a:avLst/>
          </a:prstGeom>
          <a:noFill/>
          <a:ln/>
        </p:spPr>
        <p:txBody>
          <a:bodyPr wrap="square" lIns="0" tIns="0" rIns="0" bIns="0" rtlCol="0" anchor="t"/>
          <a:lstStyle/>
          <a:p>
            <a:pPr algn="l" indent="0" marL="0">
              <a:lnSpc>
                <a:spcPct val="85470"/>
              </a:lnSpc>
              <a:buNone/>
            </a:pPr>
            <a:r>
              <a:rPr lang="en-US" sz="2600" b="1" spc="-52" kern="0" dirty="0">
                <a:solidFill>
                  <a:srgbClr val="F5F6FC"/>
                </a:solidFill>
                <a:latin typeface="Poppins" pitchFamily="34" charset="0"/>
                <a:ea typeface="Poppins" pitchFamily="34" charset="-122"/>
                <a:cs typeface="Poppins" pitchFamily="34" charset="-120"/>
              </a:rPr>
              <a:t>60</a:t>
            </a:r>
            <a:endParaRPr lang="en-US" sz="2600" dirty="0"/>
          </a:p>
        </p:txBody>
      </p:sp>
      <p:sp>
        <p:nvSpPr>
          <p:cNvPr id="20" name="Text 18"/>
          <p:cNvSpPr txBox="1"/>
          <p:nvPr/>
        </p:nvSpPr>
        <p:spPr>
          <a:xfrm>
            <a:off x="8369587" y="2522078"/>
            <a:ext cx="2951398" cy="188511"/>
          </a:xfrm>
          <a:prstGeom prst="rect">
            <a:avLst/>
          </a:prstGeom>
          <a:noFill/>
          <a:ln/>
        </p:spPr>
        <p:txBody>
          <a:bodyPr wrap="square" lIns="0" tIns="0" rIns="0" bIns="0" rtlCol="0" anchor="t"/>
          <a:lstStyle/>
          <a:p>
            <a:pPr algn="l" indent="0" marL="0">
              <a:lnSpc>
                <a:spcPct val="115385"/>
              </a:lnSpc>
              <a:buNone/>
            </a:pPr>
            <a:r>
              <a:rPr lang="en-US" sz="1100" dirty="0">
                <a:solidFill>
                  <a:srgbClr val="DBE6FF"/>
                </a:solidFill>
                <a:latin typeface="Poppins" pitchFamily="34" charset="0"/>
                <a:ea typeface="Poppins" pitchFamily="34" charset="-122"/>
                <a:cs typeface="Poppins" pitchFamily="34" charset="-120"/>
              </a:rPr>
              <a:t>de volta · R$ 305,2 mi</a:t>
            </a:r>
            <a:endParaRPr lang="en-US" sz="1100" dirty="0"/>
          </a:p>
        </p:txBody>
      </p:sp>
      <p:sp>
        <p:nvSpPr>
          <p:cNvPr id="21" name="Shape 19"/>
          <p:cNvSpPr/>
          <p:nvPr/>
        </p:nvSpPr>
        <p:spPr>
          <a:xfrm>
            <a:off x="761981" y="3072529"/>
            <a:ext cx="10667733" cy="1962895"/>
          </a:xfrm>
          <a:prstGeom prst="roundRect">
            <a:avLst>
              <a:gd name="adj" fmla="val 5823"/>
            </a:avLst>
          </a:prstGeom>
          <a:solidFill>
            <a:srgbClr val="0C0C10"/>
          </a:solidFill>
          <a:ln w="6350">
            <a:solidFill>
              <a:srgbClr val="2F2F39"/>
            </a:solidFill>
            <a:prstDash val="solid"/>
          </a:ln>
        </p:spPr>
      </p:sp>
      <p:sp>
        <p:nvSpPr>
          <p:cNvPr id="22" name="Text 20"/>
          <p:cNvSpPr txBox="1"/>
          <p:nvPr/>
        </p:nvSpPr>
        <p:spPr>
          <a:xfrm>
            <a:off x="958826" y="3243975"/>
            <a:ext cx="10691609" cy="1626353"/>
          </a:xfrm>
          <a:prstGeom prst="rect">
            <a:avLst/>
          </a:prstGeom>
          <a:noFill/>
          <a:ln/>
        </p:spPr>
        <p:txBody>
          <a:bodyPr wrap="square" lIns="0" tIns="0" rIns="0" bIns="0" rtlCol="0" anchor="t"/>
          <a:lstStyle/>
          <a:p>
            <a:pPr algn="l" indent="0" marL="0">
              <a:lnSpc>
                <a:spcPct val="123932"/>
              </a:lnSpc>
              <a:buNone/>
            </a:pPr>
            <a:r>
              <a:rPr lang="en-US" sz="1100" dirty="0">
                <a:solidFill>
                  <a:srgbClr val="6E7180"/>
                </a:solidFill>
                <a:latin typeface="Courier New" pitchFamily="34" charset="0"/>
                <a:ea typeface="Courier New" pitchFamily="34" charset="-122"/>
                <a:cs typeface="Courier New" pitchFamily="34" charset="-120"/>
              </a:rPr>
              <a:t>-- o histórico: cada mudança vira uma versão</a:t>
            </a:r>
            <a:pPr algn="l" indent="0" marL="0">
              <a:lnSpc>
                <a:spcPct val="123932"/>
              </a:lnSpc>
              <a:buNone/>
            </a:pPr>
            <a:endParaRPr lang="en-US" sz="1100" dirty="0"/>
          </a:p>
          <a:p>
            <a:pPr algn="l" indent="0" marL="0">
              <a:lnSpc>
                <a:spcPct val="123932"/>
              </a:lnSpc>
              <a:buNone/>
            </a:pPr>
            <a:pPr algn="l" indent="0" marL="0">
              <a:lnSpc>
                <a:spcPct val="123932"/>
              </a:lnSpc>
              <a:buNone/>
            </a:pPr>
            <a:r>
              <a:rPr lang="en-US" sz="1100" dirty="0">
                <a:solidFill>
                  <a:srgbClr val="22C2F4"/>
                </a:solidFill>
                <a:latin typeface="Courier New" pitchFamily="34" charset="0"/>
                <a:ea typeface="Courier New" pitchFamily="34" charset="-122"/>
                <a:cs typeface="Courier New" pitchFamily="34" charset="-120"/>
              </a:rPr>
              <a:t>DESCRIBE HISTORY</a:t>
            </a:r>
            <a:pPr algn="l" indent="0" marL="0">
              <a:lnSpc>
                <a:spcPct val="123932"/>
              </a:lnSpc>
              <a:buNone/>
            </a:pPr>
            <a:r>
              <a:rPr lang="en-US" sz="1100" dirty="0">
                <a:solidFill>
                  <a:srgbClr val="E6E8F2"/>
                </a:solidFill>
                <a:latin typeface="Courier New" pitchFamily="34" charset="0"/>
                <a:ea typeface="Courier New" pitchFamily="34" charset="-122"/>
                <a:cs typeface="Courier New" pitchFamily="34" charset="-120"/>
              </a:rPr>
              <a:t> lakehouse_vertice.bronze.projetos_copia;</a:t>
            </a:r>
            <a:endParaRPr lang="en-US" sz="1100" dirty="0"/>
          </a:p>
          <a:p>
            <a:pPr algn="l" indent="0" marL="0">
              <a:lnSpc>
                <a:spcPct val="123932"/>
              </a:lnSpc>
              <a:buNone/>
            </a:pPr>
            <a:endParaRPr lang="en-US" sz="1100" dirty="0"/>
          </a:p>
          <a:p>
            <a:pPr algn="l" indent="0" marL="0">
              <a:lnSpc>
                <a:spcPct val="123932"/>
              </a:lnSpc>
              <a:buNone/>
            </a:pPr>
            <a:pPr algn="l" indent="0" marL="0">
              <a:lnSpc>
                <a:spcPct val="123932"/>
              </a:lnSpc>
              <a:buNone/>
            </a:pPr>
            <a:r>
              <a:rPr lang="en-US" sz="1100" dirty="0">
                <a:solidFill>
                  <a:srgbClr val="6E7180"/>
                </a:solidFill>
                <a:latin typeface="Courier New" pitchFamily="34" charset="0"/>
                <a:ea typeface="Courier New" pitchFamily="34" charset="-122"/>
                <a:cs typeface="Courier New" pitchFamily="34" charset="-120"/>
              </a:rPr>
              <a:t>-- olhar a tabela como era antes do erro (sem mudar nada)</a:t>
            </a:r>
            <a:pPr algn="l" indent="0" marL="0">
              <a:lnSpc>
                <a:spcPct val="123932"/>
              </a:lnSpc>
              <a:buNone/>
            </a:pPr>
            <a:endParaRPr lang="en-US" sz="1100" dirty="0"/>
          </a:p>
          <a:p>
            <a:pPr algn="l" indent="0" marL="0">
              <a:lnSpc>
                <a:spcPct val="123932"/>
              </a:lnSpc>
              <a:buNone/>
            </a:pPr>
            <a:pPr algn="l" indent="0" marL="0">
              <a:lnSpc>
                <a:spcPct val="123932"/>
              </a:lnSpc>
              <a:buNone/>
            </a:pPr>
            <a:r>
              <a:rPr lang="en-US" sz="1100" dirty="0">
                <a:solidFill>
                  <a:srgbClr val="22C2F4"/>
                </a:solidFill>
                <a:latin typeface="Courier New" pitchFamily="34" charset="0"/>
                <a:ea typeface="Courier New" pitchFamily="34" charset="-122"/>
                <a:cs typeface="Courier New" pitchFamily="34" charset="-120"/>
              </a:rPr>
              <a:t>SELECT</a:t>
            </a:r>
            <a:pPr algn="l" indent="0" marL="0">
              <a:lnSpc>
                <a:spcPct val="123932"/>
              </a:lnSpc>
              <a:buNone/>
            </a:pPr>
            <a:r>
              <a:rPr lang="en-US" sz="1100" dirty="0">
                <a:solidFill>
                  <a:srgbClr val="E6E8F2"/>
                </a:solidFill>
                <a:latin typeface="Courier New" pitchFamily="34" charset="0"/>
                <a:ea typeface="Courier New" pitchFamily="34" charset="-122"/>
                <a:cs typeface="Courier New" pitchFamily="34" charset="-120"/>
              </a:rPr>
              <a:t> COUNT(*) </a:t>
            </a:r>
            <a:pPr algn="l" indent="0" marL="0">
              <a:lnSpc>
                <a:spcPct val="123932"/>
              </a:lnSpc>
              <a:buNone/>
            </a:pPr>
            <a:r>
              <a:rPr lang="en-US" sz="1100" dirty="0">
                <a:solidFill>
                  <a:srgbClr val="22C2F4"/>
                </a:solidFill>
                <a:latin typeface="Courier New" pitchFamily="34" charset="0"/>
                <a:ea typeface="Courier New" pitchFamily="34" charset="-122"/>
                <a:cs typeface="Courier New" pitchFamily="34" charset="-120"/>
              </a:rPr>
              <a:t>FROM</a:t>
            </a:r>
            <a:pPr algn="l" indent="0" marL="0">
              <a:lnSpc>
                <a:spcPct val="123932"/>
              </a:lnSpc>
              <a:buNone/>
            </a:pPr>
            <a:r>
              <a:rPr lang="en-US" sz="1100" dirty="0">
                <a:solidFill>
                  <a:srgbClr val="E6E8F2"/>
                </a:solidFill>
                <a:latin typeface="Courier New" pitchFamily="34" charset="0"/>
                <a:ea typeface="Courier New" pitchFamily="34" charset="-122"/>
                <a:cs typeface="Courier New" pitchFamily="34" charset="-120"/>
              </a:rPr>
              <a:t> lakehouse_vertice.bronze.projetos_copia </a:t>
            </a:r>
            <a:pPr algn="l" indent="0" marL="0">
              <a:lnSpc>
                <a:spcPct val="123932"/>
              </a:lnSpc>
              <a:buNone/>
            </a:pPr>
            <a:r>
              <a:rPr lang="en-US" sz="1100" dirty="0">
                <a:solidFill>
                  <a:srgbClr val="22C2F4"/>
                </a:solidFill>
                <a:latin typeface="Courier New" pitchFamily="34" charset="0"/>
                <a:ea typeface="Courier New" pitchFamily="34" charset="-122"/>
                <a:cs typeface="Courier New" pitchFamily="34" charset="-120"/>
              </a:rPr>
              <a:t>VERSION AS OF</a:t>
            </a:r>
            <a:pPr algn="l" indent="0" marL="0">
              <a:lnSpc>
                <a:spcPct val="123932"/>
              </a:lnSpc>
              <a:buNone/>
            </a:pPr>
            <a:r>
              <a:rPr lang="en-US" sz="1100" dirty="0">
                <a:solidFill>
                  <a:srgbClr val="E6E8F2"/>
                </a:solidFill>
                <a:latin typeface="Courier New" pitchFamily="34" charset="0"/>
                <a:ea typeface="Courier New" pitchFamily="34" charset="-122"/>
                <a:cs typeface="Courier New" pitchFamily="34" charset="-120"/>
              </a:rPr>
              <a:t> 0;</a:t>
            </a:r>
            <a:endParaRPr lang="en-US" sz="1100" dirty="0"/>
          </a:p>
          <a:p>
            <a:pPr algn="l" indent="0" marL="0">
              <a:lnSpc>
                <a:spcPct val="123932"/>
              </a:lnSpc>
              <a:buNone/>
            </a:pPr>
            <a:endParaRPr lang="en-US" sz="1100" dirty="0"/>
          </a:p>
          <a:p>
            <a:pPr algn="l" indent="0" marL="0">
              <a:lnSpc>
                <a:spcPct val="123932"/>
              </a:lnSpc>
              <a:buNone/>
            </a:pPr>
            <a:pPr algn="l" indent="0" marL="0">
              <a:lnSpc>
                <a:spcPct val="123932"/>
              </a:lnSpc>
              <a:buNone/>
            </a:pPr>
            <a:r>
              <a:rPr lang="en-US" sz="1100" dirty="0">
                <a:solidFill>
                  <a:srgbClr val="6E7180"/>
                </a:solidFill>
                <a:latin typeface="Courier New" pitchFamily="34" charset="0"/>
                <a:ea typeface="Courier New" pitchFamily="34" charset="-122"/>
                <a:cs typeface="Courier New" pitchFamily="34" charset="-120"/>
              </a:rPr>
              <a:t>-- voltar de verdade</a:t>
            </a:r>
            <a:pPr algn="l" indent="0" marL="0">
              <a:lnSpc>
                <a:spcPct val="123932"/>
              </a:lnSpc>
              <a:buNone/>
            </a:pPr>
            <a:endParaRPr lang="en-US" sz="1100" dirty="0"/>
          </a:p>
          <a:p>
            <a:pPr algn="l" indent="0" marL="0">
              <a:lnSpc>
                <a:spcPct val="123932"/>
              </a:lnSpc>
              <a:buNone/>
            </a:pPr>
            <a:pPr algn="l" indent="0" marL="0">
              <a:lnSpc>
                <a:spcPct val="123932"/>
              </a:lnSpc>
              <a:buNone/>
            </a:pPr>
            <a:r>
              <a:rPr lang="en-US" sz="1100" dirty="0">
                <a:solidFill>
                  <a:srgbClr val="22C2F4"/>
                </a:solidFill>
                <a:latin typeface="Courier New" pitchFamily="34" charset="0"/>
                <a:ea typeface="Courier New" pitchFamily="34" charset="-122"/>
                <a:cs typeface="Courier New" pitchFamily="34" charset="-120"/>
              </a:rPr>
              <a:t>RESTORE TABLE</a:t>
            </a:r>
            <a:pPr algn="l" indent="0" marL="0">
              <a:lnSpc>
                <a:spcPct val="123932"/>
              </a:lnSpc>
              <a:buNone/>
            </a:pPr>
            <a:r>
              <a:rPr lang="en-US" sz="1100" dirty="0">
                <a:solidFill>
                  <a:srgbClr val="E6E8F2"/>
                </a:solidFill>
                <a:latin typeface="Courier New" pitchFamily="34" charset="0"/>
                <a:ea typeface="Courier New" pitchFamily="34" charset="-122"/>
                <a:cs typeface="Courier New" pitchFamily="34" charset="-120"/>
              </a:rPr>
              <a:t> lakehouse_vertice.bronze.projetos_copia </a:t>
            </a:r>
            <a:pPr algn="l" indent="0" marL="0">
              <a:lnSpc>
                <a:spcPct val="123932"/>
              </a:lnSpc>
              <a:buNone/>
            </a:pPr>
            <a:r>
              <a:rPr lang="en-US" sz="1100" dirty="0">
                <a:solidFill>
                  <a:srgbClr val="22C2F4"/>
                </a:solidFill>
                <a:latin typeface="Courier New" pitchFamily="34" charset="0"/>
                <a:ea typeface="Courier New" pitchFamily="34" charset="-122"/>
                <a:cs typeface="Courier New" pitchFamily="34" charset="-120"/>
              </a:rPr>
              <a:t>TO VERSION AS OF</a:t>
            </a:r>
            <a:pPr algn="l" indent="0" marL="0">
              <a:lnSpc>
                <a:spcPct val="123932"/>
              </a:lnSpc>
              <a:buNone/>
            </a:pPr>
            <a:r>
              <a:rPr lang="en-US" sz="1100" dirty="0">
                <a:solidFill>
                  <a:srgbClr val="E6E8F2"/>
                </a:solidFill>
                <a:latin typeface="Courier New" pitchFamily="34" charset="0"/>
                <a:ea typeface="Courier New" pitchFamily="34" charset="-122"/>
                <a:cs typeface="Courier New" pitchFamily="34" charset="-120"/>
              </a:rPr>
              <a:t> 0;</a:t>
            </a:r>
            <a:endParaRPr lang="en-US" sz="1100" dirty="0"/>
          </a:p>
        </p:txBody>
      </p:sp>
      <p:sp>
        <p:nvSpPr>
          <p:cNvPr id="23" name="Shape 21"/>
          <p:cNvSpPr/>
          <p:nvPr/>
        </p:nvSpPr>
        <p:spPr>
          <a:xfrm>
            <a:off x="761981" y="5162421"/>
            <a:ext cx="25399" cy="520687"/>
          </a:xfrm>
          <a:prstGeom prst="rect">
            <a:avLst/>
          </a:prstGeom>
          <a:solidFill>
            <a:srgbClr val="22C2F4"/>
          </a:solidFill>
          <a:ln/>
        </p:spPr>
      </p:sp>
      <p:sp>
        <p:nvSpPr>
          <p:cNvPr id="24" name="Text 22"/>
          <p:cNvSpPr txBox="1"/>
          <p:nvPr/>
        </p:nvSpPr>
        <p:spPr>
          <a:xfrm>
            <a:off x="914377" y="5200520"/>
            <a:ext cx="10935951" cy="444489"/>
          </a:xfrm>
          <a:prstGeom prst="rect">
            <a:avLst/>
          </a:prstGeom>
          <a:noFill/>
          <a:ln/>
        </p:spPr>
        <p:txBody>
          <a:bodyPr wrap="square" lIns="0" tIns="0" rIns="0" bIns="0" rtlCol="0" anchor="t"/>
          <a:lstStyle/>
          <a:p>
            <a:pPr algn="l" indent="0" marL="0">
              <a:lnSpc>
                <a:spcPct val="106838"/>
              </a:lnSpc>
              <a:buNone/>
            </a:pPr>
            <a:r>
              <a:rPr lang="en-US" sz="1200" dirty="0">
                <a:solidFill>
                  <a:srgbClr val="A3A6B4"/>
                </a:solidFill>
                <a:latin typeface="Poppins" pitchFamily="34" charset="0"/>
                <a:ea typeface="Poppins" pitchFamily="34" charset="-122"/>
                <a:cs typeface="Poppins" pitchFamily="34" charset="-120"/>
              </a:rPr>
              <a:t>Numa </a:t>
            </a:r>
            <a:pPr algn="l" indent="0" marL="0">
              <a:lnSpc>
                <a:spcPct val="106838"/>
              </a:lnSpc>
              <a:buNone/>
            </a:pPr>
            <a:r>
              <a:rPr lang="en-US" sz="1200" b="1" dirty="0">
                <a:solidFill>
                  <a:srgbClr val="FFFFFF"/>
                </a:solidFill>
                <a:latin typeface="Poppins" pitchFamily="34" charset="0"/>
                <a:ea typeface="Poppins" pitchFamily="34" charset="-122"/>
                <a:cs typeface="Poppins" pitchFamily="34" charset="-120"/>
              </a:rPr>
              <a:t>cópia</a:t>
            </a:r>
            <a:pPr algn="l" indent="0" marL="0">
              <a:lnSpc>
                <a:spcPct val="106838"/>
              </a:lnSpc>
              <a:buNone/>
            </a:pPr>
            <a:r>
              <a:rPr lang="en-US" sz="1200" dirty="0">
                <a:solidFill>
                  <a:srgbClr val="A3A6B4"/>
                </a:solidFill>
                <a:latin typeface="Poppins" pitchFamily="34" charset="0"/>
                <a:ea typeface="Poppins" pitchFamily="34" charset="-122"/>
                <a:cs typeface="Poppins" pitchFamily="34" charset="-120"/>
              </a:rPr>
              <a:t> do cadastro, para não mexer na bronze. Rode bloco a bloco: </a:t>
            </a:r>
            <a:pPr algn="l" indent="0" marL="0">
              <a:lnSpc>
                <a:spcPct val="106838"/>
              </a:lnSpc>
              <a:buNone/>
            </a:pPr>
            <a:r>
              <a:rPr lang="en-US" sz="1200" b="1" dirty="0">
                <a:solidFill>
                  <a:srgbClr val="FFFFFF"/>
                </a:solidFill>
                <a:latin typeface="Poppins" pitchFamily="34" charset="0"/>
                <a:ea typeface="Poppins" pitchFamily="34" charset="-122"/>
                <a:cs typeface="Poppins" pitchFamily="34" charset="-120"/>
              </a:rPr>
              <a:t>exemplo-00-time-travel.sql</a:t>
            </a:r>
            <a:pPr algn="l" indent="0" marL="0">
              <a:lnSpc>
                <a:spcPct val="106838"/>
              </a:lnSpc>
              <a:buNone/>
            </a:pPr>
            <a:r>
              <a:rPr lang="en-US" sz="1200" dirty="0">
                <a:solidFill>
                  <a:srgbClr val="A3A6B4"/>
                </a:solidFill>
                <a:latin typeface="Poppins" pitchFamily="34" charset="0"/>
                <a:ea typeface="Poppins" pitchFamily="34" charset="-122"/>
                <a:cs typeface="Poppins" pitchFamily="34" charset="-120"/>
              </a:rPr>
              <a:t>. O próprio RESTORE vira a versão 2: voltar no tempo também fica registrado.</a:t>
            </a:r>
            <a:endParaRPr lang="en-US" sz="1200" dirty="0"/>
          </a:p>
        </p:txBody>
      </p:sp>
      <p:pic>
        <p:nvPicPr>
          <p:cNvPr id="25"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26" name="Text 23"/>
          <p:cNvSpPr txBox="1"/>
          <p:nvPr/>
        </p:nvSpPr>
        <p:spPr>
          <a:xfrm>
            <a:off x="10956453" y="6387940"/>
            <a:ext cx="492192"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37 / 133</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1 · A BRONZE</a:t>
            </a:r>
            <a:endParaRPr lang="en-US" sz="1200" dirty="0"/>
          </a:p>
        </p:txBody>
      </p:sp>
      <p:sp>
        <p:nvSpPr>
          <p:cNvPr id="3" name="Text 1"/>
          <p:cNvSpPr txBox="1"/>
          <p:nvPr/>
        </p:nvSpPr>
        <p:spPr>
          <a:xfrm>
            <a:off x="761981" y="895328"/>
            <a:ext cx="11094443" cy="86596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9 tabelas,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uma pergunta do dono por trás de cada uma</a:t>
            </a:r>
            <a:endParaRPr lang="en-US" sz="3100" dirty="0"/>
          </a:p>
        </p:txBody>
      </p:sp>
      <p:sp>
        <p:nvSpPr>
          <p:cNvPr id="4" name="Text 2"/>
          <p:cNvSpPr txBox="1"/>
          <p:nvPr/>
        </p:nvSpPr>
        <p:spPr>
          <a:xfrm>
            <a:off x="876278" y="2015281"/>
            <a:ext cx="3077593" cy="171446"/>
          </a:xfrm>
          <a:prstGeom prst="rect">
            <a:avLst/>
          </a:prstGeom>
          <a:noFill/>
          <a:ln/>
        </p:spPr>
        <p:txBody>
          <a:bodyPr wrap="square" lIns="0" tIns="0" rIns="0" bIns="0" rtlCol="0" anchor="t"/>
          <a:lstStyle/>
          <a:p>
            <a:pPr algn="l"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TABELA</a:t>
            </a:r>
            <a:endParaRPr lang="en-US" sz="900" dirty="0"/>
          </a:p>
        </p:txBody>
      </p:sp>
      <p:sp>
        <p:nvSpPr>
          <p:cNvPr id="5" name="Text 3"/>
          <p:cNvSpPr txBox="1"/>
          <p:nvPr/>
        </p:nvSpPr>
        <p:spPr>
          <a:xfrm>
            <a:off x="4064097" y="2015281"/>
            <a:ext cx="1164339" cy="171446"/>
          </a:xfrm>
          <a:prstGeom prst="rect">
            <a:avLst/>
          </a:prstGeom>
          <a:noFill/>
          <a:ln/>
        </p:spPr>
        <p:txBody>
          <a:bodyPr wrap="square" lIns="0" tIns="0" rIns="0" bIns="0" rtlCol="0" anchor="t"/>
          <a:lstStyle/>
          <a:p>
            <a:pPr algn="r"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LINHAS</a:t>
            </a:r>
            <a:endParaRPr lang="en-US" sz="900" dirty="0"/>
          </a:p>
        </p:txBody>
      </p:sp>
      <p:sp>
        <p:nvSpPr>
          <p:cNvPr id="6" name="Text 4"/>
          <p:cNvSpPr txBox="1"/>
          <p:nvPr/>
        </p:nvSpPr>
        <p:spPr>
          <a:xfrm>
            <a:off x="5412248" y="2015281"/>
            <a:ext cx="1400735" cy="171446"/>
          </a:xfrm>
          <a:prstGeom prst="rect">
            <a:avLst/>
          </a:prstGeom>
          <a:noFill/>
          <a:ln/>
        </p:spPr>
        <p:txBody>
          <a:bodyPr wrap="square" lIns="0" tIns="0" rIns="0" bIns="0" rtlCol="0" anchor="t"/>
          <a:lstStyle/>
          <a:p>
            <a:pPr algn="l"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FONTE</a:t>
            </a:r>
            <a:endParaRPr lang="en-US" sz="900" dirty="0"/>
          </a:p>
        </p:txBody>
      </p:sp>
      <p:sp>
        <p:nvSpPr>
          <p:cNvPr id="7" name="Text 5"/>
          <p:cNvSpPr txBox="1"/>
          <p:nvPr/>
        </p:nvSpPr>
        <p:spPr>
          <a:xfrm>
            <a:off x="6987703" y="2015281"/>
            <a:ext cx="4500823" cy="171446"/>
          </a:xfrm>
          <a:prstGeom prst="rect">
            <a:avLst/>
          </a:prstGeom>
          <a:noFill/>
          <a:ln/>
        </p:spPr>
        <p:txBody>
          <a:bodyPr wrap="square" lIns="0" tIns="0" rIns="0" bIns="0" rtlCol="0" anchor="t"/>
          <a:lstStyle/>
          <a:p>
            <a:pPr algn="l"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SERVE PARA</a:t>
            </a:r>
            <a:endParaRPr lang="en-US" sz="900" dirty="0"/>
          </a:p>
        </p:txBody>
      </p:sp>
      <p:sp>
        <p:nvSpPr>
          <p:cNvPr id="8" name="Shape 6"/>
          <p:cNvSpPr/>
          <p:nvPr/>
        </p:nvSpPr>
        <p:spPr>
          <a:xfrm>
            <a:off x="761981" y="2313723"/>
            <a:ext cx="3187819" cy="384761"/>
          </a:xfrm>
          <a:prstGeom prst="rect">
            <a:avLst/>
          </a:prstGeom>
          <a:solidFill>
            <a:srgbClr val="1E1E24"/>
          </a:solidFill>
          <a:ln/>
        </p:spPr>
      </p:sp>
      <p:sp>
        <p:nvSpPr>
          <p:cNvPr id="9" name="Text 7"/>
          <p:cNvSpPr txBox="1"/>
          <p:nvPr/>
        </p:nvSpPr>
        <p:spPr>
          <a:xfrm>
            <a:off x="876278" y="2415321"/>
            <a:ext cx="3077593" cy="181566"/>
          </a:xfrm>
          <a:prstGeom prst="rect">
            <a:avLst/>
          </a:prstGeom>
          <a:noFill/>
          <a:ln/>
        </p:spPr>
        <p:txBody>
          <a:bodyPr wrap="square" lIns="0" tIns="0" rIns="0" bIns="0" rtlCol="0" anchor="t"/>
          <a:lstStyle/>
          <a:p>
            <a:pPr algn="l" indent="0" marL="0">
              <a:lnSpc>
                <a:spcPct val="111111"/>
              </a:lnSpc>
              <a:buNone/>
            </a:pPr>
            <a:r>
              <a:rPr lang="en-US" sz="1100" b="1" dirty="0">
                <a:solidFill>
                  <a:srgbClr val="F5F6FC"/>
                </a:solidFill>
                <a:latin typeface="Poppins" pitchFamily="34" charset="0"/>
                <a:ea typeface="Poppins" pitchFamily="34" charset="-122"/>
                <a:cs typeface="Poppins" pitchFamily="34" charset="-120"/>
              </a:rPr>
              <a:t>projetos · status_semanal</a:t>
            </a:r>
            <a:endParaRPr lang="en-US" sz="1100" dirty="0"/>
          </a:p>
        </p:txBody>
      </p:sp>
      <p:sp>
        <p:nvSpPr>
          <p:cNvPr id="10" name="Shape 8"/>
          <p:cNvSpPr/>
          <p:nvPr/>
        </p:nvSpPr>
        <p:spPr>
          <a:xfrm>
            <a:off x="3949800" y="2313723"/>
            <a:ext cx="1348151" cy="384761"/>
          </a:xfrm>
          <a:prstGeom prst="rect">
            <a:avLst/>
          </a:prstGeom>
          <a:solidFill>
            <a:srgbClr val="1E1E24"/>
          </a:solidFill>
          <a:ln/>
        </p:spPr>
      </p:sp>
      <p:sp>
        <p:nvSpPr>
          <p:cNvPr id="11" name="Text 9"/>
          <p:cNvSpPr txBox="1"/>
          <p:nvPr/>
        </p:nvSpPr>
        <p:spPr>
          <a:xfrm>
            <a:off x="4064097" y="2415321"/>
            <a:ext cx="1164339" cy="181566"/>
          </a:xfrm>
          <a:prstGeom prst="rect">
            <a:avLst/>
          </a:prstGeom>
          <a:noFill/>
          <a:ln/>
        </p:spPr>
        <p:txBody>
          <a:bodyPr wrap="square" lIns="0" tIns="0" rIns="0" bIns="0" rtlCol="0" anchor="t"/>
          <a:lstStyle/>
          <a:p>
            <a:pPr algn="r" indent="0" marL="0">
              <a:lnSpc>
                <a:spcPct val="111111"/>
              </a:lnSpc>
              <a:buNone/>
            </a:pPr>
            <a:r>
              <a:rPr lang="en-US" sz="1100" dirty="0">
                <a:solidFill>
                  <a:srgbClr val="F5F6FC"/>
                </a:solidFill>
                <a:latin typeface="Poppins" pitchFamily="34" charset="0"/>
                <a:ea typeface="Poppins" pitchFamily="34" charset="-122"/>
                <a:cs typeface="Poppins" pitchFamily="34" charset="-120"/>
              </a:rPr>
              <a:t>60 · 3.911</a:t>
            </a:r>
            <a:endParaRPr lang="en-US" sz="1100" dirty="0"/>
          </a:p>
        </p:txBody>
      </p:sp>
      <p:sp>
        <p:nvSpPr>
          <p:cNvPr id="12" name="Shape 10"/>
          <p:cNvSpPr/>
          <p:nvPr/>
        </p:nvSpPr>
        <p:spPr>
          <a:xfrm>
            <a:off x="5297950" y="2313723"/>
            <a:ext cx="1575455" cy="384761"/>
          </a:xfrm>
          <a:prstGeom prst="rect">
            <a:avLst/>
          </a:prstGeom>
          <a:solidFill>
            <a:srgbClr val="1E1E24"/>
          </a:solidFill>
          <a:ln/>
        </p:spPr>
      </p:sp>
      <p:sp>
        <p:nvSpPr>
          <p:cNvPr id="13" name="Text 11"/>
          <p:cNvSpPr txBox="1"/>
          <p:nvPr/>
        </p:nvSpPr>
        <p:spPr>
          <a:xfrm>
            <a:off x="5412248" y="2415321"/>
            <a:ext cx="1400735"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PMO (CSV)</a:t>
            </a:r>
            <a:endParaRPr lang="en-US" sz="1100" dirty="0"/>
          </a:p>
        </p:txBody>
      </p:sp>
      <p:sp>
        <p:nvSpPr>
          <p:cNvPr id="14" name="Shape 12"/>
          <p:cNvSpPr/>
          <p:nvPr/>
        </p:nvSpPr>
        <p:spPr>
          <a:xfrm>
            <a:off x="6873406" y="2313723"/>
            <a:ext cx="4556309" cy="384761"/>
          </a:xfrm>
          <a:prstGeom prst="rect">
            <a:avLst/>
          </a:prstGeom>
          <a:solidFill>
            <a:srgbClr val="1E1E24"/>
          </a:solidFill>
          <a:ln/>
        </p:spPr>
      </p:sp>
      <p:sp>
        <p:nvSpPr>
          <p:cNvPr id="15" name="Text 13"/>
          <p:cNvSpPr txBox="1"/>
          <p:nvPr/>
        </p:nvSpPr>
        <p:spPr>
          <a:xfrm>
            <a:off x="6987703" y="2415321"/>
            <a:ext cx="4500823"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o cadastro e o farol de toda sexta</a:t>
            </a:r>
            <a:endParaRPr lang="en-US" sz="1100" dirty="0"/>
          </a:p>
        </p:txBody>
      </p:sp>
      <p:sp>
        <p:nvSpPr>
          <p:cNvPr id="16" name="Shape 14"/>
          <p:cNvSpPr/>
          <p:nvPr/>
        </p:nvSpPr>
        <p:spPr>
          <a:xfrm>
            <a:off x="761981" y="2749283"/>
            <a:ext cx="3187819" cy="384761"/>
          </a:xfrm>
          <a:prstGeom prst="rect">
            <a:avLst/>
          </a:prstGeom>
          <a:solidFill>
            <a:srgbClr val="1B2A4A"/>
          </a:solidFill>
          <a:ln/>
        </p:spPr>
      </p:sp>
      <p:sp>
        <p:nvSpPr>
          <p:cNvPr id="17" name="Text 15"/>
          <p:cNvSpPr txBox="1"/>
          <p:nvPr/>
        </p:nvSpPr>
        <p:spPr>
          <a:xfrm>
            <a:off x="876278" y="2850880"/>
            <a:ext cx="3077593" cy="181566"/>
          </a:xfrm>
          <a:prstGeom prst="rect">
            <a:avLst/>
          </a:prstGeom>
          <a:noFill/>
          <a:ln/>
        </p:spPr>
        <p:txBody>
          <a:bodyPr wrap="square" lIns="0" tIns="0" rIns="0" bIns="0" rtlCol="0" anchor="t"/>
          <a:lstStyle/>
          <a:p>
            <a:pPr algn="l" indent="0" marL="0">
              <a:lnSpc>
                <a:spcPct val="111111"/>
              </a:lnSpc>
              <a:buNone/>
            </a:pPr>
            <a:r>
              <a:rPr lang="en-US" sz="1100" b="1" dirty="0">
                <a:solidFill>
                  <a:srgbClr val="F5F6FC"/>
                </a:solidFill>
                <a:latin typeface="Poppins" pitchFamily="34" charset="0"/>
                <a:ea typeface="Poppins" pitchFamily="34" charset="-122"/>
                <a:cs typeface="Poppins" pitchFamily="34" charset="-120"/>
              </a:rPr>
              <a:t>excel_tarefas</a:t>
            </a:r>
            <a:endParaRPr lang="en-US" sz="1100" dirty="0"/>
          </a:p>
        </p:txBody>
      </p:sp>
      <p:sp>
        <p:nvSpPr>
          <p:cNvPr id="18" name="Shape 16"/>
          <p:cNvSpPr/>
          <p:nvPr/>
        </p:nvSpPr>
        <p:spPr>
          <a:xfrm>
            <a:off x="3949800" y="2749283"/>
            <a:ext cx="1348151" cy="384761"/>
          </a:xfrm>
          <a:prstGeom prst="rect">
            <a:avLst/>
          </a:prstGeom>
          <a:solidFill>
            <a:srgbClr val="1B2A4A"/>
          </a:solidFill>
          <a:ln/>
        </p:spPr>
      </p:sp>
      <p:sp>
        <p:nvSpPr>
          <p:cNvPr id="19" name="Text 17"/>
          <p:cNvSpPr txBox="1"/>
          <p:nvPr/>
        </p:nvSpPr>
        <p:spPr>
          <a:xfrm>
            <a:off x="4064097" y="2850880"/>
            <a:ext cx="1164339" cy="181566"/>
          </a:xfrm>
          <a:prstGeom prst="rect">
            <a:avLst/>
          </a:prstGeom>
          <a:noFill/>
          <a:ln/>
        </p:spPr>
        <p:txBody>
          <a:bodyPr wrap="square" lIns="0" tIns="0" rIns="0" bIns="0" rtlCol="0" anchor="t"/>
          <a:lstStyle/>
          <a:p>
            <a:pPr algn="r" indent="0" marL="0">
              <a:lnSpc>
                <a:spcPct val="111111"/>
              </a:lnSpc>
              <a:buNone/>
            </a:pPr>
            <a:r>
              <a:rPr lang="en-US" sz="1100" dirty="0">
                <a:solidFill>
                  <a:srgbClr val="F5F6FC"/>
                </a:solidFill>
                <a:latin typeface="Poppins" pitchFamily="34" charset="0"/>
                <a:ea typeface="Poppins" pitchFamily="34" charset="-122"/>
                <a:cs typeface="Poppins" pitchFamily="34" charset="-120"/>
              </a:rPr>
              <a:t>1.663</a:t>
            </a:r>
            <a:endParaRPr lang="en-US" sz="1100" dirty="0"/>
          </a:p>
        </p:txBody>
      </p:sp>
      <p:sp>
        <p:nvSpPr>
          <p:cNvPr id="20" name="Shape 18"/>
          <p:cNvSpPr/>
          <p:nvPr/>
        </p:nvSpPr>
        <p:spPr>
          <a:xfrm>
            <a:off x="5297950" y="2749283"/>
            <a:ext cx="1575455" cy="384761"/>
          </a:xfrm>
          <a:prstGeom prst="rect">
            <a:avLst/>
          </a:prstGeom>
          <a:solidFill>
            <a:srgbClr val="1B2A4A"/>
          </a:solidFill>
          <a:ln/>
        </p:spPr>
      </p:sp>
      <p:sp>
        <p:nvSpPr>
          <p:cNvPr id="21" name="Text 19"/>
          <p:cNvSpPr txBox="1"/>
          <p:nvPr/>
        </p:nvSpPr>
        <p:spPr>
          <a:xfrm>
            <a:off x="5412248" y="2850880"/>
            <a:ext cx="1400735"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20 planilhas</a:t>
            </a:r>
            <a:endParaRPr lang="en-US" sz="1100" dirty="0"/>
          </a:p>
        </p:txBody>
      </p:sp>
      <p:sp>
        <p:nvSpPr>
          <p:cNvPr id="22" name="Shape 20"/>
          <p:cNvSpPr/>
          <p:nvPr/>
        </p:nvSpPr>
        <p:spPr>
          <a:xfrm>
            <a:off x="6873406" y="2749283"/>
            <a:ext cx="4556309" cy="384761"/>
          </a:xfrm>
          <a:prstGeom prst="rect">
            <a:avLst/>
          </a:prstGeom>
          <a:solidFill>
            <a:srgbClr val="1B2A4A"/>
          </a:solidFill>
          <a:ln/>
        </p:spPr>
      </p:sp>
      <p:sp>
        <p:nvSpPr>
          <p:cNvPr id="23" name="Text 21"/>
          <p:cNvSpPr txBox="1"/>
          <p:nvPr/>
        </p:nvSpPr>
        <p:spPr>
          <a:xfrm>
            <a:off x="6987703" y="2850880"/>
            <a:ext cx="4500823"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pergunta 1: quem atrasa</a:t>
            </a:r>
            <a:endParaRPr lang="en-US" sz="1100" dirty="0"/>
          </a:p>
        </p:txBody>
      </p:sp>
      <p:sp>
        <p:nvSpPr>
          <p:cNvPr id="24" name="Shape 22"/>
          <p:cNvSpPr/>
          <p:nvPr/>
        </p:nvSpPr>
        <p:spPr>
          <a:xfrm>
            <a:off x="761981" y="3184842"/>
            <a:ext cx="3187819" cy="384761"/>
          </a:xfrm>
          <a:prstGeom prst="rect">
            <a:avLst/>
          </a:prstGeom>
          <a:solidFill>
            <a:srgbClr val="1B2A4A"/>
          </a:solidFill>
          <a:ln/>
        </p:spPr>
      </p:sp>
      <p:sp>
        <p:nvSpPr>
          <p:cNvPr id="25" name="Text 23"/>
          <p:cNvSpPr txBox="1"/>
          <p:nvPr/>
        </p:nvSpPr>
        <p:spPr>
          <a:xfrm>
            <a:off x="876278" y="3286440"/>
            <a:ext cx="3077593" cy="181566"/>
          </a:xfrm>
          <a:prstGeom prst="rect">
            <a:avLst/>
          </a:prstGeom>
          <a:noFill/>
          <a:ln/>
        </p:spPr>
        <p:txBody>
          <a:bodyPr wrap="square" lIns="0" tIns="0" rIns="0" bIns="0" rtlCol="0" anchor="t"/>
          <a:lstStyle/>
          <a:p>
            <a:pPr algn="l" indent="0" marL="0">
              <a:lnSpc>
                <a:spcPct val="111111"/>
              </a:lnSpc>
              <a:buNone/>
            </a:pPr>
            <a:r>
              <a:rPr lang="en-US" sz="1100" b="1" dirty="0">
                <a:solidFill>
                  <a:srgbClr val="F5F6FC"/>
                </a:solidFill>
                <a:latin typeface="Poppins" pitchFamily="34" charset="0"/>
                <a:ea typeface="Poppins" pitchFamily="34" charset="-122"/>
                <a:cs typeface="Poppins" pitchFamily="34" charset="-120"/>
              </a:rPr>
              <a:t>clickup_tarefas</a:t>
            </a:r>
            <a:endParaRPr lang="en-US" sz="1100" dirty="0"/>
          </a:p>
        </p:txBody>
      </p:sp>
      <p:sp>
        <p:nvSpPr>
          <p:cNvPr id="26" name="Shape 24"/>
          <p:cNvSpPr/>
          <p:nvPr/>
        </p:nvSpPr>
        <p:spPr>
          <a:xfrm>
            <a:off x="3949800" y="3184842"/>
            <a:ext cx="1348151" cy="384761"/>
          </a:xfrm>
          <a:prstGeom prst="rect">
            <a:avLst/>
          </a:prstGeom>
          <a:solidFill>
            <a:srgbClr val="1B2A4A"/>
          </a:solidFill>
          <a:ln/>
        </p:spPr>
      </p:sp>
      <p:sp>
        <p:nvSpPr>
          <p:cNvPr id="27" name="Text 25"/>
          <p:cNvSpPr txBox="1"/>
          <p:nvPr/>
        </p:nvSpPr>
        <p:spPr>
          <a:xfrm>
            <a:off x="4064097" y="3286440"/>
            <a:ext cx="1164339" cy="181566"/>
          </a:xfrm>
          <a:prstGeom prst="rect">
            <a:avLst/>
          </a:prstGeom>
          <a:noFill/>
          <a:ln/>
        </p:spPr>
        <p:txBody>
          <a:bodyPr wrap="square" lIns="0" tIns="0" rIns="0" bIns="0" rtlCol="0" anchor="t"/>
          <a:lstStyle/>
          <a:p>
            <a:pPr algn="r" indent="0" marL="0">
              <a:lnSpc>
                <a:spcPct val="111111"/>
              </a:lnSpc>
              <a:buNone/>
            </a:pPr>
            <a:r>
              <a:rPr lang="en-US" sz="1100" dirty="0">
                <a:solidFill>
                  <a:srgbClr val="F5F6FC"/>
                </a:solidFill>
                <a:latin typeface="Poppins" pitchFamily="34" charset="0"/>
                <a:ea typeface="Poppins" pitchFamily="34" charset="-122"/>
                <a:cs typeface="Poppins" pitchFamily="34" charset="-120"/>
              </a:rPr>
              <a:t>2.119</a:t>
            </a:r>
            <a:endParaRPr lang="en-US" sz="1100" dirty="0"/>
          </a:p>
        </p:txBody>
      </p:sp>
      <p:sp>
        <p:nvSpPr>
          <p:cNvPr id="28" name="Shape 26"/>
          <p:cNvSpPr/>
          <p:nvPr/>
        </p:nvSpPr>
        <p:spPr>
          <a:xfrm>
            <a:off x="5297950" y="3184842"/>
            <a:ext cx="1575455" cy="384761"/>
          </a:xfrm>
          <a:prstGeom prst="rect">
            <a:avLst/>
          </a:prstGeom>
          <a:solidFill>
            <a:srgbClr val="1B2A4A"/>
          </a:solidFill>
          <a:ln/>
        </p:spPr>
      </p:sp>
      <p:sp>
        <p:nvSpPr>
          <p:cNvPr id="29" name="Text 27"/>
          <p:cNvSpPr txBox="1"/>
          <p:nvPr/>
        </p:nvSpPr>
        <p:spPr>
          <a:xfrm>
            <a:off x="5412248" y="3286440"/>
            <a:ext cx="1400735"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25 JSON</a:t>
            </a:r>
            <a:endParaRPr lang="en-US" sz="1100" dirty="0"/>
          </a:p>
        </p:txBody>
      </p:sp>
      <p:sp>
        <p:nvSpPr>
          <p:cNvPr id="30" name="Shape 28"/>
          <p:cNvSpPr/>
          <p:nvPr/>
        </p:nvSpPr>
        <p:spPr>
          <a:xfrm>
            <a:off x="6873406" y="3184842"/>
            <a:ext cx="4556309" cy="384761"/>
          </a:xfrm>
          <a:prstGeom prst="rect">
            <a:avLst/>
          </a:prstGeom>
          <a:solidFill>
            <a:srgbClr val="1B2A4A"/>
          </a:solidFill>
          <a:ln/>
        </p:spPr>
      </p:sp>
      <p:sp>
        <p:nvSpPr>
          <p:cNvPr id="31" name="Text 29"/>
          <p:cNvSpPr txBox="1"/>
          <p:nvPr/>
        </p:nvSpPr>
        <p:spPr>
          <a:xfrm>
            <a:off x="6987703" y="3286440"/>
            <a:ext cx="4500823"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pergunta 1: quem atrasa</a:t>
            </a:r>
            <a:endParaRPr lang="en-US" sz="1100" dirty="0"/>
          </a:p>
        </p:txBody>
      </p:sp>
      <p:sp>
        <p:nvSpPr>
          <p:cNvPr id="32" name="Shape 30"/>
          <p:cNvSpPr/>
          <p:nvPr/>
        </p:nvSpPr>
        <p:spPr>
          <a:xfrm>
            <a:off x="761981" y="3620402"/>
            <a:ext cx="3187819" cy="384761"/>
          </a:xfrm>
          <a:prstGeom prst="rect">
            <a:avLst/>
          </a:prstGeom>
          <a:solidFill>
            <a:srgbClr val="1B2A4A"/>
          </a:solidFill>
          <a:ln/>
        </p:spPr>
      </p:sp>
      <p:sp>
        <p:nvSpPr>
          <p:cNvPr id="33" name="Text 31"/>
          <p:cNvSpPr txBox="1"/>
          <p:nvPr/>
        </p:nvSpPr>
        <p:spPr>
          <a:xfrm>
            <a:off x="876278" y="3721999"/>
            <a:ext cx="3077593" cy="181566"/>
          </a:xfrm>
          <a:prstGeom prst="rect">
            <a:avLst/>
          </a:prstGeom>
          <a:noFill/>
          <a:ln/>
        </p:spPr>
        <p:txBody>
          <a:bodyPr wrap="square" lIns="0" tIns="0" rIns="0" bIns="0" rtlCol="0" anchor="t"/>
          <a:lstStyle/>
          <a:p>
            <a:pPr algn="l" indent="0" marL="0">
              <a:lnSpc>
                <a:spcPct val="111111"/>
              </a:lnSpc>
              <a:buNone/>
            </a:pPr>
            <a:r>
              <a:rPr lang="en-US" sz="1100" b="1" dirty="0">
                <a:solidFill>
                  <a:srgbClr val="F5F6FC"/>
                </a:solidFill>
                <a:latin typeface="Poppins" pitchFamily="34" charset="0"/>
                <a:ea typeface="Poppins" pitchFamily="34" charset="-122"/>
                <a:cs typeface="Poppins" pitchFamily="34" charset="-120"/>
              </a:rPr>
              <a:t>msproject_tarefas</a:t>
            </a:r>
            <a:endParaRPr lang="en-US" sz="1100" dirty="0"/>
          </a:p>
        </p:txBody>
      </p:sp>
      <p:sp>
        <p:nvSpPr>
          <p:cNvPr id="34" name="Shape 32"/>
          <p:cNvSpPr/>
          <p:nvPr/>
        </p:nvSpPr>
        <p:spPr>
          <a:xfrm>
            <a:off x="3949800" y="3620402"/>
            <a:ext cx="1348151" cy="384761"/>
          </a:xfrm>
          <a:prstGeom prst="rect">
            <a:avLst/>
          </a:prstGeom>
          <a:solidFill>
            <a:srgbClr val="1B2A4A"/>
          </a:solidFill>
          <a:ln/>
        </p:spPr>
      </p:sp>
      <p:sp>
        <p:nvSpPr>
          <p:cNvPr id="35" name="Text 33"/>
          <p:cNvSpPr txBox="1"/>
          <p:nvPr/>
        </p:nvSpPr>
        <p:spPr>
          <a:xfrm>
            <a:off x="4064097" y="3721999"/>
            <a:ext cx="1164339" cy="181566"/>
          </a:xfrm>
          <a:prstGeom prst="rect">
            <a:avLst/>
          </a:prstGeom>
          <a:noFill/>
          <a:ln/>
        </p:spPr>
        <p:txBody>
          <a:bodyPr wrap="square" lIns="0" tIns="0" rIns="0" bIns="0" rtlCol="0" anchor="t"/>
          <a:lstStyle/>
          <a:p>
            <a:pPr algn="r" indent="0" marL="0">
              <a:lnSpc>
                <a:spcPct val="111111"/>
              </a:lnSpc>
              <a:buNone/>
            </a:pPr>
            <a:r>
              <a:rPr lang="en-US" sz="1100" dirty="0">
                <a:solidFill>
                  <a:srgbClr val="F5F6FC"/>
                </a:solidFill>
                <a:latin typeface="Poppins" pitchFamily="34" charset="0"/>
                <a:ea typeface="Poppins" pitchFamily="34" charset="-122"/>
                <a:cs typeface="Poppins" pitchFamily="34" charset="-120"/>
              </a:rPr>
              <a:t>1.260</a:t>
            </a:r>
            <a:endParaRPr lang="en-US" sz="1100" dirty="0"/>
          </a:p>
        </p:txBody>
      </p:sp>
      <p:sp>
        <p:nvSpPr>
          <p:cNvPr id="36" name="Shape 34"/>
          <p:cNvSpPr/>
          <p:nvPr/>
        </p:nvSpPr>
        <p:spPr>
          <a:xfrm>
            <a:off x="5297950" y="3620402"/>
            <a:ext cx="1575455" cy="384761"/>
          </a:xfrm>
          <a:prstGeom prst="rect">
            <a:avLst/>
          </a:prstGeom>
          <a:solidFill>
            <a:srgbClr val="1B2A4A"/>
          </a:solidFill>
          <a:ln/>
        </p:spPr>
      </p:sp>
      <p:sp>
        <p:nvSpPr>
          <p:cNvPr id="37" name="Text 35"/>
          <p:cNvSpPr txBox="1"/>
          <p:nvPr/>
        </p:nvSpPr>
        <p:spPr>
          <a:xfrm>
            <a:off x="5412248" y="3721999"/>
            <a:ext cx="1400735"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15 XML</a:t>
            </a:r>
            <a:endParaRPr lang="en-US" sz="1100" dirty="0"/>
          </a:p>
        </p:txBody>
      </p:sp>
      <p:sp>
        <p:nvSpPr>
          <p:cNvPr id="38" name="Shape 36"/>
          <p:cNvSpPr/>
          <p:nvPr/>
        </p:nvSpPr>
        <p:spPr>
          <a:xfrm>
            <a:off x="6873406" y="3620402"/>
            <a:ext cx="4556309" cy="384761"/>
          </a:xfrm>
          <a:prstGeom prst="rect">
            <a:avLst/>
          </a:prstGeom>
          <a:solidFill>
            <a:srgbClr val="1B2A4A"/>
          </a:solidFill>
          <a:ln/>
        </p:spPr>
      </p:sp>
      <p:sp>
        <p:nvSpPr>
          <p:cNvPr id="39" name="Text 37"/>
          <p:cNvSpPr txBox="1"/>
          <p:nvPr/>
        </p:nvSpPr>
        <p:spPr>
          <a:xfrm>
            <a:off x="6987703" y="3721999"/>
            <a:ext cx="4500823"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pergunta 1: quem atrasa</a:t>
            </a:r>
            <a:endParaRPr lang="en-US" sz="1100" dirty="0"/>
          </a:p>
        </p:txBody>
      </p:sp>
      <p:sp>
        <p:nvSpPr>
          <p:cNvPr id="40" name="Shape 38"/>
          <p:cNvSpPr/>
          <p:nvPr/>
        </p:nvSpPr>
        <p:spPr>
          <a:xfrm>
            <a:off x="761981" y="4055961"/>
            <a:ext cx="3187819" cy="384761"/>
          </a:xfrm>
          <a:prstGeom prst="rect">
            <a:avLst/>
          </a:prstGeom>
          <a:solidFill>
            <a:srgbClr val="1E1E24"/>
          </a:solidFill>
          <a:ln/>
        </p:spPr>
      </p:sp>
      <p:sp>
        <p:nvSpPr>
          <p:cNvPr id="41" name="Text 39"/>
          <p:cNvSpPr txBox="1"/>
          <p:nvPr/>
        </p:nvSpPr>
        <p:spPr>
          <a:xfrm>
            <a:off x="876278" y="4157559"/>
            <a:ext cx="3077593" cy="181566"/>
          </a:xfrm>
          <a:prstGeom prst="rect">
            <a:avLst/>
          </a:prstGeom>
          <a:noFill/>
          <a:ln/>
        </p:spPr>
        <p:txBody>
          <a:bodyPr wrap="square" lIns="0" tIns="0" rIns="0" bIns="0" rtlCol="0" anchor="t"/>
          <a:lstStyle/>
          <a:p>
            <a:pPr algn="l" indent="0" marL="0">
              <a:lnSpc>
                <a:spcPct val="111111"/>
              </a:lnSpc>
              <a:buNone/>
            </a:pPr>
            <a:r>
              <a:rPr lang="en-US" sz="1100" b="1" dirty="0">
                <a:solidFill>
                  <a:srgbClr val="F5F6FC"/>
                </a:solidFill>
                <a:latin typeface="Poppins" pitchFamily="34" charset="0"/>
                <a:ea typeface="Poppins" pitchFamily="34" charset="-122"/>
                <a:cs typeface="Poppins" pitchFamily="34" charset="-120"/>
              </a:rPr>
              <a:t>custos</a:t>
            </a:r>
            <a:endParaRPr lang="en-US" sz="1100" dirty="0"/>
          </a:p>
        </p:txBody>
      </p:sp>
      <p:sp>
        <p:nvSpPr>
          <p:cNvPr id="42" name="Shape 40"/>
          <p:cNvSpPr/>
          <p:nvPr/>
        </p:nvSpPr>
        <p:spPr>
          <a:xfrm>
            <a:off x="3949800" y="4055961"/>
            <a:ext cx="1348151" cy="384761"/>
          </a:xfrm>
          <a:prstGeom prst="rect">
            <a:avLst/>
          </a:prstGeom>
          <a:solidFill>
            <a:srgbClr val="1E1E24"/>
          </a:solidFill>
          <a:ln/>
        </p:spPr>
      </p:sp>
      <p:sp>
        <p:nvSpPr>
          <p:cNvPr id="43" name="Text 41"/>
          <p:cNvSpPr txBox="1"/>
          <p:nvPr/>
        </p:nvSpPr>
        <p:spPr>
          <a:xfrm>
            <a:off x="4064097" y="4157559"/>
            <a:ext cx="1164339" cy="181566"/>
          </a:xfrm>
          <a:prstGeom prst="rect">
            <a:avLst/>
          </a:prstGeom>
          <a:noFill/>
          <a:ln/>
        </p:spPr>
        <p:txBody>
          <a:bodyPr wrap="square" lIns="0" tIns="0" rIns="0" bIns="0" rtlCol="0" anchor="t"/>
          <a:lstStyle/>
          <a:p>
            <a:pPr algn="r" indent="0" marL="0">
              <a:lnSpc>
                <a:spcPct val="111111"/>
              </a:lnSpc>
              <a:buNone/>
            </a:pPr>
            <a:r>
              <a:rPr lang="en-US" sz="1100" dirty="0">
                <a:solidFill>
                  <a:srgbClr val="F5F6FC"/>
                </a:solidFill>
                <a:latin typeface="Poppins" pitchFamily="34" charset="0"/>
                <a:ea typeface="Poppins" pitchFamily="34" charset="-122"/>
                <a:cs typeface="Poppins" pitchFamily="34" charset="-120"/>
              </a:rPr>
              <a:t>23.640</a:t>
            </a:r>
            <a:endParaRPr lang="en-US" sz="1100" dirty="0"/>
          </a:p>
        </p:txBody>
      </p:sp>
      <p:sp>
        <p:nvSpPr>
          <p:cNvPr id="44" name="Shape 42"/>
          <p:cNvSpPr/>
          <p:nvPr/>
        </p:nvSpPr>
        <p:spPr>
          <a:xfrm>
            <a:off x="5297950" y="4055961"/>
            <a:ext cx="1575455" cy="384761"/>
          </a:xfrm>
          <a:prstGeom prst="rect">
            <a:avLst/>
          </a:prstGeom>
          <a:solidFill>
            <a:srgbClr val="1E1E24"/>
          </a:solidFill>
          <a:ln/>
        </p:spPr>
      </p:sp>
      <p:sp>
        <p:nvSpPr>
          <p:cNvPr id="45" name="Text 43"/>
          <p:cNvSpPr txBox="1"/>
          <p:nvPr/>
        </p:nvSpPr>
        <p:spPr>
          <a:xfrm>
            <a:off x="5412248" y="4157559"/>
            <a:ext cx="1400735"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financeiro</a:t>
            </a:r>
            <a:endParaRPr lang="en-US" sz="1100" dirty="0"/>
          </a:p>
        </p:txBody>
      </p:sp>
      <p:sp>
        <p:nvSpPr>
          <p:cNvPr id="46" name="Shape 44"/>
          <p:cNvSpPr/>
          <p:nvPr/>
        </p:nvSpPr>
        <p:spPr>
          <a:xfrm>
            <a:off x="6873406" y="4055961"/>
            <a:ext cx="4556309" cy="384761"/>
          </a:xfrm>
          <a:prstGeom prst="rect">
            <a:avLst/>
          </a:prstGeom>
          <a:solidFill>
            <a:srgbClr val="1E1E24"/>
          </a:solidFill>
          <a:ln/>
        </p:spPr>
      </p:sp>
      <p:sp>
        <p:nvSpPr>
          <p:cNvPr id="47" name="Text 45"/>
          <p:cNvSpPr txBox="1"/>
          <p:nvPr/>
        </p:nvSpPr>
        <p:spPr>
          <a:xfrm>
            <a:off x="6987703" y="4157559"/>
            <a:ext cx="4500823"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pergunta 2: quanto custa</a:t>
            </a:r>
            <a:endParaRPr lang="en-US" sz="1100" dirty="0"/>
          </a:p>
        </p:txBody>
      </p:sp>
      <p:sp>
        <p:nvSpPr>
          <p:cNvPr id="48" name="Shape 46"/>
          <p:cNvSpPr/>
          <p:nvPr/>
        </p:nvSpPr>
        <p:spPr>
          <a:xfrm>
            <a:off x="761981" y="4491521"/>
            <a:ext cx="3187819" cy="384761"/>
          </a:xfrm>
          <a:prstGeom prst="rect">
            <a:avLst/>
          </a:prstGeom>
          <a:solidFill>
            <a:srgbClr val="1E1E24"/>
          </a:solidFill>
          <a:ln/>
        </p:spPr>
      </p:sp>
      <p:sp>
        <p:nvSpPr>
          <p:cNvPr id="49" name="Text 47"/>
          <p:cNvSpPr txBox="1"/>
          <p:nvPr/>
        </p:nvSpPr>
        <p:spPr>
          <a:xfrm>
            <a:off x="876278" y="4593118"/>
            <a:ext cx="3077593" cy="181566"/>
          </a:xfrm>
          <a:prstGeom prst="rect">
            <a:avLst/>
          </a:prstGeom>
          <a:noFill/>
          <a:ln/>
        </p:spPr>
        <p:txBody>
          <a:bodyPr wrap="square" lIns="0" tIns="0" rIns="0" bIns="0" rtlCol="0" anchor="t"/>
          <a:lstStyle/>
          <a:p>
            <a:pPr algn="l" indent="0" marL="0">
              <a:lnSpc>
                <a:spcPct val="111111"/>
              </a:lnSpc>
              <a:buNone/>
            </a:pPr>
            <a:r>
              <a:rPr lang="en-US" sz="1100" b="1" dirty="0">
                <a:solidFill>
                  <a:srgbClr val="F5F6FC"/>
                </a:solidFill>
                <a:latin typeface="Poppins" pitchFamily="34" charset="0"/>
                <a:ea typeface="Poppins" pitchFamily="34" charset="-122"/>
                <a:cs typeface="Poppins" pitchFamily="34" charset="-120"/>
              </a:rPr>
              <a:t>colaboradores · apontamentos</a:t>
            </a:r>
            <a:endParaRPr lang="en-US" sz="1100" dirty="0"/>
          </a:p>
        </p:txBody>
      </p:sp>
      <p:sp>
        <p:nvSpPr>
          <p:cNvPr id="50" name="Shape 48"/>
          <p:cNvSpPr/>
          <p:nvPr/>
        </p:nvSpPr>
        <p:spPr>
          <a:xfrm>
            <a:off x="3949800" y="4491521"/>
            <a:ext cx="1348151" cy="384761"/>
          </a:xfrm>
          <a:prstGeom prst="rect">
            <a:avLst/>
          </a:prstGeom>
          <a:solidFill>
            <a:srgbClr val="1E1E24"/>
          </a:solidFill>
          <a:ln/>
        </p:spPr>
      </p:sp>
      <p:sp>
        <p:nvSpPr>
          <p:cNvPr id="51" name="Text 49"/>
          <p:cNvSpPr txBox="1"/>
          <p:nvPr/>
        </p:nvSpPr>
        <p:spPr>
          <a:xfrm>
            <a:off x="4064097" y="4593118"/>
            <a:ext cx="1164339" cy="181566"/>
          </a:xfrm>
          <a:prstGeom prst="rect">
            <a:avLst/>
          </a:prstGeom>
          <a:noFill/>
          <a:ln/>
        </p:spPr>
        <p:txBody>
          <a:bodyPr wrap="square" lIns="0" tIns="0" rIns="0" bIns="0" rtlCol="0" anchor="t"/>
          <a:lstStyle/>
          <a:p>
            <a:pPr algn="r" indent="0" marL="0">
              <a:lnSpc>
                <a:spcPct val="111111"/>
              </a:lnSpc>
              <a:buNone/>
            </a:pPr>
            <a:r>
              <a:rPr lang="en-US" sz="1100" dirty="0">
                <a:solidFill>
                  <a:srgbClr val="F5F6FC"/>
                </a:solidFill>
                <a:latin typeface="Poppins" pitchFamily="34" charset="0"/>
                <a:ea typeface="Poppins" pitchFamily="34" charset="-122"/>
                <a:cs typeface="Poppins" pitchFamily="34" charset="-120"/>
              </a:rPr>
              <a:t>523 · 30.883</a:t>
            </a:r>
            <a:endParaRPr lang="en-US" sz="1100" dirty="0"/>
          </a:p>
        </p:txBody>
      </p:sp>
      <p:sp>
        <p:nvSpPr>
          <p:cNvPr id="52" name="Shape 50"/>
          <p:cNvSpPr/>
          <p:nvPr/>
        </p:nvSpPr>
        <p:spPr>
          <a:xfrm>
            <a:off x="5297950" y="4491521"/>
            <a:ext cx="1575455" cy="384761"/>
          </a:xfrm>
          <a:prstGeom prst="rect">
            <a:avLst/>
          </a:prstGeom>
          <a:solidFill>
            <a:srgbClr val="1E1E24"/>
          </a:solidFill>
          <a:ln/>
        </p:spPr>
      </p:sp>
      <p:sp>
        <p:nvSpPr>
          <p:cNvPr id="53" name="Text 51"/>
          <p:cNvSpPr txBox="1"/>
          <p:nvPr/>
        </p:nvSpPr>
        <p:spPr>
          <a:xfrm>
            <a:off x="5412248" y="4593118"/>
            <a:ext cx="1400735"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RH · timesheet</a:t>
            </a:r>
            <a:endParaRPr lang="en-US" sz="1100" dirty="0"/>
          </a:p>
        </p:txBody>
      </p:sp>
      <p:sp>
        <p:nvSpPr>
          <p:cNvPr id="54" name="Shape 52"/>
          <p:cNvSpPr/>
          <p:nvPr/>
        </p:nvSpPr>
        <p:spPr>
          <a:xfrm>
            <a:off x="6873406" y="4491521"/>
            <a:ext cx="4556309" cy="384761"/>
          </a:xfrm>
          <a:prstGeom prst="rect">
            <a:avLst/>
          </a:prstGeom>
          <a:solidFill>
            <a:srgbClr val="1E1E24"/>
          </a:solidFill>
          <a:ln/>
        </p:spPr>
      </p:sp>
      <p:sp>
        <p:nvSpPr>
          <p:cNvPr id="55" name="Text 53"/>
          <p:cNvSpPr txBox="1"/>
          <p:nvPr/>
        </p:nvSpPr>
        <p:spPr>
          <a:xfrm>
            <a:off x="6987703" y="4593118"/>
            <a:ext cx="4500823"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pergunta 3: gente parada</a:t>
            </a:r>
            <a:endParaRPr lang="en-US" sz="1100" dirty="0"/>
          </a:p>
        </p:txBody>
      </p:sp>
      <p:sp>
        <p:nvSpPr>
          <p:cNvPr id="56" name="Shape 54"/>
          <p:cNvSpPr/>
          <p:nvPr/>
        </p:nvSpPr>
        <p:spPr>
          <a:xfrm>
            <a:off x="761981" y="4927080"/>
            <a:ext cx="3187819" cy="384761"/>
          </a:xfrm>
          <a:prstGeom prst="rect">
            <a:avLst/>
          </a:prstGeom>
          <a:solidFill>
            <a:srgbClr val="1E1E24"/>
          </a:solidFill>
          <a:ln/>
        </p:spPr>
      </p:sp>
      <p:sp>
        <p:nvSpPr>
          <p:cNvPr id="57" name="Text 55"/>
          <p:cNvSpPr txBox="1"/>
          <p:nvPr/>
        </p:nvSpPr>
        <p:spPr>
          <a:xfrm>
            <a:off x="876278" y="5028677"/>
            <a:ext cx="3077593" cy="181566"/>
          </a:xfrm>
          <a:prstGeom prst="rect">
            <a:avLst/>
          </a:prstGeom>
          <a:noFill/>
          <a:ln/>
        </p:spPr>
        <p:txBody>
          <a:bodyPr wrap="square" lIns="0" tIns="0" rIns="0" bIns="0" rtlCol="0" anchor="t"/>
          <a:lstStyle/>
          <a:p>
            <a:pPr algn="l" indent="0" marL="0">
              <a:lnSpc>
                <a:spcPct val="111111"/>
              </a:lnSpc>
              <a:buNone/>
            </a:pPr>
            <a:r>
              <a:rPr lang="en-US" sz="1100" b="1" dirty="0">
                <a:solidFill>
                  <a:srgbClr val="F5F6FC"/>
                </a:solidFill>
                <a:latin typeface="Poppins" pitchFamily="34" charset="0"/>
                <a:ea typeface="Poppins" pitchFamily="34" charset="-122"/>
                <a:cs typeface="Poppins" pitchFamily="34" charset="-120"/>
              </a:rPr>
              <a:t>entregas_fornecedor</a:t>
            </a:r>
            <a:endParaRPr lang="en-US" sz="1100" dirty="0"/>
          </a:p>
        </p:txBody>
      </p:sp>
      <p:sp>
        <p:nvSpPr>
          <p:cNvPr id="58" name="Shape 56"/>
          <p:cNvSpPr/>
          <p:nvPr/>
        </p:nvSpPr>
        <p:spPr>
          <a:xfrm>
            <a:off x="3949800" y="4927080"/>
            <a:ext cx="1348151" cy="384761"/>
          </a:xfrm>
          <a:prstGeom prst="rect">
            <a:avLst/>
          </a:prstGeom>
          <a:solidFill>
            <a:srgbClr val="1E1E24"/>
          </a:solidFill>
          <a:ln/>
        </p:spPr>
      </p:sp>
      <p:sp>
        <p:nvSpPr>
          <p:cNvPr id="59" name="Text 57"/>
          <p:cNvSpPr txBox="1"/>
          <p:nvPr/>
        </p:nvSpPr>
        <p:spPr>
          <a:xfrm>
            <a:off x="4064097" y="5028677"/>
            <a:ext cx="1164339" cy="181566"/>
          </a:xfrm>
          <a:prstGeom prst="rect">
            <a:avLst/>
          </a:prstGeom>
          <a:noFill/>
          <a:ln/>
        </p:spPr>
        <p:txBody>
          <a:bodyPr wrap="square" lIns="0" tIns="0" rIns="0" bIns="0" rtlCol="0" anchor="t"/>
          <a:lstStyle/>
          <a:p>
            <a:pPr algn="r" indent="0" marL="0">
              <a:lnSpc>
                <a:spcPct val="111111"/>
              </a:lnSpc>
              <a:buNone/>
            </a:pPr>
            <a:r>
              <a:rPr lang="en-US" sz="1100" dirty="0">
                <a:solidFill>
                  <a:srgbClr val="F5F6FC"/>
                </a:solidFill>
                <a:latin typeface="Poppins" pitchFamily="34" charset="0"/>
                <a:ea typeface="Poppins" pitchFamily="34" charset="-122"/>
                <a:cs typeface="Poppins" pitchFamily="34" charset="-120"/>
              </a:rPr>
              <a:t>640</a:t>
            </a:r>
            <a:endParaRPr lang="en-US" sz="1100" dirty="0"/>
          </a:p>
        </p:txBody>
      </p:sp>
      <p:sp>
        <p:nvSpPr>
          <p:cNvPr id="60" name="Shape 58"/>
          <p:cNvSpPr/>
          <p:nvPr/>
        </p:nvSpPr>
        <p:spPr>
          <a:xfrm>
            <a:off x="5297950" y="4927080"/>
            <a:ext cx="1575455" cy="384761"/>
          </a:xfrm>
          <a:prstGeom prst="rect">
            <a:avLst/>
          </a:prstGeom>
          <a:solidFill>
            <a:srgbClr val="1E1E24"/>
          </a:solidFill>
          <a:ln/>
        </p:spPr>
      </p:sp>
      <p:sp>
        <p:nvSpPr>
          <p:cNvPr id="61" name="Text 59"/>
          <p:cNvSpPr txBox="1"/>
          <p:nvPr/>
        </p:nvSpPr>
        <p:spPr>
          <a:xfrm>
            <a:off x="5412248" y="5028677"/>
            <a:ext cx="1400735"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compras</a:t>
            </a:r>
            <a:endParaRPr lang="en-US" sz="1100" dirty="0"/>
          </a:p>
        </p:txBody>
      </p:sp>
      <p:sp>
        <p:nvSpPr>
          <p:cNvPr id="62" name="Shape 60"/>
          <p:cNvSpPr/>
          <p:nvPr/>
        </p:nvSpPr>
        <p:spPr>
          <a:xfrm>
            <a:off x="6873406" y="4927080"/>
            <a:ext cx="4556309" cy="384761"/>
          </a:xfrm>
          <a:prstGeom prst="rect">
            <a:avLst/>
          </a:prstGeom>
          <a:solidFill>
            <a:srgbClr val="1E1E24"/>
          </a:solidFill>
          <a:ln/>
        </p:spPr>
      </p:sp>
      <p:sp>
        <p:nvSpPr>
          <p:cNvPr id="63" name="Text 61"/>
          <p:cNvSpPr txBox="1"/>
          <p:nvPr/>
        </p:nvSpPr>
        <p:spPr>
          <a:xfrm>
            <a:off x="6987703" y="5028677"/>
            <a:ext cx="4500823"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a consultoria que atrasa (e a multa da noite 4)</a:t>
            </a:r>
            <a:endParaRPr lang="en-US" sz="1100" dirty="0"/>
          </a:p>
        </p:txBody>
      </p:sp>
      <p:sp>
        <p:nvSpPr>
          <p:cNvPr id="64" name="Shape 62"/>
          <p:cNvSpPr/>
          <p:nvPr/>
        </p:nvSpPr>
        <p:spPr>
          <a:xfrm>
            <a:off x="761981" y="5451537"/>
            <a:ext cx="25399" cy="285743"/>
          </a:xfrm>
          <a:prstGeom prst="rect">
            <a:avLst/>
          </a:prstGeom>
          <a:solidFill>
            <a:srgbClr val="22C2F4"/>
          </a:solidFill>
          <a:ln/>
        </p:spPr>
      </p:sp>
      <p:sp>
        <p:nvSpPr>
          <p:cNvPr id="65" name="Text 63"/>
          <p:cNvSpPr txBox="1"/>
          <p:nvPr/>
        </p:nvSpPr>
        <p:spPr>
          <a:xfrm>
            <a:off x="914377" y="5489636"/>
            <a:ext cx="10935951" cy="209545"/>
          </a:xfrm>
          <a:prstGeom prst="rect">
            <a:avLst/>
          </a:prstGeom>
          <a:noFill/>
          <a:ln/>
        </p:spPr>
        <p:txBody>
          <a:bodyPr wrap="square" lIns="0" tIns="0" rIns="0" bIns="0" rtlCol="0" anchor="t"/>
          <a:lstStyle/>
          <a:p>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Tudo entra como texto (</a:t>
            </a:r>
            <a:pPr algn="l" indent="0" marL="0">
              <a:lnSpc>
                <a:spcPct val="106838"/>
              </a:lnSpc>
              <a:buNone/>
            </a:pPr>
            <a:r>
              <a:rPr lang="en-US" sz="1100" b="1" dirty="0">
                <a:solidFill>
                  <a:srgbClr val="FFFFFF"/>
                </a:solidFill>
                <a:latin typeface="Poppins" pitchFamily="34" charset="0"/>
                <a:ea typeface="Poppins" pitchFamily="34" charset="-122"/>
                <a:cs typeface="Poppins" pitchFamily="34" charset="-120"/>
              </a:rPr>
              <a:t>inferColumnTypes =&gt; false</a:t>
            </a:r>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 no CSV e no Excel: se o Databricks adivinhasse o tipo, a sujeira sumiria antes de a gente ver.</a:t>
            </a:r>
            <a:endParaRPr lang="en-US" sz="1100" dirty="0"/>
          </a:p>
        </p:txBody>
      </p:sp>
      <p:pic>
        <p:nvPicPr>
          <p:cNvPr id="66"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67" name="Text 64"/>
          <p:cNvSpPr txBox="1"/>
          <p:nvPr/>
        </p:nvSpPr>
        <p:spPr>
          <a:xfrm>
            <a:off x="10946531" y="6387940"/>
            <a:ext cx="502511"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38 / 133</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BRONZE · 1 DE 9 · BRONZE.PROJETOS</a:t>
            </a:r>
            <a:endParaRPr lang="en-US" sz="1200" dirty="0"/>
          </a:p>
        </p:txBody>
      </p:sp>
      <p:sp>
        <p:nvSpPr>
          <p:cNvPr id="3" name="Text 1"/>
          <p:cNvSpPr txBox="1"/>
          <p:nvPr/>
        </p:nvSpPr>
        <p:spPr>
          <a:xfrm>
            <a:off x="761981" y="895328"/>
            <a:ext cx="11094443" cy="86596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O cadastro do PMO: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em qual ferramenta cada projeto vive</a:t>
            </a:r>
            <a:endParaRPr lang="en-US" sz="3100" dirty="0"/>
          </a:p>
        </p:txBody>
      </p:sp>
      <p:sp>
        <p:nvSpPr>
          <p:cNvPr id="4" name="Shape 2"/>
          <p:cNvSpPr/>
          <p:nvPr/>
        </p:nvSpPr>
        <p:spPr>
          <a:xfrm>
            <a:off x="761981" y="2015281"/>
            <a:ext cx="5238619" cy="2398553"/>
          </a:xfrm>
          <a:prstGeom prst="roundRect">
            <a:avLst>
              <a:gd name="adj" fmla="val 6354"/>
            </a:avLst>
          </a:prstGeom>
          <a:solidFill>
            <a:srgbClr val="1E1E24"/>
          </a:solidFill>
          <a:ln w="6350">
            <a:solidFill>
              <a:srgbClr val="2F2F39"/>
            </a:solidFill>
            <a:prstDash val="solid"/>
          </a:ln>
        </p:spPr>
      </p:sp>
      <p:sp>
        <p:nvSpPr>
          <p:cNvPr id="5" name="Shape 3"/>
          <p:cNvSpPr/>
          <p:nvPr/>
        </p:nvSpPr>
        <p:spPr>
          <a:xfrm>
            <a:off x="984225" y="2212126"/>
            <a:ext cx="616034" cy="247644"/>
          </a:xfrm>
          <a:prstGeom prst="roundRect">
            <a:avLst>
              <a:gd name="adj" fmla="val 50000"/>
            </a:avLst>
          </a:prstGeom>
          <a:solidFill>
            <a:srgbClr val="22C2F4">
              <a:alpha val="14000"/>
            </a:srgbClr>
          </a:solidFill>
          <a:ln/>
        </p:spPr>
      </p:sp>
      <p:sp>
        <p:nvSpPr>
          <p:cNvPr id="6" name="Text 4"/>
          <p:cNvSpPr txBox="1"/>
          <p:nvPr/>
        </p:nvSpPr>
        <p:spPr>
          <a:xfrm>
            <a:off x="1073123" y="2250225"/>
            <a:ext cx="455768"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O que é</a:t>
            </a:r>
            <a:endParaRPr lang="en-US" sz="900" dirty="0"/>
          </a:p>
        </p:txBody>
      </p:sp>
      <p:sp>
        <p:nvSpPr>
          <p:cNvPr id="7" name="Shape 5"/>
          <p:cNvSpPr/>
          <p:nvPr/>
        </p:nvSpPr>
        <p:spPr>
          <a:xfrm>
            <a:off x="984225" y="2631215"/>
            <a:ext cx="76198" cy="76198"/>
          </a:xfrm>
          <a:prstGeom prst="roundRect">
            <a:avLst>
              <a:gd name="adj" fmla="val 25000"/>
            </a:avLst>
          </a:prstGeom>
          <a:solidFill>
            <a:srgbClr val="22C2F4"/>
          </a:solidFill>
          <a:ln/>
        </p:spPr>
      </p:sp>
      <p:sp>
        <p:nvSpPr>
          <p:cNvPr id="8" name="Text 6"/>
          <p:cNvSpPr txBox="1"/>
          <p:nvPr/>
        </p:nvSpPr>
        <p:spPr>
          <a:xfrm>
            <a:off x="1174721" y="2548668"/>
            <a:ext cx="4787780" cy="411351"/>
          </a:xfrm>
          <a:prstGeom prst="rect">
            <a:avLst/>
          </a:prstGeom>
          <a:noFill/>
          <a:ln/>
        </p:spPr>
        <p:txBody>
          <a:bodyPr wrap="square" lIns="0" tIns="0" rIns="0" bIns="0" rtlCol="0" anchor="t"/>
          <a:lstStyle/>
          <a:p>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60 linhas</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uma por projeto (41 em andamento, 19 concluídos)</a:t>
            </a:r>
            <a:endParaRPr lang="en-US" sz="1200" dirty="0"/>
          </a:p>
        </p:txBody>
      </p:sp>
      <p:sp>
        <p:nvSpPr>
          <p:cNvPr id="9" name="Shape 7"/>
          <p:cNvSpPr/>
          <p:nvPr/>
        </p:nvSpPr>
        <p:spPr>
          <a:xfrm>
            <a:off x="984225" y="3118764"/>
            <a:ext cx="76198" cy="76198"/>
          </a:xfrm>
          <a:prstGeom prst="roundRect">
            <a:avLst>
              <a:gd name="adj" fmla="val 25000"/>
            </a:avLst>
          </a:prstGeom>
          <a:solidFill>
            <a:srgbClr val="22C2F4"/>
          </a:solidFill>
          <a:ln/>
        </p:spPr>
      </p:sp>
      <p:sp>
        <p:nvSpPr>
          <p:cNvPr id="10" name="Text 8"/>
          <p:cNvSpPr txBox="1"/>
          <p:nvPr/>
        </p:nvSpPr>
        <p:spPr>
          <a:xfrm>
            <a:off x="1174721" y="3036216"/>
            <a:ext cx="4787780"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cliente, segmento, tipo, valor do contrato, orçamento, início, fim previsto, gerente</a:t>
            </a:r>
            <a:endParaRPr lang="en-US" sz="1200" dirty="0"/>
          </a:p>
        </p:txBody>
      </p:sp>
      <p:sp>
        <p:nvSpPr>
          <p:cNvPr id="11" name="Shape 9"/>
          <p:cNvSpPr/>
          <p:nvPr/>
        </p:nvSpPr>
        <p:spPr>
          <a:xfrm>
            <a:off x="984225" y="3606313"/>
            <a:ext cx="76198" cy="76198"/>
          </a:xfrm>
          <a:prstGeom prst="roundRect">
            <a:avLst>
              <a:gd name="adj" fmla="val 25000"/>
            </a:avLst>
          </a:prstGeom>
          <a:solidFill>
            <a:srgbClr val="22C2F4"/>
          </a:solidFill>
          <a:ln/>
        </p:spPr>
      </p:sp>
      <p:sp>
        <p:nvSpPr>
          <p:cNvPr id="12" name="Text 10"/>
          <p:cNvSpPr txBox="1"/>
          <p:nvPr/>
        </p:nvSpPr>
        <p:spPr>
          <a:xfrm>
            <a:off x="1174721" y="3523765"/>
            <a:ext cx="4787780" cy="411351"/>
          </a:xfrm>
          <a:prstGeom prst="rect">
            <a:avLst/>
          </a:prstGeom>
          <a:noFill/>
          <a:ln/>
        </p:spPr>
        <p:txBody>
          <a:bodyPr wrap="square" lIns="0" tIns="0" rIns="0" bIns="0" rtlCol="0" anchor="t"/>
          <a:lstStyle/>
          <a:p>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ferramenta</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e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codigo_ferramenta</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a chave para achar o cronograma no Excel, no ClickUp ou no Project</a:t>
            </a:r>
            <a:endParaRPr lang="en-US" sz="1200" dirty="0"/>
          </a:p>
        </p:txBody>
      </p:sp>
      <p:sp>
        <p:nvSpPr>
          <p:cNvPr id="13" name="Shape 11"/>
          <p:cNvSpPr/>
          <p:nvPr/>
        </p:nvSpPr>
        <p:spPr>
          <a:xfrm>
            <a:off x="984225" y="4093862"/>
            <a:ext cx="76198" cy="76198"/>
          </a:xfrm>
          <a:prstGeom prst="roundRect">
            <a:avLst>
              <a:gd name="adj" fmla="val 25000"/>
            </a:avLst>
          </a:prstGeom>
          <a:solidFill>
            <a:srgbClr val="22C2F4"/>
          </a:solidFill>
          <a:ln/>
        </p:spPr>
      </p:sp>
      <p:sp>
        <p:nvSpPr>
          <p:cNvPr id="14" name="Text 12"/>
          <p:cNvSpPr txBox="1"/>
          <p:nvPr/>
        </p:nvSpPr>
        <p:spPr>
          <a:xfrm>
            <a:off x="1174721" y="4011314"/>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carteira de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R$ 305,2 mi</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(R$ 208,6 mi em andamento)</a:t>
            </a:r>
            <a:endParaRPr lang="en-US" sz="1200" dirty="0"/>
          </a:p>
        </p:txBody>
      </p:sp>
      <p:sp>
        <p:nvSpPr>
          <p:cNvPr id="15" name="Shape 13"/>
          <p:cNvSpPr/>
          <p:nvPr/>
        </p:nvSpPr>
        <p:spPr>
          <a:xfrm>
            <a:off x="6191095" y="2015281"/>
            <a:ext cx="5238619" cy="2398553"/>
          </a:xfrm>
          <a:prstGeom prst="roundRect">
            <a:avLst>
              <a:gd name="adj" fmla="val 6354"/>
            </a:avLst>
          </a:prstGeom>
          <a:solidFill>
            <a:srgbClr val="0059DB"/>
          </a:solidFill>
          <a:ln/>
        </p:spPr>
      </p:sp>
      <p:sp>
        <p:nvSpPr>
          <p:cNvPr id="16" name="Shape 14"/>
          <p:cNvSpPr/>
          <p:nvPr/>
        </p:nvSpPr>
        <p:spPr>
          <a:xfrm>
            <a:off x="6413340" y="2212126"/>
            <a:ext cx="682509" cy="247644"/>
          </a:xfrm>
          <a:prstGeom prst="roundRect">
            <a:avLst>
              <a:gd name="adj" fmla="val 50000"/>
            </a:avLst>
          </a:prstGeom>
          <a:solidFill>
            <a:srgbClr val="FFFFFF">
              <a:alpha val="16000"/>
            </a:srgbClr>
          </a:solidFill>
          <a:ln/>
        </p:spPr>
      </p:sp>
      <p:sp>
        <p:nvSpPr>
          <p:cNvPr id="17" name="Text 15"/>
          <p:cNvSpPr txBox="1"/>
          <p:nvPr/>
        </p:nvSpPr>
        <p:spPr>
          <a:xfrm>
            <a:off x="6502237" y="2250225"/>
            <a:ext cx="524902"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A sujeira</a:t>
            </a:r>
            <a:endParaRPr lang="en-US" sz="900" dirty="0"/>
          </a:p>
        </p:txBody>
      </p:sp>
      <p:sp>
        <p:nvSpPr>
          <p:cNvPr id="18" name="Shape 16"/>
          <p:cNvSpPr/>
          <p:nvPr/>
        </p:nvSpPr>
        <p:spPr>
          <a:xfrm>
            <a:off x="6413340" y="2631215"/>
            <a:ext cx="76198" cy="76198"/>
          </a:xfrm>
          <a:prstGeom prst="roundRect">
            <a:avLst>
              <a:gd name="adj" fmla="val 25000"/>
            </a:avLst>
          </a:prstGeom>
          <a:solidFill>
            <a:srgbClr val="22C2F4"/>
          </a:solidFill>
          <a:ln/>
        </p:spPr>
      </p:sp>
      <p:sp>
        <p:nvSpPr>
          <p:cNvPr id="19" name="Text 17"/>
          <p:cNvSpPr txBox="1"/>
          <p:nvPr/>
        </p:nvSpPr>
        <p:spPr>
          <a:xfrm>
            <a:off x="6603835" y="2548668"/>
            <a:ext cx="4787780" cy="205675"/>
          </a:xfrm>
          <a:prstGeom prst="rect">
            <a:avLst/>
          </a:prstGeom>
          <a:noFill/>
          <a:ln/>
        </p:spPr>
        <p:txBody>
          <a:bodyPr wrap="square" lIns="0" tIns="0" rIns="0" bIns="0" rtlCol="0" anchor="t"/>
          <a:lstStyle/>
          <a:p>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data_inicio</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em 2 formatos: 2025-03-14 e 14/03/2025</a:t>
            </a:r>
            <a:endParaRPr lang="en-US" sz="1200" dirty="0"/>
          </a:p>
        </p:txBody>
      </p:sp>
      <p:sp>
        <p:nvSpPr>
          <p:cNvPr id="20" name="Shape 18"/>
          <p:cNvSpPr/>
          <p:nvPr/>
        </p:nvSpPr>
        <p:spPr>
          <a:xfrm>
            <a:off x="6413340" y="2913089"/>
            <a:ext cx="76198" cy="76198"/>
          </a:xfrm>
          <a:prstGeom prst="roundRect">
            <a:avLst>
              <a:gd name="adj" fmla="val 25000"/>
            </a:avLst>
          </a:prstGeom>
          <a:solidFill>
            <a:srgbClr val="22C2F4"/>
          </a:solidFill>
          <a:ln/>
        </p:spPr>
      </p:sp>
      <p:sp>
        <p:nvSpPr>
          <p:cNvPr id="21" name="Text 19"/>
          <p:cNvSpPr txBox="1"/>
          <p:nvPr/>
        </p:nvSpPr>
        <p:spPr>
          <a:xfrm>
            <a:off x="6603835" y="2830541"/>
            <a:ext cx="4787780"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ferramenta escrita de 8 jeitos: Excel, excel, Planilha, ClickUp, click up, Project…</a:t>
            </a:r>
            <a:endParaRPr lang="en-US" sz="1200" dirty="0"/>
          </a:p>
        </p:txBody>
      </p:sp>
      <p:sp>
        <p:nvSpPr>
          <p:cNvPr id="22" name="Shape 20"/>
          <p:cNvSpPr/>
          <p:nvPr/>
        </p:nvSpPr>
        <p:spPr>
          <a:xfrm>
            <a:off x="6413340" y="3400638"/>
            <a:ext cx="76198" cy="76198"/>
          </a:xfrm>
          <a:prstGeom prst="roundRect">
            <a:avLst>
              <a:gd name="adj" fmla="val 25000"/>
            </a:avLst>
          </a:prstGeom>
          <a:solidFill>
            <a:srgbClr val="22C2F4"/>
          </a:solidFill>
          <a:ln/>
        </p:spPr>
      </p:sp>
      <p:sp>
        <p:nvSpPr>
          <p:cNvPr id="23" name="Text 21"/>
          <p:cNvSpPr txBox="1"/>
          <p:nvPr/>
        </p:nvSpPr>
        <p:spPr>
          <a:xfrm>
            <a:off x="6603835" y="3318090"/>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2 projetos sem código da ferramenta</a:t>
            </a:r>
            <a:endParaRPr lang="en-US" sz="1200" dirty="0"/>
          </a:p>
        </p:txBody>
      </p:sp>
      <p:sp>
        <p:nvSpPr>
          <p:cNvPr id="24" name="Shape 22"/>
          <p:cNvSpPr/>
          <p:nvPr/>
        </p:nvSpPr>
        <p:spPr>
          <a:xfrm>
            <a:off x="761981" y="4578930"/>
            <a:ext cx="10667733" cy="692728"/>
          </a:xfrm>
          <a:prstGeom prst="roundRect">
            <a:avLst>
              <a:gd name="adj" fmla="val 16500"/>
            </a:avLst>
          </a:prstGeom>
          <a:solidFill>
            <a:srgbClr val="0C0C10"/>
          </a:solidFill>
          <a:ln w="6350">
            <a:solidFill>
              <a:srgbClr val="2F2F39"/>
            </a:solidFill>
            <a:prstDash val="solid"/>
          </a:ln>
        </p:spPr>
      </p:sp>
      <p:sp>
        <p:nvSpPr>
          <p:cNvPr id="25" name="Text 23"/>
          <p:cNvSpPr txBox="1"/>
          <p:nvPr/>
        </p:nvSpPr>
        <p:spPr>
          <a:xfrm>
            <a:off x="958826" y="4750376"/>
            <a:ext cx="10691609" cy="356186"/>
          </a:xfrm>
          <a:prstGeom prst="rect">
            <a:avLst/>
          </a:prstGeom>
          <a:noFill/>
          <a:ln/>
        </p:spPr>
        <p:txBody>
          <a:bodyPr wrap="square" lIns="0" tIns="0" rIns="0" bIns="0" rtlCol="0" anchor="t"/>
          <a:lstStyle/>
          <a:p>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projeto_id | cliente              | ferramenta | codigo_ferramenta                          | valor_contrato | data_inicio</a:t>
            </a:r>
            <a:endParaRPr lang="en-US" sz="950" dirty="0"/>
          </a:p>
          <a:p>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PRJ-001    | Fintech Pagar Fácil  | MS Project | PRJ-001_migracao_do_mainframe_para_clo.xml | 7957000.00     | 14/03/2025</a:t>
            </a:r>
            <a:endParaRPr lang="en-US" sz="950" dirty="0"/>
          </a:p>
        </p:txBody>
      </p:sp>
      <p:pic>
        <p:nvPicPr>
          <p:cNvPr id="26"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27" name="Text 24"/>
          <p:cNvSpPr txBox="1"/>
          <p:nvPr/>
        </p:nvSpPr>
        <p:spPr>
          <a:xfrm>
            <a:off x="10946928" y="6387940"/>
            <a:ext cx="502098"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39 / 133</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BRONZE · 2 DE 9 · BRONZE.STATUS_SEMANAL</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Toda sexta, o gerente escreve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o que aconteceu</a:t>
            </a:r>
            <a:endParaRPr lang="en-US" sz="3100" dirty="0"/>
          </a:p>
        </p:txBody>
      </p:sp>
      <p:sp>
        <p:nvSpPr>
          <p:cNvPr id="4" name="Shape 2"/>
          <p:cNvSpPr/>
          <p:nvPr/>
        </p:nvSpPr>
        <p:spPr>
          <a:xfrm>
            <a:off x="761981" y="1582301"/>
            <a:ext cx="5238619" cy="1911005"/>
          </a:xfrm>
          <a:prstGeom prst="roundRect">
            <a:avLst>
              <a:gd name="adj" fmla="val 7975"/>
            </a:avLst>
          </a:prstGeom>
          <a:solidFill>
            <a:srgbClr val="1E1E24"/>
          </a:solidFill>
          <a:ln w="6350">
            <a:solidFill>
              <a:srgbClr val="2F2F39"/>
            </a:solidFill>
            <a:prstDash val="solid"/>
          </a:ln>
        </p:spPr>
      </p:sp>
      <p:sp>
        <p:nvSpPr>
          <p:cNvPr id="5" name="Shape 3"/>
          <p:cNvSpPr/>
          <p:nvPr/>
        </p:nvSpPr>
        <p:spPr>
          <a:xfrm>
            <a:off x="984225" y="1779146"/>
            <a:ext cx="616034" cy="247644"/>
          </a:xfrm>
          <a:prstGeom prst="roundRect">
            <a:avLst>
              <a:gd name="adj" fmla="val 50000"/>
            </a:avLst>
          </a:prstGeom>
          <a:solidFill>
            <a:srgbClr val="22C2F4">
              <a:alpha val="14000"/>
            </a:srgbClr>
          </a:solidFill>
          <a:ln/>
        </p:spPr>
      </p:sp>
      <p:sp>
        <p:nvSpPr>
          <p:cNvPr id="6" name="Text 4"/>
          <p:cNvSpPr txBox="1"/>
          <p:nvPr/>
        </p:nvSpPr>
        <p:spPr>
          <a:xfrm>
            <a:off x="1073123" y="1817245"/>
            <a:ext cx="455768"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O que é</a:t>
            </a:r>
            <a:endParaRPr lang="en-US" sz="900" dirty="0"/>
          </a:p>
        </p:txBody>
      </p:sp>
      <p:sp>
        <p:nvSpPr>
          <p:cNvPr id="7" name="Shape 5"/>
          <p:cNvSpPr/>
          <p:nvPr/>
        </p:nvSpPr>
        <p:spPr>
          <a:xfrm>
            <a:off x="984225" y="2198236"/>
            <a:ext cx="76198" cy="76198"/>
          </a:xfrm>
          <a:prstGeom prst="roundRect">
            <a:avLst>
              <a:gd name="adj" fmla="val 25000"/>
            </a:avLst>
          </a:prstGeom>
          <a:solidFill>
            <a:srgbClr val="22C2F4"/>
          </a:solidFill>
          <a:ln/>
        </p:spPr>
      </p:sp>
      <p:sp>
        <p:nvSpPr>
          <p:cNvPr id="8" name="Text 6"/>
          <p:cNvSpPr txBox="1"/>
          <p:nvPr/>
        </p:nvSpPr>
        <p:spPr>
          <a:xfrm>
            <a:off x="1174721" y="2115688"/>
            <a:ext cx="4787780" cy="205675"/>
          </a:xfrm>
          <a:prstGeom prst="rect">
            <a:avLst/>
          </a:prstGeom>
          <a:noFill/>
          <a:ln/>
        </p:spPr>
        <p:txBody>
          <a:bodyPr wrap="square" lIns="0" tIns="0" rIns="0" bIns="0" rtlCol="0" anchor="t"/>
          <a:lstStyle/>
          <a:p>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3.911 linhas</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projeto × sexta-feira</a:t>
            </a:r>
            <a:endParaRPr lang="en-US" sz="1200" dirty="0"/>
          </a:p>
        </p:txBody>
      </p:sp>
      <p:sp>
        <p:nvSpPr>
          <p:cNvPr id="9" name="Shape 7"/>
          <p:cNvSpPr/>
          <p:nvPr/>
        </p:nvSpPr>
        <p:spPr>
          <a:xfrm>
            <a:off x="984225" y="2480109"/>
            <a:ext cx="76198" cy="76198"/>
          </a:xfrm>
          <a:prstGeom prst="roundRect">
            <a:avLst>
              <a:gd name="adj" fmla="val 25000"/>
            </a:avLst>
          </a:prstGeom>
          <a:solidFill>
            <a:srgbClr val="22C2F4"/>
          </a:solidFill>
          <a:ln/>
        </p:spPr>
      </p:sp>
      <p:sp>
        <p:nvSpPr>
          <p:cNvPr id="10" name="Text 8"/>
          <p:cNvSpPr txBox="1"/>
          <p:nvPr/>
        </p:nvSpPr>
        <p:spPr>
          <a:xfrm>
            <a:off x="1174721" y="2397561"/>
            <a:ext cx="4787780"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farol (verde, amarelo, vermelho), % concluído e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texto livre</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com entregas e bloqueios</a:t>
            </a:r>
            <a:endParaRPr lang="en-US" sz="1200" dirty="0"/>
          </a:p>
        </p:txBody>
      </p:sp>
      <p:sp>
        <p:nvSpPr>
          <p:cNvPr id="11" name="Shape 9"/>
          <p:cNvSpPr/>
          <p:nvPr/>
        </p:nvSpPr>
        <p:spPr>
          <a:xfrm>
            <a:off x="984225" y="2967658"/>
            <a:ext cx="76198" cy="76198"/>
          </a:xfrm>
          <a:prstGeom prst="roundRect">
            <a:avLst>
              <a:gd name="adj" fmla="val 25000"/>
            </a:avLst>
          </a:prstGeom>
          <a:solidFill>
            <a:srgbClr val="22C2F4"/>
          </a:solidFill>
          <a:ln/>
        </p:spPr>
      </p:sp>
      <p:sp>
        <p:nvSpPr>
          <p:cNvPr id="12" name="Text 10"/>
          <p:cNvSpPr txBox="1"/>
          <p:nvPr/>
        </p:nvSpPr>
        <p:spPr>
          <a:xfrm>
            <a:off x="1174721" y="2885110"/>
            <a:ext cx="4787780"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é o único histórico de avanço que existe: as ferramentas só guardam o % de hoje</a:t>
            </a:r>
            <a:endParaRPr lang="en-US" sz="1200" dirty="0"/>
          </a:p>
        </p:txBody>
      </p:sp>
      <p:sp>
        <p:nvSpPr>
          <p:cNvPr id="13" name="Shape 11"/>
          <p:cNvSpPr/>
          <p:nvPr/>
        </p:nvSpPr>
        <p:spPr>
          <a:xfrm>
            <a:off x="6191095" y="1582301"/>
            <a:ext cx="5238619" cy="1911005"/>
          </a:xfrm>
          <a:prstGeom prst="roundRect">
            <a:avLst>
              <a:gd name="adj" fmla="val 7975"/>
            </a:avLst>
          </a:prstGeom>
          <a:solidFill>
            <a:srgbClr val="0059DB"/>
          </a:solidFill>
          <a:ln/>
        </p:spPr>
      </p:sp>
      <p:sp>
        <p:nvSpPr>
          <p:cNvPr id="14" name="Shape 12"/>
          <p:cNvSpPr/>
          <p:nvPr/>
        </p:nvSpPr>
        <p:spPr>
          <a:xfrm>
            <a:off x="6413340" y="1779146"/>
            <a:ext cx="682509" cy="247644"/>
          </a:xfrm>
          <a:prstGeom prst="roundRect">
            <a:avLst>
              <a:gd name="adj" fmla="val 50000"/>
            </a:avLst>
          </a:prstGeom>
          <a:solidFill>
            <a:srgbClr val="FFFFFF">
              <a:alpha val="16000"/>
            </a:srgbClr>
          </a:solidFill>
          <a:ln/>
        </p:spPr>
      </p:sp>
      <p:sp>
        <p:nvSpPr>
          <p:cNvPr id="15" name="Text 13"/>
          <p:cNvSpPr txBox="1"/>
          <p:nvPr/>
        </p:nvSpPr>
        <p:spPr>
          <a:xfrm>
            <a:off x="6502237" y="1817245"/>
            <a:ext cx="524902"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A sujeira</a:t>
            </a:r>
            <a:endParaRPr lang="en-US" sz="900" dirty="0"/>
          </a:p>
        </p:txBody>
      </p:sp>
      <p:sp>
        <p:nvSpPr>
          <p:cNvPr id="16" name="Shape 14"/>
          <p:cNvSpPr/>
          <p:nvPr/>
        </p:nvSpPr>
        <p:spPr>
          <a:xfrm>
            <a:off x="6413340" y="2198236"/>
            <a:ext cx="76198" cy="76198"/>
          </a:xfrm>
          <a:prstGeom prst="roundRect">
            <a:avLst>
              <a:gd name="adj" fmla="val 25000"/>
            </a:avLst>
          </a:prstGeom>
          <a:solidFill>
            <a:srgbClr val="22C2F4"/>
          </a:solidFill>
          <a:ln/>
        </p:spPr>
      </p:sp>
      <p:sp>
        <p:nvSpPr>
          <p:cNvPr id="17" name="Text 15"/>
          <p:cNvSpPr txBox="1"/>
          <p:nvPr/>
        </p:nvSpPr>
        <p:spPr>
          <a:xfrm>
            <a:off x="6603835" y="2115688"/>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o farol é do gerente, e gerente é otimista: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32 verdes hoje</a:t>
            </a:r>
            <a:endParaRPr lang="en-US" sz="1200" dirty="0"/>
          </a:p>
        </p:txBody>
      </p:sp>
      <p:sp>
        <p:nvSpPr>
          <p:cNvPr id="18" name="Shape 16"/>
          <p:cNvSpPr/>
          <p:nvPr/>
        </p:nvSpPr>
        <p:spPr>
          <a:xfrm>
            <a:off x="6413340" y="2480109"/>
            <a:ext cx="76198" cy="76198"/>
          </a:xfrm>
          <a:prstGeom prst="roundRect">
            <a:avLst>
              <a:gd name="adj" fmla="val 25000"/>
            </a:avLst>
          </a:prstGeom>
          <a:solidFill>
            <a:srgbClr val="22C2F4"/>
          </a:solidFill>
          <a:ln/>
        </p:spPr>
      </p:sp>
      <p:sp>
        <p:nvSpPr>
          <p:cNvPr id="19" name="Text 17"/>
          <p:cNvSpPr txBox="1"/>
          <p:nvPr/>
        </p:nvSpPr>
        <p:spPr>
          <a:xfrm>
            <a:off x="6603835" y="2397561"/>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farol escrito Verde, VERDE, verde</a:t>
            </a:r>
            <a:endParaRPr lang="en-US" sz="1200" dirty="0"/>
          </a:p>
        </p:txBody>
      </p:sp>
      <p:sp>
        <p:nvSpPr>
          <p:cNvPr id="20" name="Shape 18"/>
          <p:cNvSpPr/>
          <p:nvPr/>
        </p:nvSpPr>
        <p:spPr>
          <a:xfrm>
            <a:off x="6413340" y="2761983"/>
            <a:ext cx="76198" cy="76198"/>
          </a:xfrm>
          <a:prstGeom prst="roundRect">
            <a:avLst>
              <a:gd name="adj" fmla="val 25000"/>
            </a:avLst>
          </a:prstGeom>
          <a:solidFill>
            <a:srgbClr val="22C2F4"/>
          </a:solidFill>
          <a:ln/>
        </p:spPr>
      </p:sp>
      <p:sp>
        <p:nvSpPr>
          <p:cNvPr id="21" name="Text 19"/>
          <p:cNvSpPr txBox="1"/>
          <p:nvPr/>
        </p:nvSpPr>
        <p:spPr>
          <a:xfrm>
            <a:off x="6603835" y="2679435"/>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status vazio, "N/A", "ver ata da reunião", texto em CAIXA ALTA</a:t>
            </a:r>
            <a:endParaRPr lang="en-US" sz="1200" dirty="0"/>
          </a:p>
        </p:txBody>
      </p:sp>
      <p:sp>
        <p:nvSpPr>
          <p:cNvPr id="22" name="Shape 20"/>
          <p:cNvSpPr/>
          <p:nvPr/>
        </p:nvSpPr>
        <p:spPr>
          <a:xfrm>
            <a:off x="761981" y="3658402"/>
            <a:ext cx="10667733" cy="692728"/>
          </a:xfrm>
          <a:prstGeom prst="roundRect">
            <a:avLst>
              <a:gd name="adj" fmla="val 16500"/>
            </a:avLst>
          </a:prstGeom>
          <a:solidFill>
            <a:srgbClr val="0C0C10"/>
          </a:solidFill>
          <a:ln w="6350">
            <a:solidFill>
              <a:srgbClr val="2F2F39"/>
            </a:solidFill>
            <a:prstDash val="solid"/>
          </a:ln>
        </p:spPr>
      </p:sp>
      <p:sp>
        <p:nvSpPr>
          <p:cNvPr id="23" name="Text 21"/>
          <p:cNvSpPr txBox="1"/>
          <p:nvPr/>
        </p:nvSpPr>
        <p:spPr>
          <a:xfrm>
            <a:off x="958826" y="3829847"/>
            <a:ext cx="10691609" cy="356186"/>
          </a:xfrm>
          <a:prstGeom prst="rect">
            <a:avLst/>
          </a:prstGeom>
          <a:noFill/>
          <a:ln/>
        </p:spPr>
        <p:txBody>
          <a:bodyPr wrap="square" lIns="0" tIns="0" rIns="0" bIns="0" rtlCol="0" anchor="t"/>
          <a:lstStyle/>
          <a:p>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PRJ-011 · 2026-10-16 · amarelo · "Bloqueios: Sem SRE alocado: pipeline de deploy quebrado e ninguém para corrigir. Impacto estimado: 1 semana."</a:t>
            </a:r>
            <a:endParaRPr lang="en-US" sz="950" dirty="0"/>
          </a:p>
        </p:txBody>
      </p:sp>
      <p:sp>
        <p:nvSpPr>
          <p:cNvPr id="24" name="Shape 22"/>
          <p:cNvSpPr/>
          <p:nvPr/>
        </p:nvSpPr>
        <p:spPr>
          <a:xfrm>
            <a:off x="761981" y="4465427"/>
            <a:ext cx="25399" cy="285743"/>
          </a:xfrm>
          <a:prstGeom prst="rect">
            <a:avLst/>
          </a:prstGeom>
          <a:solidFill>
            <a:srgbClr val="22C2F4"/>
          </a:solidFill>
          <a:ln/>
        </p:spPr>
      </p:sp>
      <p:sp>
        <p:nvSpPr>
          <p:cNvPr id="25" name="Text 23"/>
          <p:cNvSpPr txBox="1"/>
          <p:nvPr/>
        </p:nvSpPr>
        <p:spPr>
          <a:xfrm>
            <a:off x="914377" y="4503526"/>
            <a:ext cx="10935951" cy="209545"/>
          </a:xfrm>
          <a:prstGeom prst="rect">
            <a:avLst/>
          </a:prstGeom>
          <a:noFill/>
          <a:ln/>
        </p:spPr>
        <p:txBody>
          <a:bodyPr wrap="square" lIns="0" tIns="0" rIns="0" bIns="0" rtlCol="0" anchor="t"/>
          <a:lstStyle/>
          <a:p>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Na noite 2, a IA lê esse texto e devolve a causa como coluna (</a:t>
            </a:r>
            <a:pPr algn="l" indent="0" marL="0">
              <a:lnSpc>
                <a:spcPct val="106838"/>
              </a:lnSpc>
              <a:buNone/>
            </a:pPr>
            <a:r>
              <a:rPr lang="en-US" sz="1100" b="1" dirty="0">
                <a:solidFill>
                  <a:srgbClr val="FFFFFF"/>
                </a:solidFill>
                <a:latin typeface="Poppins" pitchFamily="34" charset="0"/>
                <a:ea typeface="Poppins" pitchFamily="34" charset="-122"/>
                <a:cs typeface="Poppins" pitchFamily="34" charset="-120"/>
              </a:rPr>
              <a:t>gold.status_estruturado</a:t>
            </a:r>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a:t>
            </a:r>
            <a:endParaRPr lang="en-US" sz="1100" dirty="0"/>
          </a:p>
        </p:txBody>
      </p:sp>
      <p:pic>
        <p:nvPicPr>
          <p:cNvPr id="26"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27" name="Text 24"/>
          <p:cNvSpPr txBox="1"/>
          <p:nvPr/>
        </p:nvSpPr>
        <p:spPr>
          <a:xfrm>
            <a:off x="10939487" y="6387940"/>
            <a:ext cx="509837"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40 / 133</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BRONZE · 3 DE 9 · BRONZE.EXCEL_TAREFAS</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20 planilhas,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cada gerente do seu jeito</a:t>
            </a:r>
            <a:endParaRPr lang="en-US" sz="3100" dirty="0"/>
          </a:p>
        </p:txBody>
      </p:sp>
      <p:pic>
        <p:nvPicPr>
          <p:cNvPr id="4" name="Image 0" descr="preencoded.png">    </p:cNvPr>
          <p:cNvPicPr>
            <a:picLocks noChangeAspect="1"/>
          </p:cNvPicPr>
          <p:nvPr/>
        </p:nvPicPr>
        <p:blipFill>
          <a:blip r:embed="rId2"/>
          <a:srcRect l="0" r="0" t="0" b="3964"/>
          <a:stretch/>
        </p:blipFill>
        <p:spPr>
          <a:xfrm>
            <a:off x="761981" y="1582301"/>
            <a:ext cx="5238619" cy="3809905"/>
          </a:xfrm>
          <a:prstGeom prst="rect">
            <a:avLst/>
          </a:prstGeom>
        </p:spPr>
      </p:pic>
      <p:sp>
        <p:nvSpPr>
          <p:cNvPr id="5" name="Shape 2"/>
          <p:cNvSpPr/>
          <p:nvPr/>
        </p:nvSpPr>
        <p:spPr>
          <a:xfrm>
            <a:off x="6191095" y="1582301"/>
            <a:ext cx="5238619" cy="2963689"/>
          </a:xfrm>
          <a:prstGeom prst="roundRect">
            <a:avLst>
              <a:gd name="adj" fmla="val 5142"/>
            </a:avLst>
          </a:prstGeom>
          <a:solidFill>
            <a:srgbClr val="1E1E24"/>
          </a:solidFill>
          <a:ln w="6350">
            <a:solidFill>
              <a:srgbClr val="2F2F39"/>
            </a:solidFill>
            <a:prstDash val="solid"/>
          </a:ln>
        </p:spPr>
      </p:sp>
      <p:sp>
        <p:nvSpPr>
          <p:cNvPr id="6" name="Shape 3"/>
          <p:cNvSpPr/>
          <p:nvPr/>
        </p:nvSpPr>
        <p:spPr>
          <a:xfrm>
            <a:off x="6413340" y="1779146"/>
            <a:ext cx="616034" cy="247644"/>
          </a:xfrm>
          <a:prstGeom prst="roundRect">
            <a:avLst>
              <a:gd name="adj" fmla="val 50000"/>
            </a:avLst>
          </a:prstGeom>
          <a:solidFill>
            <a:srgbClr val="22C2F4">
              <a:alpha val="14000"/>
            </a:srgbClr>
          </a:solidFill>
          <a:ln/>
        </p:spPr>
      </p:sp>
      <p:sp>
        <p:nvSpPr>
          <p:cNvPr id="7" name="Text 4"/>
          <p:cNvSpPr txBox="1"/>
          <p:nvPr/>
        </p:nvSpPr>
        <p:spPr>
          <a:xfrm>
            <a:off x="6502237" y="1817245"/>
            <a:ext cx="455768"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O que é</a:t>
            </a:r>
            <a:endParaRPr lang="en-US" sz="900" dirty="0"/>
          </a:p>
        </p:txBody>
      </p:sp>
      <p:sp>
        <p:nvSpPr>
          <p:cNvPr id="8" name="Shape 5"/>
          <p:cNvSpPr/>
          <p:nvPr/>
        </p:nvSpPr>
        <p:spPr>
          <a:xfrm>
            <a:off x="6413340" y="2198236"/>
            <a:ext cx="76198" cy="76198"/>
          </a:xfrm>
          <a:prstGeom prst="roundRect">
            <a:avLst>
              <a:gd name="adj" fmla="val 25000"/>
            </a:avLst>
          </a:prstGeom>
          <a:solidFill>
            <a:srgbClr val="22C2F4"/>
          </a:solidFill>
          <a:ln/>
        </p:spPr>
      </p:sp>
      <p:sp>
        <p:nvSpPr>
          <p:cNvPr id="9" name="Text 6"/>
          <p:cNvSpPr txBox="1"/>
          <p:nvPr/>
        </p:nvSpPr>
        <p:spPr>
          <a:xfrm>
            <a:off x="6603835" y="2115688"/>
            <a:ext cx="4787780" cy="205675"/>
          </a:xfrm>
          <a:prstGeom prst="rect">
            <a:avLst/>
          </a:prstGeom>
          <a:noFill/>
          <a:ln/>
        </p:spPr>
        <p:txBody>
          <a:bodyPr wrap="square" lIns="0" tIns="0" rIns="0" bIns="0" rtlCol="0" anchor="t"/>
          <a:lstStyle/>
          <a:p>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1.663 linhas</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uma por linha de planilha</a:t>
            </a:r>
            <a:endParaRPr lang="en-US" sz="1200" dirty="0"/>
          </a:p>
        </p:txBody>
      </p:sp>
      <p:sp>
        <p:nvSpPr>
          <p:cNvPr id="10" name="Shape 7"/>
          <p:cNvSpPr/>
          <p:nvPr/>
        </p:nvSpPr>
        <p:spPr>
          <a:xfrm>
            <a:off x="6413340" y="2480109"/>
            <a:ext cx="76198" cy="76198"/>
          </a:xfrm>
          <a:prstGeom prst="roundRect">
            <a:avLst>
              <a:gd name="adj" fmla="val 25000"/>
            </a:avLst>
          </a:prstGeom>
          <a:solidFill>
            <a:srgbClr val="22C2F4"/>
          </a:solidFill>
          <a:ln/>
        </p:spPr>
      </p:sp>
      <p:sp>
        <p:nvSpPr>
          <p:cNvPr id="11" name="Text 8"/>
          <p:cNvSpPr txBox="1"/>
          <p:nvPr/>
        </p:nvSpPr>
        <p:spPr>
          <a:xfrm>
            <a:off x="6603835" y="2397561"/>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o read_files aponta para a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pasta</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lê as 20 de uma vez</a:t>
            </a:r>
            <a:endParaRPr lang="en-US" sz="1200" dirty="0"/>
          </a:p>
        </p:txBody>
      </p:sp>
      <p:sp>
        <p:nvSpPr>
          <p:cNvPr id="12" name="Shape 9"/>
          <p:cNvSpPr/>
          <p:nvPr/>
        </p:nvSpPr>
        <p:spPr>
          <a:xfrm>
            <a:off x="6413340" y="2761983"/>
            <a:ext cx="76198" cy="76198"/>
          </a:xfrm>
          <a:prstGeom prst="roundRect">
            <a:avLst>
              <a:gd name="adj" fmla="val 25000"/>
            </a:avLst>
          </a:prstGeom>
          <a:solidFill>
            <a:srgbClr val="22C2F4"/>
          </a:solidFill>
          <a:ln/>
        </p:spPr>
      </p:sp>
      <p:sp>
        <p:nvSpPr>
          <p:cNvPr id="13" name="Text 10"/>
          <p:cNvSpPr txBox="1"/>
          <p:nvPr/>
        </p:nvSpPr>
        <p:spPr>
          <a:xfrm>
            <a:off x="6603835" y="2679435"/>
            <a:ext cx="4787780"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colunas renomeadas ("% Concluído" → pct_concluido), valor intocado</a:t>
            </a:r>
            <a:endParaRPr lang="en-US" sz="1200" dirty="0"/>
          </a:p>
        </p:txBody>
      </p:sp>
      <p:sp>
        <p:nvSpPr>
          <p:cNvPr id="14" name="Shape 11"/>
          <p:cNvSpPr/>
          <p:nvPr/>
        </p:nvSpPr>
        <p:spPr>
          <a:xfrm>
            <a:off x="6413340" y="3243181"/>
            <a:ext cx="682509" cy="247644"/>
          </a:xfrm>
          <a:prstGeom prst="roundRect">
            <a:avLst>
              <a:gd name="adj" fmla="val 50000"/>
            </a:avLst>
          </a:prstGeom>
          <a:solidFill>
            <a:srgbClr val="22C2F4">
              <a:alpha val="14000"/>
            </a:srgbClr>
          </a:solidFill>
          <a:ln/>
        </p:spPr>
      </p:sp>
      <p:sp>
        <p:nvSpPr>
          <p:cNvPr id="15" name="Text 12"/>
          <p:cNvSpPr txBox="1"/>
          <p:nvPr/>
        </p:nvSpPr>
        <p:spPr>
          <a:xfrm>
            <a:off x="6502237" y="3281280"/>
            <a:ext cx="524902"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A sujeira</a:t>
            </a:r>
            <a:endParaRPr lang="en-US" sz="900" dirty="0"/>
          </a:p>
        </p:txBody>
      </p:sp>
      <p:sp>
        <p:nvSpPr>
          <p:cNvPr id="16" name="Shape 13"/>
          <p:cNvSpPr/>
          <p:nvPr/>
        </p:nvSpPr>
        <p:spPr>
          <a:xfrm>
            <a:off x="6413340" y="3662271"/>
            <a:ext cx="76198" cy="76198"/>
          </a:xfrm>
          <a:prstGeom prst="roundRect">
            <a:avLst>
              <a:gd name="adj" fmla="val 25000"/>
            </a:avLst>
          </a:prstGeom>
          <a:solidFill>
            <a:srgbClr val="22C2F4"/>
          </a:solidFill>
          <a:ln/>
        </p:spPr>
      </p:sp>
      <p:sp>
        <p:nvSpPr>
          <p:cNvPr id="17" name="Text 14"/>
          <p:cNvSpPr txBox="1"/>
          <p:nvPr/>
        </p:nvSpPr>
        <p:spPr>
          <a:xfrm>
            <a:off x="6603835" y="3579723"/>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data como texto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ou</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número de série (45700 = 13/02/2025)</a:t>
            </a:r>
            <a:endParaRPr lang="en-US" sz="1200" dirty="0"/>
          </a:p>
        </p:txBody>
      </p:sp>
      <p:sp>
        <p:nvSpPr>
          <p:cNvPr id="18" name="Shape 15"/>
          <p:cNvSpPr/>
          <p:nvPr/>
        </p:nvSpPr>
        <p:spPr>
          <a:xfrm>
            <a:off x="6413340" y="3944144"/>
            <a:ext cx="76198" cy="76198"/>
          </a:xfrm>
          <a:prstGeom prst="roundRect">
            <a:avLst>
              <a:gd name="adj" fmla="val 25000"/>
            </a:avLst>
          </a:prstGeom>
          <a:solidFill>
            <a:srgbClr val="22C2F4"/>
          </a:solidFill>
          <a:ln/>
        </p:spPr>
      </p:sp>
      <p:sp>
        <p:nvSpPr>
          <p:cNvPr id="19" name="Text 16"/>
          <p:cNvSpPr txBox="1"/>
          <p:nvPr/>
        </p:nvSpPr>
        <p:spPr>
          <a:xfrm>
            <a:off x="6603835" y="3861596"/>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como "45%" ou 0.45, e 11 tarefas acima de 100%</a:t>
            </a:r>
            <a:endParaRPr lang="en-US" sz="1200" dirty="0"/>
          </a:p>
        </p:txBody>
      </p:sp>
      <p:sp>
        <p:nvSpPr>
          <p:cNvPr id="20" name="Shape 17"/>
          <p:cNvSpPr/>
          <p:nvPr/>
        </p:nvSpPr>
        <p:spPr>
          <a:xfrm>
            <a:off x="6413340" y="4226018"/>
            <a:ext cx="76198" cy="76198"/>
          </a:xfrm>
          <a:prstGeom prst="roundRect">
            <a:avLst>
              <a:gd name="adj" fmla="val 25000"/>
            </a:avLst>
          </a:prstGeom>
          <a:solidFill>
            <a:srgbClr val="22C2F4"/>
          </a:solidFill>
          <a:ln/>
        </p:spPr>
      </p:sp>
      <p:sp>
        <p:nvSpPr>
          <p:cNvPr id="21" name="Text 18"/>
          <p:cNvSpPr txBox="1"/>
          <p:nvPr/>
        </p:nvSpPr>
        <p:spPr>
          <a:xfrm>
            <a:off x="6603835" y="4143470"/>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uma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linha de TOTAL</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no fim que soma tudo de novo</a:t>
            </a:r>
            <a:endParaRPr lang="en-US" sz="1200" dirty="0"/>
          </a:p>
        </p:txBody>
      </p:sp>
      <p:pic>
        <p:nvPicPr>
          <p:cNvPr id="22" name="Image 1" descr="preencoded.png">    </p:cNvPr>
          <p:cNvPicPr>
            <a:picLocks noChangeAspect="1"/>
          </p:cNvPicPr>
          <p:nvPr/>
        </p:nvPicPr>
        <p:blipFill>
          <a:blip r:embed="rId3"/>
          <a:stretch>
            <a:fillRect/>
          </a:stretch>
        </p:blipFill>
        <p:spPr>
          <a:xfrm>
            <a:off x="761981" y="6387940"/>
            <a:ext cx="2059928" cy="190495"/>
          </a:xfrm>
          <a:prstGeom prst="rect">
            <a:avLst/>
          </a:prstGeom>
        </p:spPr>
      </p:pic>
      <p:sp>
        <p:nvSpPr>
          <p:cNvPr id="23" name="Text 19"/>
          <p:cNvSpPr txBox="1"/>
          <p:nvPr/>
        </p:nvSpPr>
        <p:spPr>
          <a:xfrm>
            <a:off x="10976395" y="6387940"/>
            <a:ext cx="471452"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41 / 133</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BRONZE · 4 DE 9 · BRONZE.CLICKUP_TAREFAS</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25 exports da API,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lista dentro de lista</a:t>
            </a:r>
            <a:endParaRPr lang="en-US" sz="3100" dirty="0"/>
          </a:p>
        </p:txBody>
      </p:sp>
      <p:pic>
        <p:nvPicPr>
          <p:cNvPr id="4" name="Image 0" descr="preencoded.png">    </p:cNvPr>
          <p:cNvPicPr>
            <a:picLocks noChangeAspect="1"/>
          </p:cNvPicPr>
          <p:nvPr/>
        </p:nvPicPr>
        <p:blipFill>
          <a:blip r:embed="rId2"/>
          <a:srcRect l="0" r="0" t="0" b="4080"/>
          <a:stretch/>
        </p:blipFill>
        <p:spPr>
          <a:xfrm>
            <a:off x="761981" y="1582301"/>
            <a:ext cx="5238619" cy="3809905"/>
          </a:xfrm>
          <a:prstGeom prst="rect">
            <a:avLst/>
          </a:prstGeom>
        </p:spPr>
      </p:pic>
      <p:sp>
        <p:nvSpPr>
          <p:cNvPr id="5" name="Shape 2"/>
          <p:cNvSpPr/>
          <p:nvPr/>
        </p:nvSpPr>
        <p:spPr>
          <a:xfrm>
            <a:off x="6191095" y="1582301"/>
            <a:ext cx="5238619" cy="2887491"/>
          </a:xfrm>
          <a:prstGeom prst="roundRect">
            <a:avLst>
              <a:gd name="adj" fmla="val 5278"/>
            </a:avLst>
          </a:prstGeom>
          <a:solidFill>
            <a:srgbClr val="1E1E24"/>
          </a:solidFill>
          <a:ln w="6350">
            <a:solidFill>
              <a:srgbClr val="2F2F39"/>
            </a:solidFill>
            <a:prstDash val="solid"/>
          </a:ln>
        </p:spPr>
      </p:sp>
      <p:sp>
        <p:nvSpPr>
          <p:cNvPr id="6" name="Shape 3"/>
          <p:cNvSpPr/>
          <p:nvPr/>
        </p:nvSpPr>
        <p:spPr>
          <a:xfrm>
            <a:off x="6413340" y="1779146"/>
            <a:ext cx="616034" cy="247644"/>
          </a:xfrm>
          <a:prstGeom prst="roundRect">
            <a:avLst>
              <a:gd name="adj" fmla="val 50000"/>
            </a:avLst>
          </a:prstGeom>
          <a:solidFill>
            <a:srgbClr val="22C2F4">
              <a:alpha val="14000"/>
            </a:srgbClr>
          </a:solidFill>
          <a:ln/>
        </p:spPr>
      </p:sp>
      <p:sp>
        <p:nvSpPr>
          <p:cNvPr id="7" name="Text 4"/>
          <p:cNvSpPr txBox="1"/>
          <p:nvPr/>
        </p:nvSpPr>
        <p:spPr>
          <a:xfrm>
            <a:off x="6502237" y="1817245"/>
            <a:ext cx="455768"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O que é</a:t>
            </a:r>
            <a:endParaRPr lang="en-US" sz="900" dirty="0"/>
          </a:p>
        </p:txBody>
      </p:sp>
      <p:sp>
        <p:nvSpPr>
          <p:cNvPr id="8" name="Shape 5"/>
          <p:cNvSpPr/>
          <p:nvPr/>
        </p:nvSpPr>
        <p:spPr>
          <a:xfrm>
            <a:off x="6413340" y="2198236"/>
            <a:ext cx="76198" cy="76198"/>
          </a:xfrm>
          <a:prstGeom prst="roundRect">
            <a:avLst>
              <a:gd name="adj" fmla="val 25000"/>
            </a:avLst>
          </a:prstGeom>
          <a:solidFill>
            <a:srgbClr val="22C2F4"/>
          </a:solidFill>
          <a:ln/>
        </p:spPr>
      </p:sp>
      <p:sp>
        <p:nvSpPr>
          <p:cNvPr id="9" name="Text 6"/>
          <p:cNvSpPr txBox="1"/>
          <p:nvPr/>
        </p:nvSpPr>
        <p:spPr>
          <a:xfrm>
            <a:off x="6603835" y="2115688"/>
            <a:ext cx="4787780" cy="411351"/>
          </a:xfrm>
          <a:prstGeom prst="rect">
            <a:avLst/>
          </a:prstGeom>
          <a:noFill/>
          <a:ln/>
        </p:spPr>
        <p:txBody>
          <a:bodyPr wrap="square" lIns="0" tIns="0" rIns="0" bIns="0" rtlCol="0" anchor="t"/>
          <a:lstStyle/>
          <a:p>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2.119 linhas</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cada arquivo é uma lista (um projeto),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explode()</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abre uma linha por tarefa</a:t>
            </a:r>
            <a:endParaRPr lang="en-US" sz="1200" dirty="0"/>
          </a:p>
        </p:txBody>
      </p:sp>
      <p:sp>
        <p:nvSpPr>
          <p:cNvPr id="10" name="Shape 7"/>
          <p:cNvSpPr/>
          <p:nvPr/>
        </p:nvSpPr>
        <p:spPr>
          <a:xfrm>
            <a:off x="6413340" y="2685784"/>
            <a:ext cx="76198" cy="76198"/>
          </a:xfrm>
          <a:prstGeom prst="roundRect">
            <a:avLst>
              <a:gd name="adj" fmla="val 25000"/>
            </a:avLst>
          </a:prstGeom>
          <a:solidFill>
            <a:srgbClr val="22C2F4"/>
          </a:solidFill>
          <a:ln/>
        </p:spPr>
      </p:sp>
      <p:sp>
        <p:nvSpPr>
          <p:cNvPr id="11" name="Text 8"/>
          <p:cNvSpPr txBox="1"/>
          <p:nvPr/>
        </p:nvSpPr>
        <p:spPr>
          <a:xfrm>
            <a:off x="6603835" y="2603236"/>
            <a:ext cx="4787780"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no JSON a gente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deixa inferir</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o tipo: é o que mantém a estrutura aninhada</a:t>
            </a:r>
            <a:endParaRPr lang="en-US" sz="1200" dirty="0"/>
          </a:p>
        </p:txBody>
      </p:sp>
      <p:sp>
        <p:nvSpPr>
          <p:cNvPr id="12" name="Shape 9"/>
          <p:cNvSpPr/>
          <p:nvPr/>
        </p:nvSpPr>
        <p:spPr>
          <a:xfrm>
            <a:off x="6413340" y="3166983"/>
            <a:ext cx="682509" cy="247644"/>
          </a:xfrm>
          <a:prstGeom prst="roundRect">
            <a:avLst>
              <a:gd name="adj" fmla="val 50000"/>
            </a:avLst>
          </a:prstGeom>
          <a:solidFill>
            <a:srgbClr val="22C2F4">
              <a:alpha val="14000"/>
            </a:srgbClr>
          </a:solidFill>
          <a:ln/>
        </p:spPr>
      </p:sp>
      <p:sp>
        <p:nvSpPr>
          <p:cNvPr id="13" name="Text 10"/>
          <p:cNvSpPr txBox="1"/>
          <p:nvPr/>
        </p:nvSpPr>
        <p:spPr>
          <a:xfrm>
            <a:off x="6502237" y="3205082"/>
            <a:ext cx="524902"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A sujeira</a:t>
            </a:r>
            <a:endParaRPr lang="en-US" sz="900" dirty="0"/>
          </a:p>
        </p:txBody>
      </p:sp>
      <p:sp>
        <p:nvSpPr>
          <p:cNvPr id="14" name="Shape 11"/>
          <p:cNvSpPr/>
          <p:nvPr/>
        </p:nvSpPr>
        <p:spPr>
          <a:xfrm>
            <a:off x="6413340" y="3586073"/>
            <a:ext cx="76198" cy="76198"/>
          </a:xfrm>
          <a:prstGeom prst="roundRect">
            <a:avLst>
              <a:gd name="adj" fmla="val 25000"/>
            </a:avLst>
          </a:prstGeom>
          <a:solidFill>
            <a:srgbClr val="22C2F4"/>
          </a:solidFill>
          <a:ln/>
        </p:spPr>
      </p:sp>
      <p:sp>
        <p:nvSpPr>
          <p:cNvPr id="15" name="Text 12"/>
          <p:cNvSpPr txBox="1"/>
          <p:nvPr/>
        </p:nvSpPr>
        <p:spPr>
          <a:xfrm>
            <a:off x="6603835" y="3503525"/>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datas em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milissegundos</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desde 1970</a:t>
            </a:r>
            <a:endParaRPr lang="en-US" sz="1200" dirty="0"/>
          </a:p>
        </p:txBody>
      </p:sp>
      <p:sp>
        <p:nvSpPr>
          <p:cNvPr id="16" name="Shape 13"/>
          <p:cNvSpPr/>
          <p:nvPr/>
        </p:nvSpPr>
        <p:spPr>
          <a:xfrm>
            <a:off x="6413340" y="3867946"/>
            <a:ext cx="76198" cy="76198"/>
          </a:xfrm>
          <a:prstGeom prst="roundRect">
            <a:avLst>
              <a:gd name="adj" fmla="val 25000"/>
            </a:avLst>
          </a:prstGeom>
          <a:solidFill>
            <a:srgbClr val="22C2F4"/>
          </a:solidFill>
          <a:ln/>
        </p:spPr>
      </p:sp>
      <p:sp>
        <p:nvSpPr>
          <p:cNvPr id="17" name="Text 14"/>
          <p:cNvSpPr txBox="1"/>
          <p:nvPr/>
        </p:nvSpPr>
        <p:spPr>
          <a:xfrm>
            <a:off x="6603835" y="3785398"/>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status escrito de 12 jeitos (to do, Em andamento, DONE…)</a:t>
            </a:r>
            <a:endParaRPr lang="en-US" sz="1200" dirty="0"/>
          </a:p>
        </p:txBody>
      </p:sp>
      <p:sp>
        <p:nvSpPr>
          <p:cNvPr id="18" name="Shape 15"/>
          <p:cNvSpPr/>
          <p:nvPr/>
        </p:nvSpPr>
        <p:spPr>
          <a:xfrm>
            <a:off x="6413340" y="4149820"/>
            <a:ext cx="76198" cy="76198"/>
          </a:xfrm>
          <a:prstGeom prst="roundRect">
            <a:avLst>
              <a:gd name="adj" fmla="val 25000"/>
            </a:avLst>
          </a:prstGeom>
          <a:solidFill>
            <a:srgbClr val="22C2F4"/>
          </a:solidFill>
          <a:ln/>
        </p:spPr>
      </p:sp>
      <p:sp>
        <p:nvSpPr>
          <p:cNvPr id="19" name="Text 16"/>
          <p:cNvSpPr txBox="1"/>
          <p:nvPr/>
        </p:nvSpPr>
        <p:spPr>
          <a:xfrm>
            <a:off x="6603835" y="4067272"/>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o % e a baseline escondidos numa lista de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custom_fields</a:t>
            </a:r>
            <a:endParaRPr lang="en-US" sz="1200" dirty="0"/>
          </a:p>
        </p:txBody>
      </p:sp>
      <p:pic>
        <p:nvPicPr>
          <p:cNvPr id="20" name="Image 1" descr="preencoded.png">    </p:cNvPr>
          <p:cNvPicPr>
            <a:picLocks noChangeAspect="1"/>
          </p:cNvPicPr>
          <p:nvPr/>
        </p:nvPicPr>
        <p:blipFill>
          <a:blip r:embed="rId3"/>
          <a:stretch>
            <a:fillRect/>
          </a:stretch>
        </p:blipFill>
        <p:spPr>
          <a:xfrm>
            <a:off x="761981" y="6387940"/>
            <a:ext cx="2059928" cy="190495"/>
          </a:xfrm>
          <a:prstGeom prst="rect">
            <a:avLst/>
          </a:prstGeom>
        </p:spPr>
      </p:pic>
      <p:sp>
        <p:nvSpPr>
          <p:cNvPr id="21" name="Text 17"/>
          <p:cNvSpPr txBox="1"/>
          <p:nvPr/>
        </p:nvSpPr>
        <p:spPr>
          <a:xfrm>
            <a:off x="10947622" y="6387940"/>
            <a:ext cx="501376"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42 / 133</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BRONZE · 5 DE 9 · BRONZE.MSPROJECT_TAREFAS</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15 cronogramas do Project,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uma &lt;Task&gt; por linha</a:t>
            </a:r>
            <a:endParaRPr lang="en-US" sz="3100" dirty="0"/>
          </a:p>
        </p:txBody>
      </p:sp>
      <p:pic>
        <p:nvPicPr>
          <p:cNvPr id="4" name="Image 0" descr="preencoded.png">    </p:cNvPr>
          <p:cNvPicPr>
            <a:picLocks noChangeAspect="1"/>
          </p:cNvPicPr>
          <p:nvPr/>
        </p:nvPicPr>
        <p:blipFill>
          <a:blip r:embed="rId2"/>
          <a:srcRect l="0" r="0" t="0" b="4080"/>
          <a:stretch/>
        </p:blipFill>
        <p:spPr>
          <a:xfrm>
            <a:off x="761981" y="1582301"/>
            <a:ext cx="5238619" cy="3809905"/>
          </a:xfrm>
          <a:prstGeom prst="rect">
            <a:avLst/>
          </a:prstGeom>
        </p:spPr>
      </p:pic>
      <p:sp>
        <p:nvSpPr>
          <p:cNvPr id="5" name="Shape 2"/>
          <p:cNvSpPr/>
          <p:nvPr/>
        </p:nvSpPr>
        <p:spPr>
          <a:xfrm>
            <a:off x="6191095" y="1582301"/>
            <a:ext cx="5238619" cy="2887491"/>
          </a:xfrm>
          <a:prstGeom prst="roundRect">
            <a:avLst>
              <a:gd name="adj" fmla="val 5278"/>
            </a:avLst>
          </a:prstGeom>
          <a:solidFill>
            <a:srgbClr val="1E1E24"/>
          </a:solidFill>
          <a:ln w="6350">
            <a:solidFill>
              <a:srgbClr val="2F2F39"/>
            </a:solidFill>
            <a:prstDash val="solid"/>
          </a:ln>
        </p:spPr>
      </p:sp>
      <p:sp>
        <p:nvSpPr>
          <p:cNvPr id="6" name="Shape 3"/>
          <p:cNvSpPr/>
          <p:nvPr/>
        </p:nvSpPr>
        <p:spPr>
          <a:xfrm>
            <a:off x="6413340" y="1779146"/>
            <a:ext cx="616034" cy="247644"/>
          </a:xfrm>
          <a:prstGeom prst="roundRect">
            <a:avLst>
              <a:gd name="adj" fmla="val 50000"/>
            </a:avLst>
          </a:prstGeom>
          <a:solidFill>
            <a:srgbClr val="22C2F4">
              <a:alpha val="14000"/>
            </a:srgbClr>
          </a:solidFill>
          <a:ln/>
        </p:spPr>
      </p:sp>
      <p:sp>
        <p:nvSpPr>
          <p:cNvPr id="7" name="Text 4"/>
          <p:cNvSpPr txBox="1"/>
          <p:nvPr/>
        </p:nvSpPr>
        <p:spPr>
          <a:xfrm>
            <a:off x="6502237" y="1817245"/>
            <a:ext cx="455768"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O que é</a:t>
            </a:r>
            <a:endParaRPr lang="en-US" sz="900" dirty="0"/>
          </a:p>
        </p:txBody>
      </p:sp>
      <p:sp>
        <p:nvSpPr>
          <p:cNvPr id="8" name="Shape 5"/>
          <p:cNvSpPr/>
          <p:nvPr/>
        </p:nvSpPr>
        <p:spPr>
          <a:xfrm>
            <a:off x="6413340" y="2198236"/>
            <a:ext cx="76198" cy="76198"/>
          </a:xfrm>
          <a:prstGeom prst="roundRect">
            <a:avLst>
              <a:gd name="adj" fmla="val 25000"/>
            </a:avLst>
          </a:prstGeom>
          <a:solidFill>
            <a:srgbClr val="22C2F4"/>
          </a:solidFill>
          <a:ln/>
        </p:spPr>
      </p:sp>
      <p:sp>
        <p:nvSpPr>
          <p:cNvPr id="9" name="Text 6"/>
          <p:cNvSpPr txBox="1"/>
          <p:nvPr/>
        </p:nvSpPr>
        <p:spPr>
          <a:xfrm>
            <a:off x="6603835" y="2115688"/>
            <a:ext cx="4787780" cy="411351"/>
          </a:xfrm>
          <a:prstGeom prst="rect">
            <a:avLst/>
          </a:prstGeom>
          <a:noFill/>
          <a:ln/>
        </p:spPr>
        <p:txBody>
          <a:bodyPr wrap="square" lIns="0" tIns="0" rIns="0" bIns="0" rtlCol="0" anchor="t"/>
          <a:lstStyle/>
          <a:p>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1.260 linhas</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com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rowTag =&gt; 'Task'</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cada &lt;Task&gt; vira uma linha</a:t>
            </a:r>
            <a:endParaRPr lang="en-US" sz="1200" dirty="0"/>
          </a:p>
        </p:txBody>
      </p:sp>
      <p:sp>
        <p:nvSpPr>
          <p:cNvPr id="10" name="Shape 7"/>
          <p:cNvSpPr/>
          <p:nvPr/>
        </p:nvSpPr>
        <p:spPr>
          <a:xfrm>
            <a:off x="6413340" y="2685784"/>
            <a:ext cx="76198" cy="76198"/>
          </a:xfrm>
          <a:prstGeom prst="roundRect">
            <a:avLst>
              <a:gd name="adj" fmla="val 25000"/>
            </a:avLst>
          </a:prstGeom>
          <a:solidFill>
            <a:srgbClr val="22C2F4"/>
          </a:solidFill>
          <a:ln/>
        </p:spPr>
      </p:sp>
      <p:sp>
        <p:nvSpPr>
          <p:cNvPr id="11" name="Text 8"/>
          <p:cNvSpPr txBox="1"/>
          <p:nvPr/>
        </p:nvSpPr>
        <p:spPr>
          <a:xfrm>
            <a:off x="6603835" y="2603236"/>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baseline, início e fim reais e % concluído, tudo aninhado</a:t>
            </a:r>
            <a:endParaRPr lang="en-US" sz="1200" dirty="0"/>
          </a:p>
        </p:txBody>
      </p:sp>
      <p:sp>
        <p:nvSpPr>
          <p:cNvPr id="12" name="Shape 9"/>
          <p:cNvSpPr/>
          <p:nvPr/>
        </p:nvSpPr>
        <p:spPr>
          <a:xfrm>
            <a:off x="6413340" y="2961308"/>
            <a:ext cx="682509" cy="247644"/>
          </a:xfrm>
          <a:prstGeom prst="roundRect">
            <a:avLst>
              <a:gd name="adj" fmla="val 50000"/>
            </a:avLst>
          </a:prstGeom>
          <a:solidFill>
            <a:srgbClr val="22C2F4">
              <a:alpha val="14000"/>
            </a:srgbClr>
          </a:solidFill>
          <a:ln/>
        </p:spPr>
      </p:sp>
      <p:sp>
        <p:nvSpPr>
          <p:cNvPr id="13" name="Text 10"/>
          <p:cNvSpPr txBox="1"/>
          <p:nvPr/>
        </p:nvSpPr>
        <p:spPr>
          <a:xfrm>
            <a:off x="6502237" y="2999407"/>
            <a:ext cx="524902"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A sujeira</a:t>
            </a:r>
            <a:endParaRPr lang="en-US" sz="900" dirty="0"/>
          </a:p>
        </p:txBody>
      </p:sp>
      <p:sp>
        <p:nvSpPr>
          <p:cNvPr id="14" name="Shape 11"/>
          <p:cNvSpPr/>
          <p:nvPr/>
        </p:nvSpPr>
        <p:spPr>
          <a:xfrm>
            <a:off x="6413340" y="3380398"/>
            <a:ext cx="76198" cy="76198"/>
          </a:xfrm>
          <a:prstGeom prst="roundRect">
            <a:avLst>
              <a:gd name="adj" fmla="val 25000"/>
            </a:avLst>
          </a:prstGeom>
          <a:solidFill>
            <a:srgbClr val="22C2F4"/>
          </a:solidFill>
          <a:ln/>
        </p:spPr>
      </p:sp>
      <p:sp>
        <p:nvSpPr>
          <p:cNvPr id="15" name="Text 12"/>
          <p:cNvSpPr txBox="1"/>
          <p:nvPr/>
        </p:nvSpPr>
        <p:spPr>
          <a:xfrm>
            <a:off x="6603835" y="3297850"/>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horas no formato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PT40H0M0S</a:t>
            </a:r>
            <a:endParaRPr lang="en-US" sz="1200" dirty="0"/>
          </a:p>
        </p:txBody>
      </p:sp>
      <p:sp>
        <p:nvSpPr>
          <p:cNvPr id="16" name="Shape 13"/>
          <p:cNvSpPr/>
          <p:nvPr/>
        </p:nvSpPr>
        <p:spPr>
          <a:xfrm>
            <a:off x="6413340" y="3662271"/>
            <a:ext cx="76198" cy="76198"/>
          </a:xfrm>
          <a:prstGeom prst="roundRect">
            <a:avLst>
              <a:gd name="adj" fmla="val 25000"/>
            </a:avLst>
          </a:prstGeom>
          <a:solidFill>
            <a:srgbClr val="22C2F4"/>
          </a:solidFill>
          <a:ln/>
        </p:spPr>
      </p:sp>
      <p:sp>
        <p:nvSpPr>
          <p:cNvPr id="17" name="Text 14"/>
          <p:cNvSpPr txBox="1"/>
          <p:nvPr/>
        </p:nvSpPr>
        <p:spPr>
          <a:xfrm>
            <a:off x="6603835" y="3579723"/>
            <a:ext cx="4787780" cy="411351"/>
          </a:xfrm>
          <a:prstGeom prst="rect">
            <a:avLst/>
          </a:prstGeom>
          <a:noFill/>
          <a:ln/>
        </p:spPr>
        <p:txBody>
          <a:bodyPr wrap="square" lIns="0" tIns="0" rIns="0" bIns="0" rtlCol="0" anchor="t"/>
          <a:lstStyle/>
          <a:p>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105 tarefas-resumo</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(fases e o projeto inteiro) que somam as de baixo: contar tudo dobra as horas</a:t>
            </a:r>
            <a:endParaRPr lang="en-US" sz="1200" dirty="0"/>
          </a:p>
        </p:txBody>
      </p:sp>
      <p:sp>
        <p:nvSpPr>
          <p:cNvPr id="18" name="Shape 15"/>
          <p:cNvSpPr/>
          <p:nvPr/>
        </p:nvSpPr>
        <p:spPr>
          <a:xfrm>
            <a:off x="6413340" y="4149820"/>
            <a:ext cx="76198" cy="76198"/>
          </a:xfrm>
          <a:prstGeom prst="roundRect">
            <a:avLst>
              <a:gd name="adj" fmla="val 25000"/>
            </a:avLst>
          </a:prstGeom>
          <a:solidFill>
            <a:srgbClr val="22C2F4"/>
          </a:solidFill>
          <a:ln/>
        </p:spPr>
      </p:sp>
      <p:sp>
        <p:nvSpPr>
          <p:cNvPr id="19" name="Text 16"/>
          <p:cNvSpPr txBox="1"/>
          <p:nvPr/>
        </p:nvSpPr>
        <p:spPr>
          <a:xfrm>
            <a:off x="6603835" y="4067272"/>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a fase está na tarefa de cima, não na própria tarefa</a:t>
            </a:r>
            <a:endParaRPr lang="en-US" sz="1200" dirty="0"/>
          </a:p>
        </p:txBody>
      </p:sp>
      <p:pic>
        <p:nvPicPr>
          <p:cNvPr id="20" name="Image 1" descr="preencoded.png">    </p:cNvPr>
          <p:cNvPicPr>
            <a:picLocks noChangeAspect="1"/>
          </p:cNvPicPr>
          <p:nvPr/>
        </p:nvPicPr>
        <p:blipFill>
          <a:blip r:embed="rId3"/>
          <a:stretch>
            <a:fillRect/>
          </a:stretch>
        </p:blipFill>
        <p:spPr>
          <a:xfrm>
            <a:off x="761981" y="6387940"/>
            <a:ext cx="2059928" cy="190495"/>
          </a:xfrm>
          <a:prstGeom prst="rect">
            <a:avLst/>
          </a:prstGeom>
        </p:spPr>
      </p:pic>
      <p:sp>
        <p:nvSpPr>
          <p:cNvPr id="21" name="Text 17"/>
          <p:cNvSpPr txBox="1"/>
          <p:nvPr/>
        </p:nvSpPr>
        <p:spPr>
          <a:xfrm>
            <a:off x="10945440" y="6387940"/>
            <a:ext cx="503646"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43 / 133</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BRONZE · 6 DE 9 · BRONZE.COLABORADORES</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As 520 pessoas: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papel, custo e quem saiu</a:t>
            </a:r>
            <a:endParaRPr lang="en-US" sz="3100" dirty="0"/>
          </a:p>
        </p:txBody>
      </p:sp>
      <p:sp>
        <p:nvSpPr>
          <p:cNvPr id="4" name="Shape 2"/>
          <p:cNvSpPr/>
          <p:nvPr/>
        </p:nvSpPr>
        <p:spPr>
          <a:xfrm>
            <a:off x="761981" y="1582301"/>
            <a:ext cx="5238619" cy="1705329"/>
          </a:xfrm>
          <a:prstGeom prst="roundRect">
            <a:avLst>
              <a:gd name="adj" fmla="val 8936"/>
            </a:avLst>
          </a:prstGeom>
          <a:solidFill>
            <a:srgbClr val="1E1E24"/>
          </a:solidFill>
          <a:ln w="6350">
            <a:solidFill>
              <a:srgbClr val="2F2F39"/>
            </a:solidFill>
            <a:prstDash val="solid"/>
          </a:ln>
        </p:spPr>
      </p:sp>
      <p:sp>
        <p:nvSpPr>
          <p:cNvPr id="5" name="Shape 3"/>
          <p:cNvSpPr/>
          <p:nvPr/>
        </p:nvSpPr>
        <p:spPr>
          <a:xfrm>
            <a:off x="984225" y="1779146"/>
            <a:ext cx="616034" cy="247644"/>
          </a:xfrm>
          <a:prstGeom prst="roundRect">
            <a:avLst>
              <a:gd name="adj" fmla="val 50000"/>
            </a:avLst>
          </a:prstGeom>
          <a:solidFill>
            <a:srgbClr val="22C2F4">
              <a:alpha val="14000"/>
            </a:srgbClr>
          </a:solidFill>
          <a:ln/>
        </p:spPr>
      </p:sp>
      <p:sp>
        <p:nvSpPr>
          <p:cNvPr id="6" name="Text 4"/>
          <p:cNvSpPr txBox="1"/>
          <p:nvPr/>
        </p:nvSpPr>
        <p:spPr>
          <a:xfrm>
            <a:off x="1073123" y="1817245"/>
            <a:ext cx="455768"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O que é</a:t>
            </a:r>
            <a:endParaRPr lang="en-US" sz="900" dirty="0"/>
          </a:p>
        </p:txBody>
      </p:sp>
      <p:sp>
        <p:nvSpPr>
          <p:cNvPr id="7" name="Shape 5"/>
          <p:cNvSpPr/>
          <p:nvPr/>
        </p:nvSpPr>
        <p:spPr>
          <a:xfrm>
            <a:off x="984225" y="2198236"/>
            <a:ext cx="76198" cy="76198"/>
          </a:xfrm>
          <a:prstGeom prst="roundRect">
            <a:avLst>
              <a:gd name="adj" fmla="val 25000"/>
            </a:avLst>
          </a:prstGeom>
          <a:solidFill>
            <a:srgbClr val="22C2F4"/>
          </a:solidFill>
          <a:ln/>
        </p:spPr>
      </p:sp>
      <p:sp>
        <p:nvSpPr>
          <p:cNvPr id="8" name="Text 6"/>
          <p:cNvSpPr txBox="1"/>
          <p:nvPr/>
        </p:nvSpPr>
        <p:spPr>
          <a:xfrm>
            <a:off x="1174721" y="2115688"/>
            <a:ext cx="4787780" cy="205675"/>
          </a:xfrm>
          <a:prstGeom prst="rect">
            <a:avLst/>
          </a:prstGeom>
          <a:noFill/>
          <a:ln/>
        </p:spPr>
        <p:txBody>
          <a:bodyPr wrap="square" lIns="0" tIns="0" rIns="0" bIns="0" rtlCol="0" anchor="t"/>
          <a:lstStyle/>
          <a:p>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523 linhas</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do RH (deviam ser 520)</a:t>
            </a:r>
            <a:endParaRPr lang="en-US" sz="1200" dirty="0"/>
          </a:p>
        </p:txBody>
      </p:sp>
      <p:sp>
        <p:nvSpPr>
          <p:cNvPr id="9" name="Shape 7"/>
          <p:cNvSpPr/>
          <p:nvPr/>
        </p:nvSpPr>
        <p:spPr>
          <a:xfrm>
            <a:off x="984225" y="2480109"/>
            <a:ext cx="76198" cy="76198"/>
          </a:xfrm>
          <a:prstGeom prst="roundRect">
            <a:avLst>
              <a:gd name="adj" fmla="val 25000"/>
            </a:avLst>
          </a:prstGeom>
          <a:solidFill>
            <a:srgbClr val="22C2F4"/>
          </a:solidFill>
          <a:ln/>
        </p:spPr>
      </p:sp>
      <p:sp>
        <p:nvSpPr>
          <p:cNvPr id="10" name="Text 8"/>
          <p:cNvSpPr txBox="1"/>
          <p:nvPr/>
        </p:nvSpPr>
        <p:spPr>
          <a:xfrm>
            <a:off x="1174721" y="2397561"/>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papel (dev, qa, sre, tech_lead…), senioridade,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custo/hora</a:t>
            </a:r>
            <a:endParaRPr lang="en-US" sz="1200" dirty="0"/>
          </a:p>
        </p:txBody>
      </p:sp>
      <p:sp>
        <p:nvSpPr>
          <p:cNvPr id="11" name="Shape 9"/>
          <p:cNvSpPr/>
          <p:nvPr/>
        </p:nvSpPr>
        <p:spPr>
          <a:xfrm>
            <a:off x="984225" y="2761983"/>
            <a:ext cx="76198" cy="76198"/>
          </a:xfrm>
          <a:prstGeom prst="roundRect">
            <a:avLst>
              <a:gd name="adj" fmla="val 25000"/>
            </a:avLst>
          </a:prstGeom>
          <a:solidFill>
            <a:srgbClr val="22C2F4"/>
          </a:solidFill>
          <a:ln/>
        </p:spPr>
      </p:sp>
      <p:sp>
        <p:nvSpPr>
          <p:cNvPr id="12" name="Text 10"/>
          <p:cNvSpPr txBox="1"/>
          <p:nvPr/>
        </p:nvSpPr>
        <p:spPr>
          <a:xfrm>
            <a:off x="1174721" y="2679435"/>
            <a:ext cx="4787780"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admissão e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desligamento</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mostra os squads com rotatividade (PRJ-016 e PRJ-030)</a:t>
            </a:r>
            <a:endParaRPr lang="en-US" sz="1200" dirty="0"/>
          </a:p>
        </p:txBody>
      </p:sp>
      <p:sp>
        <p:nvSpPr>
          <p:cNvPr id="13" name="Shape 11"/>
          <p:cNvSpPr/>
          <p:nvPr/>
        </p:nvSpPr>
        <p:spPr>
          <a:xfrm>
            <a:off x="6191095" y="1582301"/>
            <a:ext cx="5238619" cy="1705329"/>
          </a:xfrm>
          <a:prstGeom prst="roundRect">
            <a:avLst>
              <a:gd name="adj" fmla="val 8936"/>
            </a:avLst>
          </a:prstGeom>
          <a:solidFill>
            <a:srgbClr val="0059DB"/>
          </a:solidFill>
          <a:ln/>
        </p:spPr>
      </p:sp>
      <p:sp>
        <p:nvSpPr>
          <p:cNvPr id="14" name="Shape 12"/>
          <p:cNvSpPr/>
          <p:nvPr/>
        </p:nvSpPr>
        <p:spPr>
          <a:xfrm>
            <a:off x="6413340" y="1779146"/>
            <a:ext cx="682509" cy="247644"/>
          </a:xfrm>
          <a:prstGeom prst="roundRect">
            <a:avLst>
              <a:gd name="adj" fmla="val 50000"/>
            </a:avLst>
          </a:prstGeom>
          <a:solidFill>
            <a:srgbClr val="FFFFFF">
              <a:alpha val="16000"/>
            </a:srgbClr>
          </a:solidFill>
          <a:ln/>
        </p:spPr>
      </p:sp>
      <p:sp>
        <p:nvSpPr>
          <p:cNvPr id="15" name="Text 13"/>
          <p:cNvSpPr txBox="1"/>
          <p:nvPr/>
        </p:nvSpPr>
        <p:spPr>
          <a:xfrm>
            <a:off x="6502237" y="1817245"/>
            <a:ext cx="524902"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A sujeira</a:t>
            </a:r>
            <a:endParaRPr lang="en-US" sz="900" dirty="0"/>
          </a:p>
        </p:txBody>
      </p:sp>
      <p:sp>
        <p:nvSpPr>
          <p:cNvPr id="16" name="Shape 14"/>
          <p:cNvSpPr/>
          <p:nvPr/>
        </p:nvSpPr>
        <p:spPr>
          <a:xfrm>
            <a:off x="6413340" y="2198236"/>
            <a:ext cx="76198" cy="76198"/>
          </a:xfrm>
          <a:prstGeom prst="roundRect">
            <a:avLst>
              <a:gd name="adj" fmla="val 25000"/>
            </a:avLst>
          </a:prstGeom>
          <a:solidFill>
            <a:srgbClr val="22C2F4"/>
          </a:solidFill>
          <a:ln/>
        </p:spPr>
      </p:sp>
      <p:sp>
        <p:nvSpPr>
          <p:cNvPr id="17" name="Text 15"/>
          <p:cNvSpPr txBox="1"/>
          <p:nvPr/>
        </p:nvSpPr>
        <p:spPr>
          <a:xfrm>
            <a:off x="6603835" y="2115688"/>
            <a:ext cx="4787780" cy="411351"/>
          </a:xfrm>
          <a:prstGeom prst="rect">
            <a:avLst/>
          </a:prstGeom>
          <a:noFill/>
          <a:ln/>
        </p:spPr>
        <p:txBody>
          <a:bodyPr wrap="square" lIns="0" tIns="0" rIns="0" bIns="0" rtlCol="0" anchor="t"/>
          <a:lstStyle/>
          <a:p>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3 pessoas duplicadas</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mesmo id, nome e papel em CAIXA ALTA</a:t>
            </a:r>
            <a:endParaRPr lang="en-US" sz="1200" dirty="0"/>
          </a:p>
        </p:txBody>
      </p:sp>
      <p:sp>
        <p:nvSpPr>
          <p:cNvPr id="18" name="Shape 16"/>
          <p:cNvSpPr/>
          <p:nvPr/>
        </p:nvSpPr>
        <p:spPr>
          <a:xfrm>
            <a:off x="6413340" y="2685784"/>
            <a:ext cx="76198" cy="76198"/>
          </a:xfrm>
          <a:prstGeom prst="roundRect">
            <a:avLst>
              <a:gd name="adj" fmla="val 25000"/>
            </a:avLst>
          </a:prstGeom>
          <a:solidFill>
            <a:srgbClr val="22C2F4"/>
          </a:solidFill>
          <a:ln/>
        </p:spPr>
      </p:sp>
      <p:sp>
        <p:nvSpPr>
          <p:cNvPr id="19" name="Text 17"/>
          <p:cNvSpPr txBox="1"/>
          <p:nvPr/>
        </p:nvSpPr>
        <p:spPr>
          <a:xfrm>
            <a:off x="6603835" y="2603236"/>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DISTINCT não resolve, porque as linhas são diferentes</a:t>
            </a:r>
            <a:endParaRPr lang="en-US" sz="1200" dirty="0"/>
          </a:p>
        </p:txBody>
      </p:sp>
      <p:sp>
        <p:nvSpPr>
          <p:cNvPr id="20" name="Shape 18"/>
          <p:cNvSpPr/>
          <p:nvPr/>
        </p:nvSpPr>
        <p:spPr>
          <a:xfrm>
            <a:off x="761981" y="3452726"/>
            <a:ext cx="10667733" cy="711182"/>
          </a:xfrm>
          <a:prstGeom prst="roundRect">
            <a:avLst>
              <a:gd name="adj" fmla="val 16071"/>
            </a:avLst>
          </a:prstGeom>
          <a:solidFill>
            <a:srgbClr val="0C0C10"/>
          </a:solidFill>
          <a:ln w="6350">
            <a:solidFill>
              <a:srgbClr val="2F2F39"/>
            </a:solidFill>
            <a:prstDash val="solid"/>
          </a:ln>
        </p:spPr>
      </p:sp>
      <p:sp>
        <p:nvSpPr>
          <p:cNvPr id="21" name="Text 19"/>
          <p:cNvSpPr txBox="1"/>
          <p:nvPr/>
        </p:nvSpPr>
        <p:spPr>
          <a:xfrm>
            <a:off x="958826" y="3624172"/>
            <a:ext cx="10691609" cy="374641"/>
          </a:xfrm>
          <a:prstGeom prst="rect">
            <a:avLst/>
          </a:prstGeom>
          <a:noFill/>
          <a:ln/>
        </p:spPr>
        <p:txBody>
          <a:bodyPr wrap="square" lIns="0" tIns="0" rIns="0" bIns="0" rtlCol="0" anchor="t"/>
          <a:lstStyle/>
          <a:p>
            <a:pPr algn="l" indent="0" marL="0">
              <a:lnSpc>
                <a:spcPct val="123932"/>
              </a:lnSpc>
              <a:buNone/>
            </a:pPr>
            <a:r>
              <a:rPr lang="en-US" sz="1000" dirty="0">
                <a:solidFill>
                  <a:srgbClr val="E6E8F2"/>
                </a:solidFill>
                <a:latin typeface="Courier New" pitchFamily="34" charset="0"/>
                <a:ea typeface="Courier New" pitchFamily="34" charset="-122"/>
                <a:cs typeface="Courier New" pitchFamily="34" charset="-120"/>
              </a:rPr>
              <a:t>colaborador_id | nome            | papel     | senioridade | custo_hora | data_admissao | data_desligamento</a:t>
            </a:r>
            <a:endParaRPr lang="en-US" sz="1000" dirty="0"/>
          </a:p>
          <a:p>
            <a:pPr algn="l" indent="0" marL="0">
              <a:lnSpc>
                <a:spcPct val="123932"/>
              </a:lnSpc>
              <a:buNone/>
            </a:pPr>
            <a:r>
              <a:rPr lang="en-US" sz="1000" dirty="0">
                <a:solidFill>
                  <a:srgbClr val="E6E8F2"/>
                </a:solidFill>
                <a:latin typeface="Courier New" pitchFamily="34" charset="0"/>
                <a:ea typeface="Courier New" pitchFamily="34" charset="-122"/>
                <a:cs typeface="Courier New" pitchFamily="34" charset="-120"/>
              </a:rPr>
              <a:t>COL0001        | Débora Pacheco  | tech_lead | pleno       | 155.47     | 2024-04-29    |</a:t>
            </a:r>
            <a:endParaRPr lang="en-US" sz="1000" dirty="0"/>
          </a:p>
        </p:txBody>
      </p:sp>
      <p:pic>
        <p:nvPicPr>
          <p:cNvPr id="22"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23" name="Text 20"/>
          <p:cNvSpPr txBox="1"/>
          <p:nvPr/>
        </p:nvSpPr>
        <p:spPr>
          <a:xfrm>
            <a:off x="10938693" y="6387940"/>
            <a:ext cx="510662"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44 / 133</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BRONZE · 7 DE 9 · BRONZE.APONTAMENTOS</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O timesheet: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horas disponíveis × apontadas</a:t>
            </a:r>
            <a:endParaRPr lang="en-US" sz="3100" dirty="0"/>
          </a:p>
        </p:txBody>
      </p:sp>
      <p:sp>
        <p:nvSpPr>
          <p:cNvPr id="4" name="Shape 2"/>
          <p:cNvSpPr/>
          <p:nvPr/>
        </p:nvSpPr>
        <p:spPr>
          <a:xfrm>
            <a:off x="761981" y="1582301"/>
            <a:ext cx="5238619" cy="1911005"/>
          </a:xfrm>
          <a:prstGeom prst="roundRect">
            <a:avLst>
              <a:gd name="adj" fmla="val 7975"/>
            </a:avLst>
          </a:prstGeom>
          <a:solidFill>
            <a:srgbClr val="1E1E24"/>
          </a:solidFill>
          <a:ln w="6350">
            <a:solidFill>
              <a:srgbClr val="2F2F39"/>
            </a:solidFill>
            <a:prstDash val="solid"/>
          </a:ln>
        </p:spPr>
      </p:sp>
      <p:sp>
        <p:nvSpPr>
          <p:cNvPr id="5" name="Shape 3"/>
          <p:cNvSpPr/>
          <p:nvPr/>
        </p:nvSpPr>
        <p:spPr>
          <a:xfrm>
            <a:off x="984225" y="1779146"/>
            <a:ext cx="616034" cy="247644"/>
          </a:xfrm>
          <a:prstGeom prst="roundRect">
            <a:avLst>
              <a:gd name="adj" fmla="val 50000"/>
            </a:avLst>
          </a:prstGeom>
          <a:solidFill>
            <a:srgbClr val="22C2F4">
              <a:alpha val="14000"/>
            </a:srgbClr>
          </a:solidFill>
          <a:ln/>
        </p:spPr>
      </p:sp>
      <p:sp>
        <p:nvSpPr>
          <p:cNvPr id="6" name="Text 4"/>
          <p:cNvSpPr txBox="1"/>
          <p:nvPr/>
        </p:nvSpPr>
        <p:spPr>
          <a:xfrm>
            <a:off x="1073123" y="1817245"/>
            <a:ext cx="455768"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O que é</a:t>
            </a:r>
            <a:endParaRPr lang="en-US" sz="900" dirty="0"/>
          </a:p>
        </p:txBody>
      </p:sp>
      <p:sp>
        <p:nvSpPr>
          <p:cNvPr id="7" name="Shape 5"/>
          <p:cNvSpPr/>
          <p:nvPr/>
        </p:nvSpPr>
        <p:spPr>
          <a:xfrm>
            <a:off x="984225" y="2198236"/>
            <a:ext cx="76198" cy="76198"/>
          </a:xfrm>
          <a:prstGeom prst="roundRect">
            <a:avLst>
              <a:gd name="adj" fmla="val 25000"/>
            </a:avLst>
          </a:prstGeom>
          <a:solidFill>
            <a:srgbClr val="22C2F4"/>
          </a:solidFill>
          <a:ln/>
        </p:spPr>
      </p:sp>
      <p:sp>
        <p:nvSpPr>
          <p:cNvPr id="8" name="Text 6"/>
          <p:cNvSpPr txBox="1"/>
          <p:nvPr/>
        </p:nvSpPr>
        <p:spPr>
          <a:xfrm>
            <a:off x="1174721" y="2115688"/>
            <a:ext cx="4787780" cy="205675"/>
          </a:xfrm>
          <a:prstGeom prst="rect">
            <a:avLst/>
          </a:prstGeom>
          <a:noFill/>
          <a:ln/>
        </p:spPr>
        <p:txBody>
          <a:bodyPr wrap="square" lIns="0" tIns="0" rIns="0" bIns="0" rtlCol="0" anchor="t"/>
          <a:lstStyle/>
          <a:p>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30.883 linhas</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pessoa × projeto × semana</a:t>
            </a:r>
            <a:endParaRPr lang="en-US" sz="1200" dirty="0"/>
          </a:p>
        </p:txBody>
      </p:sp>
      <p:sp>
        <p:nvSpPr>
          <p:cNvPr id="9" name="Shape 7"/>
          <p:cNvSpPr/>
          <p:nvPr/>
        </p:nvSpPr>
        <p:spPr>
          <a:xfrm>
            <a:off x="984225" y="2480109"/>
            <a:ext cx="76198" cy="76198"/>
          </a:xfrm>
          <a:prstGeom prst="roundRect">
            <a:avLst>
              <a:gd name="adj" fmla="val 25000"/>
            </a:avLst>
          </a:prstGeom>
          <a:solidFill>
            <a:srgbClr val="22C2F4"/>
          </a:solidFill>
          <a:ln/>
        </p:spPr>
      </p:sp>
      <p:sp>
        <p:nvSpPr>
          <p:cNvPr id="10" name="Text 8"/>
          <p:cNvSpPr txBox="1"/>
          <p:nvPr/>
        </p:nvSpPr>
        <p:spPr>
          <a:xfrm>
            <a:off x="1174721" y="2397561"/>
            <a:ext cx="4787780"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é quem diz onde cada pessoa está: dá para saber o squad de cada projeto sem outra planilha</a:t>
            </a:r>
            <a:endParaRPr lang="en-US" sz="1200" dirty="0"/>
          </a:p>
        </p:txBody>
      </p:sp>
      <p:sp>
        <p:nvSpPr>
          <p:cNvPr id="11" name="Shape 9"/>
          <p:cNvSpPr/>
          <p:nvPr/>
        </p:nvSpPr>
        <p:spPr>
          <a:xfrm>
            <a:off x="984225" y="2967658"/>
            <a:ext cx="76198" cy="76198"/>
          </a:xfrm>
          <a:prstGeom prst="roundRect">
            <a:avLst>
              <a:gd name="adj" fmla="val 25000"/>
            </a:avLst>
          </a:prstGeom>
          <a:solidFill>
            <a:srgbClr val="22C2F4"/>
          </a:solidFill>
          <a:ln/>
        </p:spPr>
      </p:sp>
      <p:sp>
        <p:nvSpPr>
          <p:cNvPr id="12" name="Text 10"/>
          <p:cNvSpPr txBox="1"/>
          <p:nvPr/>
        </p:nvSpPr>
        <p:spPr>
          <a:xfrm>
            <a:off x="1174721" y="2885110"/>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ociosidade = disponível − apontado</a:t>
            </a:r>
            <a:endParaRPr lang="en-US" sz="1200" dirty="0"/>
          </a:p>
        </p:txBody>
      </p:sp>
      <p:sp>
        <p:nvSpPr>
          <p:cNvPr id="13" name="Shape 11"/>
          <p:cNvSpPr/>
          <p:nvPr/>
        </p:nvSpPr>
        <p:spPr>
          <a:xfrm>
            <a:off x="6191095" y="1582301"/>
            <a:ext cx="5238619" cy="1911005"/>
          </a:xfrm>
          <a:prstGeom prst="roundRect">
            <a:avLst>
              <a:gd name="adj" fmla="val 7975"/>
            </a:avLst>
          </a:prstGeom>
          <a:solidFill>
            <a:srgbClr val="0059DB"/>
          </a:solidFill>
          <a:ln/>
        </p:spPr>
      </p:sp>
      <p:sp>
        <p:nvSpPr>
          <p:cNvPr id="14" name="Shape 12"/>
          <p:cNvSpPr/>
          <p:nvPr/>
        </p:nvSpPr>
        <p:spPr>
          <a:xfrm>
            <a:off x="6413340" y="1779146"/>
            <a:ext cx="1370772" cy="247644"/>
          </a:xfrm>
          <a:prstGeom prst="roundRect">
            <a:avLst>
              <a:gd name="adj" fmla="val 50000"/>
            </a:avLst>
          </a:prstGeom>
          <a:solidFill>
            <a:srgbClr val="FFFFFF">
              <a:alpha val="16000"/>
            </a:srgbClr>
          </a:solidFill>
          <a:ln/>
        </p:spPr>
      </p:sp>
      <p:sp>
        <p:nvSpPr>
          <p:cNvPr id="15" name="Text 13"/>
          <p:cNvSpPr txBox="1"/>
          <p:nvPr/>
        </p:nvSpPr>
        <p:spPr>
          <a:xfrm>
            <a:off x="6502237" y="1817245"/>
            <a:ext cx="1240695"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A história escondida</a:t>
            </a:r>
            <a:endParaRPr lang="en-US" sz="900" dirty="0"/>
          </a:p>
        </p:txBody>
      </p:sp>
      <p:sp>
        <p:nvSpPr>
          <p:cNvPr id="16" name="Shape 14"/>
          <p:cNvSpPr/>
          <p:nvPr/>
        </p:nvSpPr>
        <p:spPr>
          <a:xfrm>
            <a:off x="6413340" y="2198236"/>
            <a:ext cx="76198" cy="76198"/>
          </a:xfrm>
          <a:prstGeom prst="roundRect">
            <a:avLst>
              <a:gd name="adj" fmla="val 25000"/>
            </a:avLst>
          </a:prstGeom>
          <a:solidFill>
            <a:srgbClr val="22C2F4"/>
          </a:solidFill>
          <a:ln/>
        </p:spPr>
      </p:sp>
      <p:sp>
        <p:nvSpPr>
          <p:cNvPr id="17" name="Text 15"/>
          <p:cNvSpPr txBox="1"/>
          <p:nvPr/>
        </p:nvSpPr>
        <p:spPr>
          <a:xfrm>
            <a:off x="6603835" y="2115688"/>
            <a:ext cx="4787780"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os SREs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COL0017</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e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COL0018</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apontam de 2% a 9% no PRJ-007, que ainda está no discovery</a:t>
            </a:r>
            <a:endParaRPr lang="en-US" sz="1200" dirty="0"/>
          </a:p>
        </p:txBody>
      </p:sp>
      <p:sp>
        <p:nvSpPr>
          <p:cNvPr id="18" name="Shape 16"/>
          <p:cNvSpPr/>
          <p:nvPr/>
        </p:nvSpPr>
        <p:spPr>
          <a:xfrm>
            <a:off x="6413340" y="2685784"/>
            <a:ext cx="76198" cy="76198"/>
          </a:xfrm>
          <a:prstGeom prst="roundRect">
            <a:avLst>
              <a:gd name="adj" fmla="val 25000"/>
            </a:avLst>
          </a:prstGeom>
          <a:solidFill>
            <a:srgbClr val="22C2F4"/>
          </a:solidFill>
          <a:ln/>
        </p:spPr>
      </p:sp>
      <p:sp>
        <p:nvSpPr>
          <p:cNvPr id="19" name="Text 17"/>
          <p:cNvSpPr txBox="1"/>
          <p:nvPr/>
        </p:nvSpPr>
        <p:spPr>
          <a:xfrm>
            <a:off x="6603835" y="2603236"/>
            <a:ext cx="4787780"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enquanto isso, o PRJ-011 reclama de falta de SRE há 12 semanas</a:t>
            </a:r>
            <a:endParaRPr lang="en-US" sz="1200" dirty="0"/>
          </a:p>
        </p:txBody>
      </p:sp>
      <p:sp>
        <p:nvSpPr>
          <p:cNvPr id="20" name="Shape 18"/>
          <p:cNvSpPr/>
          <p:nvPr/>
        </p:nvSpPr>
        <p:spPr>
          <a:xfrm>
            <a:off x="6413340" y="3173333"/>
            <a:ext cx="76198" cy="76198"/>
          </a:xfrm>
          <a:prstGeom prst="roundRect">
            <a:avLst>
              <a:gd name="adj" fmla="val 25000"/>
            </a:avLst>
          </a:prstGeom>
          <a:solidFill>
            <a:srgbClr val="22C2F4"/>
          </a:solidFill>
          <a:ln/>
        </p:spPr>
      </p:sp>
      <p:sp>
        <p:nvSpPr>
          <p:cNvPr id="21" name="Text 19"/>
          <p:cNvSpPr txBox="1"/>
          <p:nvPr/>
        </p:nvSpPr>
        <p:spPr>
          <a:xfrm>
            <a:off x="6603835" y="3090785"/>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apontar mais que o disponível é hora extra: legítimo</a:t>
            </a:r>
            <a:endParaRPr lang="en-US" sz="1200" dirty="0"/>
          </a:p>
        </p:txBody>
      </p:sp>
      <p:sp>
        <p:nvSpPr>
          <p:cNvPr id="22" name="Shape 20"/>
          <p:cNvSpPr/>
          <p:nvPr/>
        </p:nvSpPr>
        <p:spPr>
          <a:xfrm>
            <a:off x="761981" y="3658402"/>
            <a:ext cx="10667733" cy="711182"/>
          </a:xfrm>
          <a:prstGeom prst="roundRect">
            <a:avLst>
              <a:gd name="adj" fmla="val 16071"/>
            </a:avLst>
          </a:prstGeom>
          <a:solidFill>
            <a:srgbClr val="0C0C10"/>
          </a:solidFill>
          <a:ln w="6350">
            <a:solidFill>
              <a:srgbClr val="2F2F39"/>
            </a:solidFill>
            <a:prstDash val="solid"/>
          </a:ln>
        </p:spPr>
      </p:sp>
      <p:sp>
        <p:nvSpPr>
          <p:cNvPr id="23" name="Text 21"/>
          <p:cNvSpPr txBox="1"/>
          <p:nvPr/>
        </p:nvSpPr>
        <p:spPr>
          <a:xfrm>
            <a:off x="958826" y="3829847"/>
            <a:ext cx="10691609" cy="374641"/>
          </a:xfrm>
          <a:prstGeom prst="rect">
            <a:avLst/>
          </a:prstGeom>
          <a:noFill/>
          <a:ln/>
        </p:spPr>
        <p:txBody>
          <a:bodyPr wrap="square" lIns="0" tIns="0" rIns="0" bIns="0" rtlCol="0" anchor="t"/>
          <a:lstStyle/>
          <a:p>
            <a:pPr algn="l" indent="0" marL="0">
              <a:lnSpc>
                <a:spcPct val="123932"/>
              </a:lnSpc>
              <a:buNone/>
            </a:pPr>
            <a:r>
              <a:rPr lang="en-US" sz="1000" dirty="0">
                <a:solidFill>
                  <a:srgbClr val="E6E8F2"/>
                </a:solidFill>
                <a:latin typeface="Courier New" pitchFamily="34" charset="0"/>
                <a:ea typeface="Courier New" pitchFamily="34" charset="-122"/>
                <a:cs typeface="Courier New" pitchFamily="34" charset="-120"/>
              </a:rPr>
              <a:t>colaborador_id | projeto_id | semana_inicio | horas_disponiveis | horas_apontadas</a:t>
            </a:r>
            <a:endParaRPr lang="en-US" sz="1000" dirty="0"/>
          </a:p>
          <a:p>
            <a:pPr algn="l" indent="0" marL="0">
              <a:lnSpc>
                <a:spcPct val="123932"/>
              </a:lnSpc>
              <a:buNone/>
            </a:pPr>
            <a:r>
              <a:rPr lang="en-US" sz="1000" dirty="0">
                <a:solidFill>
                  <a:srgbClr val="E6E8F2"/>
                </a:solidFill>
                <a:latin typeface="Courier New" pitchFamily="34" charset="0"/>
                <a:ea typeface="Courier New" pitchFamily="34" charset="-122"/>
                <a:cs typeface="Courier New" pitchFamily="34" charset="-120"/>
              </a:rPr>
              <a:t>COL0017        | PRJ-007    | 2026-10-12    | 40.0              | 2.4</a:t>
            </a:r>
            <a:endParaRPr lang="en-US" sz="1000" dirty="0"/>
          </a:p>
        </p:txBody>
      </p:sp>
      <p:pic>
        <p:nvPicPr>
          <p:cNvPr id="24"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25" name="Text 22"/>
          <p:cNvSpPr txBox="1"/>
          <p:nvPr/>
        </p:nvSpPr>
        <p:spPr>
          <a:xfrm>
            <a:off x="10939685" y="6387940"/>
            <a:ext cx="509630"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45 / 133</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BRONZE · 8 DE 9 · BRONZE.CUSTOS</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Cada real gasto,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lançamento por lançamento</a:t>
            </a:r>
            <a:endParaRPr lang="en-US" sz="3100" dirty="0"/>
          </a:p>
        </p:txBody>
      </p:sp>
      <p:sp>
        <p:nvSpPr>
          <p:cNvPr id="4" name="Shape 2"/>
          <p:cNvSpPr/>
          <p:nvPr/>
        </p:nvSpPr>
        <p:spPr>
          <a:xfrm>
            <a:off x="761981" y="1582301"/>
            <a:ext cx="5238619" cy="1705329"/>
          </a:xfrm>
          <a:prstGeom prst="roundRect">
            <a:avLst>
              <a:gd name="adj" fmla="val 8936"/>
            </a:avLst>
          </a:prstGeom>
          <a:solidFill>
            <a:srgbClr val="1E1E24"/>
          </a:solidFill>
          <a:ln w="6350">
            <a:solidFill>
              <a:srgbClr val="2F2F39"/>
            </a:solidFill>
            <a:prstDash val="solid"/>
          </a:ln>
        </p:spPr>
      </p:sp>
      <p:sp>
        <p:nvSpPr>
          <p:cNvPr id="5" name="Shape 3"/>
          <p:cNvSpPr/>
          <p:nvPr/>
        </p:nvSpPr>
        <p:spPr>
          <a:xfrm>
            <a:off x="984225" y="1779146"/>
            <a:ext cx="616034" cy="247644"/>
          </a:xfrm>
          <a:prstGeom prst="roundRect">
            <a:avLst>
              <a:gd name="adj" fmla="val 50000"/>
            </a:avLst>
          </a:prstGeom>
          <a:solidFill>
            <a:srgbClr val="22C2F4">
              <a:alpha val="14000"/>
            </a:srgbClr>
          </a:solidFill>
          <a:ln/>
        </p:spPr>
      </p:sp>
      <p:sp>
        <p:nvSpPr>
          <p:cNvPr id="6" name="Text 4"/>
          <p:cNvSpPr txBox="1"/>
          <p:nvPr/>
        </p:nvSpPr>
        <p:spPr>
          <a:xfrm>
            <a:off x="1073123" y="1817245"/>
            <a:ext cx="455768"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O que é</a:t>
            </a:r>
            <a:endParaRPr lang="en-US" sz="900" dirty="0"/>
          </a:p>
        </p:txBody>
      </p:sp>
      <p:sp>
        <p:nvSpPr>
          <p:cNvPr id="7" name="Shape 5"/>
          <p:cNvSpPr/>
          <p:nvPr/>
        </p:nvSpPr>
        <p:spPr>
          <a:xfrm>
            <a:off x="984225" y="2198236"/>
            <a:ext cx="76198" cy="76198"/>
          </a:xfrm>
          <a:prstGeom prst="roundRect">
            <a:avLst>
              <a:gd name="adj" fmla="val 25000"/>
            </a:avLst>
          </a:prstGeom>
          <a:solidFill>
            <a:srgbClr val="22C2F4"/>
          </a:solidFill>
          <a:ln/>
        </p:spPr>
      </p:sp>
      <p:sp>
        <p:nvSpPr>
          <p:cNvPr id="8" name="Text 6"/>
          <p:cNvSpPr txBox="1"/>
          <p:nvPr/>
        </p:nvSpPr>
        <p:spPr>
          <a:xfrm>
            <a:off x="1174721" y="2115688"/>
            <a:ext cx="4787780" cy="205675"/>
          </a:xfrm>
          <a:prstGeom prst="rect">
            <a:avLst/>
          </a:prstGeom>
          <a:noFill/>
          <a:ln/>
        </p:spPr>
        <p:txBody>
          <a:bodyPr wrap="square" lIns="0" tIns="0" rIns="0" bIns="0" rtlCol="0" anchor="t"/>
          <a:lstStyle/>
          <a:p>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23.640 lançamentos</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pessoal, consultoria, cloud, licenças</a:t>
            </a:r>
            <a:endParaRPr lang="en-US" sz="1200" dirty="0"/>
          </a:p>
        </p:txBody>
      </p:sp>
      <p:sp>
        <p:nvSpPr>
          <p:cNvPr id="9" name="Shape 7"/>
          <p:cNvSpPr/>
          <p:nvPr/>
        </p:nvSpPr>
        <p:spPr>
          <a:xfrm>
            <a:off x="984225" y="2480109"/>
            <a:ext cx="76198" cy="76198"/>
          </a:xfrm>
          <a:prstGeom prst="roundRect">
            <a:avLst>
              <a:gd name="adj" fmla="val 25000"/>
            </a:avLst>
          </a:prstGeom>
          <a:solidFill>
            <a:srgbClr val="22C2F4"/>
          </a:solidFill>
          <a:ln/>
        </p:spPr>
      </p:sp>
      <p:sp>
        <p:nvSpPr>
          <p:cNvPr id="10" name="Text 8"/>
          <p:cNvSpPr txBox="1"/>
          <p:nvPr/>
        </p:nvSpPr>
        <p:spPr>
          <a:xfrm>
            <a:off x="1174721" y="2397561"/>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custo real total de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R$ 193,35 mi</a:t>
            </a:r>
            <a:endParaRPr lang="en-US" sz="1200" dirty="0"/>
          </a:p>
        </p:txBody>
      </p:sp>
      <p:sp>
        <p:nvSpPr>
          <p:cNvPr id="11" name="Shape 9"/>
          <p:cNvSpPr/>
          <p:nvPr/>
        </p:nvSpPr>
        <p:spPr>
          <a:xfrm>
            <a:off x="984225" y="2761983"/>
            <a:ext cx="76198" cy="76198"/>
          </a:xfrm>
          <a:prstGeom prst="roundRect">
            <a:avLst>
              <a:gd name="adj" fmla="val 25000"/>
            </a:avLst>
          </a:prstGeom>
          <a:solidFill>
            <a:srgbClr val="22C2F4"/>
          </a:solidFill>
          <a:ln/>
        </p:spPr>
      </p:sp>
      <p:sp>
        <p:nvSpPr>
          <p:cNvPr id="12" name="Text 10"/>
          <p:cNvSpPr txBox="1"/>
          <p:nvPr/>
        </p:nvSpPr>
        <p:spPr>
          <a:xfrm>
            <a:off x="1174721" y="2679435"/>
            <a:ext cx="4787780"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com o CPI, diz se cada real gasto entregou um real de trabalho</a:t>
            </a:r>
            <a:endParaRPr lang="en-US" sz="1200" dirty="0"/>
          </a:p>
        </p:txBody>
      </p:sp>
      <p:sp>
        <p:nvSpPr>
          <p:cNvPr id="13" name="Shape 11"/>
          <p:cNvSpPr/>
          <p:nvPr/>
        </p:nvSpPr>
        <p:spPr>
          <a:xfrm>
            <a:off x="6191095" y="1582301"/>
            <a:ext cx="5238619" cy="1705329"/>
          </a:xfrm>
          <a:prstGeom prst="roundRect">
            <a:avLst>
              <a:gd name="adj" fmla="val 8936"/>
            </a:avLst>
          </a:prstGeom>
          <a:solidFill>
            <a:srgbClr val="0059DB"/>
          </a:solidFill>
          <a:ln/>
        </p:spPr>
      </p:sp>
      <p:sp>
        <p:nvSpPr>
          <p:cNvPr id="14" name="Shape 12"/>
          <p:cNvSpPr/>
          <p:nvPr/>
        </p:nvSpPr>
        <p:spPr>
          <a:xfrm>
            <a:off x="6413340" y="1779146"/>
            <a:ext cx="682509" cy="247644"/>
          </a:xfrm>
          <a:prstGeom prst="roundRect">
            <a:avLst>
              <a:gd name="adj" fmla="val 50000"/>
            </a:avLst>
          </a:prstGeom>
          <a:solidFill>
            <a:srgbClr val="FFFFFF">
              <a:alpha val="16000"/>
            </a:srgbClr>
          </a:solidFill>
          <a:ln/>
        </p:spPr>
      </p:sp>
      <p:sp>
        <p:nvSpPr>
          <p:cNvPr id="15" name="Text 13"/>
          <p:cNvSpPr txBox="1"/>
          <p:nvPr/>
        </p:nvSpPr>
        <p:spPr>
          <a:xfrm>
            <a:off x="6502237" y="1817245"/>
            <a:ext cx="524902"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A sujeira</a:t>
            </a:r>
            <a:endParaRPr lang="en-US" sz="900" dirty="0"/>
          </a:p>
        </p:txBody>
      </p:sp>
      <p:sp>
        <p:nvSpPr>
          <p:cNvPr id="16" name="Shape 14"/>
          <p:cNvSpPr/>
          <p:nvPr/>
        </p:nvSpPr>
        <p:spPr>
          <a:xfrm>
            <a:off x="6413340" y="2198236"/>
            <a:ext cx="76198" cy="76198"/>
          </a:xfrm>
          <a:prstGeom prst="roundRect">
            <a:avLst>
              <a:gd name="adj" fmla="val 25000"/>
            </a:avLst>
          </a:prstGeom>
          <a:solidFill>
            <a:srgbClr val="22C2F4"/>
          </a:solidFill>
          <a:ln/>
        </p:spPr>
      </p:sp>
      <p:sp>
        <p:nvSpPr>
          <p:cNvPr id="17" name="Text 15"/>
          <p:cNvSpPr txBox="1"/>
          <p:nvPr/>
        </p:nvSpPr>
        <p:spPr>
          <a:xfrm>
            <a:off x="6603835" y="2115688"/>
            <a:ext cx="4787780" cy="205675"/>
          </a:xfrm>
          <a:prstGeom prst="rect">
            <a:avLst/>
          </a:prstGeom>
          <a:noFill/>
          <a:ln/>
        </p:spPr>
        <p:txBody>
          <a:bodyPr wrap="square" lIns="0" tIns="0" rIns="0" bIns="0" rtlCol="0" anchor="t"/>
          <a:lstStyle/>
          <a:p>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671 valores com vírgula decimal</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(1245,78)</a:t>
            </a:r>
            <a:endParaRPr lang="en-US" sz="1200" dirty="0"/>
          </a:p>
        </p:txBody>
      </p:sp>
      <p:sp>
        <p:nvSpPr>
          <p:cNvPr id="18" name="Shape 16"/>
          <p:cNvSpPr/>
          <p:nvPr/>
        </p:nvSpPr>
        <p:spPr>
          <a:xfrm>
            <a:off x="6413340" y="2480109"/>
            <a:ext cx="76198" cy="76198"/>
          </a:xfrm>
          <a:prstGeom prst="roundRect">
            <a:avLst>
              <a:gd name="adj" fmla="val 25000"/>
            </a:avLst>
          </a:prstGeom>
          <a:solidFill>
            <a:srgbClr val="22C2F4"/>
          </a:solidFill>
          <a:ln/>
        </p:spPr>
      </p:sp>
      <p:sp>
        <p:nvSpPr>
          <p:cNvPr id="19" name="Text 17"/>
          <p:cNvSpPr txBox="1"/>
          <p:nvPr/>
        </p:nvSpPr>
        <p:spPr>
          <a:xfrm>
            <a:off x="6603835" y="2397561"/>
            <a:ext cx="4787780"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um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try_cast</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ingênuo transforma em nulo e some com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R$ 5,41 mi</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(dá R$ 187,94 mi)</a:t>
            </a:r>
            <a:endParaRPr lang="en-US" sz="1200" dirty="0"/>
          </a:p>
        </p:txBody>
      </p:sp>
      <p:sp>
        <p:nvSpPr>
          <p:cNvPr id="20" name="Shape 18"/>
          <p:cNvSpPr/>
          <p:nvPr/>
        </p:nvSpPr>
        <p:spPr>
          <a:xfrm>
            <a:off x="6413340" y="2967658"/>
            <a:ext cx="76198" cy="76198"/>
          </a:xfrm>
          <a:prstGeom prst="roundRect">
            <a:avLst>
              <a:gd name="adj" fmla="val 25000"/>
            </a:avLst>
          </a:prstGeom>
          <a:solidFill>
            <a:srgbClr val="22C2F4"/>
          </a:solidFill>
          <a:ln/>
        </p:spPr>
      </p:sp>
      <p:sp>
        <p:nvSpPr>
          <p:cNvPr id="21" name="Text 19"/>
          <p:cNvSpPr txBox="1"/>
          <p:nvPr/>
        </p:nvSpPr>
        <p:spPr>
          <a:xfrm>
            <a:off x="6603835" y="2885110"/>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estornos negativos, que são legítimos</a:t>
            </a:r>
            <a:endParaRPr lang="en-US" sz="1200" dirty="0"/>
          </a:p>
        </p:txBody>
      </p:sp>
      <p:sp>
        <p:nvSpPr>
          <p:cNvPr id="22" name="Shape 20"/>
          <p:cNvSpPr/>
          <p:nvPr/>
        </p:nvSpPr>
        <p:spPr>
          <a:xfrm>
            <a:off x="761981" y="3452726"/>
            <a:ext cx="10667733" cy="711182"/>
          </a:xfrm>
          <a:prstGeom prst="roundRect">
            <a:avLst>
              <a:gd name="adj" fmla="val 16071"/>
            </a:avLst>
          </a:prstGeom>
          <a:solidFill>
            <a:srgbClr val="0C0C10"/>
          </a:solidFill>
          <a:ln w="6350">
            <a:solidFill>
              <a:srgbClr val="2F2F39"/>
            </a:solidFill>
            <a:prstDash val="solid"/>
          </a:ln>
        </p:spPr>
      </p:sp>
      <p:sp>
        <p:nvSpPr>
          <p:cNvPr id="23" name="Text 21"/>
          <p:cNvSpPr txBox="1"/>
          <p:nvPr/>
        </p:nvSpPr>
        <p:spPr>
          <a:xfrm>
            <a:off x="958826" y="3624172"/>
            <a:ext cx="10691609" cy="374641"/>
          </a:xfrm>
          <a:prstGeom prst="rect">
            <a:avLst/>
          </a:prstGeom>
          <a:noFill/>
          <a:ln/>
        </p:spPr>
        <p:txBody>
          <a:bodyPr wrap="square" lIns="0" tIns="0" rIns="0" bIns="0" rtlCol="0" anchor="t"/>
          <a:lstStyle/>
          <a:p>
            <a:pPr algn="l" indent="0" marL="0">
              <a:lnSpc>
                <a:spcPct val="123932"/>
              </a:lnSpc>
              <a:buNone/>
            </a:pPr>
            <a:r>
              <a:rPr lang="en-US" sz="1000" dirty="0">
                <a:solidFill>
                  <a:srgbClr val="E6E8F2"/>
                </a:solidFill>
                <a:latin typeface="Courier New" pitchFamily="34" charset="0"/>
                <a:ea typeface="Courier New" pitchFamily="34" charset="-122"/>
                <a:cs typeface="Courier New" pitchFamily="34" charset="-120"/>
              </a:rPr>
              <a:t>lancamento_id | projeto_id | data       | categoria | descricao                                 | valor</a:t>
            </a:r>
            <a:endParaRPr lang="en-US" sz="1000" dirty="0"/>
          </a:p>
          <a:p>
            <a:pPr algn="l" indent="0" marL="0">
              <a:lnSpc>
                <a:spcPct val="123932"/>
              </a:lnSpc>
              <a:buNone/>
            </a:pPr>
            <a:r>
              <a:rPr lang="en-US" sz="1000" dirty="0">
                <a:solidFill>
                  <a:srgbClr val="E6E8F2"/>
                </a:solidFill>
                <a:latin typeface="Courier New" pitchFamily="34" charset="0"/>
                <a:ea typeface="Courier New" pitchFamily="34" charset="-122"/>
                <a:cs typeface="Courier New" pitchFamily="34" charset="-120"/>
              </a:rPr>
              <a:t>L0000001      | PRJ-001    | 2025-01-10 | pessoal   | Folha alocada PRJ-001 semana 2025-01-06   | 1245.78</a:t>
            </a:r>
            <a:endParaRPr lang="en-US" sz="1000" dirty="0"/>
          </a:p>
        </p:txBody>
      </p:sp>
      <p:pic>
        <p:nvPicPr>
          <p:cNvPr id="24"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25" name="Text 22"/>
          <p:cNvSpPr txBox="1"/>
          <p:nvPr/>
        </p:nvSpPr>
        <p:spPr>
          <a:xfrm>
            <a:off x="10939288" y="6387940"/>
            <a:ext cx="510043"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46 / 133</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BRONZE · 9 DE 9 · BRONZE.ENTREGAS_FORNECEDOR</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O que a consultoria prometeu,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e quando entregou</a:t>
            </a:r>
            <a:endParaRPr lang="en-US" sz="3100" dirty="0"/>
          </a:p>
        </p:txBody>
      </p:sp>
      <p:sp>
        <p:nvSpPr>
          <p:cNvPr id="4" name="Shape 2"/>
          <p:cNvSpPr/>
          <p:nvPr/>
        </p:nvSpPr>
        <p:spPr>
          <a:xfrm>
            <a:off x="761981" y="1582301"/>
            <a:ext cx="5238619" cy="2398553"/>
          </a:xfrm>
          <a:prstGeom prst="roundRect">
            <a:avLst>
              <a:gd name="adj" fmla="val 6354"/>
            </a:avLst>
          </a:prstGeom>
          <a:solidFill>
            <a:srgbClr val="1E1E24"/>
          </a:solidFill>
          <a:ln w="6350">
            <a:solidFill>
              <a:srgbClr val="2F2F39"/>
            </a:solidFill>
            <a:prstDash val="solid"/>
          </a:ln>
        </p:spPr>
      </p:sp>
      <p:sp>
        <p:nvSpPr>
          <p:cNvPr id="5" name="Shape 3"/>
          <p:cNvSpPr/>
          <p:nvPr/>
        </p:nvSpPr>
        <p:spPr>
          <a:xfrm>
            <a:off x="984225" y="1779146"/>
            <a:ext cx="616034" cy="247644"/>
          </a:xfrm>
          <a:prstGeom prst="roundRect">
            <a:avLst>
              <a:gd name="adj" fmla="val 50000"/>
            </a:avLst>
          </a:prstGeom>
          <a:solidFill>
            <a:srgbClr val="22C2F4">
              <a:alpha val="14000"/>
            </a:srgbClr>
          </a:solidFill>
          <a:ln/>
        </p:spPr>
      </p:sp>
      <p:sp>
        <p:nvSpPr>
          <p:cNvPr id="6" name="Text 4"/>
          <p:cNvSpPr txBox="1"/>
          <p:nvPr/>
        </p:nvSpPr>
        <p:spPr>
          <a:xfrm>
            <a:off x="1073123" y="1817245"/>
            <a:ext cx="455768"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O que é</a:t>
            </a:r>
            <a:endParaRPr lang="en-US" sz="900" dirty="0"/>
          </a:p>
        </p:txBody>
      </p:sp>
      <p:sp>
        <p:nvSpPr>
          <p:cNvPr id="7" name="Shape 5"/>
          <p:cNvSpPr/>
          <p:nvPr/>
        </p:nvSpPr>
        <p:spPr>
          <a:xfrm>
            <a:off x="984225" y="2198236"/>
            <a:ext cx="76198" cy="76198"/>
          </a:xfrm>
          <a:prstGeom prst="roundRect">
            <a:avLst>
              <a:gd name="adj" fmla="val 25000"/>
            </a:avLst>
          </a:prstGeom>
          <a:solidFill>
            <a:srgbClr val="22C2F4"/>
          </a:solidFill>
          <a:ln/>
        </p:spPr>
      </p:sp>
      <p:sp>
        <p:nvSpPr>
          <p:cNvPr id="8" name="Text 6"/>
          <p:cNvSpPr txBox="1"/>
          <p:nvPr/>
        </p:nvSpPr>
        <p:spPr>
          <a:xfrm>
            <a:off x="1174721" y="2115688"/>
            <a:ext cx="4787780" cy="411351"/>
          </a:xfrm>
          <a:prstGeom prst="rect">
            <a:avLst/>
          </a:prstGeom>
          <a:noFill/>
          <a:ln/>
        </p:spPr>
        <p:txBody>
          <a:bodyPr wrap="square" lIns="0" tIns="0" rIns="0" bIns="0" rtlCol="0" anchor="t"/>
          <a:lstStyle/>
          <a:p>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fornecedor = consultoria subcontratada pela Vértice</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aqui a Vértice é a contratante</a:t>
            </a:r>
            <a:endParaRPr lang="en-US" sz="1200" dirty="0"/>
          </a:p>
        </p:txBody>
      </p:sp>
      <p:sp>
        <p:nvSpPr>
          <p:cNvPr id="9" name="Shape 7"/>
          <p:cNvSpPr/>
          <p:nvPr/>
        </p:nvSpPr>
        <p:spPr>
          <a:xfrm>
            <a:off x="984225" y="2685784"/>
            <a:ext cx="76198" cy="76198"/>
          </a:xfrm>
          <a:prstGeom prst="roundRect">
            <a:avLst>
              <a:gd name="adj" fmla="val 25000"/>
            </a:avLst>
          </a:prstGeom>
          <a:solidFill>
            <a:srgbClr val="22C2F4"/>
          </a:solidFill>
          <a:ln/>
        </p:spPr>
      </p:sp>
      <p:sp>
        <p:nvSpPr>
          <p:cNvPr id="10" name="Text 8"/>
          <p:cNvSpPr txBox="1"/>
          <p:nvPr/>
        </p:nvSpPr>
        <p:spPr>
          <a:xfrm>
            <a:off x="1174721" y="2603236"/>
            <a:ext cx="4787780" cy="411351"/>
          </a:xfrm>
          <a:prstGeom prst="rect">
            <a:avLst/>
          </a:prstGeom>
          <a:noFill/>
          <a:ln/>
        </p:spPr>
        <p:txBody>
          <a:bodyPr wrap="square" lIns="0" tIns="0" rIns="0" bIns="0" rtlCol="0" anchor="t"/>
          <a:lstStyle/>
          <a:p>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640 entregas</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de 5 fornecedores: pedido, prometido, entregue, valor</a:t>
            </a:r>
            <a:endParaRPr lang="en-US" sz="1200" dirty="0"/>
          </a:p>
        </p:txBody>
      </p:sp>
      <p:sp>
        <p:nvSpPr>
          <p:cNvPr id="11" name="Shape 9"/>
          <p:cNvSpPr/>
          <p:nvPr/>
        </p:nvSpPr>
        <p:spPr>
          <a:xfrm>
            <a:off x="984225" y="3173333"/>
            <a:ext cx="76198" cy="76198"/>
          </a:xfrm>
          <a:prstGeom prst="roundRect">
            <a:avLst>
              <a:gd name="adj" fmla="val 25000"/>
            </a:avLst>
          </a:prstGeom>
          <a:solidFill>
            <a:srgbClr val="22C2F4"/>
          </a:solidFill>
          <a:ln/>
        </p:spPr>
      </p:sp>
      <p:sp>
        <p:nvSpPr>
          <p:cNvPr id="12" name="Text 10"/>
          <p:cNvSpPr txBox="1"/>
          <p:nvPr/>
        </p:nvSpPr>
        <p:spPr>
          <a:xfrm>
            <a:off x="1174721" y="3090785"/>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prazo real ÷ prometido mostra quem cumpre</a:t>
            </a:r>
            <a:endParaRPr lang="en-US" sz="1200" dirty="0"/>
          </a:p>
        </p:txBody>
      </p:sp>
      <p:sp>
        <p:nvSpPr>
          <p:cNvPr id="13" name="Shape 11"/>
          <p:cNvSpPr/>
          <p:nvPr/>
        </p:nvSpPr>
        <p:spPr>
          <a:xfrm>
            <a:off x="984225" y="3455207"/>
            <a:ext cx="76198" cy="76198"/>
          </a:xfrm>
          <a:prstGeom prst="roundRect">
            <a:avLst>
              <a:gd name="adj" fmla="val 25000"/>
            </a:avLst>
          </a:prstGeom>
          <a:solidFill>
            <a:srgbClr val="22C2F4"/>
          </a:solidFill>
          <a:ln/>
        </p:spPr>
      </p:sp>
      <p:sp>
        <p:nvSpPr>
          <p:cNvPr id="14" name="Text 12"/>
          <p:cNvSpPr txBox="1"/>
          <p:nvPr/>
        </p:nvSpPr>
        <p:spPr>
          <a:xfrm>
            <a:off x="1174721" y="3372659"/>
            <a:ext cx="4787780"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na noite 4 vira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multa que a Vértice cobra</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cruzando com o contrato em PDF</a:t>
            </a:r>
            <a:endParaRPr lang="en-US" sz="1200" dirty="0"/>
          </a:p>
        </p:txBody>
      </p:sp>
      <p:sp>
        <p:nvSpPr>
          <p:cNvPr id="15" name="Shape 13"/>
          <p:cNvSpPr/>
          <p:nvPr/>
        </p:nvSpPr>
        <p:spPr>
          <a:xfrm>
            <a:off x="6191095" y="1582301"/>
            <a:ext cx="5238619" cy="2398553"/>
          </a:xfrm>
          <a:prstGeom prst="roundRect">
            <a:avLst>
              <a:gd name="adj" fmla="val 6354"/>
            </a:avLst>
          </a:prstGeom>
          <a:solidFill>
            <a:srgbClr val="0059DB"/>
          </a:solidFill>
          <a:ln/>
        </p:spPr>
      </p:sp>
      <p:sp>
        <p:nvSpPr>
          <p:cNvPr id="16" name="Shape 14"/>
          <p:cNvSpPr/>
          <p:nvPr/>
        </p:nvSpPr>
        <p:spPr>
          <a:xfrm>
            <a:off x="6413340" y="1779146"/>
            <a:ext cx="1370772" cy="247644"/>
          </a:xfrm>
          <a:prstGeom prst="roundRect">
            <a:avLst>
              <a:gd name="adj" fmla="val 50000"/>
            </a:avLst>
          </a:prstGeom>
          <a:solidFill>
            <a:srgbClr val="FFFFFF">
              <a:alpha val="16000"/>
            </a:srgbClr>
          </a:solidFill>
          <a:ln/>
        </p:spPr>
      </p:sp>
      <p:sp>
        <p:nvSpPr>
          <p:cNvPr id="17" name="Text 15"/>
          <p:cNvSpPr txBox="1"/>
          <p:nvPr/>
        </p:nvSpPr>
        <p:spPr>
          <a:xfrm>
            <a:off x="6502237" y="1817245"/>
            <a:ext cx="1240695"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A história escondida</a:t>
            </a:r>
            <a:endParaRPr lang="en-US" sz="900" dirty="0"/>
          </a:p>
        </p:txBody>
      </p:sp>
      <p:sp>
        <p:nvSpPr>
          <p:cNvPr id="18" name="Shape 16"/>
          <p:cNvSpPr/>
          <p:nvPr/>
        </p:nvSpPr>
        <p:spPr>
          <a:xfrm>
            <a:off x="6413340" y="2198236"/>
            <a:ext cx="76198" cy="76198"/>
          </a:xfrm>
          <a:prstGeom prst="roundRect">
            <a:avLst>
              <a:gd name="adj" fmla="val 25000"/>
            </a:avLst>
          </a:prstGeom>
          <a:solidFill>
            <a:srgbClr val="22C2F4"/>
          </a:solidFill>
          <a:ln/>
        </p:spPr>
      </p:sp>
      <p:sp>
        <p:nvSpPr>
          <p:cNvPr id="19" name="Text 17"/>
          <p:cNvSpPr txBox="1"/>
          <p:nvPr/>
        </p:nvSpPr>
        <p:spPr>
          <a:xfrm>
            <a:off x="6603835" y="2115688"/>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a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CodeForge</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entrega com prazo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×1,41</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e 0% no prazo</a:t>
            </a:r>
            <a:endParaRPr lang="en-US" sz="1200" dirty="0"/>
          </a:p>
        </p:txBody>
      </p:sp>
      <p:sp>
        <p:nvSpPr>
          <p:cNvPr id="20" name="Shape 18"/>
          <p:cNvSpPr/>
          <p:nvPr/>
        </p:nvSpPr>
        <p:spPr>
          <a:xfrm>
            <a:off x="6413340" y="2480109"/>
            <a:ext cx="76198" cy="76198"/>
          </a:xfrm>
          <a:prstGeom prst="roundRect">
            <a:avLst>
              <a:gd name="adj" fmla="val 25000"/>
            </a:avLst>
          </a:prstGeom>
          <a:solidFill>
            <a:srgbClr val="22C2F4"/>
          </a:solidFill>
          <a:ln/>
        </p:spPr>
      </p:sp>
      <p:sp>
        <p:nvSpPr>
          <p:cNvPr id="21" name="Text 19"/>
          <p:cNvSpPr txBox="1"/>
          <p:nvPr/>
        </p:nvSpPr>
        <p:spPr>
          <a:xfrm>
            <a:off x="6603835" y="2397561"/>
            <a:ext cx="4787780"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e vem escrita de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4 jeitos</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sem normalizar, vira 4 fornecedores medianos e some do ranking</a:t>
            </a:r>
            <a:endParaRPr lang="en-US" sz="1200" dirty="0"/>
          </a:p>
        </p:txBody>
      </p:sp>
      <p:sp>
        <p:nvSpPr>
          <p:cNvPr id="22" name="Shape 20"/>
          <p:cNvSpPr/>
          <p:nvPr/>
        </p:nvSpPr>
        <p:spPr>
          <a:xfrm>
            <a:off x="6413340" y="2967658"/>
            <a:ext cx="76198" cy="76198"/>
          </a:xfrm>
          <a:prstGeom prst="roundRect">
            <a:avLst>
              <a:gd name="adj" fmla="val 25000"/>
            </a:avLst>
          </a:prstGeom>
          <a:solidFill>
            <a:srgbClr val="22C2F4"/>
          </a:solidFill>
          <a:ln/>
        </p:spPr>
      </p:sp>
      <p:sp>
        <p:nvSpPr>
          <p:cNvPr id="23" name="Text 21"/>
          <p:cNvSpPr txBox="1"/>
          <p:nvPr/>
        </p:nvSpPr>
        <p:spPr>
          <a:xfrm>
            <a:off x="6603835" y="2885110"/>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5 entregas em atraso hoje, todas dela</a:t>
            </a:r>
            <a:endParaRPr lang="en-US" sz="1200" dirty="0"/>
          </a:p>
        </p:txBody>
      </p:sp>
      <p:pic>
        <p:nvPicPr>
          <p:cNvPr id="24"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25" name="Text 22"/>
          <p:cNvSpPr txBox="1"/>
          <p:nvPr/>
        </p:nvSpPr>
        <p:spPr>
          <a:xfrm>
            <a:off x="10949706" y="6387940"/>
            <a:ext cx="499209"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47 / 133</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1 · A BRONZE PRONTA</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As 9 tabelas no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Catalog Explorer</a:t>
            </a:r>
            <a:endParaRPr lang="en-US" sz="3100" dirty="0"/>
          </a:p>
        </p:txBody>
      </p:sp>
      <p:pic>
        <p:nvPicPr>
          <p:cNvPr id="4" name="Image 0" descr="preencoded.png">    </p:cNvPr>
          <p:cNvPicPr>
            <a:picLocks noChangeAspect="1"/>
          </p:cNvPicPr>
          <p:nvPr/>
        </p:nvPicPr>
        <p:blipFill>
          <a:blip r:embed="rId2"/>
          <a:srcRect l="0" r="0" t="0" b="2488"/>
          <a:stretch/>
        </p:blipFill>
        <p:spPr>
          <a:xfrm>
            <a:off x="761981" y="1455304"/>
            <a:ext cx="10667733" cy="4444889"/>
          </a:xfrm>
          <a:prstGeom prst="rect">
            <a:avLst/>
          </a:prstGeom>
        </p:spPr>
      </p:pic>
      <p:sp>
        <p:nvSpPr>
          <p:cNvPr id="5" name="Text 2"/>
          <p:cNvSpPr txBox="1"/>
          <p:nvPr/>
        </p:nvSpPr>
        <p:spPr>
          <a:xfrm>
            <a:off x="761981" y="5963692"/>
            <a:ext cx="11094443" cy="190495"/>
          </a:xfrm>
          <a:prstGeom prst="rect">
            <a:avLst/>
          </a:prstGeom>
          <a:noFill/>
          <a:ln/>
        </p:spPr>
        <p:txBody>
          <a:bodyPr wrap="square" lIns="0" tIns="0" rIns="0" bIns="0" rtlCol="0" anchor="t"/>
          <a:lstStyle/>
          <a:p>
            <a:pPr algn="l" indent="0" marL="0">
              <a:lnSpc>
                <a:spcPct val="106838"/>
              </a:lnSpc>
              <a:buNone/>
            </a:pPr>
            <a:r>
              <a:rPr lang="en-US" sz="1000" dirty="0">
                <a:solidFill>
                  <a:srgbClr val="A3A6B4"/>
                </a:solidFill>
                <a:latin typeface="Poppins" pitchFamily="34" charset="0"/>
                <a:ea typeface="Poppins" pitchFamily="34" charset="-122"/>
                <a:cs typeface="Poppins" pitchFamily="34" charset="-120"/>
              </a:rPr>
              <a:t>São 10 itens porque o exemplo 05 cria a view </a:t>
            </a:r>
            <a:pPr algn="l" indent="0" marL="0">
              <a:lnSpc>
                <a:spcPct val="106838"/>
              </a:lnSpc>
              <a:buNone/>
            </a:pPr>
            <a:r>
              <a:rPr lang="en-US" sz="1000" b="1" dirty="0">
                <a:solidFill>
                  <a:srgbClr val="FFFFFF"/>
                </a:solidFill>
                <a:latin typeface="Poppins" pitchFamily="34" charset="0"/>
                <a:ea typeface="Poppins" pitchFamily="34" charset="-122"/>
                <a:cs typeface="Poppins" pitchFamily="34" charset="-120"/>
              </a:rPr>
              <a:t>rascunho_tarefas</a:t>
            </a:r>
            <a:pPr algn="l" indent="0" marL="0">
              <a:lnSpc>
                <a:spcPct val="106838"/>
              </a:lnSpc>
              <a:buNone/>
            </a:pPr>
            <a:r>
              <a:rPr lang="en-US" sz="1000" dirty="0">
                <a:solidFill>
                  <a:srgbClr val="A3A6B4"/>
                </a:solidFill>
                <a:latin typeface="Poppins" pitchFamily="34" charset="0"/>
                <a:ea typeface="Poppins" pitchFamily="34" charset="-122"/>
                <a:cs typeface="Poppins" pitchFamily="34" charset="-120"/>
              </a:rPr>
              <a:t>. Logo depois da ingestão você vê 9.</a:t>
            </a:r>
            <a:endParaRPr lang="en-US" sz="1000" dirty="0"/>
          </a:p>
        </p:txBody>
      </p:sp>
      <p:pic>
        <p:nvPicPr>
          <p:cNvPr id="6" name="Image 1" descr="preencoded.png">    </p:cNvPr>
          <p:cNvPicPr>
            <a:picLocks noChangeAspect="1"/>
          </p:cNvPicPr>
          <p:nvPr/>
        </p:nvPicPr>
        <p:blipFill>
          <a:blip r:embed="rId3"/>
          <a:stretch>
            <a:fillRect/>
          </a:stretch>
        </p:blipFill>
        <p:spPr>
          <a:xfrm>
            <a:off x="761981" y="6387940"/>
            <a:ext cx="2059928" cy="190495"/>
          </a:xfrm>
          <a:prstGeom prst="rect">
            <a:avLst/>
          </a:prstGeom>
        </p:spPr>
      </p:pic>
      <p:sp>
        <p:nvSpPr>
          <p:cNvPr id="7" name="Text 3"/>
          <p:cNvSpPr txBox="1"/>
          <p:nvPr/>
        </p:nvSpPr>
        <p:spPr>
          <a:xfrm>
            <a:off x="10939884" y="6387940"/>
            <a:ext cx="509424"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48 / 133</a:t>
            </a:r>
            <a:endParaRPr lang="en-US" sz="1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1 · ANTES DE FAZER CONTA</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5 histórias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escondidas no dado</a:t>
            </a:r>
            <a:endParaRPr lang="en-US" sz="3100" dirty="0"/>
          </a:p>
        </p:txBody>
      </p:sp>
      <p:sp>
        <p:nvSpPr>
          <p:cNvPr id="4" name="Text 2"/>
          <p:cNvSpPr txBox="1"/>
          <p:nvPr/>
        </p:nvSpPr>
        <p:spPr>
          <a:xfrm>
            <a:off x="876278" y="1582301"/>
            <a:ext cx="114948" cy="342891"/>
          </a:xfrm>
          <a:prstGeom prst="rect">
            <a:avLst/>
          </a:prstGeom>
          <a:noFill/>
          <a:ln/>
        </p:spPr>
        <p:txBody>
          <a:bodyPr wrap="square" lIns="0" tIns="0" rIns="0" bIns="0" rtlCol="0" anchor="t"/>
          <a:lstStyle/>
          <a:p>
            <a:pPr algn="l"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a:t>
            </a:r>
            <a:endParaRPr lang="en-US" sz="900" dirty="0"/>
          </a:p>
        </p:txBody>
      </p:sp>
      <p:sp>
        <p:nvSpPr>
          <p:cNvPr id="5" name="Text 3"/>
          <p:cNvSpPr txBox="1"/>
          <p:nvPr/>
        </p:nvSpPr>
        <p:spPr>
          <a:xfrm>
            <a:off x="1215399" y="1582301"/>
            <a:ext cx="6550385" cy="342891"/>
          </a:xfrm>
          <a:prstGeom prst="rect">
            <a:avLst/>
          </a:prstGeom>
          <a:noFill/>
          <a:ln/>
        </p:spPr>
        <p:txBody>
          <a:bodyPr wrap="square" lIns="0" tIns="0" rIns="0" bIns="0" rtlCol="0" anchor="t"/>
          <a:lstStyle/>
          <a:p>
            <a:pPr algn="l"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HISTÓRIA</a:t>
            </a:r>
            <a:endParaRPr lang="en-US" sz="900" dirty="0"/>
          </a:p>
        </p:txBody>
      </p:sp>
      <p:sp>
        <p:nvSpPr>
          <p:cNvPr id="6" name="Text 4"/>
          <p:cNvSpPr txBox="1"/>
          <p:nvPr/>
        </p:nvSpPr>
        <p:spPr>
          <a:xfrm>
            <a:off x="7742441" y="1582301"/>
            <a:ext cx="1719370" cy="342891"/>
          </a:xfrm>
          <a:prstGeom prst="rect">
            <a:avLst/>
          </a:prstGeom>
          <a:noFill/>
          <a:ln/>
        </p:spPr>
        <p:txBody>
          <a:bodyPr wrap="square" lIns="0" tIns="0" rIns="0" bIns="0" rtlCol="0" anchor="t"/>
          <a:lstStyle/>
          <a:p>
            <a:pPr algn="l"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ONDE APARECE</a:t>
            </a:r>
            <a:endParaRPr lang="en-US" sz="900" dirty="0"/>
          </a:p>
        </p:txBody>
      </p:sp>
      <p:sp>
        <p:nvSpPr>
          <p:cNvPr id="7" name="Text 5"/>
          <p:cNvSpPr txBox="1"/>
          <p:nvPr/>
        </p:nvSpPr>
        <p:spPr>
          <a:xfrm>
            <a:off x="9624276" y="1582301"/>
            <a:ext cx="1758787" cy="342891"/>
          </a:xfrm>
          <a:prstGeom prst="rect">
            <a:avLst/>
          </a:prstGeom>
          <a:noFill/>
          <a:ln/>
        </p:spPr>
        <p:txBody>
          <a:bodyPr wrap="square" lIns="0" tIns="0" rIns="0" bIns="0" rtlCol="0" anchor="t"/>
          <a:lstStyle/>
          <a:p>
            <a:pPr algn="l"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QUANDO A GENTE EXPLICA</a:t>
            </a:r>
            <a:endParaRPr lang="en-US" sz="900" dirty="0"/>
          </a:p>
        </p:txBody>
      </p:sp>
      <p:sp>
        <p:nvSpPr>
          <p:cNvPr id="8" name="Shape 6"/>
          <p:cNvSpPr/>
          <p:nvPr/>
        </p:nvSpPr>
        <p:spPr>
          <a:xfrm>
            <a:off x="761981" y="2052189"/>
            <a:ext cx="339121" cy="582796"/>
          </a:xfrm>
          <a:prstGeom prst="rect">
            <a:avLst/>
          </a:prstGeom>
          <a:solidFill>
            <a:srgbClr val="1E1E24"/>
          </a:solidFill>
          <a:ln/>
        </p:spPr>
      </p:sp>
      <p:sp>
        <p:nvSpPr>
          <p:cNvPr id="9" name="Text 7"/>
          <p:cNvSpPr txBox="1"/>
          <p:nvPr/>
        </p:nvSpPr>
        <p:spPr>
          <a:xfrm>
            <a:off x="876278" y="2153787"/>
            <a:ext cx="114948" cy="379601"/>
          </a:xfrm>
          <a:prstGeom prst="rect">
            <a:avLst/>
          </a:prstGeom>
          <a:noFill/>
          <a:ln/>
        </p:spPr>
        <p:txBody>
          <a:bodyPr wrap="square" lIns="0" tIns="0" rIns="0" bIns="0" rtlCol="0" anchor="t"/>
          <a:lstStyle/>
          <a:p>
            <a:pPr algn="l" indent="0" marL="0">
              <a:lnSpc>
                <a:spcPct val="111111"/>
              </a:lnSpc>
              <a:buNone/>
            </a:pPr>
            <a:r>
              <a:rPr lang="en-US" sz="1150" b="1" dirty="0">
                <a:solidFill>
                  <a:srgbClr val="F5F6FC"/>
                </a:solidFill>
                <a:latin typeface="Poppins" pitchFamily="34" charset="0"/>
                <a:ea typeface="Poppins" pitchFamily="34" charset="-122"/>
                <a:cs typeface="Poppins" pitchFamily="34" charset="-120"/>
              </a:rPr>
              <a:t>1</a:t>
            </a:r>
            <a:endParaRPr lang="en-US" sz="1150" dirty="0"/>
          </a:p>
        </p:txBody>
      </p:sp>
      <p:sp>
        <p:nvSpPr>
          <p:cNvPr id="10" name="Shape 8"/>
          <p:cNvSpPr/>
          <p:nvPr/>
        </p:nvSpPr>
        <p:spPr>
          <a:xfrm>
            <a:off x="1101102" y="2052189"/>
            <a:ext cx="6527042" cy="582796"/>
          </a:xfrm>
          <a:prstGeom prst="rect">
            <a:avLst/>
          </a:prstGeom>
          <a:solidFill>
            <a:srgbClr val="1E1E24"/>
          </a:solidFill>
          <a:ln/>
        </p:spPr>
      </p:sp>
      <p:sp>
        <p:nvSpPr>
          <p:cNvPr id="11" name="Text 9"/>
          <p:cNvSpPr txBox="1"/>
          <p:nvPr/>
        </p:nvSpPr>
        <p:spPr>
          <a:xfrm>
            <a:off x="1215399" y="2153787"/>
            <a:ext cx="6550385" cy="379601"/>
          </a:xfrm>
          <a:prstGeom prst="rect">
            <a:avLst/>
          </a:prstGeom>
          <a:noFill/>
          <a:ln/>
        </p:spPr>
        <p:txBody>
          <a:bodyPr wrap="square" lIns="0" tIns="0" rIns="0" bIns="0" rtlCol="0" anchor="t"/>
          <a:lstStyle/>
          <a:p>
            <a:pPr algn="l" indent="0" marL="0">
              <a:lnSpc>
                <a:spcPct val="111111"/>
              </a:lnSpc>
              <a:buNone/>
            </a:pPr>
            <a:r>
              <a:rPr lang="en-US" sz="1150" b="1" dirty="0">
                <a:solidFill>
                  <a:srgbClr val="FFFFFF"/>
                </a:solidFill>
                <a:latin typeface="Poppins" pitchFamily="34" charset="0"/>
                <a:ea typeface="Poppins" pitchFamily="34" charset="-122"/>
                <a:cs typeface="Poppins" pitchFamily="34" charset="-120"/>
              </a:rPr>
              <a:t>CPI caindo a partir do 6º mês</a:t>
            </a:r>
            <a:pPr algn="l" indent="0" marL="0">
              <a:lnSpc>
                <a:spcPct val="111111"/>
              </a:lnSpc>
              <a:buNone/>
            </a:pPr>
            <a:r>
              <a:rPr lang="en-US" sz="1150" dirty="0">
                <a:solidFill>
                  <a:srgbClr val="F5F6FC"/>
                </a:solidFill>
                <a:latin typeface="Poppins" pitchFamily="34" charset="0"/>
                <a:ea typeface="Poppins" pitchFamily="34" charset="-122"/>
                <a:cs typeface="Poppins" pitchFamily="34" charset="-120"/>
              </a:rPr>
              <a:t>: o cliente pede mais, o time faz, ninguém cobra o aditivo</a:t>
            </a:r>
            <a:endParaRPr lang="en-US" sz="1150" dirty="0"/>
          </a:p>
        </p:txBody>
      </p:sp>
      <p:sp>
        <p:nvSpPr>
          <p:cNvPr id="12" name="Shape 10"/>
          <p:cNvSpPr/>
          <p:nvPr/>
        </p:nvSpPr>
        <p:spPr>
          <a:xfrm>
            <a:off x="7628144" y="2052189"/>
            <a:ext cx="1881835" cy="582796"/>
          </a:xfrm>
          <a:prstGeom prst="rect">
            <a:avLst/>
          </a:prstGeom>
          <a:solidFill>
            <a:srgbClr val="1E1E24"/>
          </a:solidFill>
          <a:ln/>
        </p:spPr>
      </p:sp>
      <p:sp>
        <p:nvSpPr>
          <p:cNvPr id="13" name="Text 11"/>
          <p:cNvSpPr txBox="1"/>
          <p:nvPr/>
        </p:nvSpPr>
        <p:spPr>
          <a:xfrm>
            <a:off x="7742441" y="2153787"/>
            <a:ext cx="1719370" cy="379601"/>
          </a:xfrm>
          <a:prstGeom prst="rect">
            <a:avLst/>
          </a:prstGeom>
          <a:noFill/>
          <a:ln/>
        </p:spPr>
        <p:txBody>
          <a:bodyPr wrap="square" lIns="0" tIns="0" rIns="0" bIns="0" rtlCol="0" anchor="t"/>
          <a:lstStyle/>
          <a:p>
            <a:pPr algn="l" indent="0" marL="0">
              <a:lnSpc>
                <a:spcPct val="111111"/>
              </a:lnSpc>
              <a:buNone/>
            </a:pPr>
            <a:r>
              <a:rPr lang="en-US" sz="1150" dirty="0">
                <a:solidFill>
                  <a:srgbClr val="F5F6FC"/>
                </a:solidFill>
                <a:latin typeface="Poppins" pitchFamily="34" charset="0"/>
                <a:ea typeface="Poppins" pitchFamily="34" charset="-122"/>
                <a:cs typeface="Poppins" pitchFamily="34" charset="-120"/>
              </a:rPr>
              <a:t>8 projetos</a:t>
            </a:r>
            <a:endParaRPr lang="en-US" sz="1150" dirty="0"/>
          </a:p>
        </p:txBody>
      </p:sp>
      <p:sp>
        <p:nvSpPr>
          <p:cNvPr id="14" name="Shape 12"/>
          <p:cNvSpPr/>
          <p:nvPr/>
        </p:nvSpPr>
        <p:spPr>
          <a:xfrm>
            <a:off x="9509979" y="2052189"/>
            <a:ext cx="1919736" cy="582796"/>
          </a:xfrm>
          <a:prstGeom prst="rect">
            <a:avLst/>
          </a:prstGeom>
          <a:solidFill>
            <a:srgbClr val="1E1E24"/>
          </a:solidFill>
          <a:ln/>
        </p:spPr>
      </p:sp>
      <p:sp>
        <p:nvSpPr>
          <p:cNvPr id="15" name="Text 13"/>
          <p:cNvSpPr txBox="1"/>
          <p:nvPr/>
        </p:nvSpPr>
        <p:spPr>
          <a:xfrm>
            <a:off x="9624276" y="2153787"/>
            <a:ext cx="1758787" cy="379601"/>
          </a:xfrm>
          <a:prstGeom prst="rect">
            <a:avLst/>
          </a:prstGeom>
          <a:noFill/>
          <a:ln/>
        </p:spPr>
        <p:txBody>
          <a:bodyPr wrap="square" lIns="0" tIns="0" rIns="0" bIns="0" rtlCol="0" anchor="t"/>
          <a:lstStyle/>
          <a:p>
            <a:pPr algn="l" indent="0" marL="0">
              <a:lnSpc>
                <a:spcPct val="111111"/>
              </a:lnSpc>
              <a:buNone/>
            </a:pPr>
            <a:r>
              <a:rPr lang="en-US" sz="1150" dirty="0">
                <a:solidFill>
                  <a:srgbClr val="F5F6FC"/>
                </a:solidFill>
                <a:latin typeface="Poppins" pitchFamily="34" charset="0"/>
                <a:ea typeface="Poppins" pitchFamily="34" charset="-122"/>
                <a:cs typeface="Poppins" pitchFamily="34" charset="-120"/>
              </a:rPr>
              <a:t>noite 1 (sintoma) · 2</a:t>
            </a:r>
            <a:endParaRPr lang="en-US" sz="1150" dirty="0"/>
          </a:p>
        </p:txBody>
      </p:sp>
      <p:sp>
        <p:nvSpPr>
          <p:cNvPr id="16" name="Shape 14"/>
          <p:cNvSpPr/>
          <p:nvPr/>
        </p:nvSpPr>
        <p:spPr>
          <a:xfrm>
            <a:off x="761981" y="2685784"/>
            <a:ext cx="339121" cy="392996"/>
          </a:xfrm>
          <a:prstGeom prst="rect">
            <a:avLst/>
          </a:prstGeom>
          <a:solidFill>
            <a:srgbClr val="1E1E24"/>
          </a:solidFill>
          <a:ln/>
        </p:spPr>
      </p:sp>
      <p:sp>
        <p:nvSpPr>
          <p:cNvPr id="17" name="Text 15"/>
          <p:cNvSpPr txBox="1"/>
          <p:nvPr/>
        </p:nvSpPr>
        <p:spPr>
          <a:xfrm>
            <a:off x="876278" y="2787382"/>
            <a:ext cx="114948" cy="189801"/>
          </a:xfrm>
          <a:prstGeom prst="rect">
            <a:avLst/>
          </a:prstGeom>
          <a:noFill/>
          <a:ln/>
        </p:spPr>
        <p:txBody>
          <a:bodyPr wrap="square" lIns="0" tIns="0" rIns="0" bIns="0" rtlCol="0" anchor="t"/>
          <a:lstStyle/>
          <a:p>
            <a:pPr algn="l" indent="0" marL="0">
              <a:lnSpc>
                <a:spcPct val="111111"/>
              </a:lnSpc>
              <a:buNone/>
            </a:pPr>
            <a:r>
              <a:rPr lang="en-US" sz="1150" b="1" dirty="0">
                <a:solidFill>
                  <a:srgbClr val="F5F6FC"/>
                </a:solidFill>
                <a:latin typeface="Poppins" pitchFamily="34" charset="0"/>
                <a:ea typeface="Poppins" pitchFamily="34" charset="-122"/>
                <a:cs typeface="Poppins" pitchFamily="34" charset="-120"/>
              </a:rPr>
              <a:t>2</a:t>
            </a:r>
            <a:endParaRPr lang="en-US" sz="1150" dirty="0"/>
          </a:p>
        </p:txBody>
      </p:sp>
      <p:sp>
        <p:nvSpPr>
          <p:cNvPr id="18" name="Shape 16"/>
          <p:cNvSpPr/>
          <p:nvPr/>
        </p:nvSpPr>
        <p:spPr>
          <a:xfrm>
            <a:off x="1101102" y="2685784"/>
            <a:ext cx="6527042" cy="392996"/>
          </a:xfrm>
          <a:prstGeom prst="rect">
            <a:avLst/>
          </a:prstGeom>
          <a:solidFill>
            <a:srgbClr val="1E1E24"/>
          </a:solidFill>
          <a:ln/>
        </p:spPr>
      </p:sp>
      <p:sp>
        <p:nvSpPr>
          <p:cNvPr id="19" name="Text 17"/>
          <p:cNvSpPr txBox="1"/>
          <p:nvPr/>
        </p:nvSpPr>
        <p:spPr>
          <a:xfrm>
            <a:off x="1215399" y="2787382"/>
            <a:ext cx="6550385" cy="189801"/>
          </a:xfrm>
          <a:prstGeom prst="rect">
            <a:avLst/>
          </a:prstGeom>
          <a:noFill/>
          <a:ln/>
        </p:spPr>
        <p:txBody>
          <a:bodyPr wrap="square" lIns="0" tIns="0" rIns="0" bIns="0" rtlCol="0" anchor="t"/>
          <a:lstStyle/>
          <a:p>
            <a:pPr algn="l" indent="0" marL="0">
              <a:lnSpc>
                <a:spcPct val="111111"/>
              </a:lnSpc>
              <a:buNone/>
            </a:pPr>
            <a:r>
              <a:rPr lang="en-US" sz="1150" b="1" dirty="0">
                <a:solidFill>
                  <a:srgbClr val="FFFFFF"/>
                </a:solidFill>
                <a:latin typeface="Poppins" pitchFamily="34" charset="0"/>
                <a:ea typeface="Poppins" pitchFamily="34" charset="-122"/>
                <a:cs typeface="Poppins" pitchFamily="34" charset="-120"/>
              </a:rPr>
              <a:t>Change freeze da Black Friday</a:t>
            </a:r>
            <a:pPr algn="l" indent="0" marL="0">
              <a:lnSpc>
                <a:spcPct val="111111"/>
              </a:lnSpc>
              <a:buNone/>
            </a:pPr>
            <a:r>
              <a:rPr lang="en-US" sz="1150" dirty="0">
                <a:solidFill>
                  <a:srgbClr val="F5F6FC"/>
                </a:solidFill>
                <a:latin typeface="Poppins" pitchFamily="34" charset="0"/>
                <a:ea typeface="Poppins" pitchFamily="34" charset="-122"/>
                <a:cs typeface="Poppins" pitchFamily="34" charset="-120"/>
              </a:rPr>
              <a:t> (01/11 a 10/01) trava os projetos de e-commerce</a:t>
            </a:r>
            <a:endParaRPr lang="en-US" sz="1150" dirty="0"/>
          </a:p>
        </p:txBody>
      </p:sp>
      <p:sp>
        <p:nvSpPr>
          <p:cNvPr id="20" name="Shape 18"/>
          <p:cNvSpPr/>
          <p:nvPr/>
        </p:nvSpPr>
        <p:spPr>
          <a:xfrm>
            <a:off x="7628144" y="2685784"/>
            <a:ext cx="1881835" cy="392996"/>
          </a:xfrm>
          <a:prstGeom prst="rect">
            <a:avLst/>
          </a:prstGeom>
          <a:solidFill>
            <a:srgbClr val="1E1E24"/>
          </a:solidFill>
          <a:ln/>
        </p:spPr>
      </p:sp>
      <p:sp>
        <p:nvSpPr>
          <p:cNvPr id="21" name="Text 19"/>
          <p:cNvSpPr txBox="1"/>
          <p:nvPr/>
        </p:nvSpPr>
        <p:spPr>
          <a:xfrm>
            <a:off x="7742441" y="2787382"/>
            <a:ext cx="1719370" cy="189801"/>
          </a:xfrm>
          <a:prstGeom prst="rect">
            <a:avLst/>
          </a:prstGeom>
          <a:noFill/>
          <a:ln/>
        </p:spPr>
        <p:txBody>
          <a:bodyPr wrap="square" lIns="0" tIns="0" rIns="0" bIns="0" rtlCol="0" anchor="t"/>
          <a:lstStyle/>
          <a:p>
            <a:pPr algn="l" indent="0" marL="0">
              <a:lnSpc>
                <a:spcPct val="111111"/>
              </a:lnSpc>
              <a:buNone/>
            </a:pPr>
            <a:r>
              <a:rPr lang="en-US" sz="1150" dirty="0">
                <a:solidFill>
                  <a:srgbClr val="F5F6FC"/>
                </a:solidFill>
                <a:latin typeface="Poppins" pitchFamily="34" charset="0"/>
                <a:ea typeface="Poppins" pitchFamily="34" charset="-122"/>
                <a:cs typeface="Poppins" pitchFamily="34" charset="-120"/>
              </a:rPr>
              <a:t>PRJ-003, 011, 024</a:t>
            </a:r>
            <a:endParaRPr lang="en-US" sz="1150" dirty="0"/>
          </a:p>
        </p:txBody>
      </p:sp>
      <p:sp>
        <p:nvSpPr>
          <p:cNvPr id="22" name="Shape 20"/>
          <p:cNvSpPr/>
          <p:nvPr/>
        </p:nvSpPr>
        <p:spPr>
          <a:xfrm>
            <a:off x="9509979" y="2685784"/>
            <a:ext cx="1919736" cy="392996"/>
          </a:xfrm>
          <a:prstGeom prst="rect">
            <a:avLst/>
          </a:prstGeom>
          <a:solidFill>
            <a:srgbClr val="1E1E24"/>
          </a:solidFill>
          <a:ln/>
        </p:spPr>
      </p:sp>
      <p:sp>
        <p:nvSpPr>
          <p:cNvPr id="23" name="Text 21"/>
          <p:cNvSpPr txBox="1"/>
          <p:nvPr/>
        </p:nvSpPr>
        <p:spPr>
          <a:xfrm>
            <a:off x="9624276" y="2787382"/>
            <a:ext cx="1758787" cy="189801"/>
          </a:xfrm>
          <a:prstGeom prst="rect">
            <a:avLst/>
          </a:prstGeom>
          <a:noFill/>
          <a:ln/>
        </p:spPr>
        <p:txBody>
          <a:bodyPr wrap="square" lIns="0" tIns="0" rIns="0" bIns="0" rtlCol="0" anchor="t"/>
          <a:lstStyle/>
          <a:p>
            <a:pPr algn="l" indent="0" marL="0">
              <a:lnSpc>
                <a:spcPct val="111111"/>
              </a:lnSpc>
              <a:buNone/>
            </a:pPr>
            <a:r>
              <a:rPr lang="en-US" sz="1150" dirty="0">
                <a:solidFill>
                  <a:srgbClr val="F5F6FC"/>
                </a:solidFill>
                <a:latin typeface="Poppins" pitchFamily="34" charset="0"/>
                <a:ea typeface="Poppins" pitchFamily="34" charset="-122"/>
                <a:cs typeface="Poppins" pitchFamily="34" charset="-120"/>
              </a:rPr>
              <a:t>noite 3</a:t>
            </a:r>
            <a:endParaRPr lang="en-US" sz="1150" dirty="0"/>
          </a:p>
        </p:txBody>
      </p:sp>
      <p:sp>
        <p:nvSpPr>
          <p:cNvPr id="24" name="Shape 22"/>
          <p:cNvSpPr/>
          <p:nvPr/>
        </p:nvSpPr>
        <p:spPr>
          <a:xfrm>
            <a:off x="761981" y="3129579"/>
            <a:ext cx="339121" cy="392996"/>
          </a:xfrm>
          <a:prstGeom prst="rect">
            <a:avLst/>
          </a:prstGeom>
          <a:solidFill>
            <a:srgbClr val="1E1E24"/>
          </a:solidFill>
          <a:ln/>
        </p:spPr>
      </p:sp>
      <p:sp>
        <p:nvSpPr>
          <p:cNvPr id="25" name="Text 23"/>
          <p:cNvSpPr txBox="1"/>
          <p:nvPr/>
        </p:nvSpPr>
        <p:spPr>
          <a:xfrm>
            <a:off x="876278" y="3231176"/>
            <a:ext cx="114948" cy="189801"/>
          </a:xfrm>
          <a:prstGeom prst="rect">
            <a:avLst/>
          </a:prstGeom>
          <a:noFill/>
          <a:ln/>
        </p:spPr>
        <p:txBody>
          <a:bodyPr wrap="square" lIns="0" tIns="0" rIns="0" bIns="0" rtlCol="0" anchor="t"/>
          <a:lstStyle/>
          <a:p>
            <a:pPr algn="l" indent="0" marL="0">
              <a:lnSpc>
                <a:spcPct val="111111"/>
              </a:lnSpc>
              <a:buNone/>
            </a:pPr>
            <a:r>
              <a:rPr lang="en-US" sz="1150" b="1" dirty="0">
                <a:solidFill>
                  <a:srgbClr val="F5F6FC"/>
                </a:solidFill>
                <a:latin typeface="Poppins" pitchFamily="34" charset="0"/>
                <a:ea typeface="Poppins" pitchFamily="34" charset="-122"/>
                <a:cs typeface="Poppins" pitchFamily="34" charset="-120"/>
              </a:rPr>
              <a:t>3</a:t>
            </a:r>
            <a:endParaRPr lang="en-US" sz="1150" dirty="0"/>
          </a:p>
        </p:txBody>
      </p:sp>
      <p:sp>
        <p:nvSpPr>
          <p:cNvPr id="26" name="Shape 24"/>
          <p:cNvSpPr/>
          <p:nvPr/>
        </p:nvSpPr>
        <p:spPr>
          <a:xfrm>
            <a:off x="1101102" y="3129579"/>
            <a:ext cx="6527042" cy="392996"/>
          </a:xfrm>
          <a:prstGeom prst="rect">
            <a:avLst/>
          </a:prstGeom>
          <a:solidFill>
            <a:srgbClr val="1E1E24"/>
          </a:solidFill>
          <a:ln/>
        </p:spPr>
      </p:sp>
      <p:sp>
        <p:nvSpPr>
          <p:cNvPr id="27" name="Text 25"/>
          <p:cNvSpPr txBox="1"/>
          <p:nvPr/>
        </p:nvSpPr>
        <p:spPr>
          <a:xfrm>
            <a:off x="1215399" y="3231176"/>
            <a:ext cx="6550385" cy="189801"/>
          </a:xfrm>
          <a:prstGeom prst="rect">
            <a:avLst/>
          </a:prstGeom>
          <a:noFill/>
          <a:ln/>
        </p:spPr>
        <p:txBody>
          <a:bodyPr wrap="square" lIns="0" tIns="0" rIns="0" bIns="0" rtlCol="0" anchor="t"/>
          <a:lstStyle/>
          <a:p>
            <a:pPr algn="l" indent="0" marL="0">
              <a:lnSpc>
                <a:spcPct val="111111"/>
              </a:lnSpc>
              <a:buNone/>
            </a:pPr>
            <a:r>
              <a:rPr lang="en-US" sz="1150" dirty="0">
                <a:solidFill>
                  <a:srgbClr val="F5F6FC"/>
                </a:solidFill>
                <a:latin typeface="Poppins" pitchFamily="34" charset="0"/>
                <a:ea typeface="Poppins" pitchFamily="34" charset="-122"/>
                <a:cs typeface="Poppins" pitchFamily="34" charset="-120"/>
              </a:rPr>
              <a:t>A consultoria </a:t>
            </a:r>
            <a:pPr algn="l" indent="0" marL="0">
              <a:lnSpc>
                <a:spcPct val="111111"/>
              </a:lnSpc>
              <a:buNone/>
            </a:pPr>
            <a:r>
              <a:rPr lang="en-US" sz="1150" b="1" dirty="0">
                <a:solidFill>
                  <a:srgbClr val="FFFFFF"/>
                </a:solidFill>
                <a:latin typeface="Poppins" pitchFamily="34" charset="0"/>
                <a:ea typeface="Poppins" pitchFamily="34" charset="-122"/>
                <a:cs typeface="Poppins" pitchFamily="34" charset="-120"/>
              </a:rPr>
              <a:t>CodeForge</a:t>
            </a:r>
            <a:pPr algn="l" indent="0" marL="0">
              <a:lnSpc>
                <a:spcPct val="111111"/>
              </a:lnSpc>
              <a:buNone/>
            </a:pPr>
            <a:r>
              <a:rPr lang="en-US" sz="1150" dirty="0">
                <a:solidFill>
                  <a:srgbClr val="F5F6FC"/>
                </a:solidFill>
                <a:latin typeface="Poppins" pitchFamily="34" charset="0"/>
                <a:ea typeface="Poppins" pitchFamily="34" charset="-122"/>
                <a:cs typeface="Poppins" pitchFamily="34" charset="-120"/>
              </a:rPr>
              <a:t> entrega 41% depois do prometido, escrita de 4 jeitos</a:t>
            </a:r>
            <a:endParaRPr lang="en-US" sz="1150" dirty="0"/>
          </a:p>
        </p:txBody>
      </p:sp>
      <p:sp>
        <p:nvSpPr>
          <p:cNvPr id="28" name="Shape 26"/>
          <p:cNvSpPr/>
          <p:nvPr/>
        </p:nvSpPr>
        <p:spPr>
          <a:xfrm>
            <a:off x="7628144" y="3129579"/>
            <a:ext cx="1881835" cy="392996"/>
          </a:xfrm>
          <a:prstGeom prst="rect">
            <a:avLst/>
          </a:prstGeom>
          <a:solidFill>
            <a:srgbClr val="1E1E24"/>
          </a:solidFill>
          <a:ln/>
        </p:spPr>
      </p:sp>
      <p:sp>
        <p:nvSpPr>
          <p:cNvPr id="29" name="Text 27"/>
          <p:cNvSpPr txBox="1"/>
          <p:nvPr/>
        </p:nvSpPr>
        <p:spPr>
          <a:xfrm>
            <a:off x="7742441" y="3231176"/>
            <a:ext cx="1719370" cy="189801"/>
          </a:xfrm>
          <a:prstGeom prst="rect">
            <a:avLst/>
          </a:prstGeom>
          <a:noFill/>
          <a:ln/>
        </p:spPr>
        <p:txBody>
          <a:bodyPr wrap="square" lIns="0" tIns="0" rIns="0" bIns="0" rtlCol="0" anchor="t"/>
          <a:lstStyle/>
          <a:p>
            <a:pPr algn="l" indent="0" marL="0">
              <a:lnSpc>
                <a:spcPct val="111111"/>
              </a:lnSpc>
              <a:buNone/>
            </a:pPr>
            <a:r>
              <a:rPr lang="en-US" sz="1150" dirty="0">
                <a:solidFill>
                  <a:srgbClr val="F5F6FC"/>
                </a:solidFill>
                <a:latin typeface="Poppins" pitchFamily="34" charset="0"/>
                <a:ea typeface="Poppins" pitchFamily="34" charset="-122"/>
                <a:cs typeface="Poppins" pitchFamily="34" charset="-120"/>
              </a:rPr>
              <a:t>entregas_fornecedor</a:t>
            </a:r>
            <a:endParaRPr lang="en-US" sz="1150" dirty="0"/>
          </a:p>
        </p:txBody>
      </p:sp>
      <p:sp>
        <p:nvSpPr>
          <p:cNvPr id="30" name="Shape 28"/>
          <p:cNvSpPr/>
          <p:nvPr/>
        </p:nvSpPr>
        <p:spPr>
          <a:xfrm>
            <a:off x="9509979" y="3129579"/>
            <a:ext cx="1919736" cy="392996"/>
          </a:xfrm>
          <a:prstGeom prst="rect">
            <a:avLst/>
          </a:prstGeom>
          <a:solidFill>
            <a:srgbClr val="1E1E24"/>
          </a:solidFill>
          <a:ln/>
        </p:spPr>
      </p:sp>
      <p:sp>
        <p:nvSpPr>
          <p:cNvPr id="31" name="Text 29"/>
          <p:cNvSpPr txBox="1"/>
          <p:nvPr/>
        </p:nvSpPr>
        <p:spPr>
          <a:xfrm>
            <a:off x="9624276" y="3231176"/>
            <a:ext cx="1758787" cy="189801"/>
          </a:xfrm>
          <a:prstGeom prst="rect">
            <a:avLst/>
          </a:prstGeom>
          <a:noFill/>
          <a:ln/>
        </p:spPr>
        <p:txBody>
          <a:bodyPr wrap="square" lIns="0" tIns="0" rIns="0" bIns="0" rtlCol="0" anchor="t"/>
          <a:lstStyle/>
          <a:p>
            <a:pPr algn="l" indent="0" marL="0">
              <a:lnSpc>
                <a:spcPct val="111111"/>
              </a:lnSpc>
              <a:buNone/>
            </a:pPr>
            <a:r>
              <a:rPr lang="en-US" sz="1150" dirty="0">
                <a:solidFill>
                  <a:srgbClr val="F5F6FC"/>
                </a:solidFill>
                <a:latin typeface="Poppins" pitchFamily="34" charset="0"/>
                <a:ea typeface="Poppins" pitchFamily="34" charset="-122"/>
                <a:cs typeface="Poppins" pitchFamily="34" charset="-120"/>
              </a:rPr>
              <a:t>noite 2 · 4 (a multa)</a:t>
            </a:r>
            <a:endParaRPr lang="en-US" sz="1150" dirty="0"/>
          </a:p>
        </p:txBody>
      </p:sp>
      <p:sp>
        <p:nvSpPr>
          <p:cNvPr id="32" name="Shape 30"/>
          <p:cNvSpPr/>
          <p:nvPr/>
        </p:nvSpPr>
        <p:spPr>
          <a:xfrm>
            <a:off x="761981" y="3573373"/>
            <a:ext cx="339121" cy="582796"/>
          </a:xfrm>
          <a:prstGeom prst="rect">
            <a:avLst/>
          </a:prstGeom>
          <a:solidFill>
            <a:srgbClr val="1E1E24"/>
          </a:solidFill>
          <a:ln/>
        </p:spPr>
      </p:sp>
      <p:sp>
        <p:nvSpPr>
          <p:cNvPr id="33" name="Text 31"/>
          <p:cNvSpPr txBox="1"/>
          <p:nvPr/>
        </p:nvSpPr>
        <p:spPr>
          <a:xfrm>
            <a:off x="876278" y="3674971"/>
            <a:ext cx="114948" cy="379601"/>
          </a:xfrm>
          <a:prstGeom prst="rect">
            <a:avLst/>
          </a:prstGeom>
          <a:noFill/>
          <a:ln/>
        </p:spPr>
        <p:txBody>
          <a:bodyPr wrap="square" lIns="0" tIns="0" rIns="0" bIns="0" rtlCol="0" anchor="t"/>
          <a:lstStyle/>
          <a:p>
            <a:pPr algn="l" indent="0" marL="0">
              <a:lnSpc>
                <a:spcPct val="111111"/>
              </a:lnSpc>
              <a:buNone/>
            </a:pPr>
            <a:r>
              <a:rPr lang="en-US" sz="1150" b="1" dirty="0">
                <a:solidFill>
                  <a:srgbClr val="F5F6FC"/>
                </a:solidFill>
                <a:latin typeface="Poppins" pitchFamily="34" charset="0"/>
                <a:ea typeface="Poppins" pitchFamily="34" charset="-122"/>
                <a:cs typeface="Poppins" pitchFamily="34" charset="-120"/>
              </a:rPr>
              <a:t>4</a:t>
            </a:r>
            <a:endParaRPr lang="en-US" sz="1150" dirty="0"/>
          </a:p>
        </p:txBody>
      </p:sp>
      <p:sp>
        <p:nvSpPr>
          <p:cNvPr id="34" name="Shape 32"/>
          <p:cNvSpPr/>
          <p:nvPr/>
        </p:nvSpPr>
        <p:spPr>
          <a:xfrm>
            <a:off x="1101102" y="3573373"/>
            <a:ext cx="6527042" cy="582796"/>
          </a:xfrm>
          <a:prstGeom prst="rect">
            <a:avLst/>
          </a:prstGeom>
          <a:solidFill>
            <a:srgbClr val="1E1E24"/>
          </a:solidFill>
          <a:ln/>
        </p:spPr>
      </p:sp>
      <p:sp>
        <p:nvSpPr>
          <p:cNvPr id="35" name="Text 33"/>
          <p:cNvSpPr txBox="1"/>
          <p:nvPr/>
        </p:nvSpPr>
        <p:spPr>
          <a:xfrm>
            <a:off x="1215399" y="3674971"/>
            <a:ext cx="6550385" cy="379601"/>
          </a:xfrm>
          <a:prstGeom prst="rect">
            <a:avLst/>
          </a:prstGeom>
          <a:noFill/>
          <a:ln/>
        </p:spPr>
        <p:txBody>
          <a:bodyPr wrap="square" lIns="0" tIns="0" rIns="0" bIns="0" rtlCol="0" anchor="t"/>
          <a:lstStyle/>
          <a:p>
            <a:pPr algn="l" indent="0" marL="0">
              <a:lnSpc>
                <a:spcPct val="111111"/>
              </a:lnSpc>
              <a:buNone/>
            </a:pPr>
            <a:r>
              <a:rPr lang="en-US" sz="1150" b="1" dirty="0">
                <a:solidFill>
                  <a:srgbClr val="FFFFFF"/>
                </a:solidFill>
                <a:latin typeface="Poppins" pitchFamily="34" charset="0"/>
                <a:ea typeface="Poppins" pitchFamily="34" charset="-122"/>
                <a:cs typeface="Poppins" pitchFamily="34" charset="-120"/>
              </a:rPr>
              <a:t>Dois SREs quase parados</a:t>
            </a:r>
            <a:pPr algn="l" indent="0" marL="0">
              <a:lnSpc>
                <a:spcPct val="111111"/>
              </a:lnSpc>
              <a:buNone/>
            </a:pPr>
            <a:r>
              <a:rPr lang="en-US" sz="1150" dirty="0">
                <a:solidFill>
                  <a:srgbClr val="F5F6FC"/>
                </a:solidFill>
                <a:latin typeface="Poppins" pitchFamily="34" charset="0"/>
                <a:ea typeface="Poppins" pitchFamily="34" charset="-122"/>
                <a:cs typeface="Poppins" pitchFamily="34" charset="-120"/>
              </a:rPr>
              <a:t> no PRJ-007 enquanto o PRJ-011 pede SRE toda semana</a:t>
            </a:r>
            <a:endParaRPr lang="en-US" sz="1150" dirty="0"/>
          </a:p>
        </p:txBody>
      </p:sp>
      <p:sp>
        <p:nvSpPr>
          <p:cNvPr id="36" name="Shape 34"/>
          <p:cNvSpPr/>
          <p:nvPr/>
        </p:nvSpPr>
        <p:spPr>
          <a:xfrm>
            <a:off x="7628144" y="3573373"/>
            <a:ext cx="1881835" cy="582796"/>
          </a:xfrm>
          <a:prstGeom prst="rect">
            <a:avLst/>
          </a:prstGeom>
          <a:solidFill>
            <a:srgbClr val="1E1E24"/>
          </a:solidFill>
          <a:ln/>
        </p:spPr>
      </p:sp>
      <p:sp>
        <p:nvSpPr>
          <p:cNvPr id="37" name="Text 35"/>
          <p:cNvSpPr txBox="1"/>
          <p:nvPr/>
        </p:nvSpPr>
        <p:spPr>
          <a:xfrm>
            <a:off x="7742441" y="3674971"/>
            <a:ext cx="1719370" cy="379601"/>
          </a:xfrm>
          <a:prstGeom prst="rect">
            <a:avLst/>
          </a:prstGeom>
          <a:noFill/>
          <a:ln/>
        </p:spPr>
        <p:txBody>
          <a:bodyPr wrap="square" lIns="0" tIns="0" rIns="0" bIns="0" rtlCol="0" anchor="t"/>
          <a:lstStyle/>
          <a:p>
            <a:pPr algn="l" indent="0" marL="0">
              <a:lnSpc>
                <a:spcPct val="111111"/>
              </a:lnSpc>
              <a:buNone/>
            </a:pPr>
            <a:r>
              <a:rPr lang="en-US" sz="1150" dirty="0">
                <a:solidFill>
                  <a:srgbClr val="F5F6FC"/>
                </a:solidFill>
                <a:latin typeface="Poppins" pitchFamily="34" charset="0"/>
                <a:ea typeface="Poppins" pitchFamily="34" charset="-122"/>
                <a:cs typeface="Poppins" pitchFamily="34" charset="-120"/>
              </a:rPr>
              <a:t>apontamentos · status</a:t>
            </a:r>
            <a:endParaRPr lang="en-US" sz="1150" dirty="0"/>
          </a:p>
        </p:txBody>
      </p:sp>
      <p:sp>
        <p:nvSpPr>
          <p:cNvPr id="38" name="Shape 36"/>
          <p:cNvSpPr/>
          <p:nvPr/>
        </p:nvSpPr>
        <p:spPr>
          <a:xfrm>
            <a:off x="9509979" y="3573373"/>
            <a:ext cx="1919736" cy="582796"/>
          </a:xfrm>
          <a:prstGeom prst="rect">
            <a:avLst/>
          </a:prstGeom>
          <a:solidFill>
            <a:srgbClr val="1E1E24"/>
          </a:solidFill>
          <a:ln/>
        </p:spPr>
      </p:sp>
      <p:sp>
        <p:nvSpPr>
          <p:cNvPr id="39" name="Text 37"/>
          <p:cNvSpPr txBox="1"/>
          <p:nvPr/>
        </p:nvSpPr>
        <p:spPr>
          <a:xfrm>
            <a:off x="9624276" y="3674971"/>
            <a:ext cx="1758787" cy="379601"/>
          </a:xfrm>
          <a:prstGeom prst="rect">
            <a:avLst/>
          </a:prstGeom>
          <a:noFill/>
          <a:ln/>
        </p:spPr>
        <p:txBody>
          <a:bodyPr wrap="square" lIns="0" tIns="0" rIns="0" bIns="0" rtlCol="0" anchor="t"/>
          <a:lstStyle/>
          <a:p>
            <a:pPr algn="l" indent="0" marL="0">
              <a:lnSpc>
                <a:spcPct val="111111"/>
              </a:lnSpc>
              <a:buNone/>
            </a:pPr>
            <a:r>
              <a:rPr lang="en-US" sz="1150" dirty="0">
                <a:solidFill>
                  <a:srgbClr val="F5F6FC"/>
                </a:solidFill>
                <a:latin typeface="Poppins" pitchFamily="34" charset="0"/>
                <a:ea typeface="Poppins" pitchFamily="34" charset="-122"/>
                <a:cs typeface="Poppins" pitchFamily="34" charset="-120"/>
              </a:rPr>
              <a:t>noite 2</a:t>
            </a:r>
            <a:endParaRPr lang="en-US" sz="1150" dirty="0"/>
          </a:p>
        </p:txBody>
      </p:sp>
      <p:sp>
        <p:nvSpPr>
          <p:cNvPr id="40" name="Shape 38"/>
          <p:cNvSpPr/>
          <p:nvPr/>
        </p:nvSpPr>
        <p:spPr>
          <a:xfrm>
            <a:off x="761981" y="4206968"/>
            <a:ext cx="339121" cy="392996"/>
          </a:xfrm>
          <a:prstGeom prst="rect">
            <a:avLst/>
          </a:prstGeom>
          <a:solidFill>
            <a:srgbClr val="1E1E24"/>
          </a:solidFill>
          <a:ln/>
        </p:spPr>
      </p:sp>
      <p:sp>
        <p:nvSpPr>
          <p:cNvPr id="41" name="Text 39"/>
          <p:cNvSpPr txBox="1"/>
          <p:nvPr/>
        </p:nvSpPr>
        <p:spPr>
          <a:xfrm>
            <a:off x="876278" y="4308566"/>
            <a:ext cx="114948" cy="189801"/>
          </a:xfrm>
          <a:prstGeom prst="rect">
            <a:avLst/>
          </a:prstGeom>
          <a:noFill/>
          <a:ln/>
        </p:spPr>
        <p:txBody>
          <a:bodyPr wrap="square" lIns="0" tIns="0" rIns="0" bIns="0" rtlCol="0" anchor="t"/>
          <a:lstStyle/>
          <a:p>
            <a:pPr algn="l" indent="0" marL="0">
              <a:lnSpc>
                <a:spcPct val="111111"/>
              </a:lnSpc>
              <a:buNone/>
            </a:pPr>
            <a:r>
              <a:rPr lang="en-US" sz="1150" b="1" dirty="0">
                <a:solidFill>
                  <a:srgbClr val="F5F6FC"/>
                </a:solidFill>
                <a:latin typeface="Poppins" pitchFamily="34" charset="0"/>
                <a:ea typeface="Poppins" pitchFamily="34" charset="-122"/>
                <a:cs typeface="Poppins" pitchFamily="34" charset="-120"/>
              </a:rPr>
              <a:t>5</a:t>
            </a:r>
            <a:endParaRPr lang="en-US" sz="1150" dirty="0"/>
          </a:p>
        </p:txBody>
      </p:sp>
      <p:sp>
        <p:nvSpPr>
          <p:cNvPr id="42" name="Shape 40"/>
          <p:cNvSpPr/>
          <p:nvPr/>
        </p:nvSpPr>
        <p:spPr>
          <a:xfrm>
            <a:off x="1101102" y="4206968"/>
            <a:ext cx="6527042" cy="392996"/>
          </a:xfrm>
          <a:prstGeom prst="rect">
            <a:avLst/>
          </a:prstGeom>
          <a:solidFill>
            <a:srgbClr val="1E1E24"/>
          </a:solidFill>
          <a:ln/>
        </p:spPr>
      </p:sp>
      <p:sp>
        <p:nvSpPr>
          <p:cNvPr id="43" name="Text 41"/>
          <p:cNvSpPr txBox="1"/>
          <p:nvPr/>
        </p:nvSpPr>
        <p:spPr>
          <a:xfrm>
            <a:off x="1215399" y="4308566"/>
            <a:ext cx="6550385" cy="189801"/>
          </a:xfrm>
          <a:prstGeom prst="rect">
            <a:avLst/>
          </a:prstGeom>
          <a:noFill/>
          <a:ln/>
        </p:spPr>
        <p:txBody>
          <a:bodyPr wrap="square" lIns="0" tIns="0" rIns="0" bIns="0" rtlCol="0" anchor="t"/>
          <a:lstStyle/>
          <a:p>
            <a:pPr algn="l" indent="0" marL="0">
              <a:lnSpc>
                <a:spcPct val="111111"/>
              </a:lnSpc>
              <a:buNone/>
            </a:pPr>
            <a:r>
              <a:rPr lang="en-US" sz="1150" b="1" dirty="0">
                <a:solidFill>
                  <a:srgbClr val="FFFFFF"/>
                </a:solidFill>
                <a:latin typeface="Poppins" pitchFamily="34" charset="0"/>
                <a:ea typeface="Poppins" pitchFamily="34" charset="-122"/>
                <a:cs typeface="Poppins" pitchFamily="34" charset="-120"/>
              </a:rPr>
              <a:t>Rotatividade alta</a:t>
            </a:r>
            <a:pPr algn="l" indent="0" marL="0">
              <a:lnSpc>
                <a:spcPct val="111111"/>
              </a:lnSpc>
              <a:buNone/>
            </a:pPr>
            <a:r>
              <a:rPr lang="en-US" sz="1150" dirty="0">
                <a:solidFill>
                  <a:srgbClr val="F5F6FC"/>
                </a:solidFill>
                <a:latin typeface="Poppins" pitchFamily="34" charset="0"/>
                <a:ea typeface="Poppins" pitchFamily="34" charset="-122"/>
                <a:cs typeface="Poppins" pitchFamily="34" charset="-120"/>
              </a:rPr>
              <a:t> nos dois piores SPI da carteira</a:t>
            </a:r>
            <a:endParaRPr lang="en-US" sz="1150" dirty="0"/>
          </a:p>
        </p:txBody>
      </p:sp>
      <p:sp>
        <p:nvSpPr>
          <p:cNvPr id="44" name="Shape 42"/>
          <p:cNvSpPr/>
          <p:nvPr/>
        </p:nvSpPr>
        <p:spPr>
          <a:xfrm>
            <a:off x="7628144" y="4206968"/>
            <a:ext cx="1881835" cy="392996"/>
          </a:xfrm>
          <a:prstGeom prst="rect">
            <a:avLst/>
          </a:prstGeom>
          <a:solidFill>
            <a:srgbClr val="1E1E24"/>
          </a:solidFill>
          <a:ln/>
        </p:spPr>
      </p:sp>
      <p:sp>
        <p:nvSpPr>
          <p:cNvPr id="45" name="Text 43"/>
          <p:cNvSpPr txBox="1"/>
          <p:nvPr/>
        </p:nvSpPr>
        <p:spPr>
          <a:xfrm>
            <a:off x="7742441" y="4308566"/>
            <a:ext cx="1719370" cy="189801"/>
          </a:xfrm>
          <a:prstGeom prst="rect">
            <a:avLst/>
          </a:prstGeom>
          <a:noFill/>
          <a:ln/>
        </p:spPr>
        <p:txBody>
          <a:bodyPr wrap="square" lIns="0" tIns="0" rIns="0" bIns="0" rtlCol="0" anchor="t"/>
          <a:lstStyle/>
          <a:p>
            <a:pPr algn="l" indent="0" marL="0">
              <a:lnSpc>
                <a:spcPct val="111111"/>
              </a:lnSpc>
              <a:buNone/>
            </a:pPr>
            <a:r>
              <a:rPr lang="en-US" sz="1150" dirty="0">
                <a:solidFill>
                  <a:srgbClr val="F5F6FC"/>
                </a:solidFill>
                <a:latin typeface="Poppins" pitchFamily="34" charset="0"/>
                <a:ea typeface="Poppins" pitchFamily="34" charset="-122"/>
                <a:cs typeface="Poppins" pitchFamily="34" charset="-120"/>
              </a:rPr>
              <a:t>PRJ-016, 030</a:t>
            </a:r>
            <a:endParaRPr lang="en-US" sz="1150" dirty="0"/>
          </a:p>
        </p:txBody>
      </p:sp>
      <p:sp>
        <p:nvSpPr>
          <p:cNvPr id="46" name="Shape 44"/>
          <p:cNvSpPr/>
          <p:nvPr/>
        </p:nvSpPr>
        <p:spPr>
          <a:xfrm>
            <a:off x="9509979" y="4206968"/>
            <a:ext cx="1919736" cy="392996"/>
          </a:xfrm>
          <a:prstGeom prst="rect">
            <a:avLst/>
          </a:prstGeom>
          <a:solidFill>
            <a:srgbClr val="1E1E24"/>
          </a:solidFill>
          <a:ln/>
        </p:spPr>
      </p:sp>
      <p:sp>
        <p:nvSpPr>
          <p:cNvPr id="47" name="Text 45"/>
          <p:cNvSpPr txBox="1"/>
          <p:nvPr/>
        </p:nvSpPr>
        <p:spPr>
          <a:xfrm>
            <a:off x="9624276" y="4308566"/>
            <a:ext cx="1758787" cy="189801"/>
          </a:xfrm>
          <a:prstGeom prst="rect">
            <a:avLst/>
          </a:prstGeom>
          <a:noFill/>
          <a:ln/>
        </p:spPr>
        <p:txBody>
          <a:bodyPr wrap="square" lIns="0" tIns="0" rIns="0" bIns="0" rtlCol="0" anchor="t"/>
          <a:lstStyle/>
          <a:p>
            <a:pPr algn="l" indent="0" marL="0">
              <a:lnSpc>
                <a:spcPct val="111111"/>
              </a:lnSpc>
              <a:buNone/>
            </a:pPr>
            <a:r>
              <a:rPr lang="en-US" sz="1150" dirty="0">
                <a:solidFill>
                  <a:srgbClr val="F5F6FC"/>
                </a:solidFill>
                <a:latin typeface="Poppins" pitchFamily="34" charset="0"/>
                <a:ea typeface="Poppins" pitchFamily="34" charset="-122"/>
                <a:cs typeface="Poppins" pitchFamily="34" charset="-120"/>
              </a:rPr>
              <a:t>noite 1 (sintoma) · 2</a:t>
            </a:r>
            <a:endParaRPr lang="en-US" sz="1150" dirty="0"/>
          </a:p>
        </p:txBody>
      </p:sp>
      <p:sp>
        <p:nvSpPr>
          <p:cNvPr id="48" name="Shape 46"/>
          <p:cNvSpPr/>
          <p:nvPr/>
        </p:nvSpPr>
        <p:spPr>
          <a:xfrm>
            <a:off x="761981" y="4739660"/>
            <a:ext cx="25399" cy="285743"/>
          </a:xfrm>
          <a:prstGeom prst="rect">
            <a:avLst/>
          </a:prstGeom>
          <a:solidFill>
            <a:srgbClr val="22C2F4"/>
          </a:solidFill>
          <a:ln/>
        </p:spPr>
      </p:sp>
      <p:sp>
        <p:nvSpPr>
          <p:cNvPr id="49" name="Text 47"/>
          <p:cNvSpPr txBox="1"/>
          <p:nvPr/>
        </p:nvSpPr>
        <p:spPr>
          <a:xfrm>
            <a:off x="914377" y="4777759"/>
            <a:ext cx="10935951" cy="209545"/>
          </a:xfrm>
          <a:prstGeom prst="rect">
            <a:avLst/>
          </a:prstGeom>
          <a:noFill/>
          <a:ln/>
        </p:spPr>
        <p:txBody>
          <a:bodyPr wrap="square" lIns="0" tIns="0" rIns="0" bIns="0" rtlCol="0" anchor="t"/>
          <a:lstStyle/>
          <a:p>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Hoje você vê os sintomas: atraso, estouro e o farol que não bate. As causas aparecem nas próximas noites.</a:t>
            </a:r>
            <a:endParaRPr lang="en-US" sz="1100" dirty="0"/>
          </a:p>
        </p:txBody>
      </p:sp>
      <p:pic>
        <p:nvPicPr>
          <p:cNvPr id="50"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51" name="Text 48"/>
          <p:cNvSpPr txBox="1"/>
          <p:nvPr/>
        </p:nvSpPr>
        <p:spPr>
          <a:xfrm>
            <a:off x="10940181" y="6387940"/>
            <a:ext cx="509114"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49 / 133</a:t>
            </a:r>
            <a:endParaRPr lang="en-US" sz="1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380990"/>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RECURSO DO DATABRICKS · SQL WAREHOUSE</a:t>
            </a:r>
            <a:endParaRPr lang="en-US" sz="1200" dirty="0"/>
          </a:p>
        </p:txBody>
      </p:sp>
      <p:sp>
        <p:nvSpPr>
          <p:cNvPr id="3" name="Text 1"/>
          <p:cNvSpPr txBox="1"/>
          <p:nvPr/>
        </p:nvSpPr>
        <p:spPr>
          <a:xfrm>
            <a:off x="761981" y="704832"/>
            <a:ext cx="11094443" cy="363132"/>
          </a:xfrm>
          <a:prstGeom prst="rect">
            <a:avLst/>
          </a:prstGeom>
          <a:noFill/>
          <a:ln/>
        </p:spPr>
        <p:txBody>
          <a:bodyPr wrap="square" lIns="0" tIns="0" rIns="0" bIns="0" rtlCol="0" anchor="t"/>
          <a:lstStyle/>
          <a:p>
            <a:pPr algn="l" indent="0" marL="0">
              <a:lnSpc>
                <a:spcPct val="94017"/>
              </a:lnSpc>
              <a:buNone/>
            </a:pPr>
            <a:r>
              <a:rPr lang="en-US" sz="2600" b="1" spc="-26" kern="0" dirty="0">
                <a:solidFill>
                  <a:srgbClr val="F5F6FC"/>
                </a:solidFill>
                <a:latin typeface="Poppins" pitchFamily="34" charset="0"/>
                <a:ea typeface="Poppins" pitchFamily="34" charset="-122"/>
                <a:cs typeface="Poppins" pitchFamily="34" charset="-120"/>
              </a:rPr>
              <a:t>SQL Warehouse</a:t>
            </a:r>
            <a:endParaRPr lang="en-US" sz="2600" dirty="0"/>
          </a:p>
        </p:txBody>
      </p:sp>
      <p:pic>
        <p:nvPicPr>
          <p:cNvPr id="4" name="Image 0" descr="preencoded.png">    </p:cNvPr>
          <p:cNvPicPr>
            <a:picLocks noChangeAspect="1"/>
          </p:cNvPicPr>
          <p:nvPr/>
        </p:nvPicPr>
        <p:blipFill>
          <a:blip r:embed="rId2"/>
          <a:srcRect l="10085" r="10085" t="0" b="0"/>
          <a:stretch/>
        </p:blipFill>
        <p:spPr>
          <a:xfrm>
            <a:off x="761981" y="1182261"/>
            <a:ext cx="6455308" cy="4063898"/>
          </a:xfrm>
          <a:prstGeom prst="rect">
            <a:avLst/>
          </a:prstGeom>
        </p:spPr>
      </p:pic>
      <p:sp>
        <p:nvSpPr>
          <p:cNvPr id="5" name="Shape 2"/>
          <p:cNvSpPr/>
          <p:nvPr/>
        </p:nvSpPr>
        <p:spPr>
          <a:xfrm>
            <a:off x="7395085" y="1182261"/>
            <a:ext cx="4034630" cy="4063898"/>
          </a:xfrm>
          <a:prstGeom prst="roundRect">
            <a:avLst>
              <a:gd name="adj" fmla="val 3777"/>
            </a:avLst>
          </a:prstGeom>
          <a:solidFill>
            <a:srgbClr val="0059DB"/>
          </a:solidFill>
          <a:ln/>
        </p:spPr>
      </p:sp>
      <p:sp>
        <p:nvSpPr>
          <p:cNvPr id="6" name="Shape 3"/>
          <p:cNvSpPr/>
          <p:nvPr/>
        </p:nvSpPr>
        <p:spPr>
          <a:xfrm>
            <a:off x="7617329" y="1379106"/>
            <a:ext cx="616034" cy="247644"/>
          </a:xfrm>
          <a:prstGeom prst="roundRect">
            <a:avLst>
              <a:gd name="adj" fmla="val 50000"/>
            </a:avLst>
          </a:prstGeom>
          <a:solidFill>
            <a:srgbClr val="FFFFFF">
              <a:alpha val="16000"/>
            </a:srgbClr>
          </a:solidFill>
          <a:ln/>
        </p:spPr>
      </p:sp>
      <p:sp>
        <p:nvSpPr>
          <p:cNvPr id="7" name="Text 4"/>
          <p:cNvSpPr txBox="1"/>
          <p:nvPr/>
        </p:nvSpPr>
        <p:spPr>
          <a:xfrm>
            <a:off x="7706227" y="1417205"/>
            <a:ext cx="455768"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O que é</a:t>
            </a:r>
            <a:endParaRPr lang="en-US" sz="900" dirty="0"/>
          </a:p>
        </p:txBody>
      </p:sp>
      <p:sp>
        <p:nvSpPr>
          <p:cNvPr id="8" name="Shape 5"/>
          <p:cNvSpPr/>
          <p:nvPr/>
        </p:nvSpPr>
        <p:spPr>
          <a:xfrm>
            <a:off x="7617329" y="1798196"/>
            <a:ext cx="76198" cy="76198"/>
          </a:xfrm>
          <a:prstGeom prst="roundRect">
            <a:avLst>
              <a:gd name="adj" fmla="val 25000"/>
            </a:avLst>
          </a:prstGeom>
          <a:solidFill>
            <a:srgbClr val="22C2F4"/>
          </a:solidFill>
          <a:ln/>
        </p:spPr>
      </p:sp>
      <p:sp>
        <p:nvSpPr>
          <p:cNvPr id="9" name="Text 6"/>
          <p:cNvSpPr txBox="1"/>
          <p:nvPr/>
        </p:nvSpPr>
        <p:spPr>
          <a:xfrm>
            <a:off x="7807824" y="1715648"/>
            <a:ext cx="3535631"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o motor que responde SQL: editor, dashboard, Genie, app</a:t>
            </a:r>
            <a:endParaRPr lang="en-US" sz="1200" dirty="0"/>
          </a:p>
        </p:txBody>
      </p:sp>
      <p:sp>
        <p:nvSpPr>
          <p:cNvPr id="10" name="Shape 7"/>
          <p:cNvSpPr/>
          <p:nvPr/>
        </p:nvSpPr>
        <p:spPr>
          <a:xfrm>
            <a:off x="7617329" y="2285744"/>
            <a:ext cx="76198" cy="76198"/>
          </a:xfrm>
          <a:prstGeom prst="roundRect">
            <a:avLst>
              <a:gd name="adj" fmla="val 25000"/>
            </a:avLst>
          </a:prstGeom>
          <a:solidFill>
            <a:srgbClr val="22C2F4"/>
          </a:solidFill>
          <a:ln/>
        </p:spPr>
      </p:sp>
      <p:sp>
        <p:nvSpPr>
          <p:cNvPr id="11" name="Text 8"/>
          <p:cNvSpPr txBox="1"/>
          <p:nvPr/>
        </p:nvSpPr>
        <p:spPr>
          <a:xfrm>
            <a:off x="7807824" y="2203196"/>
            <a:ext cx="3535631"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o Free Edition dá um: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Serverless Starter Warehouse</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2X-Small</a:t>
            </a:r>
            <a:endParaRPr lang="en-US" sz="1200" dirty="0"/>
          </a:p>
        </p:txBody>
      </p:sp>
      <p:sp>
        <p:nvSpPr>
          <p:cNvPr id="12" name="Shape 9"/>
          <p:cNvSpPr/>
          <p:nvPr/>
        </p:nvSpPr>
        <p:spPr>
          <a:xfrm>
            <a:off x="7617329" y="2773293"/>
            <a:ext cx="76198" cy="76198"/>
          </a:xfrm>
          <a:prstGeom prst="roundRect">
            <a:avLst>
              <a:gd name="adj" fmla="val 25000"/>
            </a:avLst>
          </a:prstGeom>
          <a:solidFill>
            <a:srgbClr val="22C2F4"/>
          </a:solidFill>
          <a:ln/>
        </p:spPr>
      </p:sp>
      <p:sp>
        <p:nvSpPr>
          <p:cNvPr id="13" name="Text 10"/>
          <p:cNvSpPr txBox="1"/>
          <p:nvPr/>
        </p:nvSpPr>
        <p:spPr>
          <a:xfrm>
            <a:off x="7807824" y="2690745"/>
            <a:ext cx="3535631"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dorme sozinho quando ninguém pergunta nada</a:t>
            </a:r>
            <a:endParaRPr lang="en-US" sz="1200" dirty="0"/>
          </a:p>
        </p:txBody>
      </p:sp>
      <p:sp>
        <p:nvSpPr>
          <p:cNvPr id="14" name="Shape 11"/>
          <p:cNvSpPr/>
          <p:nvPr/>
        </p:nvSpPr>
        <p:spPr>
          <a:xfrm>
            <a:off x="7617329" y="3241792"/>
            <a:ext cx="650958" cy="247644"/>
          </a:xfrm>
          <a:prstGeom prst="roundRect">
            <a:avLst>
              <a:gd name="adj" fmla="val 50000"/>
            </a:avLst>
          </a:prstGeom>
          <a:solidFill>
            <a:srgbClr val="FFFFFF">
              <a:alpha val="16000"/>
            </a:srgbClr>
          </a:solidFill>
          <a:ln/>
        </p:spPr>
      </p:sp>
      <p:sp>
        <p:nvSpPr>
          <p:cNvPr id="15" name="Text 12"/>
          <p:cNvSpPr txBox="1"/>
          <p:nvPr/>
        </p:nvSpPr>
        <p:spPr>
          <a:xfrm>
            <a:off x="7706227" y="3279891"/>
            <a:ext cx="492089"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No Farol</a:t>
            </a:r>
            <a:endParaRPr lang="en-US" sz="900" dirty="0"/>
          </a:p>
        </p:txBody>
      </p:sp>
      <p:sp>
        <p:nvSpPr>
          <p:cNvPr id="16" name="Text 13"/>
          <p:cNvSpPr txBox="1"/>
          <p:nvPr/>
        </p:nvSpPr>
        <p:spPr>
          <a:xfrm>
            <a:off x="7617329" y="3654532"/>
            <a:ext cx="3733746" cy="394285"/>
          </a:xfrm>
          <a:prstGeom prst="rect">
            <a:avLst/>
          </a:prstGeom>
          <a:noFill/>
          <a:ln/>
        </p:spPr>
        <p:txBody>
          <a:bodyPr wrap="square" lIns="0" tIns="0" rIns="0" bIns="0" rtlCol="0" anchor="t"/>
          <a:lstStyle/>
          <a:p>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o mesmo warehouse serve as 4 noites e o app </a:t>
            </a:r>
            <a:pPr algn="l" indent="0" marL="0">
              <a:lnSpc>
                <a:spcPct val="115385"/>
              </a:lnSpc>
              <a:buNone/>
            </a:pPr>
            <a:r>
              <a:rPr lang="en-US" sz="1150" dirty="0">
                <a:solidFill>
                  <a:srgbClr val="DBE6FF"/>
                </a:solidFill>
                <a:latin typeface="Courier New" pitchFamily="34" charset="0"/>
                <a:ea typeface="Courier New" pitchFamily="34" charset="-122"/>
                <a:cs typeface="Courier New" pitchFamily="34" charset="-120"/>
              </a:rPr>
              <a:t>farol-torre</a:t>
            </a:r>
            <a:endParaRPr lang="en-US" sz="1150" dirty="0"/>
          </a:p>
        </p:txBody>
      </p:sp>
      <p:pic>
        <p:nvPicPr>
          <p:cNvPr id="17" name="Image 1" descr="preencoded.png">    </p:cNvPr>
          <p:cNvPicPr>
            <a:picLocks noChangeAspect="1"/>
          </p:cNvPicPr>
          <p:nvPr/>
        </p:nvPicPr>
        <p:blipFill>
          <a:blip r:embed="rId3"/>
          <a:stretch>
            <a:fillRect/>
          </a:stretch>
        </p:blipFill>
        <p:spPr>
          <a:xfrm>
            <a:off x="761981" y="6387940"/>
            <a:ext cx="2059928" cy="190495"/>
          </a:xfrm>
          <a:prstGeom prst="rect">
            <a:avLst/>
          </a:prstGeom>
        </p:spPr>
      </p:pic>
      <p:sp>
        <p:nvSpPr>
          <p:cNvPr id="18" name="Text 14"/>
          <p:cNvSpPr txBox="1"/>
          <p:nvPr/>
        </p:nvSpPr>
        <p:spPr>
          <a:xfrm>
            <a:off x="10940479" y="6387940"/>
            <a:ext cx="508805"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50 / 133</a:t>
            </a:r>
            <a:endParaRPr lang="en-US" sz="1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380990"/>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RECURSO DO DATABRICKS · SQL EDITOR</a:t>
            </a:r>
            <a:endParaRPr lang="en-US" sz="1200" dirty="0"/>
          </a:p>
        </p:txBody>
      </p:sp>
      <p:sp>
        <p:nvSpPr>
          <p:cNvPr id="3" name="Text 1"/>
          <p:cNvSpPr txBox="1"/>
          <p:nvPr/>
        </p:nvSpPr>
        <p:spPr>
          <a:xfrm>
            <a:off x="761981" y="704832"/>
            <a:ext cx="11094443" cy="363132"/>
          </a:xfrm>
          <a:prstGeom prst="rect">
            <a:avLst/>
          </a:prstGeom>
          <a:noFill/>
          <a:ln/>
        </p:spPr>
        <p:txBody>
          <a:bodyPr wrap="square" lIns="0" tIns="0" rIns="0" bIns="0" rtlCol="0" anchor="t"/>
          <a:lstStyle/>
          <a:p>
            <a:pPr algn="l" indent="0" marL="0">
              <a:lnSpc>
                <a:spcPct val="94017"/>
              </a:lnSpc>
              <a:buNone/>
            </a:pPr>
            <a:r>
              <a:rPr lang="en-US" sz="2600" b="1" spc="-26" kern="0" dirty="0">
                <a:solidFill>
                  <a:srgbClr val="F5F6FC"/>
                </a:solidFill>
                <a:latin typeface="Poppins" pitchFamily="34" charset="0"/>
                <a:ea typeface="Poppins" pitchFamily="34" charset="-122"/>
                <a:cs typeface="Poppins" pitchFamily="34" charset="-120"/>
              </a:rPr>
              <a:t>SQL Editor</a:t>
            </a:r>
            <a:endParaRPr lang="en-US" sz="2600" dirty="0"/>
          </a:p>
        </p:txBody>
      </p:sp>
      <p:pic>
        <p:nvPicPr>
          <p:cNvPr id="4" name="Image 0" descr="preencoded.png">    </p:cNvPr>
          <p:cNvPicPr>
            <a:picLocks noChangeAspect="1"/>
          </p:cNvPicPr>
          <p:nvPr/>
        </p:nvPicPr>
        <p:blipFill>
          <a:blip r:embed="rId2"/>
          <a:stretch>
            <a:fillRect/>
          </a:stretch>
        </p:blipFill>
        <p:spPr>
          <a:xfrm>
            <a:off x="761981" y="2321909"/>
            <a:ext cx="6455308" cy="1784602"/>
          </a:xfrm>
          <a:prstGeom prst="rect">
            <a:avLst/>
          </a:prstGeom>
        </p:spPr>
      </p:pic>
      <p:sp>
        <p:nvSpPr>
          <p:cNvPr id="5" name="Shape 2"/>
          <p:cNvSpPr/>
          <p:nvPr/>
        </p:nvSpPr>
        <p:spPr>
          <a:xfrm>
            <a:off x="7395085" y="1182261"/>
            <a:ext cx="4034630" cy="4063898"/>
          </a:xfrm>
          <a:prstGeom prst="roundRect">
            <a:avLst>
              <a:gd name="adj" fmla="val 3777"/>
            </a:avLst>
          </a:prstGeom>
          <a:solidFill>
            <a:srgbClr val="0059DB"/>
          </a:solidFill>
          <a:ln/>
        </p:spPr>
      </p:sp>
      <p:sp>
        <p:nvSpPr>
          <p:cNvPr id="6" name="Shape 3"/>
          <p:cNvSpPr/>
          <p:nvPr/>
        </p:nvSpPr>
        <p:spPr>
          <a:xfrm>
            <a:off x="7617329" y="1379106"/>
            <a:ext cx="616034" cy="247644"/>
          </a:xfrm>
          <a:prstGeom prst="roundRect">
            <a:avLst>
              <a:gd name="adj" fmla="val 50000"/>
            </a:avLst>
          </a:prstGeom>
          <a:solidFill>
            <a:srgbClr val="FFFFFF">
              <a:alpha val="16000"/>
            </a:srgbClr>
          </a:solidFill>
          <a:ln/>
        </p:spPr>
      </p:sp>
      <p:sp>
        <p:nvSpPr>
          <p:cNvPr id="7" name="Text 4"/>
          <p:cNvSpPr txBox="1"/>
          <p:nvPr/>
        </p:nvSpPr>
        <p:spPr>
          <a:xfrm>
            <a:off x="7706227" y="1417205"/>
            <a:ext cx="455768"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O que é</a:t>
            </a:r>
            <a:endParaRPr lang="en-US" sz="900" dirty="0"/>
          </a:p>
        </p:txBody>
      </p:sp>
      <p:sp>
        <p:nvSpPr>
          <p:cNvPr id="8" name="Shape 5"/>
          <p:cNvSpPr/>
          <p:nvPr/>
        </p:nvSpPr>
        <p:spPr>
          <a:xfrm>
            <a:off x="7617329" y="1798196"/>
            <a:ext cx="76198" cy="76198"/>
          </a:xfrm>
          <a:prstGeom prst="roundRect">
            <a:avLst>
              <a:gd name="adj" fmla="val 25000"/>
            </a:avLst>
          </a:prstGeom>
          <a:solidFill>
            <a:srgbClr val="22C2F4"/>
          </a:solidFill>
          <a:ln/>
        </p:spPr>
      </p:sp>
      <p:sp>
        <p:nvSpPr>
          <p:cNvPr id="9" name="Text 6"/>
          <p:cNvSpPr txBox="1"/>
          <p:nvPr/>
        </p:nvSpPr>
        <p:spPr>
          <a:xfrm>
            <a:off x="7807824" y="1715648"/>
            <a:ext cx="3535631"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escreve, roda, vê a tabela, baixa, vira gráfico</a:t>
            </a:r>
            <a:endParaRPr lang="en-US" sz="1200" dirty="0"/>
          </a:p>
        </p:txBody>
      </p:sp>
      <p:sp>
        <p:nvSpPr>
          <p:cNvPr id="10" name="Shape 7"/>
          <p:cNvSpPr/>
          <p:nvPr/>
        </p:nvSpPr>
        <p:spPr>
          <a:xfrm>
            <a:off x="7617329" y="2080069"/>
            <a:ext cx="76198" cy="76198"/>
          </a:xfrm>
          <a:prstGeom prst="roundRect">
            <a:avLst>
              <a:gd name="adj" fmla="val 25000"/>
            </a:avLst>
          </a:prstGeom>
          <a:solidFill>
            <a:srgbClr val="22C2F4"/>
          </a:solidFill>
          <a:ln/>
        </p:spPr>
      </p:sp>
      <p:sp>
        <p:nvSpPr>
          <p:cNvPr id="11" name="Text 8"/>
          <p:cNvSpPr txBox="1"/>
          <p:nvPr/>
        </p:nvSpPr>
        <p:spPr>
          <a:xfrm>
            <a:off x="7807824" y="1997521"/>
            <a:ext cx="3535631"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o assistente gera e explica SQL</a:t>
            </a:r>
            <a:endParaRPr lang="en-US" sz="1200" dirty="0"/>
          </a:p>
        </p:txBody>
      </p:sp>
      <p:sp>
        <p:nvSpPr>
          <p:cNvPr id="12" name="Shape 9"/>
          <p:cNvSpPr/>
          <p:nvPr/>
        </p:nvSpPr>
        <p:spPr>
          <a:xfrm>
            <a:off x="7617329" y="2361943"/>
            <a:ext cx="76198" cy="76198"/>
          </a:xfrm>
          <a:prstGeom prst="roundRect">
            <a:avLst>
              <a:gd name="adj" fmla="val 25000"/>
            </a:avLst>
          </a:prstGeom>
          <a:solidFill>
            <a:srgbClr val="22C2F4"/>
          </a:solidFill>
          <a:ln/>
        </p:spPr>
      </p:sp>
      <p:sp>
        <p:nvSpPr>
          <p:cNvPr id="13" name="Text 10"/>
          <p:cNvSpPr txBox="1"/>
          <p:nvPr/>
        </p:nvSpPr>
        <p:spPr>
          <a:xfrm>
            <a:off x="7807824" y="2279395"/>
            <a:ext cx="3535631"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escolhe o compute no canto: warehouse ou Lakebase</a:t>
            </a:r>
            <a:endParaRPr lang="en-US" sz="1200" dirty="0"/>
          </a:p>
        </p:txBody>
      </p:sp>
      <p:sp>
        <p:nvSpPr>
          <p:cNvPr id="14" name="Shape 11"/>
          <p:cNvSpPr/>
          <p:nvPr/>
        </p:nvSpPr>
        <p:spPr>
          <a:xfrm>
            <a:off x="7617329" y="2830442"/>
            <a:ext cx="650958" cy="247644"/>
          </a:xfrm>
          <a:prstGeom prst="roundRect">
            <a:avLst>
              <a:gd name="adj" fmla="val 50000"/>
            </a:avLst>
          </a:prstGeom>
          <a:solidFill>
            <a:srgbClr val="FFFFFF">
              <a:alpha val="16000"/>
            </a:srgbClr>
          </a:solidFill>
          <a:ln/>
        </p:spPr>
      </p:sp>
      <p:sp>
        <p:nvSpPr>
          <p:cNvPr id="15" name="Text 12"/>
          <p:cNvSpPr txBox="1"/>
          <p:nvPr/>
        </p:nvSpPr>
        <p:spPr>
          <a:xfrm>
            <a:off x="7706227" y="2868541"/>
            <a:ext cx="492089"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No Farol</a:t>
            </a:r>
            <a:endParaRPr lang="en-US" sz="900" dirty="0"/>
          </a:p>
        </p:txBody>
      </p:sp>
      <p:sp>
        <p:nvSpPr>
          <p:cNvPr id="16" name="Text 13"/>
          <p:cNvSpPr txBox="1"/>
          <p:nvPr/>
        </p:nvSpPr>
        <p:spPr>
          <a:xfrm>
            <a:off x="7617329" y="3243181"/>
            <a:ext cx="3733746" cy="591428"/>
          </a:xfrm>
          <a:prstGeom prst="rect">
            <a:avLst/>
          </a:prstGeom>
          <a:noFill/>
          <a:ln/>
        </p:spPr>
        <p:txBody>
          <a:bodyPr wrap="square" lIns="0" tIns="0" rIns="0" bIns="0" rtlCol="0" anchor="t"/>
          <a:lstStyle/>
          <a:p>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noite 1 inteira: os 6 exemplos. Aqui, o topo de </a:t>
            </a:r>
            <a:pPr algn="l" indent="0" marL="0">
              <a:lnSpc>
                <a:spcPct val="115385"/>
              </a:lnSpc>
              <a:buNone/>
            </a:pPr>
            <a:r>
              <a:rPr lang="en-US" sz="1150" dirty="0">
                <a:solidFill>
                  <a:srgbClr val="DBE6FF"/>
                </a:solidFill>
                <a:latin typeface="Courier New" pitchFamily="34" charset="0"/>
                <a:ea typeface="Courier New" pitchFamily="34" charset="-122"/>
                <a:cs typeface="Courier New" pitchFamily="34" charset="-120"/>
              </a:rPr>
              <a:t>gold.score_estouro_30d</a:t>
            </a:r>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 com os motivos de cada projeto</a:t>
            </a:r>
            <a:endParaRPr lang="en-US" sz="1150" dirty="0"/>
          </a:p>
        </p:txBody>
      </p:sp>
      <p:pic>
        <p:nvPicPr>
          <p:cNvPr id="17" name="Image 1" descr="preencoded.png">    </p:cNvPr>
          <p:cNvPicPr>
            <a:picLocks noChangeAspect="1"/>
          </p:cNvPicPr>
          <p:nvPr/>
        </p:nvPicPr>
        <p:blipFill>
          <a:blip r:embed="rId3"/>
          <a:stretch>
            <a:fillRect/>
          </a:stretch>
        </p:blipFill>
        <p:spPr>
          <a:xfrm>
            <a:off x="761981" y="6387940"/>
            <a:ext cx="2059928" cy="190495"/>
          </a:xfrm>
          <a:prstGeom prst="rect">
            <a:avLst/>
          </a:prstGeom>
        </p:spPr>
      </p:pic>
      <p:sp>
        <p:nvSpPr>
          <p:cNvPr id="18" name="Text 14"/>
          <p:cNvSpPr txBox="1"/>
          <p:nvPr/>
        </p:nvSpPr>
        <p:spPr>
          <a:xfrm>
            <a:off x="10977387" y="6387940"/>
            <a:ext cx="470420"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51 / 133</a:t>
            </a:r>
            <a:endParaRPr lang="en-US" sz="1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1 · OS 6 EXEMPLOS SQL</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21 queries: do primeiro SELECT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à resposta do dono</a:t>
            </a:r>
            <a:endParaRPr lang="en-US" sz="3100" dirty="0"/>
          </a:p>
        </p:txBody>
      </p:sp>
      <p:sp>
        <p:nvSpPr>
          <p:cNvPr id="4" name="Text 2"/>
          <p:cNvSpPr txBox="1"/>
          <p:nvPr/>
        </p:nvSpPr>
        <p:spPr>
          <a:xfrm>
            <a:off x="876278" y="1582301"/>
            <a:ext cx="1743825" cy="171446"/>
          </a:xfrm>
          <a:prstGeom prst="rect">
            <a:avLst/>
          </a:prstGeom>
          <a:noFill/>
          <a:ln/>
        </p:spPr>
        <p:txBody>
          <a:bodyPr wrap="square" lIns="0" tIns="0" rIns="0" bIns="0" rtlCol="0" anchor="t"/>
          <a:lstStyle/>
          <a:p>
            <a:pPr algn="l"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EXEMPLO</a:t>
            </a:r>
            <a:endParaRPr lang="en-US" sz="900" dirty="0"/>
          </a:p>
        </p:txBody>
      </p:sp>
      <p:sp>
        <p:nvSpPr>
          <p:cNvPr id="5" name="Text 3"/>
          <p:cNvSpPr txBox="1"/>
          <p:nvPr/>
        </p:nvSpPr>
        <p:spPr>
          <a:xfrm>
            <a:off x="2781627" y="1582301"/>
            <a:ext cx="2280903" cy="171446"/>
          </a:xfrm>
          <a:prstGeom prst="rect">
            <a:avLst/>
          </a:prstGeom>
          <a:noFill/>
          <a:ln/>
        </p:spPr>
        <p:txBody>
          <a:bodyPr wrap="square" lIns="0" tIns="0" rIns="0" bIns="0" rtlCol="0" anchor="t"/>
          <a:lstStyle/>
          <a:p>
            <a:pPr algn="l"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CONCEITO</a:t>
            </a:r>
            <a:endParaRPr lang="en-US" sz="900" dirty="0"/>
          </a:p>
        </p:txBody>
      </p:sp>
      <p:sp>
        <p:nvSpPr>
          <p:cNvPr id="6" name="Text 4"/>
          <p:cNvSpPr txBox="1"/>
          <p:nvPr/>
        </p:nvSpPr>
        <p:spPr>
          <a:xfrm>
            <a:off x="5203397" y="1582301"/>
            <a:ext cx="551111" cy="171446"/>
          </a:xfrm>
          <a:prstGeom prst="rect">
            <a:avLst/>
          </a:prstGeom>
          <a:noFill/>
          <a:ln/>
        </p:spPr>
        <p:txBody>
          <a:bodyPr wrap="square" lIns="0" tIns="0" rIns="0" bIns="0" rtlCol="0" anchor="t"/>
          <a:lstStyle/>
          <a:p>
            <a:pPr algn="r"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QUERIES</a:t>
            </a:r>
            <a:endParaRPr lang="en-US" sz="900" dirty="0"/>
          </a:p>
        </p:txBody>
      </p:sp>
      <p:sp>
        <p:nvSpPr>
          <p:cNvPr id="7" name="Text 5"/>
          <p:cNvSpPr txBox="1"/>
          <p:nvPr/>
        </p:nvSpPr>
        <p:spPr>
          <a:xfrm>
            <a:off x="5961906" y="1582301"/>
            <a:ext cx="5567652" cy="171446"/>
          </a:xfrm>
          <a:prstGeom prst="rect">
            <a:avLst/>
          </a:prstGeom>
          <a:noFill/>
          <a:ln/>
        </p:spPr>
        <p:txBody>
          <a:bodyPr wrap="square" lIns="0" tIns="0" rIns="0" bIns="0" rtlCol="0" anchor="t"/>
          <a:lstStyle/>
          <a:p>
            <a:pPr algn="l"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O QUE ELE MOSTRA</a:t>
            </a:r>
            <a:endParaRPr lang="en-US" sz="900" dirty="0"/>
          </a:p>
        </p:txBody>
      </p:sp>
      <p:sp>
        <p:nvSpPr>
          <p:cNvPr id="8" name="Shape 6"/>
          <p:cNvSpPr/>
          <p:nvPr/>
        </p:nvSpPr>
        <p:spPr>
          <a:xfrm>
            <a:off x="761981" y="1880744"/>
            <a:ext cx="1905349" cy="384761"/>
          </a:xfrm>
          <a:prstGeom prst="rect">
            <a:avLst/>
          </a:prstGeom>
          <a:solidFill>
            <a:srgbClr val="1E1E24"/>
          </a:solidFill>
          <a:ln/>
        </p:spPr>
      </p:sp>
      <p:sp>
        <p:nvSpPr>
          <p:cNvPr id="9" name="Text 7"/>
          <p:cNvSpPr txBox="1"/>
          <p:nvPr/>
        </p:nvSpPr>
        <p:spPr>
          <a:xfrm>
            <a:off x="876278" y="1982341"/>
            <a:ext cx="1743825" cy="181566"/>
          </a:xfrm>
          <a:prstGeom prst="rect">
            <a:avLst/>
          </a:prstGeom>
          <a:noFill/>
          <a:ln/>
        </p:spPr>
        <p:txBody>
          <a:bodyPr wrap="square" lIns="0" tIns="0" rIns="0" bIns="0" rtlCol="0" anchor="t"/>
          <a:lstStyle/>
          <a:p>
            <a:pPr algn="l" indent="0" marL="0">
              <a:lnSpc>
                <a:spcPct val="111111"/>
              </a:lnSpc>
              <a:buNone/>
            </a:pPr>
            <a:r>
              <a:rPr lang="en-US" sz="1100" b="1" dirty="0">
                <a:solidFill>
                  <a:srgbClr val="F5F6FC"/>
                </a:solidFill>
                <a:latin typeface="Poppins" pitchFamily="34" charset="0"/>
                <a:ea typeface="Poppins" pitchFamily="34" charset="-122"/>
                <a:cs typeface="Poppins" pitchFamily="34" charset="-120"/>
              </a:rPr>
              <a:t>01 · SELECT</a:t>
            </a:r>
            <a:endParaRPr lang="en-US" sz="1100" dirty="0"/>
          </a:p>
        </p:txBody>
      </p:sp>
      <p:sp>
        <p:nvSpPr>
          <p:cNvPr id="10" name="Shape 8"/>
          <p:cNvSpPr/>
          <p:nvPr/>
        </p:nvSpPr>
        <p:spPr>
          <a:xfrm>
            <a:off x="2667330" y="1880744"/>
            <a:ext cx="2421770" cy="384761"/>
          </a:xfrm>
          <a:prstGeom prst="rect">
            <a:avLst/>
          </a:prstGeom>
          <a:solidFill>
            <a:srgbClr val="1E1E24"/>
          </a:solidFill>
          <a:ln/>
        </p:spPr>
      </p:sp>
      <p:sp>
        <p:nvSpPr>
          <p:cNvPr id="11" name="Text 9"/>
          <p:cNvSpPr txBox="1"/>
          <p:nvPr/>
        </p:nvSpPr>
        <p:spPr>
          <a:xfrm>
            <a:off x="2781627" y="1982341"/>
            <a:ext cx="2280903"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SELECT, FROM, LIMIT, COUNT</a:t>
            </a:r>
            <a:endParaRPr lang="en-US" sz="1100" dirty="0"/>
          </a:p>
        </p:txBody>
      </p:sp>
      <p:sp>
        <p:nvSpPr>
          <p:cNvPr id="12" name="Shape 10"/>
          <p:cNvSpPr/>
          <p:nvPr/>
        </p:nvSpPr>
        <p:spPr>
          <a:xfrm>
            <a:off x="5089100" y="1880744"/>
            <a:ext cx="758508" cy="384761"/>
          </a:xfrm>
          <a:prstGeom prst="rect">
            <a:avLst/>
          </a:prstGeom>
          <a:solidFill>
            <a:srgbClr val="1E1E24"/>
          </a:solidFill>
          <a:ln/>
        </p:spPr>
      </p:sp>
      <p:sp>
        <p:nvSpPr>
          <p:cNvPr id="13" name="Text 11"/>
          <p:cNvSpPr txBox="1"/>
          <p:nvPr/>
        </p:nvSpPr>
        <p:spPr>
          <a:xfrm>
            <a:off x="5203397" y="1982341"/>
            <a:ext cx="551111" cy="181566"/>
          </a:xfrm>
          <a:prstGeom prst="rect">
            <a:avLst/>
          </a:prstGeom>
          <a:noFill/>
          <a:ln/>
        </p:spPr>
        <p:txBody>
          <a:bodyPr wrap="square" lIns="0" tIns="0" rIns="0" bIns="0" rtlCol="0" anchor="t"/>
          <a:lstStyle/>
          <a:p>
            <a:pPr algn="r" indent="0" marL="0">
              <a:lnSpc>
                <a:spcPct val="111111"/>
              </a:lnSpc>
              <a:buNone/>
            </a:pPr>
            <a:r>
              <a:rPr lang="en-US" sz="1100" dirty="0">
                <a:solidFill>
                  <a:srgbClr val="F5F6FC"/>
                </a:solidFill>
                <a:latin typeface="Poppins" pitchFamily="34" charset="0"/>
                <a:ea typeface="Poppins" pitchFamily="34" charset="-122"/>
                <a:cs typeface="Poppins" pitchFamily="34" charset="-120"/>
              </a:rPr>
              <a:t>2</a:t>
            </a:r>
            <a:endParaRPr lang="en-US" sz="1100" dirty="0"/>
          </a:p>
        </p:txBody>
      </p:sp>
      <p:sp>
        <p:nvSpPr>
          <p:cNvPr id="14" name="Shape 12"/>
          <p:cNvSpPr/>
          <p:nvPr/>
        </p:nvSpPr>
        <p:spPr>
          <a:xfrm>
            <a:off x="5847608" y="1880744"/>
            <a:ext cx="5582106" cy="384761"/>
          </a:xfrm>
          <a:prstGeom prst="rect">
            <a:avLst/>
          </a:prstGeom>
          <a:solidFill>
            <a:srgbClr val="1E1E24"/>
          </a:solidFill>
          <a:ln/>
        </p:spPr>
      </p:sp>
      <p:sp>
        <p:nvSpPr>
          <p:cNvPr id="15" name="Text 13"/>
          <p:cNvSpPr txBox="1"/>
          <p:nvPr/>
        </p:nvSpPr>
        <p:spPr>
          <a:xfrm>
            <a:off x="5961906" y="1982341"/>
            <a:ext cx="5567652"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olhar o cadastro: 60 projetos</a:t>
            </a:r>
            <a:endParaRPr lang="en-US" sz="1100" dirty="0"/>
          </a:p>
        </p:txBody>
      </p:sp>
      <p:sp>
        <p:nvSpPr>
          <p:cNvPr id="16" name="Shape 14"/>
          <p:cNvSpPr/>
          <p:nvPr/>
        </p:nvSpPr>
        <p:spPr>
          <a:xfrm>
            <a:off x="761981" y="2316303"/>
            <a:ext cx="1905349" cy="566326"/>
          </a:xfrm>
          <a:prstGeom prst="rect">
            <a:avLst/>
          </a:prstGeom>
          <a:solidFill>
            <a:srgbClr val="1E1E24"/>
          </a:solidFill>
          <a:ln/>
        </p:spPr>
      </p:sp>
      <p:sp>
        <p:nvSpPr>
          <p:cNvPr id="17" name="Text 15"/>
          <p:cNvSpPr txBox="1"/>
          <p:nvPr/>
        </p:nvSpPr>
        <p:spPr>
          <a:xfrm>
            <a:off x="876278" y="2417900"/>
            <a:ext cx="1743825" cy="363132"/>
          </a:xfrm>
          <a:prstGeom prst="rect">
            <a:avLst/>
          </a:prstGeom>
          <a:noFill/>
          <a:ln/>
        </p:spPr>
        <p:txBody>
          <a:bodyPr wrap="square" lIns="0" tIns="0" rIns="0" bIns="0" rtlCol="0" anchor="t"/>
          <a:lstStyle/>
          <a:p>
            <a:pPr algn="l" indent="0" marL="0">
              <a:lnSpc>
                <a:spcPct val="111111"/>
              </a:lnSpc>
              <a:buNone/>
            </a:pPr>
            <a:r>
              <a:rPr lang="en-US" sz="1100" b="1" dirty="0">
                <a:solidFill>
                  <a:srgbClr val="F5F6FC"/>
                </a:solidFill>
                <a:latin typeface="Poppins" pitchFamily="34" charset="0"/>
                <a:ea typeface="Poppins" pitchFamily="34" charset="-122"/>
                <a:cs typeface="Poppins" pitchFamily="34" charset="-120"/>
              </a:rPr>
              <a:t>02 · ORDER BY e DISTINCT</a:t>
            </a:r>
            <a:endParaRPr lang="en-US" sz="1100" dirty="0"/>
          </a:p>
        </p:txBody>
      </p:sp>
      <p:sp>
        <p:nvSpPr>
          <p:cNvPr id="18" name="Shape 16"/>
          <p:cNvSpPr/>
          <p:nvPr/>
        </p:nvSpPr>
        <p:spPr>
          <a:xfrm>
            <a:off x="2667330" y="2316303"/>
            <a:ext cx="2421770" cy="566326"/>
          </a:xfrm>
          <a:prstGeom prst="rect">
            <a:avLst/>
          </a:prstGeom>
          <a:solidFill>
            <a:srgbClr val="1E1E24"/>
          </a:solidFill>
          <a:ln/>
        </p:spPr>
      </p:sp>
      <p:sp>
        <p:nvSpPr>
          <p:cNvPr id="19" name="Text 17"/>
          <p:cNvSpPr txBox="1"/>
          <p:nvPr/>
        </p:nvSpPr>
        <p:spPr>
          <a:xfrm>
            <a:off x="2781627" y="2417900"/>
            <a:ext cx="2280903" cy="363132"/>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ORDER BY, CAST, DISTINCT</a:t>
            </a:r>
            <a:endParaRPr lang="en-US" sz="1100" dirty="0"/>
          </a:p>
        </p:txBody>
      </p:sp>
      <p:sp>
        <p:nvSpPr>
          <p:cNvPr id="20" name="Shape 18"/>
          <p:cNvSpPr/>
          <p:nvPr/>
        </p:nvSpPr>
        <p:spPr>
          <a:xfrm>
            <a:off x="5089100" y="2316303"/>
            <a:ext cx="758508" cy="566326"/>
          </a:xfrm>
          <a:prstGeom prst="rect">
            <a:avLst/>
          </a:prstGeom>
          <a:solidFill>
            <a:srgbClr val="1E1E24"/>
          </a:solidFill>
          <a:ln/>
        </p:spPr>
      </p:sp>
      <p:sp>
        <p:nvSpPr>
          <p:cNvPr id="21" name="Text 19"/>
          <p:cNvSpPr txBox="1"/>
          <p:nvPr/>
        </p:nvSpPr>
        <p:spPr>
          <a:xfrm>
            <a:off x="5203397" y="2417900"/>
            <a:ext cx="551111" cy="363132"/>
          </a:xfrm>
          <a:prstGeom prst="rect">
            <a:avLst/>
          </a:prstGeom>
          <a:noFill/>
          <a:ln/>
        </p:spPr>
        <p:txBody>
          <a:bodyPr wrap="square" lIns="0" tIns="0" rIns="0" bIns="0" rtlCol="0" anchor="t"/>
          <a:lstStyle/>
          <a:p>
            <a:pPr algn="r" indent="0" marL="0">
              <a:lnSpc>
                <a:spcPct val="111111"/>
              </a:lnSpc>
              <a:buNone/>
            </a:pPr>
            <a:r>
              <a:rPr lang="en-US" sz="1100" dirty="0">
                <a:solidFill>
                  <a:srgbClr val="F5F6FC"/>
                </a:solidFill>
                <a:latin typeface="Poppins" pitchFamily="34" charset="0"/>
                <a:ea typeface="Poppins" pitchFamily="34" charset="-122"/>
                <a:cs typeface="Poppins" pitchFamily="34" charset="-120"/>
              </a:rPr>
              <a:t>3</a:t>
            </a:r>
            <a:endParaRPr lang="en-US" sz="1100" dirty="0"/>
          </a:p>
        </p:txBody>
      </p:sp>
      <p:sp>
        <p:nvSpPr>
          <p:cNvPr id="22" name="Shape 20"/>
          <p:cNvSpPr/>
          <p:nvPr/>
        </p:nvSpPr>
        <p:spPr>
          <a:xfrm>
            <a:off x="5847608" y="2316303"/>
            <a:ext cx="5582106" cy="566326"/>
          </a:xfrm>
          <a:prstGeom prst="rect">
            <a:avLst/>
          </a:prstGeom>
          <a:solidFill>
            <a:srgbClr val="1E1E24"/>
          </a:solidFill>
          <a:ln/>
        </p:spPr>
      </p:sp>
      <p:sp>
        <p:nvSpPr>
          <p:cNvPr id="23" name="Text 21"/>
          <p:cNvSpPr txBox="1"/>
          <p:nvPr/>
        </p:nvSpPr>
        <p:spPr>
          <a:xfrm>
            <a:off x="5961906" y="2417900"/>
            <a:ext cx="5567652" cy="363132"/>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o maior contrato é o PRJ-017; a ferramenta escrita de 8 jeitos</a:t>
            </a:r>
            <a:endParaRPr lang="en-US" sz="1100" dirty="0"/>
          </a:p>
        </p:txBody>
      </p:sp>
      <p:sp>
        <p:nvSpPr>
          <p:cNvPr id="24" name="Shape 22"/>
          <p:cNvSpPr/>
          <p:nvPr/>
        </p:nvSpPr>
        <p:spPr>
          <a:xfrm>
            <a:off x="761981" y="2933428"/>
            <a:ext cx="1905349" cy="566326"/>
          </a:xfrm>
          <a:prstGeom prst="rect">
            <a:avLst/>
          </a:prstGeom>
          <a:solidFill>
            <a:srgbClr val="1E1E24"/>
          </a:solidFill>
          <a:ln/>
        </p:spPr>
      </p:sp>
      <p:sp>
        <p:nvSpPr>
          <p:cNvPr id="25" name="Text 23"/>
          <p:cNvSpPr txBox="1"/>
          <p:nvPr/>
        </p:nvSpPr>
        <p:spPr>
          <a:xfrm>
            <a:off x="876278" y="3035026"/>
            <a:ext cx="1743825" cy="363132"/>
          </a:xfrm>
          <a:prstGeom prst="rect">
            <a:avLst/>
          </a:prstGeom>
          <a:noFill/>
          <a:ln/>
        </p:spPr>
        <p:txBody>
          <a:bodyPr wrap="square" lIns="0" tIns="0" rIns="0" bIns="0" rtlCol="0" anchor="t"/>
          <a:lstStyle/>
          <a:p>
            <a:pPr algn="l" indent="0" marL="0">
              <a:lnSpc>
                <a:spcPct val="111111"/>
              </a:lnSpc>
              <a:buNone/>
            </a:pPr>
            <a:r>
              <a:rPr lang="en-US" sz="1100" b="1" dirty="0">
                <a:solidFill>
                  <a:srgbClr val="F5F6FC"/>
                </a:solidFill>
                <a:latin typeface="Poppins" pitchFamily="34" charset="0"/>
                <a:ea typeface="Poppins" pitchFamily="34" charset="-122"/>
                <a:cs typeface="Poppins" pitchFamily="34" charset="-120"/>
              </a:rPr>
              <a:t>03 · WHERE e a sujeira</a:t>
            </a:r>
            <a:endParaRPr lang="en-US" sz="1100" dirty="0"/>
          </a:p>
        </p:txBody>
      </p:sp>
      <p:sp>
        <p:nvSpPr>
          <p:cNvPr id="26" name="Shape 24"/>
          <p:cNvSpPr/>
          <p:nvPr/>
        </p:nvSpPr>
        <p:spPr>
          <a:xfrm>
            <a:off x="2667330" y="2933428"/>
            <a:ext cx="2421770" cy="566326"/>
          </a:xfrm>
          <a:prstGeom prst="rect">
            <a:avLst/>
          </a:prstGeom>
          <a:solidFill>
            <a:srgbClr val="1E1E24"/>
          </a:solidFill>
          <a:ln/>
        </p:spPr>
      </p:sp>
      <p:sp>
        <p:nvSpPr>
          <p:cNvPr id="27" name="Text 25"/>
          <p:cNvSpPr txBox="1"/>
          <p:nvPr/>
        </p:nvSpPr>
        <p:spPr>
          <a:xfrm>
            <a:off x="2781627" y="3035026"/>
            <a:ext cx="2280903" cy="363132"/>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WHERE, LIKE, AND, IN, IS NULL</a:t>
            </a:r>
            <a:endParaRPr lang="en-US" sz="1100" dirty="0"/>
          </a:p>
        </p:txBody>
      </p:sp>
      <p:sp>
        <p:nvSpPr>
          <p:cNvPr id="28" name="Shape 26"/>
          <p:cNvSpPr/>
          <p:nvPr/>
        </p:nvSpPr>
        <p:spPr>
          <a:xfrm>
            <a:off x="5089100" y="2933428"/>
            <a:ext cx="758508" cy="566326"/>
          </a:xfrm>
          <a:prstGeom prst="rect">
            <a:avLst/>
          </a:prstGeom>
          <a:solidFill>
            <a:srgbClr val="1E1E24"/>
          </a:solidFill>
          <a:ln/>
        </p:spPr>
      </p:sp>
      <p:sp>
        <p:nvSpPr>
          <p:cNvPr id="29" name="Text 27"/>
          <p:cNvSpPr txBox="1"/>
          <p:nvPr/>
        </p:nvSpPr>
        <p:spPr>
          <a:xfrm>
            <a:off x="5203397" y="3035026"/>
            <a:ext cx="551111" cy="363132"/>
          </a:xfrm>
          <a:prstGeom prst="rect">
            <a:avLst/>
          </a:prstGeom>
          <a:noFill/>
          <a:ln/>
        </p:spPr>
        <p:txBody>
          <a:bodyPr wrap="square" lIns="0" tIns="0" rIns="0" bIns="0" rtlCol="0" anchor="t"/>
          <a:lstStyle/>
          <a:p>
            <a:pPr algn="r" indent="0" marL="0">
              <a:lnSpc>
                <a:spcPct val="111111"/>
              </a:lnSpc>
              <a:buNone/>
            </a:pPr>
            <a:r>
              <a:rPr lang="en-US" sz="1100" dirty="0">
                <a:solidFill>
                  <a:srgbClr val="F5F6FC"/>
                </a:solidFill>
                <a:latin typeface="Poppins" pitchFamily="34" charset="0"/>
                <a:ea typeface="Poppins" pitchFamily="34" charset="-122"/>
                <a:cs typeface="Poppins" pitchFamily="34" charset="-120"/>
              </a:rPr>
              <a:t>7</a:t>
            </a:r>
            <a:endParaRPr lang="en-US" sz="1100" dirty="0"/>
          </a:p>
        </p:txBody>
      </p:sp>
      <p:sp>
        <p:nvSpPr>
          <p:cNvPr id="30" name="Shape 28"/>
          <p:cNvSpPr/>
          <p:nvPr/>
        </p:nvSpPr>
        <p:spPr>
          <a:xfrm>
            <a:off x="5847608" y="2933428"/>
            <a:ext cx="5582106" cy="566326"/>
          </a:xfrm>
          <a:prstGeom prst="rect">
            <a:avLst/>
          </a:prstGeom>
          <a:solidFill>
            <a:srgbClr val="1E1E24"/>
          </a:solidFill>
          <a:ln/>
        </p:spPr>
      </p:sp>
      <p:sp>
        <p:nvSpPr>
          <p:cNvPr id="31" name="Text 29"/>
          <p:cNvSpPr txBox="1"/>
          <p:nvPr/>
        </p:nvSpPr>
        <p:spPr>
          <a:xfrm>
            <a:off x="5961906" y="3035026"/>
            <a:ext cx="5567652" cy="363132"/>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data em 2 formatos, TOTAL, vírgula; varejo em andamento; CodeForge de 4 jeitos</a:t>
            </a:r>
            <a:endParaRPr lang="en-US" sz="1100" dirty="0"/>
          </a:p>
        </p:txBody>
      </p:sp>
      <p:sp>
        <p:nvSpPr>
          <p:cNvPr id="32" name="Shape 30"/>
          <p:cNvSpPr/>
          <p:nvPr/>
        </p:nvSpPr>
        <p:spPr>
          <a:xfrm>
            <a:off x="761981" y="3550553"/>
            <a:ext cx="1905349" cy="384761"/>
          </a:xfrm>
          <a:prstGeom prst="rect">
            <a:avLst/>
          </a:prstGeom>
          <a:solidFill>
            <a:srgbClr val="1E1E24"/>
          </a:solidFill>
          <a:ln/>
        </p:spPr>
      </p:sp>
      <p:sp>
        <p:nvSpPr>
          <p:cNvPr id="33" name="Text 31"/>
          <p:cNvSpPr txBox="1"/>
          <p:nvPr/>
        </p:nvSpPr>
        <p:spPr>
          <a:xfrm>
            <a:off x="876278" y="3652151"/>
            <a:ext cx="1743825" cy="181566"/>
          </a:xfrm>
          <a:prstGeom prst="rect">
            <a:avLst/>
          </a:prstGeom>
          <a:noFill/>
          <a:ln/>
        </p:spPr>
        <p:txBody>
          <a:bodyPr wrap="square" lIns="0" tIns="0" rIns="0" bIns="0" rtlCol="0" anchor="t"/>
          <a:lstStyle/>
          <a:p>
            <a:pPr algn="l" indent="0" marL="0">
              <a:lnSpc>
                <a:spcPct val="111111"/>
              </a:lnSpc>
              <a:buNone/>
            </a:pPr>
            <a:r>
              <a:rPr lang="en-US" sz="1100" b="1" dirty="0">
                <a:solidFill>
                  <a:srgbClr val="F5F6FC"/>
                </a:solidFill>
                <a:latin typeface="Poppins" pitchFamily="34" charset="0"/>
                <a:ea typeface="Poppins" pitchFamily="34" charset="-122"/>
                <a:cs typeface="Poppins" pitchFamily="34" charset="-120"/>
              </a:rPr>
              <a:t>04 · GROUP BY</a:t>
            </a:r>
            <a:endParaRPr lang="en-US" sz="1100" dirty="0"/>
          </a:p>
        </p:txBody>
      </p:sp>
      <p:sp>
        <p:nvSpPr>
          <p:cNvPr id="34" name="Shape 32"/>
          <p:cNvSpPr/>
          <p:nvPr/>
        </p:nvSpPr>
        <p:spPr>
          <a:xfrm>
            <a:off x="2667330" y="3550553"/>
            <a:ext cx="2421770" cy="384761"/>
          </a:xfrm>
          <a:prstGeom prst="rect">
            <a:avLst/>
          </a:prstGeom>
          <a:solidFill>
            <a:srgbClr val="1E1E24"/>
          </a:solidFill>
          <a:ln/>
        </p:spPr>
      </p:sp>
      <p:sp>
        <p:nvSpPr>
          <p:cNvPr id="35" name="Text 33"/>
          <p:cNvSpPr txBox="1"/>
          <p:nvPr/>
        </p:nvSpPr>
        <p:spPr>
          <a:xfrm>
            <a:off x="2781627" y="3652151"/>
            <a:ext cx="2280903"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GROUP BY, SUM, replace</a:t>
            </a:r>
            <a:endParaRPr lang="en-US" sz="1100" dirty="0"/>
          </a:p>
        </p:txBody>
      </p:sp>
      <p:sp>
        <p:nvSpPr>
          <p:cNvPr id="36" name="Shape 34"/>
          <p:cNvSpPr/>
          <p:nvPr/>
        </p:nvSpPr>
        <p:spPr>
          <a:xfrm>
            <a:off x="5089100" y="3550553"/>
            <a:ext cx="758508" cy="384761"/>
          </a:xfrm>
          <a:prstGeom prst="rect">
            <a:avLst/>
          </a:prstGeom>
          <a:solidFill>
            <a:srgbClr val="1E1E24"/>
          </a:solidFill>
          <a:ln/>
        </p:spPr>
      </p:sp>
      <p:sp>
        <p:nvSpPr>
          <p:cNvPr id="37" name="Text 35"/>
          <p:cNvSpPr txBox="1"/>
          <p:nvPr/>
        </p:nvSpPr>
        <p:spPr>
          <a:xfrm>
            <a:off x="5203397" y="3652151"/>
            <a:ext cx="551111" cy="181566"/>
          </a:xfrm>
          <a:prstGeom prst="rect">
            <a:avLst/>
          </a:prstGeom>
          <a:noFill/>
          <a:ln/>
        </p:spPr>
        <p:txBody>
          <a:bodyPr wrap="square" lIns="0" tIns="0" rIns="0" bIns="0" rtlCol="0" anchor="t"/>
          <a:lstStyle/>
          <a:p>
            <a:pPr algn="r" indent="0" marL="0">
              <a:lnSpc>
                <a:spcPct val="111111"/>
              </a:lnSpc>
              <a:buNone/>
            </a:pPr>
            <a:r>
              <a:rPr lang="en-US" sz="1100" dirty="0">
                <a:solidFill>
                  <a:srgbClr val="F5F6FC"/>
                </a:solidFill>
                <a:latin typeface="Poppins" pitchFamily="34" charset="0"/>
                <a:ea typeface="Poppins" pitchFamily="34" charset="-122"/>
                <a:cs typeface="Poppins" pitchFamily="34" charset="-120"/>
              </a:rPr>
              <a:t>2</a:t>
            </a:r>
            <a:endParaRPr lang="en-US" sz="1100" dirty="0"/>
          </a:p>
        </p:txBody>
      </p:sp>
      <p:sp>
        <p:nvSpPr>
          <p:cNvPr id="38" name="Shape 36"/>
          <p:cNvSpPr/>
          <p:nvPr/>
        </p:nvSpPr>
        <p:spPr>
          <a:xfrm>
            <a:off x="5847608" y="3550553"/>
            <a:ext cx="5582106" cy="384761"/>
          </a:xfrm>
          <a:prstGeom prst="rect">
            <a:avLst/>
          </a:prstGeom>
          <a:solidFill>
            <a:srgbClr val="1E1E24"/>
          </a:solidFill>
          <a:ln/>
        </p:spPr>
      </p:sp>
      <p:sp>
        <p:nvSpPr>
          <p:cNvPr id="39" name="Text 37"/>
          <p:cNvSpPr txBox="1"/>
          <p:nvPr/>
        </p:nvSpPr>
        <p:spPr>
          <a:xfrm>
            <a:off x="5961906" y="3652151"/>
            <a:ext cx="5567652"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o erro da vírgula; R$ 117,8 mi em gente</a:t>
            </a:r>
            <a:endParaRPr lang="en-US" sz="1100" dirty="0"/>
          </a:p>
        </p:txBody>
      </p:sp>
      <p:sp>
        <p:nvSpPr>
          <p:cNvPr id="40" name="Shape 38"/>
          <p:cNvSpPr/>
          <p:nvPr/>
        </p:nvSpPr>
        <p:spPr>
          <a:xfrm>
            <a:off x="761981" y="3986113"/>
            <a:ext cx="1905349" cy="566326"/>
          </a:xfrm>
          <a:prstGeom prst="rect">
            <a:avLst/>
          </a:prstGeom>
          <a:solidFill>
            <a:srgbClr val="1B2A4A"/>
          </a:solidFill>
          <a:ln/>
        </p:spPr>
      </p:sp>
      <p:sp>
        <p:nvSpPr>
          <p:cNvPr id="41" name="Text 39"/>
          <p:cNvSpPr txBox="1"/>
          <p:nvPr/>
        </p:nvSpPr>
        <p:spPr>
          <a:xfrm>
            <a:off x="876278" y="4087710"/>
            <a:ext cx="1743825" cy="363132"/>
          </a:xfrm>
          <a:prstGeom prst="rect">
            <a:avLst/>
          </a:prstGeom>
          <a:noFill/>
          <a:ln/>
        </p:spPr>
        <p:txBody>
          <a:bodyPr wrap="square" lIns="0" tIns="0" rIns="0" bIns="0" rtlCol="0" anchor="t"/>
          <a:lstStyle/>
          <a:p>
            <a:pPr algn="l" indent="0" marL="0">
              <a:lnSpc>
                <a:spcPct val="111111"/>
              </a:lnSpc>
              <a:buNone/>
            </a:pPr>
            <a:r>
              <a:rPr lang="en-US" sz="1100" b="1" dirty="0">
                <a:solidFill>
                  <a:srgbClr val="F5F6FC"/>
                </a:solidFill>
                <a:latin typeface="Poppins" pitchFamily="34" charset="0"/>
                <a:ea typeface="Poppins" pitchFamily="34" charset="-122"/>
                <a:cs typeface="Poppins" pitchFamily="34" charset="-120"/>
              </a:rPr>
              <a:t>05 · UNION</a:t>
            </a:r>
            <a:endParaRPr lang="en-US" sz="1100" dirty="0"/>
          </a:p>
        </p:txBody>
      </p:sp>
      <p:sp>
        <p:nvSpPr>
          <p:cNvPr id="42" name="Shape 40"/>
          <p:cNvSpPr/>
          <p:nvPr/>
        </p:nvSpPr>
        <p:spPr>
          <a:xfrm>
            <a:off x="2667330" y="3986113"/>
            <a:ext cx="2421770" cy="566326"/>
          </a:xfrm>
          <a:prstGeom prst="rect">
            <a:avLst/>
          </a:prstGeom>
          <a:solidFill>
            <a:srgbClr val="1B2A4A"/>
          </a:solidFill>
          <a:ln/>
        </p:spPr>
      </p:sp>
      <p:sp>
        <p:nvSpPr>
          <p:cNvPr id="43" name="Text 41"/>
          <p:cNvSpPr txBox="1"/>
          <p:nvPr/>
        </p:nvSpPr>
        <p:spPr>
          <a:xfrm>
            <a:off x="2781627" y="4087710"/>
            <a:ext cx="2280903" cy="363132"/>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UNION ALL, VIEW, CASE, JOIN, WITH</a:t>
            </a:r>
            <a:endParaRPr lang="en-US" sz="1100" dirty="0"/>
          </a:p>
        </p:txBody>
      </p:sp>
      <p:sp>
        <p:nvSpPr>
          <p:cNvPr id="44" name="Shape 42"/>
          <p:cNvSpPr/>
          <p:nvPr/>
        </p:nvSpPr>
        <p:spPr>
          <a:xfrm>
            <a:off x="5089100" y="3986113"/>
            <a:ext cx="758508" cy="566326"/>
          </a:xfrm>
          <a:prstGeom prst="rect">
            <a:avLst/>
          </a:prstGeom>
          <a:solidFill>
            <a:srgbClr val="1B2A4A"/>
          </a:solidFill>
          <a:ln/>
        </p:spPr>
      </p:sp>
      <p:sp>
        <p:nvSpPr>
          <p:cNvPr id="45" name="Text 43"/>
          <p:cNvSpPr txBox="1"/>
          <p:nvPr/>
        </p:nvSpPr>
        <p:spPr>
          <a:xfrm>
            <a:off x="5203397" y="4087710"/>
            <a:ext cx="551111" cy="363132"/>
          </a:xfrm>
          <a:prstGeom prst="rect">
            <a:avLst/>
          </a:prstGeom>
          <a:noFill/>
          <a:ln/>
        </p:spPr>
        <p:txBody>
          <a:bodyPr wrap="square" lIns="0" tIns="0" rIns="0" bIns="0" rtlCol="0" anchor="t"/>
          <a:lstStyle/>
          <a:p>
            <a:pPr algn="r" indent="0" marL="0">
              <a:lnSpc>
                <a:spcPct val="111111"/>
              </a:lnSpc>
              <a:buNone/>
            </a:pPr>
            <a:r>
              <a:rPr lang="en-US" sz="1100" dirty="0">
                <a:solidFill>
                  <a:srgbClr val="F5F6FC"/>
                </a:solidFill>
                <a:latin typeface="Poppins" pitchFamily="34" charset="0"/>
                <a:ea typeface="Poppins" pitchFamily="34" charset="-122"/>
                <a:cs typeface="Poppins" pitchFamily="34" charset="-120"/>
              </a:rPr>
              <a:t>5</a:t>
            </a:r>
            <a:endParaRPr lang="en-US" sz="1100" dirty="0"/>
          </a:p>
        </p:txBody>
      </p:sp>
      <p:sp>
        <p:nvSpPr>
          <p:cNvPr id="46" name="Shape 44"/>
          <p:cNvSpPr/>
          <p:nvPr/>
        </p:nvSpPr>
        <p:spPr>
          <a:xfrm>
            <a:off x="5847608" y="3986113"/>
            <a:ext cx="5582106" cy="566326"/>
          </a:xfrm>
          <a:prstGeom prst="rect">
            <a:avLst/>
          </a:prstGeom>
          <a:solidFill>
            <a:srgbClr val="1B2A4A"/>
          </a:solidFill>
          <a:ln/>
        </p:spPr>
      </p:sp>
      <p:sp>
        <p:nvSpPr>
          <p:cNvPr id="47" name="Text 45"/>
          <p:cNvSpPr txBox="1"/>
          <p:nvPr/>
        </p:nvSpPr>
        <p:spPr>
          <a:xfrm>
            <a:off x="5961906" y="4087710"/>
            <a:ext cx="5567652" cy="363132"/>
          </a:xfrm>
          <a:prstGeom prst="rect">
            <a:avLst/>
          </a:prstGeom>
          <a:noFill/>
          <a:ln/>
        </p:spPr>
        <p:txBody>
          <a:bodyPr wrap="square" lIns="0" tIns="0" rIns="0" bIns="0" rtlCol="0" anchor="t"/>
          <a:lstStyle/>
          <a:p>
            <a:pPr algn="l" indent="0" marL="0">
              <a:lnSpc>
                <a:spcPct val="111111"/>
              </a:lnSpc>
              <a:buNone/>
            </a:pPr>
            <a:r>
              <a:rPr lang="en-US" sz="1100" b="1" dirty="0">
                <a:solidFill>
                  <a:srgbClr val="FFFFFF"/>
                </a:solidFill>
                <a:latin typeface="Poppins" pitchFamily="34" charset="0"/>
                <a:ea typeface="Poppins" pitchFamily="34" charset="-122"/>
                <a:cs typeface="Poppins" pitchFamily="34" charset="-120"/>
              </a:rPr>
              <a:t>as 3 ferramentas numa fila só</a:t>
            </a:r>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 → quem atrasa (pergunta 1)</a:t>
            </a:r>
            <a:endParaRPr lang="en-US" sz="1100" dirty="0"/>
          </a:p>
        </p:txBody>
      </p:sp>
      <p:sp>
        <p:nvSpPr>
          <p:cNvPr id="48" name="Shape 46"/>
          <p:cNvSpPr/>
          <p:nvPr/>
        </p:nvSpPr>
        <p:spPr>
          <a:xfrm>
            <a:off x="761981" y="4603238"/>
            <a:ext cx="1905349" cy="384761"/>
          </a:xfrm>
          <a:prstGeom prst="rect">
            <a:avLst/>
          </a:prstGeom>
          <a:solidFill>
            <a:srgbClr val="1B2A4A"/>
          </a:solidFill>
          <a:ln/>
        </p:spPr>
      </p:sp>
      <p:sp>
        <p:nvSpPr>
          <p:cNvPr id="49" name="Text 47"/>
          <p:cNvSpPr txBox="1"/>
          <p:nvPr/>
        </p:nvSpPr>
        <p:spPr>
          <a:xfrm>
            <a:off x="876278" y="4704836"/>
            <a:ext cx="1743825" cy="181566"/>
          </a:xfrm>
          <a:prstGeom prst="rect">
            <a:avLst/>
          </a:prstGeom>
          <a:noFill/>
          <a:ln/>
        </p:spPr>
        <p:txBody>
          <a:bodyPr wrap="square" lIns="0" tIns="0" rIns="0" bIns="0" rtlCol="0" anchor="t"/>
          <a:lstStyle/>
          <a:p>
            <a:pPr algn="l" indent="0" marL="0">
              <a:lnSpc>
                <a:spcPct val="111111"/>
              </a:lnSpc>
              <a:buNone/>
            </a:pPr>
            <a:r>
              <a:rPr lang="en-US" sz="1100" b="1" dirty="0">
                <a:solidFill>
                  <a:srgbClr val="F5F6FC"/>
                </a:solidFill>
                <a:latin typeface="Poppins" pitchFamily="34" charset="0"/>
                <a:ea typeface="Poppins" pitchFamily="34" charset="-122"/>
                <a:cs typeface="Poppins" pitchFamily="34" charset="-120"/>
              </a:rPr>
              <a:t>06 · quanto custa</a:t>
            </a:r>
            <a:endParaRPr lang="en-US" sz="1100" dirty="0"/>
          </a:p>
        </p:txBody>
      </p:sp>
      <p:sp>
        <p:nvSpPr>
          <p:cNvPr id="50" name="Shape 48"/>
          <p:cNvSpPr/>
          <p:nvPr/>
        </p:nvSpPr>
        <p:spPr>
          <a:xfrm>
            <a:off x="2667330" y="4603238"/>
            <a:ext cx="2421770" cy="384761"/>
          </a:xfrm>
          <a:prstGeom prst="rect">
            <a:avLst/>
          </a:prstGeom>
          <a:solidFill>
            <a:srgbClr val="1B2A4A"/>
          </a:solidFill>
          <a:ln/>
        </p:spPr>
      </p:sp>
      <p:sp>
        <p:nvSpPr>
          <p:cNvPr id="51" name="Text 49"/>
          <p:cNvSpPr txBox="1"/>
          <p:nvPr/>
        </p:nvSpPr>
        <p:spPr>
          <a:xfrm>
            <a:off x="2781627" y="4704836"/>
            <a:ext cx="2280903"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WITH, conta de KPI</a:t>
            </a:r>
            <a:endParaRPr lang="en-US" sz="1100" dirty="0"/>
          </a:p>
        </p:txBody>
      </p:sp>
      <p:sp>
        <p:nvSpPr>
          <p:cNvPr id="52" name="Shape 50"/>
          <p:cNvSpPr/>
          <p:nvPr/>
        </p:nvSpPr>
        <p:spPr>
          <a:xfrm>
            <a:off x="5089100" y="4603238"/>
            <a:ext cx="758508" cy="384761"/>
          </a:xfrm>
          <a:prstGeom prst="rect">
            <a:avLst/>
          </a:prstGeom>
          <a:solidFill>
            <a:srgbClr val="1B2A4A"/>
          </a:solidFill>
          <a:ln/>
        </p:spPr>
      </p:sp>
      <p:sp>
        <p:nvSpPr>
          <p:cNvPr id="53" name="Text 51"/>
          <p:cNvSpPr txBox="1"/>
          <p:nvPr/>
        </p:nvSpPr>
        <p:spPr>
          <a:xfrm>
            <a:off x="5203397" y="4704836"/>
            <a:ext cx="551111" cy="181566"/>
          </a:xfrm>
          <a:prstGeom prst="rect">
            <a:avLst/>
          </a:prstGeom>
          <a:noFill/>
          <a:ln/>
        </p:spPr>
        <p:txBody>
          <a:bodyPr wrap="square" lIns="0" tIns="0" rIns="0" bIns="0" rtlCol="0" anchor="t"/>
          <a:lstStyle/>
          <a:p>
            <a:pPr algn="r" indent="0" marL="0">
              <a:lnSpc>
                <a:spcPct val="111111"/>
              </a:lnSpc>
              <a:buNone/>
            </a:pPr>
            <a:r>
              <a:rPr lang="en-US" sz="1100" dirty="0">
                <a:solidFill>
                  <a:srgbClr val="F5F6FC"/>
                </a:solidFill>
                <a:latin typeface="Poppins" pitchFamily="34" charset="0"/>
                <a:ea typeface="Poppins" pitchFamily="34" charset="-122"/>
                <a:cs typeface="Poppins" pitchFamily="34" charset="-120"/>
              </a:rPr>
              <a:t>2</a:t>
            </a:r>
            <a:endParaRPr lang="en-US" sz="1100" dirty="0"/>
          </a:p>
        </p:txBody>
      </p:sp>
      <p:sp>
        <p:nvSpPr>
          <p:cNvPr id="54" name="Shape 52"/>
          <p:cNvSpPr/>
          <p:nvPr/>
        </p:nvSpPr>
        <p:spPr>
          <a:xfrm>
            <a:off x="5847608" y="4603238"/>
            <a:ext cx="5582106" cy="384761"/>
          </a:xfrm>
          <a:prstGeom prst="rect">
            <a:avLst/>
          </a:prstGeom>
          <a:solidFill>
            <a:srgbClr val="1B2A4A"/>
          </a:solidFill>
          <a:ln/>
        </p:spPr>
      </p:sp>
      <p:sp>
        <p:nvSpPr>
          <p:cNvPr id="55" name="Text 53"/>
          <p:cNvSpPr txBox="1"/>
          <p:nvPr/>
        </p:nvSpPr>
        <p:spPr>
          <a:xfrm>
            <a:off x="5961906" y="4704836"/>
            <a:ext cx="5567652" cy="181566"/>
          </a:xfrm>
          <a:prstGeom prst="rect">
            <a:avLst/>
          </a:prstGeom>
          <a:noFill/>
          <a:ln/>
        </p:spPr>
        <p:txBody>
          <a:bodyPr wrap="square" lIns="0" tIns="0" rIns="0" bIns="0" rtlCol="0" anchor="t"/>
          <a:lstStyle/>
          <a:p>
            <a:pPr algn="l" indent="0" marL="0">
              <a:lnSpc>
                <a:spcPct val="111111"/>
              </a:lnSpc>
              <a:buNone/>
            </a:pPr>
            <a:r>
              <a:rPr lang="en-US" sz="1100" b="1" dirty="0">
                <a:solidFill>
                  <a:srgbClr val="FFFFFF"/>
                </a:solidFill>
                <a:latin typeface="Poppins" pitchFamily="34" charset="0"/>
                <a:ea typeface="Poppins" pitchFamily="34" charset="-122"/>
                <a:cs typeface="Poppins" pitchFamily="34" charset="-120"/>
              </a:rPr>
              <a:t>R$ 6,47 mi</a:t>
            </a:r>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 de estouro e 4 melancias (pergunta 2)</a:t>
            </a:r>
            <a:endParaRPr lang="en-US" sz="1100" dirty="0"/>
          </a:p>
        </p:txBody>
      </p:sp>
      <p:sp>
        <p:nvSpPr>
          <p:cNvPr id="56" name="Shape 54"/>
          <p:cNvSpPr/>
          <p:nvPr/>
        </p:nvSpPr>
        <p:spPr>
          <a:xfrm>
            <a:off x="761981" y="5127695"/>
            <a:ext cx="25399" cy="495288"/>
          </a:xfrm>
          <a:prstGeom prst="rect">
            <a:avLst/>
          </a:prstGeom>
          <a:solidFill>
            <a:srgbClr val="22C2F4"/>
          </a:solidFill>
          <a:ln/>
        </p:spPr>
      </p:sp>
      <p:sp>
        <p:nvSpPr>
          <p:cNvPr id="57" name="Text 55"/>
          <p:cNvSpPr txBox="1"/>
          <p:nvPr/>
        </p:nvSpPr>
        <p:spPr>
          <a:xfrm>
            <a:off x="914377" y="5165794"/>
            <a:ext cx="10935951" cy="419090"/>
          </a:xfrm>
          <a:prstGeom prst="rect">
            <a:avLst/>
          </a:prstGeom>
          <a:noFill/>
          <a:ln/>
        </p:spPr>
        <p:txBody>
          <a:bodyPr wrap="square" lIns="0" tIns="0" rIns="0" bIns="0" rtlCol="0" anchor="t"/>
          <a:lstStyle/>
          <a:p>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Cada exemplo existe em dois notebooks: </a:t>
            </a:r>
            <a:pPr algn="l" indent="0" marL="0">
              <a:lnSpc>
                <a:spcPct val="106838"/>
              </a:lnSpc>
              <a:buNone/>
            </a:pPr>
            <a:r>
              <a:rPr lang="en-US" sz="1100" b="1" dirty="0">
                <a:solidFill>
                  <a:srgbClr val="FFFFFF"/>
                </a:solidFill>
                <a:latin typeface="Poppins" pitchFamily="34" charset="0"/>
                <a:ea typeface="Poppins" pitchFamily="34" charset="-122"/>
                <a:cs typeface="Poppins" pitchFamily="34" charset="-120"/>
              </a:rPr>
              <a:t>em branco</a:t>
            </a:r>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 (você digita) e </a:t>
            </a:r>
            <a:pPr algn="l" indent="0" marL="0">
              <a:lnSpc>
                <a:spcPct val="106838"/>
              </a:lnSpc>
              <a:buNone/>
            </a:pPr>
            <a:r>
              <a:rPr lang="en-US" sz="1100" b="1" dirty="0">
                <a:solidFill>
                  <a:srgbClr val="FFFFFF"/>
                </a:solidFill>
                <a:latin typeface="Poppins" pitchFamily="34" charset="0"/>
                <a:ea typeface="Poppins" pitchFamily="34" charset="-122"/>
                <a:cs typeface="Poppins" pitchFamily="34" charset="-120"/>
              </a:rPr>
              <a:t>resolvido</a:t>
            </a:r>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 (para conferir). Os exemplos 01 a 05 estão num arquivo só: </a:t>
            </a:r>
            <a:pPr algn="l" indent="0" marL="0">
              <a:lnSpc>
                <a:spcPct val="106838"/>
              </a:lnSpc>
              <a:buNone/>
            </a:pPr>
            <a:r>
              <a:rPr lang="en-US" sz="1100" b="1" dirty="0">
                <a:solidFill>
                  <a:srgbClr val="FFFFFF"/>
                </a:solidFill>
                <a:latin typeface="Poppins" pitchFamily="34" charset="0"/>
                <a:ea typeface="Poppins" pitchFamily="34" charset="-122"/>
                <a:cs typeface="Poppins" pitchFamily="34" charset="-120"/>
              </a:rPr>
              <a:t>exemplo-01-a-05-sql-na-bronze.sql</a:t>
            </a:r>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 Bônus, se sobrar tempo: o </a:t>
            </a:r>
            <a:pPr algn="l" indent="0" marL="0">
              <a:lnSpc>
                <a:spcPct val="106838"/>
              </a:lnSpc>
              <a:buNone/>
            </a:pPr>
            <a:r>
              <a:rPr lang="en-US" sz="1100" b="1" dirty="0">
                <a:solidFill>
                  <a:srgbClr val="FFFFFF"/>
                </a:solidFill>
                <a:latin typeface="Poppins" pitchFamily="34" charset="0"/>
                <a:ea typeface="Poppins" pitchFamily="34" charset="-122"/>
                <a:cs typeface="Poppins" pitchFamily="34" charset="-120"/>
              </a:rPr>
              <a:t>exemplo 00</a:t>
            </a:r>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 time travel.</a:t>
            </a:r>
            <a:endParaRPr lang="en-US" sz="1100" dirty="0"/>
          </a:p>
        </p:txBody>
      </p:sp>
      <p:pic>
        <p:nvPicPr>
          <p:cNvPr id="58"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59" name="Text 56"/>
          <p:cNvSpPr txBox="1"/>
          <p:nvPr/>
        </p:nvSpPr>
        <p:spPr>
          <a:xfrm>
            <a:off x="10948615" y="6387940"/>
            <a:ext cx="500344"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52 / 133</a:t>
            </a:r>
            <a:endParaRPr lang="en-US"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1 · EXEMPLO 01 · SELECT</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O que existe no catálogo,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e onde cada projeto vive?</a:t>
            </a:r>
            <a:endParaRPr lang="en-US" sz="3100" dirty="0"/>
          </a:p>
        </p:txBody>
      </p:sp>
      <p:sp>
        <p:nvSpPr>
          <p:cNvPr id="4" name="Shape 2"/>
          <p:cNvSpPr/>
          <p:nvPr/>
        </p:nvSpPr>
        <p:spPr>
          <a:xfrm>
            <a:off x="761981" y="1582301"/>
            <a:ext cx="5820622" cy="1742238"/>
          </a:xfrm>
          <a:prstGeom prst="roundRect">
            <a:avLst>
              <a:gd name="adj" fmla="val 6560"/>
            </a:avLst>
          </a:prstGeom>
          <a:solidFill>
            <a:srgbClr val="0C0C10"/>
          </a:solidFill>
          <a:ln w="6350">
            <a:solidFill>
              <a:srgbClr val="2F2F39"/>
            </a:solidFill>
            <a:prstDash val="solid"/>
          </a:ln>
        </p:spPr>
      </p:sp>
      <p:sp>
        <p:nvSpPr>
          <p:cNvPr id="5" name="Text 3"/>
          <p:cNvSpPr txBox="1"/>
          <p:nvPr/>
        </p:nvSpPr>
        <p:spPr>
          <a:xfrm>
            <a:off x="958826" y="1753747"/>
            <a:ext cx="5650613" cy="1405696"/>
          </a:xfrm>
          <a:prstGeom prst="rect">
            <a:avLst/>
          </a:prstGeom>
          <a:noFill/>
          <a:ln/>
        </p:spPr>
        <p:txBody>
          <a:bodyPr wrap="square" lIns="0" tIns="0" rIns="0" bIns="0" rtlCol="0" anchor="t"/>
          <a:lstStyle/>
          <a:p>
            <a:pPr algn="l" indent="0" marL="0">
              <a:lnSpc>
                <a:spcPct val="123932"/>
              </a:lnSpc>
              <a:buNone/>
            </a:pPr>
            <a:r>
              <a:rPr lang="en-US" sz="950" dirty="0">
                <a:solidFill>
                  <a:srgbClr val="6E7180"/>
                </a:solidFill>
                <a:latin typeface="Courier New" pitchFamily="34" charset="0"/>
                <a:ea typeface="Courier New" pitchFamily="34" charset="-122"/>
                <a:cs typeface="Courier New" pitchFamily="34" charset="-120"/>
              </a:rPr>
              <a:t>-- 1. a primeira olhada</a:t>
            </a:r>
            <a:pPr algn="l" indent="0" marL="0">
              <a:lnSpc>
                <a:spcPct val="123932"/>
              </a:lnSpc>
              <a:buNone/>
            </a:pPr>
            <a:endParaRPr lang="en-US" sz="950" dirty="0"/>
          </a:p>
          <a:p>
            <a:pPr algn="l" indent="0" marL="0">
              <a:lnSpc>
                <a:spcPct val="123932"/>
              </a:lnSpc>
              <a:buNone/>
            </a:pP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SELECT</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a:t>
            </a:r>
            <a:endParaRPr lang="en-US" sz="950" dirty="0"/>
          </a:p>
          <a:p>
            <a:pPr algn="l" indent="0" marL="0">
              <a:lnSpc>
                <a:spcPct val="123932"/>
              </a:lnSpc>
              <a:buNone/>
            </a:pP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FROM</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lakehouse_vertice.bronze.projetos</a:t>
            </a:r>
            <a:endParaRPr lang="en-US" sz="950" dirty="0"/>
          </a:p>
          <a:p>
            <a:pPr algn="l" indent="0" marL="0">
              <a:lnSpc>
                <a:spcPct val="123932"/>
              </a:lnSpc>
              <a:buNone/>
            </a:pP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LIMIT</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10;</a:t>
            </a:r>
            <a:endParaRPr lang="en-US" sz="950" dirty="0"/>
          </a:p>
          <a:p>
            <a:pPr algn="l" indent="0" marL="0">
              <a:lnSpc>
                <a:spcPct val="123932"/>
              </a:lnSpc>
              <a:buNone/>
            </a:pPr>
            <a:endParaRPr lang="en-US" sz="950" dirty="0"/>
          </a:p>
          <a:p>
            <a:pPr algn="l" indent="0" marL="0">
              <a:lnSpc>
                <a:spcPct val="123932"/>
              </a:lnSpc>
              <a:buNone/>
            </a:pPr>
            <a:pPr algn="l" indent="0" marL="0">
              <a:lnSpc>
                <a:spcPct val="123932"/>
              </a:lnSpc>
              <a:buNone/>
            </a:pPr>
            <a:r>
              <a:rPr lang="en-US" sz="950" dirty="0">
                <a:solidFill>
                  <a:srgbClr val="6E7180"/>
                </a:solidFill>
                <a:latin typeface="Courier New" pitchFamily="34" charset="0"/>
                <a:ea typeface="Courier New" pitchFamily="34" charset="-122"/>
                <a:cs typeface="Courier New" pitchFamily="34" charset="-120"/>
              </a:rPr>
              <a:t>-- 2. quantos projetos?</a:t>
            </a:r>
            <a:pPr algn="l" indent="0" marL="0">
              <a:lnSpc>
                <a:spcPct val="123932"/>
              </a:lnSpc>
              <a:buNone/>
            </a:pPr>
            <a:endParaRPr lang="en-US" sz="950" dirty="0"/>
          </a:p>
          <a:p>
            <a:pPr algn="l" indent="0" marL="0">
              <a:lnSpc>
                <a:spcPct val="123932"/>
              </a:lnSpc>
              <a:buNone/>
            </a:pP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SELECT COUNT</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a:t>
            </a: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AS</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projetos</a:t>
            </a:r>
            <a:endParaRPr lang="en-US" sz="950" dirty="0"/>
          </a:p>
          <a:p>
            <a:pPr algn="l" indent="0" marL="0">
              <a:lnSpc>
                <a:spcPct val="123932"/>
              </a:lnSpc>
              <a:buNone/>
            </a:pP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FROM</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lakehouse_vertice.bronze.projetos;</a:t>
            </a:r>
            <a:endParaRPr lang="en-US" sz="950" dirty="0"/>
          </a:p>
        </p:txBody>
      </p:sp>
      <p:sp>
        <p:nvSpPr>
          <p:cNvPr id="6" name="Shape 4"/>
          <p:cNvSpPr/>
          <p:nvPr/>
        </p:nvSpPr>
        <p:spPr>
          <a:xfrm>
            <a:off x="6773098" y="1582301"/>
            <a:ext cx="4656517" cy="1217780"/>
          </a:xfrm>
          <a:prstGeom prst="roundRect">
            <a:avLst>
              <a:gd name="adj" fmla="val 12514"/>
            </a:avLst>
          </a:prstGeom>
          <a:solidFill>
            <a:srgbClr val="1E1E24"/>
          </a:solidFill>
          <a:ln w="6350">
            <a:solidFill>
              <a:srgbClr val="2F2F39"/>
            </a:solidFill>
            <a:prstDash val="solid"/>
          </a:ln>
        </p:spPr>
      </p:sp>
      <p:sp>
        <p:nvSpPr>
          <p:cNvPr id="7" name="Shape 5"/>
          <p:cNvSpPr/>
          <p:nvPr/>
        </p:nvSpPr>
        <p:spPr>
          <a:xfrm>
            <a:off x="6995342" y="1779146"/>
            <a:ext cx="702451" cy="247644"/>
          </a:xfrm>
          <a:prstGeom prst="roundRect">
            <a:avLst>
              <a:gd name="adj" fmla="val 50000"/>
            </a:avLst>
          </a:prstGeom>
          <a:solidFill>
            <a:srgbClr val="22C2F4">
              <a:alpha val="14000"/>
            </a:srgbClr>
          </a:solidFill>
          <a:ln/>
        </p:spPr>
      </p:sp>
      <p:sp>
        <p:nvSpPr>
          <p:cNvPr id="8" name="Text 6"/>
          <p:cNvSpPr txBox="1"/>
          <p:nvPr/>
        </p:nvSpPr>
        <p:spPr>
          <a:xfrm>
            <a:off x="7084240" y="1817245"/>
            <a:ext cx="545642"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Conceito</a:t>
            </a:r>
            <a:endParaRPr lang="en-US" sz="900" dirty="0"/>
          </a:p>
        </p:txBody>
      </p:sp>
      <p:sp>
        <p:nvSpPr>
          <p:cNvPr id="9" name="Text 7"/>
          <p:cNvSpPr txBox="1"/>
          <p:nvPr/>
        </p:nvSpPr>
        <p:spPr>
          <a:xfrm>
            <a:off x="6995342" y="2191886"/>
            <a:ext cx="4380509" cy="411351"/>
          </a:xfrm>
          <a:prstGeom prst="rect">
            <a:avLst/>
          </a:prstGeom>
          <a:noFill/>
          <a:ln/>
        </p:spPr>
        <p:txBody>
          <a:bodyPr wrap="square" lIns="0" tIns="0" rIns="0" bIns="0" rtlCol="0" anchor="t"/>
          <a:lstStyle/>
          <a:p>
            <a:pPr algn="l" indent="0" marL="0">
              <a:lnSpc>
                <a:spcPct val="115385"/>
              </a:lnSpc>
              <a:buNone/>
            </a:pPr>
            <a:r>
              <a:rPr lang="en-US" sz="1200" dirty="0">
                <a:solidFill>
                  <a:srgbClr val="FFFFFF"/>
                </a:solidFill>
                <a:latin typeface="Poppins" pitchFamily="34" charset="0"/>
                <a:ea typeface="Poppins" pitchFamily="34" charset="-122"/>
                <a:cs typeface="Poppins" pitchFamily="34" charset="-120"/>
              </a:rPr>
              <a:t>SELECT, FROM, LIMIT, COUNT(*). Antes de calcular qualquer KPI, olhe o dado. Sempre.</a:t>
            </a:r>
            <a:endParaRPr lang="en-US" sz="1200" dirty="0"/>
          </a:p>
        </p:txBody>
      </p:sp>
      <p:sp>
        <p:nvSpPr>
          <p:cNvPr id="10" name="Shape 8"/>
          <p:cNvSpPr/>
          <p:nvPr/>
        </p:nvSpPr>
        <p:spPr>
          <a:xfrm>
            <a:off x="6773098" y="2939778"/>
            <a:ext cx="4656517" cy="1499654"/>
          </a:xfrm>
          <a:prstGeom prst="roundRect">
            <a:avLst>
              <a:gd name="adj" fmla="val 10162"/>
            </a:avLst>
          </a:prstGeom>
          <a:solidFill>
            <a:srgbClr val="0059DB"/>
          </a:solidFill>
          <a:ln/>
        </p:spPr>
      </p:sp>
      <p:sp>
        <p:nvSpPr>
          <p:cNvPr id="11" name="Shape 9"/>
          <p:cNvSpPr/>
          <p:nvPr/>
        </p:nvSpPr>
        <p:spPr>
          <a:xfrm>
            <a:off x="6995342" y="3136623"/>
            <a:ext cx="1034032" cy="247644"/>
          </a:xfrm>
          <a:prstGeom prst="roundRect">
            <a:avLst>
              <a:gd name="adj" fmla="val 50000"/>
            </a:avLst>
          </a:prstGeom>
          <a:solidFill>
            <a:srgbClr val="FFFFFF">
              <a:alpha val="16000"/>
            </a:srgbClr>
          </a:solidFill>
          <a:ln/>
        </p:spPr>
      </p:sp>
      <p:sp>
        <p:nvSpPr>
          <p:cNvPr id="12" name="Text 10"/>
          <p:cNvSpPr txBox="1"/>
          <p:nvPr/>
        </p:nvSpPr>
        <p:spPr>
          <a:xfrm>
            <a:off x="7084240" y="3174722"/>
            <a:ext cx="890486"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O que aparece</a:t>
            </a:r>
            <a:endParaRPr lang="en-US" sz="900" dirty="0"/>
          </a:p>
        </p:txBody>
      </p:sp>
      <p:sp>
        <p:nvSpPr>
          <p:cNvPr id="13" name="Shape 11"/>
          <p:cNvSpPr/>
          <p:nvPr/>
        </p:nvSpPr>
        <p:spPr>
          <a:xfrm>
            <a:off x="6995342" y="3555713"/>
            <a:ext cx="76198" cy="76198"/>
          </a:xfrm>
          <a:prstGeom prst="roundRect">
            <a:avLst>
              <a:gd name="adj" fmla="val 25000"/>
            </a:avLst>
          </a:prstGeom>
          <a:solidFill>
            <a:srgbClr val="22C2F4"/>
          </a:solidFill>
          <a:ln/>
        </p:spPr>
      </p:sp>
      <p:sp>
        <p:nvSpPr>
          <p:cNvPr id="14" name="Text 12"/>
          <p:cNvSpPr txBox="1"/>
          <p:nvPr/>
        </p:nvSpPr>
        <p:spPr>
          <a:xfrm>
            <a:off x="7185838" y="3473165"/>
            <a:ext cx="4182394"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cliente, valor, prazo e a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ferramenta</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de cada projeto</a:t>
            </a:r>
            <a:endParaRPr lang="en-US" sz="1200" dirty="0"/>
          </a:p>
        </p:txBody>
      </p:sp>
      <p:sp>
        <p:nvSpPr>
          <p:cNvPr id="15" name="Shape 13"/>
          <p:cNvSpPr/>
          <p:nvPr/>
        </p:nvSpPr>
        <p:spPr>
          <a:xfrm>
            <a:off x="6995342" y="3837586"/>
            <a:ext cx="76198" cy="76198"/>
          </a:xfrm>
          <a:prstGeom prst="roundRect">
            <a:avLst>
              <a:gd name="adj" fmla="val 25000"/>
            </a:avLst>
          </a:prstGeom>
          <a:solidFill>
            <a:srgbClr val="22C2F4"/>
          </a:solidFill>
          <a:ln/>
        </p:spPr>
      </p:sp>
      <p:sp>
        <p:nvSpPr>
          <p:cNvPr id="16" name="Text 14"/>
          <p:cNvSpPr txBox="1"/>
          <p:nvPr/>
        </p:nvSpPr>
        <p:spPr>
          <a:xfrm>
            <a:off x="7185838" y="3755038"/>
            <a:ext cx="4182394" cy="205675"/>
          </a:xfrm>
          <a:prstGeom prst="rect">
            <a:avLst/>
          </a:prstGeom>
          <a:noFill/>
          <a:ln/>
        </p:spPr>
        <p:txBody>
          <a:bodyPr wrap="square" lIns="0" tIns="0" rIns="0" bIns="0" rtlCol="0" anchor="t"/>
          <a:lstStyle/>
          <a:p>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60</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projetos</a:t>
            </a:r>
            <a:endParaRPr lang="en-US" sz="1200" dirty="0"/>
          </a:p>
        </p:txBody>
      </p:sp>
      <p:sp>
        <p:nvSpPr>
          <p:cNvPr id="17" name="Shape 15"/>
          <p:cNvSpPr/>
          <p:nvPr/>
        </p:nvSpPr>
        <p:spPr>
          <a:xfrm>
            <a:off x="6995342" y="4119460"/>
            <a:ext cx="76198" cy="76198"/>
          </a:xfrm>
          <a:prstGeom prst="roundRect">
            <a:avLst>
              <a:gd name="adj" fmla="val 25000"/>
            </a:avLst>
          </a:prstGeom>
          <a:solidFill>
            <a:srgbClr val="22C2F4"/>
          </a:solidFill>
          <a:ln/>
        </p:spPr>
      </p:sp>
      <p:sp>
        <p:nvSpPr>
          <p:cNvPr id="18" name="Text 16"/>
          <p:cNvSpPr txBox="1"/>
          <p:nvPr/>
        </p:nvSpPr>
        <p:spPr>
          <a:xfrm>
            <a:off x="7185838" y="4036912"/>
            <a:ext cx="4182394"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a ferramenta já aparece escrita de jeitos diferentes</a:t>
            </a:r>
            <a:endParaRPr lang="en-US" sz="1200" dirty="0"/>
          </a:p>
        </p:txBody>
      </p:sp>
      <p:sp>
        <p:nvSpPr>
          <p:cNvPr id="19" name="Shape 17"/>
          <p:cNvSpPr/>
          <p:nvPr/>
        </p:nvSpPr>
        <p:spPr>
          <a:xfrm>
            <a:off x="761981" y="4579128"/>
            <a:ext cx="25399" cy="285743"/>
          </a:xfrm>
          <a:prstGeom prst="rect">
            <a:avLst/>
          </a:prstGeom>
          <a:solidFill>
            <a:srgbClr val="22C2F4"/>
          </a:solidFill>
          <a:ln/>
        </p:spPr>
      </p:sp>
      <p:sp>
        <p:nvSpPr>
          <p:cNvPr id="20" name="Text 18"/>
          <p:cNvSpPr txBox="1"/>
          <p:nvPr/>
        </p:nvSpPr>
        <p:spPr>
          <a:xfrm>
            <a:off x="914377" y="4617228"/>
            <a:ext cx="10935951" cy="209545"/>
          </a:xfrm>
          <a:prstGeom prst="rect">
            <a:avLst/>
          </a:prstGeom>
          <a:noFill/>
          <a:ln/>
        </p:spPr>
        <p:txBody>
          <a:bodyPr wrap="square" lIns="0" tIns="0" rIns="0" bIns="0" rtlCol="0" anchor="t"/>
          <a:lstStyle/>
          <a:p>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Arquivo: </a:t>
            </a:r>
            <a:pPr algn="l" indent="0" marL="0">
              <a:lnSpc>
                <a:spcPct val="106838"/>
              </a:lnSpc>
              <a:buNone/>
            </a:pPr>
            <a:r>
              <a:rPr lang="en-US" sz="1100" b="1" dirty="0">
                <a:solidFill>
                  <a:srgbClr val="FFFFFF"/>
                </a:solidFill>
                <a:latin typeface="Poppins" pitchFamily="34" charset="0"/>
                <a:ea typeface="Poppins" pitchFamily="34" charset="-122"/>
                <a:cs typeface="Poppins" pitchFamily="34" charset="-120"/>
              </a:rPr>
              <a:t>exemplo-01-a-05-sql-na-bronze.sql</a:t>
            </a:r>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 no GitHub (os exemplos 01 a 05 estão nele). Copie, cole no SQL Editor e rode bloco a bloco.</a:t>
            </a:r>
            <a:endParaRPr lang="en-US" sz="1100" dirty="0"/>
          </a:p>
        </p:txBody>
      </p:sp>
      <p:pic>
        <p:nvPicPr>
          <p:cNvPr id="21"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22" name="Text 19"/>
          <p:cNvSpPr txBox="1"/>
          <p:nvPr/>
        </p:nvSpPr>
        <p:spPr>
          <a:xfrm>
            <a:off x="10946432" y="6387940"/>
            <a:ext cx="502614"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53 / 133</a:t>
            </a:r>
            <a:endParaRPr lang="en-US" sz="1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1 · EXEMPLO 02 · ORDER BY, DISTINCT E CAST</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Quais são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os maiores contratos?</a:t>
            </a:r>
            <a:endParaRPr lang="en-US" sz="3100" dirty="0"/>
          </a:p>
        </p:txBody>
      </p:sp>
      <p:sp>
        <p:nvSpPr>
          <p:cNvPr id="4" name="Shape 2"/>
          <p:cNvSpPr/>
          <p:nvPr/>
        </p:nvSpPr>
        <p:spPr>
          <a:xfrm>
            <a:off x="761981" y="1582301"/>
            <a:ext cx="5820622" cy="2616829"/>
          </a:xfrm>
          <a:prstGeom prst="roundRect">
            <a:avLst>
              <a:gd name="adj" fmla="val 4368"/>
            </a:avLst>
          </a:prstGeom>
          <a:solidFill>
            <a:srgbClr val="0C0C10"/>
          </a:solidFill>
          <a:ln w="6350">
            <a:solidFill>
              <a:srgbClr val="2F2F39"/>
            </a:solidFill>
            <a:prstDash val="solid"/>
          </a:ln>
        </p:spPr>
      </p:sp>
      <p:sp>
        <p:nvSpPr>
          <p:cNvPr id="5" name="Text 3"/>
          <p:cNvSpPr txBox="1"/>
          <p:nvPr/>
        </p:nvSpPr>
        <p:spPr>
          <a:xfrm>
            <a:off x="958826" y="1753747"/>
            <a:ext cx="5650613" cy="2280288"/>
          </a:xfrm>
          <a:prstGeom prst="rect">
            <a:avLst/>
          </a:prstGeom>
          <a:noFill/>
          <a:ln/>
        </p:spPr>
        <p:txBody>
          <a:bodyPr wrap="square" lIns="0" tIns="0" rIns="0" bIns="0" rtlCol="0" anchor="t"/>
          <a:lstStyle/>
          <a:p>
            <a:pPr algn="l" indent="0" marL="0">
              <a:lnSpc>
                <a:spcPct val="123932"/>
              </a:lnSpc>
              <a:buNone/>
            </a:pPr>
            <a:r>
              <a:rPr lang="en-US" sz="950" dirty="0">
                <a:solidFill>
                  <a:srgbClr val="6E7180"/>
                </a:solidFill>
                <a:latin typeface="Courier New" pitchFamily="34" charset="0"/>
                <a:ea typeface="Courier New" pitchFamily="34" charset="-122"/>
                <a:cs typeface="Courier New" pitchFamily="34" charset="-120"/>
              </a:rPr>
              <a:t>-- 1. a armadilha: ordenar texto</a:t>
            </a:r>
            <a:pPr algn="l" indent="0" marL="0">
              <a:lnSpc>
                <a:spcPct val="123932"/>
              </a:lnSpc>
              <a:buNone/>
            </a:pPr>
            <a:endParaRPr lang="en-US" sz="950" dirty="0"/>
          </a:p>
          <a:p>
            <a:pPr algn="l" indent="0" marL="0">
              <a:lnSpc>
                <a:spcPct val="123932"/>
              </a:lnSpc>
              <a:buNone/>
            </a:pP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SELECT</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projeto_id, valor_contrato</a:t>
            </a:r>
            <a:endParaRPr lang="en-US" sz="950" dirty="0"/>
          </a:p>
          <a:p>
            <a:pPr algn="l" indent="0" marL="0">
              <a:lnSpc>
                <a:spcPct val="123932"/>
              </a:lnSpc>
              <a:buNone/>
            </a:pP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FROM</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bronze.projetos</a:t>
            </a:r>
            <a:endParaRPr lang="en-US" sz="950" dirty="0"/>
          </a:p>
          <a:p>
            <a:pPr algn="l" indent="0" marL="0">
              <a:lnSpc>
                <a:spcPct val="123932"/>
              </a:lnSpc>
              <a:buNone/>
            </a:pP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ORDER BY</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valor_contrato </a:t>
            </a: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DESC</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a:t>
            </a:r>
            <a:pPr algn="l" indent="0" marL="0">
              <a:lnSpc>
                <a:spcPct val="123932"/>
              </a:lnSpc>
              <a:buNone/>
            </a:pPr>
            <a:r>
              <a:rPr lang="en-US" sz="950" dirty="0">
                <a:solidFill>
                  <a:srgbClr val="6E7180"/>
                </a:solidFill>
                <a:latin typeface="Courier New" pitchFamily="34" charset="0"/>
                <a:ea typeface="Courier New" pitchFamily="34" charset="-122"/>
                <a:cs typeface="Courier New" pitchFamily="34" charset="-120"/>
              </a:rPr>
              <a:t>-- PRJ-052 em 1º?</a:t>
            </a:r>
            <a:pPr algn="l" indent="0" marL="0">
              <a:lnSpc>
                <a:spcPct val="123932"/>
              </a:lnSpc>
              <a:buNone/>
            </a:pPr>
            <a:endParaRPr lang="en-US" sz="950" dirty="0"/>
          </a:p>
          <a:p>
            <a:pPr algn="l" indent="0" marL="0">
              <a:lnSpc>
                <a:spcPct val="123932"/>
              </a:lnSpc>
              <a:buNone/>
            </a:pPr>
            <a:endParaRPr lang="en-US" sz="950" dirty="0"/>
          </a:p>
          <a:p>
            <a:pPr algn="l" indent="0" marL="0">
              <a:lnSpc>
                <a:spcPct val="123932"/>
              </a:lnSpc>
              <a:buNone/>
            </a:pPr>
            <a:pPr algn="l" indent="0" marL="0">
              <a:lnSpc>
                <a:spcPct val="123932"/>
              </a:lnSpc>
              <a:buNone/>
            </a:pPr>
            <a:r>
              <a:rPr lang="en-US" sz="950" dirty="0">
                <a:solidFill>
                  <a:srgbClr val="6E7180"/>
                </a:solidFill>
                <a:latin typeface="Courier New" pitchFamily="34" charset="0"/>
                <a:ea typeface="Courier New" pitchFamily="34" charset="-122"/>
                <a:cs typeface="Courier New" pitchFamily="34" charset="-120"/>
              </a:rPr>
              <a:t>-- 2. com CAST, ordena como número</a:t>
            </a:r>
            <a:pPr algn="l" indent="0" marL="0">
              <a:lnSpc>
                <a:spcPct val="123932"/>
              </a:lnSpc>
              <a:buNone/>
            </a:pPr>
            <a:endParaRPr lang="en-US" sz="950" dirty="0"/>
          </a:p>
          <a:p>
            <a:pPr algn="l" indent="0" marL="0">
              <a:lnSpc>
                <a:spcPct val="123932"/>
              </a:lnSpc>
              <a:buNone/>
            </a:pP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SELECT</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projeto_id,</a:t>
            </a:r>
            <a:endParaRPr lang="en-US" sz="950" dirty="0"/>
          </a:p>
          <a:p>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a:t>
            </a: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CAST</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(valor_contrato </a:t>
            </a: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AS DECIMAL</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(18,2)) </a:t>
            </a: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AS</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valor_numero</a:t>
            </a:r>
            <a:endParaRPr lang="en-US" sz="950" dirty="0"/>
          </a:p>
          <a:p>
            <a:pPr algn="l" indent="0" marL="0">
              <a:lnSpc>
                <a:spcPct val="123932"/>
              </a:lnSpc>
              <a:buNone/>
            </a:pP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FROM</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bronze.projetos</a:t>
            </a:r>
            <a:endParaRPr lang="en-US" sz="950" dirty="0"/>
          </a:p>
          <a:p>
            <a:pPr algn="l" indent="0" marL="0">
              <a:lnSpc>
                <a:spcPct val="123932"/>
              </a:lnSpc>
              <a:buNone/>
            </a:pP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ORDER BY</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valor_numero </a:t>
            </a: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DESC</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a:t>
            </a:r>
            <a:pPr algn="l" indent="0" marL="0">
              <a:lnSpc>
                <a:spcPct val="123932"/>
              </a:lnSpc>
              <a:buNone/>
            </a:pPr>
            <a:r>
              <a:rPr lang="en-US" sz="950" dirty="0">
                <a:solidFill>
                  <a:srgbClr val="6E7180"/>
                </a:solidFill>
                <a:latin typeface="Courier New" pitchFamily="34" charset="0"/>
                <a:ea typeface="Courier New" pitchFamily="34" charset="-122"/>
                <a:cs typeface="Courier New" pitchFamily="34" charset="-120"/>
              </a:rPr>
              <a:t>-- PRJ-017</a:t>
            </a:r>
            <a:pPr algn="l" indent="0" marL="0">
              <a:lnSpc>
                <a:spcPct val="123932"/>
              </a:lnSpc>
              <a:buNone/>
            </a:pPr>
            <a:endParaRPr lang="en-US" sz="950" dirty="0"/>
          </a:p>
          <a:p>
            <a:pPr algn="l" indent="0" marL="0">
              <a:lnSpc>
                <a:spcPct val="123932"/>
              </a:lnSpc>
              <a:buNone/>
            </a:pPr>
            <a:endParaRPr lang="en-US" sz="950" dirty="0"/>
          </a:p>
          <a:p>
            <a:pPr algn="l" indent="0" marL="0">
              <a:lnSpc>
                <a:spcPct val="123932"/>
              </a:lnSpc>
              <a:buNone/>
            </a:pPr>
            <a:pPr algn="l" indent="0" marL="0">
              <a:lnSpc>
                <a:spcPct val="123932"/>
              </a:lnSpc>
              <a:buNone/>
            </a:pPr>
            <a:r>
              <a:rPr lang="en-US" sz="950" dirty="0">
                <a:solidFill>
                  <a:srgbClr val="6E7180"/>
                </a:solidFill>
                <a:latin typeface="Courier New" pitchFamily="34" charset="0"/>
                <a:ea typeface="Courier New" pitchFamily="34" charset="-122"/>
                <a:cs typeface="Courier New" pitchFamily="34" charset="-120"/>
              </a:rPr>
              <a:t>-- 3. sem repetição</a:t>
            </a:r>
            <a:pPr algn="l" indent="0" marL="0">
              <a:lnSpc>
                <a:spcPct val="123932"/>
              </a:lnSpc>
              <a:buNone/>
            </a:pPr>
            <a:endParaRPr lang="en-US" sz="950" dirty="0"/>
          </a:p>
          <a:p>
            <a:pPr algn="l" indent="0" marL="0">
              <a:lnSpc>
                <a:spcPct val="123932"/>
              </a:lnSpc>
              <a:buNone/>
            </a:pP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SELECT DISTINCT</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ferramenta </a:t>
            </a: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FROM</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bronze.projetos;</a:t>
            </a:r>
            <a:endParaRPr lang="en-US" sz="950" dirty="0"/>
          </a:p>
        </p:txBody>
      </p:sp>
      <p:sp>
        <p:nvSpPr>
          <p:cNvPr id="6" name="Shape 4"/>
          <p:cNvSpPr/>
          <p:nvPr/>
        </p:nvSpPr>
        <p:spPr>
          <a:xfrm>
            <a:off x="6773098" y="1582301"/>
            <a:ext cx="4656517" cy="1423456"/>
          </a:xfrm>
          <a:prstGeom prst="roundRect">
            <a:avLst>
              <a:gd name="adj" fmla="val 10706"/>
            </a:avLst>
          </a:prstGeom>
          <a:solidFill>
            <a:srgbClr val="1E1E24"/>
          </a:solidFill>
          <a:ln w="6350">
            <a:solidFill>
              <a:srgbClr val="2F2F39"/>
            </a:solidFill>
            <a:prstDash val="solid"/>
          </a:ln>
        </p:spPr>
      </p:sp>
      <p:sp>
        <p:nvSpPr>
          <p:cNvPr id="7" name="Shape 5"/>
          <p:cNvSpPr/>
          <p:nvPr/>
        </p:nvSpPr>
        <p:spPr>
          <a:xfrm>
            <a:off x="6995342" y="1779146"/>
            <a:ext cx="702451" cy="247644"/>
          </a:xfrm>
          <a:prstGeom prst="roundRect">
            <a:avLst>
              <a:gd name="adj" fmla="val 50000"/>
            </a:avLst>
          </a:prstGeom>
          <a:solidFill>
            <a:srgbClr val="22C2F4">
              <a:alpha val="14000"/>
            </a:srgbClr>
          </a:solidFill>
          <a:ln/>
        </p:spPr>
      </p:sp>
      <p:sp>
        <p:nvSpPr>
          <p:cNvPr id="8" name="Text 6"/>
          <p:cNvSpPr txBox="1"/>
          <p:nvPr/>
        </p:nvSpPr>
        <p:spPr>
          <a:xfrm>
            <a:off x="7084240" y="1817245"/>
            <a:ext cx="545642"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Conceito</a:t>
            </a:r>
            <a:endParaRPr lang="en-US" sz="900" dirty="0"/>
          </a:p>
        </p:txBody>
      </p:sp>
      <p:sp>
        <p:nvSpPr>
          <p:cNvPr id="9" name="Text 7"/>
          <p:cNvSpPr txBox="1"/>
          <p:nvPr/>
        </p:nvSpPr>
        <p:spPr>
          <a:xfrm>
            <a:off x="6995342" y="2191886"/>
            <a:ext cx="4380509" cy="617026"/>
          </a:xfrm>
          <a:prstGeom prst="rect">
            <a:avLst/>
          </a:prstGeom>
          <a:noFill/>
          <a:ln/>
        </p:spPr>
        <p:txBody>
          <a:bodyPr wrap="square" lIns="0" tIns="0" rIns="0" bIns="0" rtlCol="0" anchor="t"/>
          <a:lstStyle/>
          <a:p>
            <a:pPr algn="l" indent="0" marL="0">
              <a:lnSpc>
                <a:spcPct val="115385"/>
              </a:lnSpc>
              <a:buNone/>
            </a:pPr>
            <a:r>
              <a:rPr lang="en-US" sz="1200" dirty="0">
                <a:solidFill>
                  <a:srgbClr val="FFFFFF"/>
                </a:solidFill>
                <a:latin typeface="Poppins" pitchFamily="34" charset="0"/>
                <a:ea typeface="Poppins" pitchFamily="34" charset="-122"/>
                <a:cs typeface="Poppins" pitchFamily="34" charset="-120"/>
              </a:rPr>
              <a:t>Na bronze tudo é texto: sem CAST, ORDER BY ordena como palavra, e '8380000' passa na frente de '15275000'.</a:t>
            </a:r>
            <a:endParaRPr lang="en-US" sz="1200" dirty="0"/>
          </a:p>
        </p:txBody>
      </p:sp>
      <p:sp>
        <p:nvSpPr>
          <p:cNvPr id="10" name="Shape 8"/>
          <p:cNvSpPr/>
          <p:nvPr/>
        </p:nvSpPr>
        <p:spPr>
          <a:xfrm>
            <a:off x="6773098" y="3145453"/>
            <a:ext cx="4656517" cy="1629131"/>
          </a:xfrm>
          <a:prstGeom prst="roundRect">
            <a:avLst>
              <a:gd name="adj" fmla="val 9354"/>
            </a:avLst>
          </a:prstGeom>
          <a:solidFill>
            <a:srgbClr val="0059DB"/>
          </a:solidFill>
          <a:ln/>
        </p:spPr>
      </p:sp>
      <p:sp>
        <p:nvSpPr>
          <p:cNvPr id="11" name="Shape 9"/>
          <p:cNvSpPr/>
          <p:nvPr/>
        </p:nvSpPr>
        <p:spPr>
          <a:xfrm>
            <a:off x="6995342" y="3342298"/>
            <a:ext cx="1034032" cy="247644"/>
          </a:xfrm>
          <a:prstGeom prst="roundRect">
            <a:avLst>
              <a:gd name="adj" fmla="val 50000"/>
            </a:avLst>
          </a:prstGeom>
          <a:solidFill>
            <a:srgbClr val="FFFFFF">
              <a:alpha val="16000"/>
            </a:srgbClr>
          </a:solidFill>
          <a:ln/>
        </p:spPr>
      </p:sp>
      <p:sp>
        <p:nvSpPr>
          <p:cNvPr id="12" name="Text 10"/>
          <p:cNvSpPr txBox="1"/>
          <p:nvPr/>
        </p:nvSpPr>
        <p:spPr>
          <a:xfrm>
            <a:off x="7084240" y="3380398"/>
            <a:ext cx="890486"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O que aparece</a:t>
            </a:r>
            <a:endParaRPr lang="en-US" sz="900" dirty="0"/>
          </a:p>
        </p:txBody>
      </p:sp>
      <p:sp>
        <p:nvSpPr>
          <p:cNvPr id="13" name="Shape 11"/>
          <p:cNvSpPr/>
          <p:nvPr/>
        </p:nvSpPr>
        <p:spPr>
          <a:xfrm>
            <a:off x="6995342" y="3761388"/>
            <a:ext cx="76198" cy="76198"/>
          </a:xfrm>
          <a:prstGeom prst="roundRect">
            <a:avLst>
              <a:gd name="adj" fmla="val 25000"/>
            </a:avLst>
          </a:prstGeom>
          <a:solidFill>
            <a:srgbClr val="22C2F4"/>
          </a:solidFill>
          <a:ln/>
        </p:spPr>
      </p:sp>
      <p:sp>
        <p:nvSpPr>
          <p:cNvPr id="14" name="Text 12"/>
          <p:cNvSpPr txBox="1"/>
          <p:nvPr/>
        </p:nvSpPr>
        <p:spPr>
          <a:xfrm>
            <a:off x="7185838" y="3678840"/>
            <a:ext cx="4182394"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maior contrato de verdade: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PRJ-017, R$ 15,3 mi</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(o texto dizia PRJ-052)</a:t>
            </a:r>
            <a:endParaRPr lang="en-US" sz="1200" dirty="0"/>
          </a:p>
        </p:txBody>
      </p:sp>
      <p:sp>
        <p:nvSpPr>
          <p:cNvPr id="15" name="Shape 13"/>
          <p:cNvSpPr/>
          <p:nvPr/>
        </p:nvSpPr>
        <p:spPr>
          <a:xfrm>
            <a:off x="6995342" y="4248937"/>
            <a:ext cx="76198" cy="76198"/>
          </a:xfrm>
          <a:prstGeom prst="roundRect">
            <a:avLst>
              <a:gd name="adj" fmla="val 25000"/>
            </a:avLst>
          </a:prstGeom>
          <a:solidFill>
            <a:srgbClr val="22C2F4"/>
          </a:solidFill>
          <a:ln/>
        </p:spPr>
      </p:sp>
      <p:sp>
        <p:nvSpPr>
          <p:cNvPr id="16" name="Text 14"/>
          <p:cNvSpPr txBox="1"/>
          <p:nvPr/>
        </p:nvSpPr>
        <p:spPr>
          <a:xfrm>
            <a:off x="7185838" y="4166389"/>
            <a:ext cx="4182394"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a ferramenta escrita de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8 jeitos</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Excel, excel, Planilha, ClickUp, Clickup…</a:t>
            </a:r>
            <a:endParaRPr lang="en-US" sz="1200" dirty="0"/>
          </a:p>
        </p:txBody>
      </p:sp>
      <p:sp>
        <p:nvSpPr>
          <p:cNvPr id="17" name="Shape 15"/>
          <p:cNvSpPr/>
          <p:nvPr/>
        </p:nvSpPr>
        <p:spPr>
          <a:xfrm>
            <a:off x="761981" y="4914281"/>
            <a:ext cx="25399" cy="285743"/>
          </a:xfrm>
          <a:prstGeom prst="rect">
            <a:avLst/>
          </a:prstGeom>
          <a:solidFill>
            <a:srgbClr val="22C2F4"/>
          </a:solidFill>
          <a:ln/>
        </p:spPr>
      </p:sp>
      <p:sp>
        <p:nvSpPr>
          <p:cNvPr id="18" name="Text 16"/>
          <p:cNvSpPr txBox="1"/>
          <p:nvPr/>
        </p:nvSpPr>
        <p:spPr>
          <a:xfrm>
            <a:off x="914377" y="4952380"/>
            <a:ext cx="10935951" cy="209545"/>
          </a:xfrm>
          <a:prstGeom prst="rect">
            <a:avLst/>
          </a:prstGeom>
          <a:noFill/>
          <a:ln/>
        </p:spPr>
        <p:txBody>
          <a:bodyPr wrap="square" lIns="0" tIns="0" rIns="0" bIns="0" rtlCol="0" anchor="t"/>
          <a:lstStyle/>
          <a:p>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Arquivo: </a:t>
            </a:r>
            <a:pPr algn="l" indent="0" marL="0">
              <a:lnSpc>
                <a:spcPct val="106838"/>
              </a:lnSpc>
              <a:buNone/>
            </a:pPr>
            <a:r>
              <a:rPr lang="en-US" sz="1100" b="1" dirty="0">
                <a:solidFill>
                  <a:srgbClr val="FFFFFF"/>
                </a:solidFill>
                <a:latin typeface="Poppins" pitchFamily="34" charset="0"/>
                <a:ea typeface="Poppins" pitchFamily="34" charset="-122"/>
                <a:cs typeface="Poppins" pitchFamily="34" charset="-120"/>
              </a:rPr>
              <a:t>exemplo-01-a-05-sql-na-bronze.sql</a:t>
            </a:r>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 A primeira sujeira do dia é o retrato do problema da Vértice: cada um registra do seu jeito.</a:t>
            </a:r>
            <a:endParaRPr lang="en-US" sz="1100" dirty="0"/>
          </a:p>
        </p:txBody>
      </p:sp>
      <p:pic>
        <p:nvPicPr>
          <p:cNvPr id="19"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20" name="Text 17"/>
          <p:cNvSpPr txBox="1"/>
          <p:nvPr/>
        </p:nvSpPr>
        <p:spPr>
          <a:xfrm>
            <a:off x="10939685" y="6387940"/>
            <a:ext cx="509630"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54 / 133</a:t>
            </a:r>
            <a:endParaRPr lang="en-US" sz="1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1 · EXEMPLO 03 · WHERE E A SUJEIRA</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Dá para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confiar</a:t>
            </a:r>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 nesse número?</a:t>
            </a:r>
            <a:endParaRPr lang="en-US" sz="3100" dirty="0"/>
          </a:p>
        </p:txBody>
      </p:sp>
      <p:sp>
        <p:nvSpPr>
          <p:cNvPr id="4" name="Shape 2"/>
          <p:cNvSpPr/>
          <p:nvPr/>
        </p:nvSpPr>
        <p:spPr>
          <a:xfrm>
            <a:off x="761981" y="1582301"/>
            <a:ext cx="5820622" cy="2441911"/>
          </a:xfrm>
          <a:prstGeom prst="roundRect">
            <a:avLst>
              <a:gd name="adj" fmla="val 4681"/>
            </a:avLst>
          </a:prstGeom>
          <a:solidFill>
            <a:srgbClr val="0C0C10"/>
          </a:solidFill>
          <a:ln w="6350">
            <a:solidFill>
              <a:srgbClr val="2F2F39"/>
            </a:solidFill>
            <a:prstDash val="solid"/>
          </a:ln>
        </p:spPr>
      </p:sp>
      <p:sp>
        <p:nvSpPr>
          <p:cNvPr id="5" name="Text 3"/>
          <p:cNvSpPr txBox="1"/>
          <p:nvPr/>
        </p:nvSpPr>
        <p:spPr>
          <a:xfrm>
            <a:off x="958826" y="1753747"/>
            <a:ext cx="5650613" cy="2105369"/>
          </a:xfrm>
          <a:prstGeom prst="rect">
            <a:avLst/>
          </a:prstGeom>
          <a:noFill/>
          <a:ln/>
        </p:spPr>
        <p:txBody>
          <a:bodyPr wrap="square" lIns="0" tIns="0" rIns="0" bIns="0" rtlCol="0" anchor="t"/>
          <a:lstStyle/>
          <a:p>
            <a:pPr algn="l" indent="0" marL="0">
              <a:lnSpc>
                <a:spcPct val="123932"/>
              </a:lnSpc>
              <a:buNone/>
            </a:pPr>
            <a:r>
              <a:rPr lang="en-US" sz="950" dirty="0">
                <a:solidFill>
                  <a:srgbClr val="6E7180"/>
                </a:solidFill>
                <a:latin typeface="Courier New" pitchFamily="34" charset="0"/>
                <a:ea typeface="Courier New" pitchFamily="34" charset="-122"/>
                <a:cs typeface="Courier New" pitchFamily="34" charset="-120"/>
              </a:rPr>
              <a:t>-- 1. data com barra: 14/03/2025</a:t>
            </a:r>
            <a:pPr algn="l" indent="0" marL="0">
              <a:lnSpc>
                <a:spcPct val="123932"/>
              </a:lnSpc>
              <a:buNone/>
            </a:pPr>
            <a:endParaRPr lang="en-US" sz="950" dirty="0"/>
          </a:p>
          <a:p>
            <a:pPr algn="l" indent="0" marL="0">
              <a:lnSpc>
                <a:spcPct val="123932"/>
              </a:lnSpc>
              <a:buNone/>
            </a:pP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SELECT COUNT</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a:t>
            </a: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FROM</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bronze.projetos</a:t>
            </a:r>
            <a:endParaRPr lang="en-US" sz="950" dirty="0"/>
          </a:p>
          <a:p>
            <a:pPr algn="l" indent="0" marL="0">
              <a:lnSpc>
                <a:spcPct val="123932"/>
              </a:lnSpc>
              <a:buNone/>
            </a:pP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WHERE</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data_inicio </a:t>
            </a: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LIKE</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a:t>
            </a:r>
            <a:pPr algn="l" indent="0" marL="0">
              <a:lnSpc>
                <a:spcPct val="123932"/>
              </a:lnSpc>
              <a:buNone/>
            </a:pPr>
            <a:r>
              <a:rPr lang="en-US" sz="950" dirty="0">
                <a:solidFill>
                  <a:srgbClr val="F6C344"/>
                </a:solidFill>
                <a:latin typeface="Courier New" pitchFamily="34" charset="0"/>
                <a:ea typeface="Courier New" pitchFamily="34" charset="-122"/>
                <a:cs typeface="Courier New" pitchFamily="34" charset="-120"/>
              </a:rPr>
              <a:t>'%/%'</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a:t>
            </a:r>
            <a:pPr algn="l" indent="0" marL="0">
              <a:lnSpc>
                <a:spcPct val="123932"/>
              </a:lnSpc>
              <a:buNone/>
            </a:pPr>
            <a:r>
              <a:rPr lang="en-US" sz="950" dirty="0">
                <a:solidFill>
                  <a:srgbClr val="6E7180"/>
                </a:solidFill>
                <a:latin typeface="Courier New" pitchFamily="34" charset="0"/>
                <a:ea typeface="Courier New" pitchFamily="34" charset="-122"/>
                <a:cs typeface="Courier New" pitchFamily="34" charset="-120"/>
              </a:rPr>
              <a:t>-- 24 (os outros 36: 2025-03-14)</a:t>
            </a:r>
            <a:pPr algn="l" indent="0" marL="0">
              <a:lnSpc>
                <a:spcPct val="123932"/>
              </a:lnSpc>
              <a:buNone/>
            </a:pPr>
            <a:endParaRPr lang="en-US" sz="950" dirty="0"/>
          </a:p>
          <a:p>
            <a:pPr algn="l" indent="0" marL="0">
              <a:lnSpc>
                <a:spcPct val="123932"/>
              </a:lnSpc>
              <a:buNone/>
            </a:pPr>
            <a:endParaRPr lang="en-US" sz="950" dirty="0"/>
          </a:p>
          <a:p>
            <a:pPr algn="l" indent="0" marL="0">
              <a:lnSpc>
                <a:spcPct val="123932"/>
              </a:lnSpc>
              <a:buNone/>
            </a:pPr>
            <a:pPr algn="l" indent="0" marL="0">
              <a:lnSpc>
                <a:spcPct val="123932"/>
              </a:lnSpc>
              <a:buNone/>
            </a:pPr>
            <a:r>
              <a:rPr lang="en-US" sz="950" dirty="0">
                <a:solidFill>
                  <a:srgbClr val="6E7180"/>
                </a:solidFill>
                <a:latin typeface="Courier New" pitchFamily="34" charset="0"/>
                <a:ea typeface="Courier New" pitchFamily="34" charset="-122"/>
                <a:cs typeface="Courier New" pitchFamily="34" charset="-120"/>
              </a:rPr>
              <a:t>-- 2. a linha de TOTAL da planilha</a:t>
            </a:r>
            <a:pPr algn="l" indent="0" marL="0">
              <a:lnSpc>
                <a:spcPct val="123932"/>
              </a:lnSpc>
              <a:buNone/>
            </a:pPr>
            <a:endParaRPr lang="en-US" sz="950" dirty="0"/>
          </a:p>
          <a:p>
            <a:pPr algn="l" indent="0" marL="0">
              <a:lnSpc>
                <a:spcPct val="123932"/>
              </a:lnSpc>
              <a:buNone/>
            </a:pP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SELECT</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arquivo, tarefa, horas_previstas</a:t>
            </a:r>
            <a:endParaRPr lang="en-US" sz="950" dirty="0"/>
          </a:p>
          <a:p>
            <a:pPr algn="l" indent="0" marL="0">
              <a:lnSpc>
                <a:spcPct val="123932"/>
              </a:lnSpc>
              <a:buNone/>
            </a:pP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FROM</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bronze.excel_tarefas</a:t>
            </a:r>
            <a:endParaRPr lang="en-US" sz="950" dirty="0"/>
          </a:p>
          <a:p>
            <a:pPr algn="l" indent="0" marL="0">
              <a:lnSpc>
                <a:spcPct val="123932"/>
              </a:lnSpc>
              <a:buNone/>
            </a:pP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WHERE</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tarefa = </a:t>
            </a:r>
            <a:pPr algn="l" indent="0" marL="0">
              <a:lnSpc>
                <a:spcPct val="123932"/>
              </a:lnSpc>
              <a:buNone/>
            </a:pPr>
            <a:r>
              <a:rPr lang="en-US" sz="950" dirty="0">
                <a:solidFill>
                  <a:srgbClr val="F6C344"/>
                </a:solidFill>
                <a:latin typeface="Courier New" pitchFamily="34" charset="0"/>
                <a:ea typeface="Courier New" pitchFamily="34" charset="-122"/>
                <a:cs typeface="Courier New" pitchFamily="34" charset="-120"/>
              </a:rPr>
              <a:t>'TOTAL'</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a:t>
            </a:r>
            <a:pPr algn="l" indent="0" marL="0">
              <a:lnSpc>
                <a:spcPct val="123932"/>
              </a:lnSpc>
              <a:buNone/>
            </a:pPr>
            <a:r>
              <a:rPr lang="en-US" sz="950" dirty="0">
                <a:solidFill>
                  <a:srgbClr val="6E7180"/>
                </a:solidFill>
                <a:latin typeface="Courier New" pitchFamily="34" charset="0"/>
                <a:ea typeface="Courier New" pitchFamily="34" charset="-122"/>
                <a:cs typeface="Courier New" pitchFamily="34" charset="-120"/>
              </a:rPr>
              <a:t>-- 20: conta duas vezes</a:t>
            </a:r>
            <a:pPr algn="l" indent="0" marL="0">
              <a:lnSpc>
                <a:spcPct val="123932"/>
              </a:lnSpc>
              <a:buNone/>
            </a:pPr>
            <a:endParaRPr lang="en-US" sz="950" dirty="0"/>
          </a:p>
          <a:p>
            <a:pPr algn="l" indent="0" marL="0">
              <a:lnSpc>
                <a:spcPct val="123932"/>
              </a:lnSpc>
              <a:buNone/>
            </a:pPr>
            <a:endParaRPr lang="en-US" sz="950" dirty="0"/>
          </a:p>
          <a:p>
            <a:pPr algn="l" indent="0" marL="0">
              <a:lnSpc>
                <a:spcPct val="123932"/>
              </a:lnSpc>
              <a:buNone/>
            </a:pPr>
            <a:pPr algn="l" indent="0" marL="0">
              <a:lnSpc>
                <a:spcPct val="123932"/>
              </a:lnSpc>
              <a:buNone/>
            </a:pPr>
            <a:r>
              <a:rPr lang="en-US" sz="950" dirty="0">
                <a:solidFill>
                  <a:srgbClr val="6E7180"/>
                </a:solidFill>
                <a:latin typeface="Courier New" pitchFamily="34" charset="0"/>
                <a:ea typeface="Courier New" pitchFamily="34" charset="-122"/>
                <a:cs typeface="Courier New" pitchFamily="34" charset="-120"/>
              </a:rPr>
              <a:t>-- 3. vírgula decimal</a:t>
            </a:r>
            <a:pPr algn="l" indent="0" marL="0">
              <a:lnSpc>
                <a:spcPct val="123932"/>
              </a:lnSpc>
              <a:buNone/>
            </a:pPr>
            <a:endParaRPr lang="en-US" sz="950" dirty="0"/>
          </a:p>
          <a:p>
            <a:pPr algn="l" indent="0" marL="0">
              <a:lnSpc>
                <a:spcPct val="123932"/>
              </a:lnSpc>
              <a:buNone/>
            </a:pP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SELECT COUNT</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a:t>
            </a: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FROM</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bronze.custos</a:t>
            </a:r>
            <a:endParaRPr lang="en-US" sz="950" dirty="0"/>
          </a:p>
          <a:p>
            <a:pPr algn="l" indent="0" marL="0">
              <a:lnSpc>
                <a:spcPct val="123932"/>
              </a:lnSpc>
              <a:buNone/>
            </a:pP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WHERE</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valor </a:t>
            </a: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LIKE</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a:t>
            </a:r>
            <a:pPr algn="l" indent="0" marL="0">
              <a:lnSpc>
                <a:spcPct val="123932"/>
              </a:lnSpc>
              <a:buNone/>
            </a:pPr>
            <a:r>
              <a:rPr lang="en-US" sz="950" dirty="0">
                <a:solidFill>
                  <a:srgbClr val="F6C344"/>
                </a:solidFill>
                <a:latin typeface="Courier New" pitchFamily="34" charset="0"/>
                <a:ea typeface="Courier New" pitchFamily="34" charset="-122"/>
                <a:cs typeface="Courier New" pitchFamily="34" charset="-120"/>
              </a:rPr>
              <a:t>'%,%'</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a:t>
            </a:r>
            <a:pPr algn="l" indent="0" marL="0">
              <a:lnSpc>
                <a:spcPct val="123932"/>
              </a:lnSpc>
              <a:buNone/>
            </a:pPr>
            <a:r>
              <a:rPr lang="en-US" sz="950" dirty="0">
                <a:solidFill>
                  <a:srgbClr val="6E7180"/>
                </a:solidFill>
                <a:latin typeface="Courier New" pitchFamily="34" charset="0"/>
                <a:ea typeface="Courier New" pitchFamily="34" charset="-122"/>
                <a:cs typeface="Courier New" pitchFamily="34" charset="-120"/>
              </a:rPr>
              <a:t>-- 671</a:t>
            </a:r>
            <a:endParaRPr lang="en-US" sz="950" dirty="0"/>
          </a:p>
        </p:txBody>
      </p:sp>
      <p:sp>
        <p:nvSpPr>
          <p:cNvPr id="6" name="Shape 4"/>
          <p:cNvSpPr/>
          <p:nvPr/>
        </p:nvSpPr>
        <p:spPr>
          <a:xfrm>
            <a:off x="6773098" y="1582301"/>
            <a:ext cx="4656517" cy="1423456"/>
          </a:xfrm>
          <a:prstGeom prst="roundRect">
            <a:avLst>
              <a:gd name="adj" fmla="val 10706"/>
            </a:avLst>
          </a:prstGeom>
          <a:solidFill>
            <a:srgbClr val="1E1E24"/>
          </a:solidFill>
          <a:ln w="6350">
            <a:solidFill>
              <a:srgbClr val="2F2F39"/>
            </a:solidFill>
            <a:prstDash val="solid"/>
          </a:ln>
        </p:spPr>
      </p:sp>
      <p:sp>
        <p:nvSpPr>
          <p:cNvPr id="7" name="Shape 5"/>
          <p:cNvSpPr/>
          <p:nvPr/>
        </p:nvSpPr>
        <p:spPr>
          <a:xfrm>
            <a:off x="6995342" y="1779146"/>
            <a:ext cx="702451" cy="247644"/>
          </a:xfrm>
          <a:prstGeom prst="roundRect">
            <a:avLst>
              <a:gd name="adj" fmla="val 50000"/>
            </a:avLst>
          </a:prstGeom>
          <a:solidFill>
            <a:srgbClr val="22C2F4">
              <a:alpha val="14000"/>
            </a:srgbClr>
          </a:solidFill>
          <a:ln/>
        </p:spPr>
      </p:sp>
      <p:sp>
        <p:nvSpPr>
          <p:cNvPr id="8" name="Text 6"/>
          <p:cNvSpPr txBox="1"/>
          <p:nvPr/>
        </p:nvSpPr>
        <p:spPr>
          <a:xfrm>
            <a:off x="7084240" y="1817245"/>
            <a:ext cx="545642"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Conceito</a:t>
            </a:r>
            <a:endParaRPr lang="en-US" sz="900" dirty="0"/>
          </a:p>
        </p:txBody>
      </p:sp>
      <p:sp>
        <p:nvSpPr>
          <p:cNvPr id="9" name="Text 7"/>
          <p:cNvSpPr txBox="1"/>
          <p:nvPr/>
        </p:nvSpPr>
        <p:spPr>
          <a:xfrm>
            <a:off x="6995342" y="2191886"/>
            <a:ext cx="4380509" cy="617026"/>
          </a:xfrm>
          <a:prstGeom prst="rect">
            <a:avLst/>
          </a:prstGeom>
          <a:noFill/>
          <a:ln/>
        </p:spPr>
        <p:txBody>
          <a:bodyPr wrap="square" lIns="0" tIns="0" rIns="0" bIns="0" rtlCol="0" anchor="t"/>
          <a:lstStyle/>
          <a:p>
            <a:pPr algn="l" indent="0" marL="0">
              <a:lnSpc>
                <a:spcPct val="115385"/>
              </a:lnSpc>
              <a:buNone/>
            </a:pPr>
            <a:r>
              <a:rPr lang="en-US" sz="1200" dirty="0">
                <a:solidFill>
                  <a:srgbClr val="FFFFFF"/>
                </a:solidFill>
                <a:latin typeface="Poppins" pitchFamily="34" charset="0"/>
                <a:ea typeface="Poppins" pitchFamily="34" charset="-122"/>
                <a:cs typeface="Poppins" pitchFamily="34" charset="-120"/>
              </a:rPr>
              <a:t>WHERE escolhe as linhas; LIKE '%/%' = "tem uma barra em algum lugar". Dado sujo não dá erro: dá um número errado, em silêncio.</a:t>
            </a:r>
            <a:endParaRPr lang="en-US" sz="1200" dirty="0"/>
          </a:p>
        </p:txBody>
      </p:sp>
      <p:sp>
        <p:nvSpPr>
          <p:cNvPr id="10" name="Shape 8"/>
          <p:cNvSpPr/>
          <p:nvPr/>
        </p:nvSpPr>
        <p:spPr>
          <a:xfrm>
            <a:off x="6773098" y="3145453"/>
            <a:ext cx="4656517" cy="1499654"/>
          </a:xfrm>
          <a:prstGeom prst="roundRect">
            <a:avLst>
              <a:gd name="adj" fmla="val 10162"/>
            </a:avLst>
          </a:prstGeom>
          <a:solidFill>
            <a:srgbClr val="0059DB"/>
          </a:solidFill>
          <a:ln/>
        </p:spPr>
      </p:sp>
      <p:sp>
        <p:nvSpPr>
          <p:cNvPr id="11" name="Shape 9"/>
          <p:cNvSpPr/>
          <p:nvPr/>
        </p:nvSpPr>
        <p:spPr>
          <a:xfrm>
            <a:off x="6995342" y="3342298"/>
            <a:ext cx="1034032" cy="247644"/>
          </a:xfrm>
          <a:prstGeom prst="roundRect">
            <a:avLst>
              <a:gd name="adj" fmla="val 50000"/>
            </a:avLst>
          </a:prstGeom>
          <a:solidFill>
            <a:srgbClr val="FFFFFF">
              <a:alpha val="16000"/>
            </a:srgbClr>
          </a:solidFill>
          <a:ln/>
        </p:spPr>
      </p:sp>
      <p:sp>
        <p:nvSpPr>
          <p:cNvPr id="12" name="Text 10"/>
          <p:cNvSpPr txBox="1"/>
          <p:nvPr/>
        </p:nvSpPr>
        <p:spPr>
          <a:xfrm>
            <a:off x="7084240" y="3380398"/>
            <a:ext cx="890486"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O que aparece</a:t>
            </a:r>
            <a:endParaRPr lang="en-US" sz="900" dirty="0"/>
          </a:p>
        </p:txBody>
      </p:sp>
      <p:sp>
        <p:nvSpPr>
          <p:cNvPr id="13" name="Shape 11"/>
          <p:cNvSpPr/>
          <p:nvPr/>
        </p:nvSpPr>
        <p:spPr>
          <a:xfrm>
            <a:off x="6995342" y="3761388"/>
            <a:ext cx="76198" cy="76198"/>
          </a:xfrm>
          <a:prstGeom prst="roundRect">
            <a:avLst>
              <a:gd name="adj" fmla="val 25000"/>
            </a:avLst>
          </a:prstGeom>
          <a:solidFill>
            <a:srgbClr val="22C2F4"/>
          </a:solidFill>
          <a:ln/>
        </p:spPr>
      </p:sp>
      <p:sp>
        <p:nvSpPr>
          <p:cNvPr id="14" name="Text 12"/>
          <p:cNvSpPr txBox="1"/>
          <p:nvPr/>
        </p:nvSpPr>
        <p:spPr>
          <a:xfrm>
            <a:off x="7185838" y="3678840"/>
            <a:ext cx="4182394"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data em 2 formatos: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24</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36</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projetos</a:t>
            </a:r>
            <a:endParaRPr lang="en-US" sz="1200" dirty="0"/>
          </a:p>
        </p:txBody>
      </p:sp>
      <p:sp>
        <p:nvSpPr>
          <p:cNvPr id="15" name="Shape 13"/>
          <p:cNvSpPr/>
          <p:nvPr/>
        </p:nvSpPr>
        <p:spPr>
          <a:xfrm>
            <a:off x="6995342" y="4043261"/>
            <a:ext cx="76198" cy="76198"/>
          </a:xfrm>
          <a:prstGeom prst="roundRect">
            <a:avLst>
              <a:gd name="adj" fmla="val 25000"/>
            </a:avLst>
          </a:prstGeom>
          <a:solidFill>
            <a:srgbClr val="22C2F4"/>
          </a:solidFill>
          <a:ln/>
        </p:spPr>
      </p:sp>
      <p:sp>
        <p:nvSpPr>
          <p:cNvPr id="16" name="Text 14"/>
          <p:cNvSpPr txBox="1"/>
          <p:nvPr/>
        </p:nvSpPr>
        <p:spPr>
          <a:xfrm>
            <a:off x="7185838" y="3960713"/>
            <a:ext cx="4182394" cy="205675"/>
          </a:xfrm>
          <a:prstGeom prst="rect">
            <a:avLst/>
          </a:prstGeom>
          <a:noFill/>
          <a:ln/>
        </p:spPr>
        <p:txBody>
          <a:bodyPr wrap="square" lIns="0" tIns="0" rIns="0" bIns="0" rtlCol="0" anchor="t"/>
          <a:lstStyle/>
          <a:p>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20</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linhas de TOTAL no Excel</a:t>
            </a:r>
            <a:endParaRPr lang="en-US" sz="1200" dirty="0"/>
          </a:p>
        </p:txBody>
      </p:sp>
      <p:sp>
        <p:nvSpPr>
          <p:cNvPr id="17" name="Shape 15"/>
          <p:cNvSpPr/>
          <p:nvPr/>
        </p:nvSpPr>
        <p:spPr>
          <a:xfrm>
            <a:off x="6995342" y="4325135"/>
            <a:ext cx="76198" cy="76198"/>
          </a:xfrm>
          <a:prstGeom prst="roundRect">
            <a:avLst>
              <a:gd name="adj" fmla="val 25000"/>
            </a:avLst>
          </a:prstGeom>
          <a:solidFill>
            <a:srgbClr val="22C2F4"/>
          </a:solidFill>
          <a:ln/>
        </p:spPr>
      </p:sp>
      <p:sp>
        <p:nvSpPr>
          <p:cNvPr id="18" name="Text 16"/>
          <p:cNvSpPr txBox="1"/>
          <p:nvPr/>
        </p:nvSpPr>
        <p:spPr>
          <a:xfrm>
            <a:off x="7185838" y="4242587"/>
            <a:ext cx="4182394" cy="205675"/>
          </a:xfrm>
          <a:prstGeom prst="rect">
            <a:avLst/>
          </a:prstGeom>
          <a:noFill/>
          <a:ln/>
        </p:spPr>
        <p:txBody>
          <a:bodyPr wrap="square" lIns="0" tIns="0" rIns="0" bIns="0" rtlCol="0" anchor="t"/>
          <a:lstStyle/>
          <a:p>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671</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custos com vírgula decimal</a:t>
            </a:r>
            <a:endParaRPr lang="en-US" sz="1200" dirty="0"/>
          </a:p>
        </p:txBody>
      </p:sp>
      <p:sp>
        <p:nvSpPr>
          <p:cNvPr id="19" name="Shape 17"/>
          <p:cNvSpPr/>
          <p:nvPr/>
        </p:nvSpPr>
        <p:spPr>
          <a:xfrm>
            <a:off x="761981" y="4784804"/>
            <a:ext cx="25399" cy="495288"/>
          </a:xfrm>
          <a:prstGeom prst="rect">
            <a:avLst/>
          </a:prstGeom>
          <a:solidFill>
            <a:srgbClr val="22C2F4"/>
          </a:solidFill>
          <a:ln/>
        </p:spPr>
      </p:sp>
      <p:sp>
        <p:nvSpPr>
          <p:cNvPr id="20" name="Text 18"/>
          <p:cNvSpPr txBox="1"/>
          <p:nvPr/>
        </p:nvSpPr>
        <p:spPr>
          <a:xfrm>
            <a:off x="914377" y="4822903"/>
            <a:ext cx="10935951" cy="419090"/>
          </a:xfrm>
          <a:prstGeom prst="rect">
            <a:avLst/>
          </a:prstGeom>
          <a:noFill/>
          <a:ln/>
        </p:spPr>
        <p:txBody>
          <a:bodyPr wrap="square" lIns="0" tIns="0" rIns="0" bIns="0" rtlCol="0" anchor="t"/>
          <a:lstStyle/>
          <a:p>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Arquivo: </a:t>
            </a:r>
            <a:pPr algn="l" indent="0" marL="0">
              <a:lnSpc>
                <a:spcPct val="106838"/>
              </a:lnSpc>
              <a:buNone/>
            </a:pPr>
            <a:r>
              <a:rPr lang="en-US" sz="1100" b="1" dirty="0">
                <a:solidFill>
                  <a:srgbClr val="FFFFFF"/>
                </a:solidFill>
                <a:latin typeface="Poppins" pitchFamily="34" charset="0"/>
                <a:ea typeface="Poppins" pitchFamily="34" charset="-122"/>
                <a:cs typeface="Poppins" pitchFamily="34" charset="-120"/>
              </a:rPr>
              <a:t>exemplo-01-a-05-sql-na-bronze.sql</a:t>
            </a:r>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 3 achados e 4 jeitos de filtrar (AND, IN, IS NULL, lower + LIKE). Tudo que ele acha é o que a silver conserta amanhã.</a:t>
            </a:r>
            <a:endParaRPr lang="en-US" sz="1100" dirty="0"/>
          </a:p>
        </p:txBody>
      </p:sp>
      <p:pic>
        <p:nvPicPr>
          <p:cNvPr id="21"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22" name="Text 19"/>
          <p:cNvSpPr txBox="1"/>
          <p:nvPr/>
        </p:nvSpPr>
        <p:spPr>
          <a:xfrm>
            <a:off x="10940776" y="6387940"/>
            <a:ext cx="508495"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55 / 133</a:t>
            </a:r>
            <a:endParaRPr lang="en-US" sz="10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1 · EXEMPLO 04 · GROUP BY</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Para onde vai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o dinheiro?</a:t>
            </a:r>
            <a:endParaRPr lang="en-US" sz="3100" dirty="0"/>
          </a:p>
        </p:txBody>
      </p:sp>
      <p:sp>
        <p:nvSpPr>
          <p:cNvPr id="4" name="Shape 2"/>
          <p:cNvSpPr/>
          <p:nvPr/>
        </p:nvSpPr>
        <p:spPr>
          <a:xfrm>
            <a:off x="761981" y="1582301"/>
            <a:ext cx="5820622" cy="2441911"/>
          </a:xfrm>
          <a:prstGeom prst="roundRect">
            <a:avLst>
              <a:gd name="adj" fmla="val 4681"/>
            </a:avLst>
          </a:prstGeom>
          <a:solidFill>
            <a:srgbClr val="0C0C10"/>
          </a:solidFill>
          <a:ln w="6350">
            <a:solidFill>
              <a:srgbClr val="2F2F39"/>
            </a:solidFill>
            <a:prstDash val="solid"/>
          </a:ln>
        </p:spPr>
      </p:sp>
      <p:sp>
        <p:nvSpPr>
          <p:cNvPr id="5" name="Text 3"/>
          <p:cNvSpPr txBox="1"/>
          <p:nvPr/>
        </p:nvSpPr>
        <p:spPr>
          <a:xfrm>
            <a:off x="958826" y="1753747"/>
            <a:ext cx="5650613" cy="2105369"/>
          </a:xfrm>
          <a:prstGeom prst="rect">
            <a:avLst/>
          </a:prstGeom>
          <a:noFill/>
          <a:ln/>
        </p:spPr>
        <p:txBody>
          <a:bodyPr wrap="square" lIns="0" tIns="0" rIns="0" bIns="0" rtlCol="0" anchor="t"/>
          <a:lstStyle/>
          <a:p>
            <a:pPr algn="l" indent="0" marL="0">
              <a:lnSpc>
                <a:spcPct val="123932"/>
              </a:lnSpc>
              <a:buNone/>
            </a:pPr>
            <a:r>
              <a:rPr lang="en-US" sz="950" dirty="0">
                <a:solidFill>
                  <a:srgbClr val="6E7180"/>
                </a:solidFill>
                <a:latin typeface="Courier New" pitchFamily="34" charset="0"/>
                <a:ea typeface="Courier New" pitchFamily="34" charset="-122"/>
                <a:cs typeface="Courier New" pitchFamily="34" charset="-120"/>
              </a:rPr>
              <a:t>-- 1. quebra: '1827,44' não é número</a:t>
            </a:r>
            <a:pPr algn="l" indent="0" marL="0">
              <a:lnSpc>
                <a:spcPct val="123932"/>
              </a:lnSpc>
              <a:buNone/>
            </a:pPr>
            <a:endParaRPr lang="en-US" sz="950" dirty="0"/>
          </a:p>
          <a:p>
            <a:pPr algn="l" indent="0" marL="0">
              <a:lnSpc>
                <a:spcPct val="123932"/>
              </a:lnSpc>
              <a:buNone/>
            </a:pP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SELECT</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categoria, </a:t>
            </a: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SUM</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a:t>
            </a: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CAST</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(valor </a:t>
            </a: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AS DECIMAL</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(18,2)))</a:t>
            </a:r>
            <a:endParaRPr lang="en-US" sz="950" dirty="0"/>
          </a:p>
          <a:p>
            <a:pPr algn="l" indent="0" marL="0">
              <a:lnSpc>
                <a:spcPct val="123932"/>
              </a:lnSpc>
              <a:buNone/>
            </a:pP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FROM</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bronze.custos</a:t>
            </a:r>
            <a:endParaRPr lang="en-US" sz="950" dirty="0"/>
          </a:p>
          <a:p>
            <a:pPr algn="l" indent="0" marL="0">
              <a:lnSpc>
                <a:spcPct val="123932"/>
              </a:lnSpc>
              <a:buNone/>
            </a:pP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GROUP BY</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categoria;</a:t>
            </a:r>
            <a:endParaRPr lang="en-US" sz="950" dirty="0"/>
          </a:p>
          <a:p>
            <a:pPr algn="l" indent="0" marL="0">
              <a:lnSpc>
                <a:spcPct val="123932"/>
              </a:lnSpc>
              <a:buNone/>
            </a:pPr>
            <a:endParaRPr lang="en-US" sz="950" dirty="0"/>
          </a:p>
          <a:p>
            <a:pPr algn="l" indent="0" marL="0">
              <a:lnSpc>
                <a:spcPct val="123932"/>
              </a:lnSpc>
              <a:buNone/>
            </a:pPr>
            <a:pPr algn="l" indent="0" marL="0">
              <a:lnSpc>
                <a:spcPct val="123932"/>
              </a:lnSpc>
              <a:buNone/>
            </a:pPr>
            <a:r>
              <a:rPr lang="en-US" sz="950" dirty="0">
                <a:solidFill>
                  <a:srgbClr val="6E7180"/>
                </a:solidFill>
                <a:latin typeface="Courier New" pitchFamily="34" charset="0"/>
                <a:ea typeface="Courier New" pitchFamily="34" charset="-122"/>
                <a:cs typeface="Courier New" pitchFamily="34" charset="-120"/>
              </a:rPr>
              <a:t>-- 2. o certo: vírgula vira ponto antes</a:t>
            </a:r>
            <a:pPr algn="l" indent="0" marL="0">
              <a:lnSpc>
                <a:spcPct val="123932"/>
              </a:lnSpc>
              <a:buNone/>
            </a:pPr>
            <a:endParaRPr lang="en-US" sz="950" dirty="0"/>
          </a:p>
          <a:p>
            <a:pPr algn="l" indent="0" marL="0">
              <a:lnSpc>
                <a:spcPct val="123932"/>
              </a:lnSpc>
              <a:buNone/>
            </a:pP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SELECT</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categoria,</a:t>
            </a:r>
            <a:endParaRPr lang="en-US" sz="950" dirty="0"/>
          </a:p>
          <a:p>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a:t>
            </a: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SUM</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a:t>
            </a: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CAST</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(replace(valor, </a:t>
            </a:r>
            <a:pPr algn="l" indent="0" marL="0">
              <a:lnSpc>
                <a:spcPct val="123932"/>
              </a:lnSpc>
              <a:buNone/>
            </a:pPr>
            <a:r>
              <a:rPr lang="en-US" sz="950" dirty="0">
                <a:solidFill>
                  <a:srgbClr val="F6C344"/>
                </a:solidFill>
                <a:latin typeface="Courier New" pitchFamily="34" charset="0"/>
                <a:ea typeface="Courier New" pitchFamily="34" charset="-122"/>
                <a:cs typeface="Courier New" pitchFamily="34" charset="-120"/>
              </a:rPr>
              <a:t>','</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a:t>
            </a:r>
            <a:pPr algn="l" indent="0" marL="0">
              <a:lnSpc>
                <a:spcPct val="123932"/>
              </a:lnSpc>
              <a:buNone/>
            </a:pPr>
            <a:r>
              <a:rPr lang="en-US" sz="950" dirty="0">
                <a:solidFill>
                  <a:srgbClr val="F6C344"/>
                </a:solidFill>
                <a:latin typeface="Courier New" pitchFamily="34" charset="0"/>
                <a:ea typeface="Courier New" pitchFamily="34" charset="-122"/>
                <a:cs typeface="Courier New" pitchFamily="34" charset="-120"/>
              </a:rPr>
              <a:t>'.'</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a:t>
            </a: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AS DECIMAL</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(18,2)))</a:t>
            </a:r>
            <a:endParaRPr lang="en-US" sz="950" dirty="0"/>
          </a:p>
          <a:p>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a:t>
            </a: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AS</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custo</a:t>
            </a:r>
            <a:endParaRPr lang="en-US" sz="950" dirty="0"/>
          </a:p>
          <a:p>
            <a:pPr algn="l" indent="0" marL="0">
              <a:lnSpc>
                <a:spcPct val="123932"/>
              </a:lnSpc>
              <a:buNone/>
            </a:pP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FROM</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bronze.custos</a:t>
            </a:r>
            <a:endParaRPr lang="en-US" sz="950" dirty="0"/>
          </a:p>
          <a:p>
            <a:pPr algn="l" indent="0" marL="0">
              <a:lnSpc>
                <a:spcPct val="123932"/>
              </a:lnSpc>
              <a:buNone/>
            </a:pP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GROUP BY</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categoria</a:t>
            </a:r>
            <a:endParaRPr lang="en-US" sz="950" dirty="0"/>
          </a:p>
          <a:p>
            <a:pPr algn="l" indent="0" marL="0">
              <a:lnSpc>
                <a:spcPct val="123932"/>
              </a:lnSpc>
              <a:buNone/>
            </a:pP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ORDER BY</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custo </a:t>
            </a: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DESC</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a:t>
            </a:r>
            <a:endParaRPr lang="en-US" sz="950" dirty="0"/>
          </a:p>
        </p:txBody>
      </p:sp>
      <p:sp>
        <p:nvSpPr>
          <p:cNvPr id="6" name="Shape 4"/>
          <p:cNvSpPr/>
          <p:nvPr/>
        </p:nvSpPr>
        <p:spPr>
          <a:xfrm>
            <a:off x="6773098" y="1582301"/>
            <a:ext cx="4656517" cy="1423456"/>
          </a:xfrm>
          <a:prstGeom prst="roundRect">
            <a:avLst>
              <a:gd name="adj" fmla="val 10706"/>
            </a:avLst>
          </a:prstGeom>
          <a:solidFill>
            <a:srgbClr val="1E1E24"/>
          </a:solidFill>
          <a:ln w="6350">
            <a:solidFill>
              <a:srgbClr val="2F2F39"/>
            </a:solidFill>
            <a:prstDash val="solid"/>
          </a:ln>
        </p:spPr>
      </p:sp>
      <p:sp>
        <p:nvSpPr>
          <p:cNvPr id="7" name="Shape 5"/>
          <p:cNvSpPr/>
          <p:nvPr/>
        </p:nvSpPr>
        <p:spPr>
          <a:xfrm>
            <a:off x="6995342" y="1779146"/>
            <a:ext cx="702451" cy="247644"/>
          </a:xfrm>
          <a:prstGeom prst="roundRect">
            <a:avLst>
              <a:gd name="adj" fmla="val 50000"/>
            </a:avLst>
          </a:prstGeom>
          <a:solidFill>
            <a:srgbClr val="22C2F4">
              <a:alpha val="14000"/>
            </a:srgbClr>
          </a:solidFill>
          <a:ln/>
        </p:spPr>
      </p:sp>
      <p:sp>
        <p:nvSpPr>
          <p:cNvPr id="8" name="Text 6"/>
          <p:cNvSpPr txBox="1"/>
          <p:nvPr/>
        </p:nvSpPr>
        <p:spPr>
          <a:xfrm>
            <a:off x="7084240" y="1817245"/>
            <a:ext cx="545642"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Conceito</a:t>
            </a:r>
            <a:endParaRPr lang="en-US" sz="900" dirty="0"/>
          </a:p>
        </p:txBody>
      </p:sp>
      <p:sp>
        <p:nvSpPr>
          <p:cNvPr id="9" name="Text 7"/>
          <p:cNvSpPr txBox="1"/>
          <p:nvPr/>
        </p:nvSpPr>
        <p:spPr>
          <a:xfrm>
            <a:off x="6995342" y="2191886"/>
            <a:ext cx="4380509" cy="617026"/>
          </a:xfrm>
          <a:prstGeom prst="rect">
            <a:avLst/>
          </a:prstGeom>
          <a:noFill/>
          <a:ln/>
        </p:spPr>
        <p:txBody>
          <a:bodyPr wrap="square" lIns="0" tIns="0" rIns="0" bIns="0" rtlCol="0" anchor="t"/>
          <a:lstStyle/>
          <a:p>
            <a:pPr algn="l" indent="0" marL="0">
              <a:lnSpc>
                <a:spcPct val="115385"/>
              </a:lnSpc>
              <a:buNone/>
            </a:pPr>
            <a:r>
              <a:rPr lang="en-US" sz="1200" dirty="0">
                <a:solidFill>
                  <a:srgbClr val="FFFFFF"/>
                </a:solidFill>
                <a:latin typeface="Poppins" pitchFamily="34" charset="0"/>
                <a:ea typeface="Poppins" pitchFamily="34" charset="-122"/>
                <a:cs typeface="Poppins" pitchFamily="34" charset="-120"/>
              </a:rPr>
              <a:t>GROUP BY junta as linhas da mesma categoria e faz a conta dentro de cada grupo. A primeira query falha de propósito: é a vírgula do exemplo 03.</a:t>
            </a:r>
            <a:endParaRPr lang="en-US" sz="1200" dirty="0"/>
          </a:p>
        </p:txBody>
      </p:sp>
      <p:sp>
        <p:nvSpPr>
          <p:cNvPr id="10" name="Shape 8"/>
          <p:cNvSpPr/>
          <p:nvPr/>
        </p:nvSpPr>
        <p:spPr>
          <a:xfrm>
            <a:off x="6773098" y="3145453"/>
            <a:ext cx="4656517" cy="1705329"/>
          </a:xfrm>
          <a:prstGeom prst="roundRect">
            <a:avLst>
              <a:gd name="adj" fmla="val 8936"/>
            </a:avLst>
          </a:prstGeom>
          <a:solidFill>
            <a:srgbClr val="0059DB"/>
          </a:solidFill>
          <a:ln/>
        </p:spPr>
      </p:sp>
      <p:sp>
        <p:nvSpPr>
          <p:cNvPr id="11" name="Shape 9"/>
          <p:cNvSpPr/>
          <p:nvPr/>
        </p:nvSpPr>
        <p:spPr>
          <a:xfrm>
            <a:off x="6995342" y="3342298"/>
            <a:ext cx="1034032" cy="247644"/>
          </a:xfrm>
          <a:prstGeom prst="roundRect">
            <a:avLst>
              <a:gd name="adj" fmla="val 50000"/>
            </a:avLst>
          </a:prstGeom>
          <a:solidFill>
            <a:srgbClr val="FFFFFF">
              <a:alpha val="16000"/>
            </a:srgbClr>
          </a:solidFill>
          <a:ln/>
        </p:spPr>
      </p:sp>
      <p:sp>
        <p:nvSpPr>
          <p:cNvPr id="12" name="Text 10"/>
          <p:cNvSpPr txBox="1"/>
          <p:nvPr/>
        </p:nvSpPr>
        <p:spPr>
          <a:xfrm>
            <a:off x="7084240" y="3380398"/>
            <a:ext cx="890486"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O que aparece</a:t>
            </a:r>
            <a:endParaRPr lang="en-US" sz="900" dirty="0"/>
          </a:p>
        </p:txBody>
      </p:sp>
      <p:sp>
        <p:nvSpPr>
          <p:cNvPr id="13" name="Shape 11"/>
          <p:cNvSpPr/>
          <p:nvPr/>
        </p:nvSpPr>
        <p:spPr>
          <a:xfrm>
            <a:off x="6995342" y="3761388"/>
            <a:ext cx="76198" cy="76198"/>
          </a:xfrm>
          <a:prstGeom prst="roundRect">
            <a:avLst>
              <a:gd name="adj" fmla="val 25000"/>
            </a:avLst>
          </a:prstGeom>
          <a:solidFill>
            <a:srgbClr val="22C2F4"/>
          </a:solidFill>
          <a:ln/>
        </p:spPr>
      </p:sp>
      <p:sp>
        <p:nvSpPr>
          <p:cNvPr id="14" name="Text 12"/>
          <p:cNvSpPr txBox="1"/>
          <p:nvPr/>
        </p:nvSpPr>
        <p:spPr>
          <a:xfrm>
            <a:off x="7185838" y="3678840"/>
            <a:ext cx="4182394"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a primeira: erro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CAST_INVALID_INPUT</a:t>
            </a:r>
            <a:endParaRPr lang="en-US" sz="1200" dirty="0"/>
          </a:p>
        </p:txBody>
      </p:sp>
      <p:sp>
        <p:nvSpPr>
          <p:cNvPr id="15" name="Shape 13"/>
          <p:cNvSpPr/>
          <p:nvPr/>
        </p:nvSpPr>
        <p:spPr>
          <a:xfrm>
            <a:off x="6995342" y="4043261"/>
            <a:ext cx="76198" cy="76198"/>
          </a:xfrm>
          <a:prstGeom prst="roundRect">
            <a:avLst>
              <a:gd name="adj" fmla="val 25000"/>
            </a:avLst>
          </a:prstGeom>
          <a:solidFill>
            <a:srgbClr val="22C2F4"/>
          </a:solidFill>
          <a:ln/>
        </p:spPr>
      </p:sp>
      <p:sp>
        <p:nvSpPr>
          <p:cNvPr id="16" name="Text 14"/>
          <p:cNvSpPr txBox="1"/>
          <p:nvPr/>
        </p:nvSpPr>
        <p:spPr>
          <a:xfrm>
            <a:off x="7185838" y="3960713"/>
            <a:ext cx="4182394"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a segunda: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R$ 193,35 mi</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de custo real</a:t>
            </a:r>
            <a:endParaRPr lang="en-US" sz="1200" dirty="0"/>
          </a:p>
        </p:txBody>
      </p:sp>
      <p:sp>
        <p:nvSpPr>
          <p:cNvPr id="17" name="Shape 15"/>
          <p:cNvSpPr/>
          <p:nvPr/>
        </p:nvSpPr>
        <p:spPr>
          <a:xfrm>
            <a:off x="6995342" y="4325135"/>
            <a:ext cx="76198" cy="76198"/>
          </a:xfrm>
          <a:prstGeom prst="roundRect">
            <a:avLst>
              <a:gd name="adj" fmla="val 25000"/>
            </a:avLst>
          </a:prstGeom>
          <a:solidFill>
            <a:srgbClr val="22C2F4"/>
          </a:solidFill>
          <a:ln/>
        </p:spPr>
      </p:sp>
      <p:sp>
        <p:nvSpPr>
          <p:cNvPr id="18" name="Text 16"/>
          <p:cNvSpPr txBox="1"/>
          <p:nvPr/>
        </p:nvSpPr>
        <p:spPr>
          <a:xfrm>
            <a:off x="7185838" y="4242587"/>
            <a:ext cx="4182394"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gente é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R$ 117,8 mi</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quase dois terços; consultoria R$ 29,4 mi; cloud R$ 23,0 mi</a:t>
            </a:r>
            <a:endParaRPr lang="en-US" sz="1200" dirty="0"/>
          </a:p>
        </p:txBody>
      </p:sp>
      <p:sp>
        <p:nvSpPr>
          <p:cNvPr id="19" name="Shape 17"/>
          <p:cNvSpPr/>
          <p:nvPr/>
        </p:nvSpPr>
        <p:spPr>
          <a:xfrm>
            <a:off x="761981" y="4990479"/>
            <a:ext cx="25399" cy="285743"/>
          </a:xfrm>
          <a:prstGeom prst="rect">
            <a:avLst/>
          </a:prstGeom>
          <a:solidFill>
            <a:srgbClr val="22C2F4"/>
          </a:solidFill>
          <a:ln/>
        </p:spPr>
      </p:sp>
      <p:sp>
        <p:nvSpPr>
          <p:cNvPr id="20" name="Text 18"/>
          <p:cNvSpPr txBox="1"/>
          <p:nvPr/>
        </p:nvSpPr>
        <p:spPr>
          <a:xfrm>
            <a:off x="914377" y="5028578"/>
            <a:ext cx="10935951" cy="209545"/>
          </a:xfrm>
          <a:prstGeom prst="rect">
            <a:avLst/>
          </a:prstGeom>
          <a:noFill/>
          <a:ln/>
        </p:spPr>
        <p:txBody>
          <a:bodyPr wrap="square" lIns="0" tIns="0" rIns="0" bIns="0" rtlCol="0" anchor="t"/>
          <a:lstStyle/>
          <a:p>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Arquivo: </a:t>
            </a:r>
            <a:pPr algn="l" indent="0" marL="0">
              <a:lnSpc>
                <a:spcPct val="106838"/>
              </a:lnSpc>
              <a:buNone/>
            </a:pPr>
            <a:r>
              <a:rPr lang="en-US" sz="1100" b="1" dirty="0">
                <a:solidFill>
                  <a:srgbClr val="FFFFFF"/>
                </a:solidFill>
                <a:latin typeface="Poppins" pitchFamily="34" charset="0"/>
                <a:ea typeface="Poppins" pitchFamily="34" charset="-122"/>
                <a:cs typeface="Poppins" pitchFamily="34" charset="-120"/>
              </a:rPr>
              <a:t>exemplo-01-a-05-sql-na-bronze.sql</a:t>
            </a:r>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 Começa a responder a pergunta 2: quanto custa.</a:t>
            </a:r>
            <a:endParaRPr lang="en-US" sz="1100" dirty="0"/>
          </a:p>
        </p:txBody>
      </p:sp>
      <p:pic>
        <p:nvPicPr>
          <p:cNvPr id="21"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22" name="Text 19"/>
          <p:cNvSpPr txBox="1"/>
          <p:nvPr/>
        </p:nvSpPr>
        <p:spPr>
          <a:xfrm>
            <a:off x="10940380" y="6387940"/>
            <a:ext cx="508908"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56 / 133</a:t>
            </a:r>
            <a:endParaRPr lang="en-US" sz="1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1 · ANTES DO EXEMPLO 05 · COMO SE MEDE UM PROJETO</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O plano dizia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3 meses</a:t>
            </a:r>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 Hoje é o fim do 3º mês.</a:t>
            </a:r>
            <a:endParaRPr lang="en-US" sz="3100" dirty="0"/>
          </a:p>
        </p:txBody>
      </p:sp>
      <p:sp>
        <p:nvSpPr>
          <p:cNvPr id="4" name="Text 2"/>
          <p:cNvSpPr txBox="1"/>
          <p:nvPr/>
        </p:nvSpPr>
        <p:spPr>
          <a:xfrm>
            <a:off x="761981" y="1582301"/>
            <a:ext cx="11094443" cy="323842"/>
          </a:xfrm>
          <a:prstGeom prst="rect">
            <a:avLst/>
          </a:prstGeom>
          <a:noFill/>
          <a:ln/>
        </p:spPr>
        <p:txBody>
          <a:bodyPr wrap="square" lIns="0" tIns="0" rIns="0" bIns="0" rtlCol="0" anchor="t"/>
          <a:lstStyle/>
          <a:p>
            <a:pPr algn="l" indent="0" marL="0">
              <a:lnSpc>
                <a:spcPct val="106838"/>
              </a:lnSpc>
              <a:buNone/>
            </a:pPr>
            <a:r>
              <a:rPr lang="en-US" sz="1700" dirty="0">
                <a:solidFill>
                  <a:srgbClr val="A3A6B4"/>
                </a:solidFill>
                <a:latin typeface="Poppins" pitchFamily="34" charset="0"/>
                <a:ea typeface="Poppins" pitchFamily="34" charset="-122"/>
                <a:cs typeface="Poppins" pitchFamily="34" charset="-120"/>
              </a:rPr>
              <a:t>Um projeto de </a:t>
            </a:r>
            <a:pPr algn="l" indent="0" marL="0">
              <a:lnSpc>
                <a:spcPct val="106838"/>
              </a:lnSpc>
              <a:buNone/>
            </a:pPr>
            <a:r>
              <a:rPr lang="en-US" sz="1700" b="1" dirty="0">
                <a:solidFill>
                  <a:srgbClr val="FFFFFF"/>
                </a:solidFill>
                <a:latin typeface="Poppins" pitchFamily="34" charset="0"/>
                <a:ea typeface="Poppins" pitchFamily="34" charset="-122"/>
                <a:cs typeface="Poppins" pitchFamily="34" charset="-120"/>
              </a:rPr>
              <a:t>3 meses</a:t>
            </a:r>
            <a:pPr algn="l" indent="0" marL="0">
              <a:lnSpc>
                <a:spcPct val="106838"/>
              </a:lnSpc>
              <a:buNone/>
            </a:pPr>
            <a:r>
              <a:rPr lang="en-US" sz="1700" dirty="0">
                <a:solidFill>
                  <a:srgbClr val="A3A6B4"/>
                </a:solidFill>
                <a:latin typeface="Poppins" pitchFamily="34" charset="0"/>
                <a:ea typeface="Poppins" pitchFamily="34" charset="-122"/>
                <a:cs typeface="Poppins" pitchFamily="34" charset="-120"/>
              </a:rPr>
              <a:t> por </a:t>
            </a:r>
            <a:pPr algn="l" indent="0" marL="0">
              <a:lnSpc>
                <a:spcPct val="106838"/>
              </a:lnSpc>
              <a:buNone/>
            </a:pPr>
            <a:r>
              <a:rPr lang="en-US" sz="1700" b="1" dirty="0">
                <a:solidFill>
                  <a:srgbClr val="FFFFFF"/>
                </a:solidFill>
                <a:latin typeface="Poppins" pitchFamily="34" charset="0"/>
                <a:ea typeface="Poppins" pitchFamily="34" charset="-122"/>
                <a:cs typeface="Poppins" pitchFamily="34" charset="-120"/>
              </a:rPr>
              <a:t>R$ 300 mil</a:t>
            </a:r>
            <a:pPr algn="l" indent="0" marL="0">
              <a:lnSpc>
                <a:spcPct val="106838"/>
              </a:lnSpc>
              <a:buNone/>
            </a:pPr>
            <a:r>
              <a:rPr lang="en-US" sz="1700" dirty="0">
                <a:solidFill>
                  <a:srgbClr val="A3A6B4"/>
                </a:solidFill>
                <a:latin typeface="Poppins" pitchFamily="34" charset="0"/>
                <a:ea typeface="Poppins" pitchFamily="34" charset="-122"/>
                <a:cs typeface="Poppins" pitchFamily="34" charset="-120"/>
              </a:rPr>
              <a:t>. A linha vermelha é </a:t>
            </a:r>
            <a:pPr algn="l" indent="0" marL="0">
              <a:lnSpc>
                <a:spcPct val="106838"/>
              </a:lnSpc>
              <a:buNone/>
            </a:pPr>
            <a:r>
              <a:rPr lang="en-US" sz="1700" b="1" dirty="0">
                <a:solidFill>
                  <a:srgbClr val="FFFFFF"/>
                </a:solidFill>
                <a:latin typeface="Poppins" pitchFamily="34" charset="0"/>
                <a:ea typeface="Poppins" pitchFamily="34" charset="-122"/>
                <a:cs typeface="Poppins" pitchFamily="34" charset="-120"/>
              </a:rPr>
              <a:t>hoje</a:t>
            </a:r>
            <a:pPr algn="l" indent="0" marL="0">
              <a:lnSpc>
                <a:spcPct val="106838"/>
              </a:lnSpc>
              <a:buNone/>
            </a:pPr>
            <a:r>
              <a:rPr lang="en-US" sz="1700" dirty="0">
                <a:solidFill>
                  <a:srgbClr val="A3A6B4"/>
                </a:solidFill>
                <a:latin typeface="Poppins" pitchFamily="34" charset="0"/>
                <a:ea typeface="Poppins" pitchFamily="34" charset="-122"/>
                <a:cs typeface="Poppins" pitchFamily="34" charset="-120"/>
              </a:rPr>
              <a:t>: o dia da entrega.</a:t>
            </a:r>
            <a:endParaRPr lang="en-US" sz="1700" dirty="0"/>
          </a:p>
        </p:txBody>
      </p:sp>
      <p:sp>
        <p:nvSpPr>
          <p:cNvPr id="5" name="Text 3"/>
          <p:cNvSpPr txBox="1"/>
          <p:nvPr/>
        </p:nvSpPr>
        <p:spPr>
          <a:xfrm>
            <a:off x="761981" y="2096638"/>
            <a:ext cx="1716997" cy="222244"/>
          </a:xfrm>
          <a:prstGeom prst="rect">
            <a:avLst/>
          </a:prstGeom>
          <a:noFill/>
          <a:ln/>
        </p:spPr>
        <p:txBody>
          <a:bodyPr wrap="square" lIns="0" tIns="0" rIns="0" bIns="0" rtlCol="0" anchor="t"/>
          <a:lstStyle/>
          <a:p>
            <a:pPr algn="l" indent="0" marL="0">
              <a:lnSpc>
                <a:spcPct val="106838"/>
              </a:lnSpc>
              <a:buNone/>
            </a:pPr>
            <a:r>
              <a:rPr lang="en-US" sz="1200" dirty="0">
                <a:solidFill>
                  <a:srgbClr val="A3A6B4"/>
                </a:solidFill>
                <a:latin typeface="Poppins" pitchFamily="34" charset="0"/>
                <a:ea typeface="Poppins" pitchFamily="34" charset="-122"/>
                <a:cs typeface="Poppins" pitchFamily="34" charset="-120"/>
              </a:rPr>
              <a:t>Meses</a:t>
            </a:r>
            <a:endParaRPr lang="en-US" sz="1200" dirty="0"/>
          </a:p>
        </p:txBody>
      </p:sp>
      <p:sp>
        <p:nvSpPr>
          <p:cNvPr id="6" name="Text 4"/>
          <p:cNvSpPr txBox="1"/>
          <p:nvPr/>
        </p:nvSpPr>
        <p:spPr>
          <a:xfrm>
            <a:off x="2590735" y="2102988"/>
            <a:ext cx="2248606" cy="209545"/>
          </a:xfrm>
          <a:prstGeom prst="rect">
            <a:avLst/>
          </a:prstGeom>
          <a:noFill/>
          <a:ln/>
        </p:spPr>
        <p:txBody>
          <a:bodyPr wrap="square" lIns="0" tIns="0" rIns="0" bIns="0" rtlCol="0" anchor="t"/>
          <a:lstStyle/>
          <a:p>
            <a:pPr algn="ctr" indent="0" marL="0">
              <a:lnSpc>
                <a:spcPct val="106838"/>
              </a:lnSpc>
              <a:buNone/>
            </a:pPr>
            <a:r>
              <a:rPr lang="en-US" sz="1100" b="1" dirty="0">
                <a:solidFill>
                  <a:srgbClr val="A3A6B4"/>
                </a:solidFill>
                <a:latin typeface="Poppins" pitchFamily="34" charset="0"/>
                <a:ea typeface="Poppins" pitchFamily="34" charset="-122"/>
                <a:cs typeface="Poppins" pitchFamily="34" charset="-120"/>
              </a:rPr>
              <a:t>mês 1</a:t>
            </a:r>
            <a:endParaRPr lang="en-US" sz="1100" dirty="0"/>
          </a:p>
        </p:txBody>
      </p:sp>
      <p:sp>
        <p:nvSpPr>
          <p:cNvPr id="7" name="Text 5"/>
          <p:cNvSpPr txBox="1"/>
          <p:nvPr/>
        </p:nvSpPr>
        <p:spPr>
          <a:xfrm>
            <a:off x="4816355" y="2102988"/>
            <a:ext cx="2248606" cy="209545"/>
          </a:xfrm>
          <a:prstGeom prst="rect">
            <a:avLst/>
          </a:prstGeom>
          <a:noFill/>
          <a:ln/>
        </p:spPr>
        <p:txBody>
          <a:bodyPr wrap="square" lIns="0" tIns="0" rIns="0" bIns="0" rtlCol="0" anchor="t"/>
          <a:lstStyle/>
          <a:p>
            <a:pPr algn="ctr" indent="0" marL="0">
              <a:lnSpc>
                <a:spcPct val="106838"/>
              </a:lnSpc>
              <a:buNone/>
            </a:pPr>
            <a:r>
              <a:rPr lang="en-US" sz="1100" b="1" dirty="0">
                <a:solidFill>
                  <a:srgbClr val="A3A6B4"/>
                </a:solidFill>
                <a:latin typeface="Poppins" pitchFamily="34" charset="0"/>
                <a:ea typeface="Poppins" pitchFamily="34" charset="-122"/>
                <a:cs typeface="Poppins" pitchFamily="34" charset="-120"/>
              </a:rPr>
              <a:t>mês 2</a:t>
            </a:r>
            <a:endParaRPr lang="en-US" sz="1100" dirty="0"/>
          </a:p>
        </p:txBody>
      </p:sp>
      <p:sp>
        <p:nvSpPr>
          <p:cNvPr id="8" name="Text 6"/>
          <p:cNvSpPr txBox="1"/>
          <p:nvPr/>
        </p:nvSpPr>
        <p:spPr>
          <a:xfrm>
            <a:off x="7041974" y="2102988"/>
            <a:ext cx="2248606" cy="209545"/>
          </a:xfrm>
          <a:prstGeom prst="rect">
            <a:avLst/>
          </a:prstGeom>
          <a:noFill/>
          <a:ln/>
        </p:spPr>
        <p:txBody>
          <a:bodyPr wrap="square" lIns="0" tIns="0" rIns="0" bIns="0" rtlCol="0" anchor="t"/>
          <a:lstStyle/>
          <a:p>
            <a:pPr algn="ctr" indent="0" marL="0">
              <a:lnSpc>
                <a:spcPct val="106838"/>
              </a:lnSpc>
              <a:buNone/>
            </a:pPr>
            <a:r>
              <a:rPr lang="en-US" sz="1100" b="1" dirty="0">
                <a:solidFill>
                  <a:srgbClr val="A3A6B4"/>
                </a:solidFill>
                <a:latin typeface="Poppins" pitchFamily="34" charset="0"/>
                <a:ea typeface="Poppins" pitchFamily="34" charset="-122"/>
                <a:cs typeface="Poppins" pitchFamily="34" charset="-120"/>
              </a:rPr>
              <a:t>mês 3</a:t>
            </a:r>
            <a:endParaRPr lang="en-US" sz="1100" dirty="0"/>
          </a:p>
        </p:txBody>
      </p:sp>
      <p:sp>
        <p:nvSpPr>
          <p:cNvPr id="9" name="Text 7"/>
          <p:cNvSpPr txBox="1"/>
          <p:nvPr/>
        </p:nvSpPr>
        <p:spPr>
          <a:xfrm>
            <a:off x="9267593" y="2102988"/>
            <a:ext cx="2248606" cy="209545"/>
          </a:xfrm>
          <a:prstGeom prst="rect">
            <a:avLst/>
          </a:prstGeom>
          <a:noFill/>
          <a:ln/>
        </p:spPr>
        <p:txBody>
          <a:bodyPr wrap="square" lIns="0" tIns="0" rIns="0" bIns="0" rtlCol="0" anchor="t"/>
          <a:lstStyle/>
          <a:p>
            <a:pPr algn="ctr" indent="0" marL="0">
              <a:lnSpc>
                <a:spcPct val="106838"/>
              </a:lnSpc>
              <a:buNone/>
            </a:pPr>
            <a:r>
              <a:rPr lang="en-US" sz="1100" b="1" dirty="0">
                <a:solidFill>
                  <a:srgbClr val="6E7180"/>
                </a:solidFill>
                <a:latin typeface="Poppins" pitchFamily="34" charset="0"/>
                <a:ea typeface="Poppins" pitchFamily="34" charset="-122"/>
                <a:cs typeface="Poppins" pitchFamily="34" charset="-120"/>
              </a:rPr>
              <a:t>mês 4</a:t>
            </a:r>
            <a:endParaRPr lang="en-US" sz="1100" dirty="0"/>
          </a:p>
        </p:txBody>
      </p:sp>
      <p:sp>
        <p:nvSpPr>
          <p:cNvPr id="10" name="Text 8"/>
          <p:cNvSpPr txBox="1"/>
          <p:nvPr/>
        </p:nvSpPr>
        <p:spPr>
          <a:xfrm>
            <a:off x="761981" y="2458579"/>
            <a:ext cx="1716997" cy="438139"/>
          </a:xfrm>
          <a:prstGeom prst="rect">
            <a:avLst/>
          </a:prstGeom>
          <a:noFill/>
          <a:ln/>
        </p:spPr>
        <p:txBody>
          <a:bodyPr wrap="square" lIns="0" tIns="0" rIns="0" bIns="0" rtlCol="0" anchor="t"/>
          <a:lstStyle/>
          <a:p>
            <a:pPr algn="l" indent="0" marL="0">
              <a:lnSpc>
                <a:spcPct val="106838"/>
              </a:lnSpc>
              <a:buNone/>
            </a:pPr>
            <a:r>
              <a:rPr lang="en-US" sz="1300" b="1" dirty="0">
                <a:solidFill>
                  <a:srgbClr val="FFFFFF"/>
                </a:solidFill>
                <a:latin typeface="Poppins" pitchFamily="34" charset="0"/>
                <a:ea typeface="Poppins" pitchFamily="34" charset="-122"/>
                <a:cs typeface="Poppins" pitchFamily="34" charset="-120"/>
              </a:rPr>
              <a:t>O plano</a:t>
            </a:r>
            <a:endParaRPr lang="en-US" sz="1300" dirty="0"/>
          </a:p>
        </p:txBody>
      </p:sp>
      <p:sp>
        <p:nvSpPr>
          <p:cNvPr id="11" name="Text 9"/>
          <p:cNvSpPr txBox="1"/>
          <p:nvPr/>
        </p:nvSpPr>
        <p:spPr>
          <a:xfrm>
            <a:off x="761981" y="2706223"/>
            <a:ext cx="1716997" cy="190495"/>
          </a:xfrm>
          <a:prstGeom prst="rect">
            <a:avLst/>
          </a:prstGeom>
          <a:noFill/>
          <a:ln/>
        </p:spPr>
        <p:txBody>
          <a:bodyPr wrap="square" lIns="0" tIns="0" rIns="0" bIns="0" rtlCol="0" anchor="t"/>
          <a:lstStyle/>
          <a:p>
            <a:pPr algn="l" indent="0" marL="0">
              <a:lnSpc>
                <a:spcPct val="106838"/>
              </a:lnSpc>
              <a:buNone/>
            </a:pPr>
            <a:r>
              <a:rPr lang="en-US" sz="1000" dirty="0">
                <a:solidFill>
                  <a:srgbClr val="A3A6B4"/>
                </a:solidFill>
                <a:latin typeface="Poppins" pitchFamily="34" charset="0"/>
                <a:ea typeface="Poppins" pitchFamily="34" charset="-122"/>
                <a:cs typeface="Poppins" pitchFamily="34" charset="-120"/>
              </a:rPr>
              <a:t>o que foi combinado</a:t>
            </a:r>
            <a:endParaRPr lang="en-US" sz="1000" dirty="0"/>
          </a:p>
        </p:txBody>
      </p:sp>
      <p:sp>
        <p:nvSpPr>
          <p:cNvPr id="12" name="Shape 10"/>
          <p:cNvSpPr/>
          <p:nvPr/>
        </p:nvSpPr>
        <p:spPr>
          <a:xfrm>
            <a:off x="2590735" y="2474454"/>
            <a:ext cx="6613360" cy="406390"/>
          </a:xfrm>
          <a:prstGeom prst="roundRect">
            <a:avLst>
              <a:gd name="adj" fmla="val 21875"/>
            </a:avLst>
          </a:prstGeom>
          <a:solidFill>
            <a:srgbClr val="467CF6"/>
          </a:solidFill>
          <a:ln/>
        </p:spPr>
      </p:sp>
      <p:sp>
        <p:nvSpPr>
          <p:cNvPr id="13" name="Text 11"/>
          <p:cNvSpPr txBox="1"/>
          <p:nvPr/>
        </p:nvSpPr>
        <p:spPr>
          <a:xfrm>
            <a:off x="2743131" y="2474454"/>
            <a:ext cx="6719402" cy="406390"/>
          </a:xfrm>
          <a:prstGeom prst="rect">
            <a:avLst/>
          </a:prstGeom>
          <a:noFill/>
          <a:ln/>
        </p:spPr>
        <p:txBody>
          <a:bodyPr wrap="square" lIns="0" tIns="0" rIns="0" bIns="0" rtlCol="0" anchor="t"/>
          <a:lstStyle/>
          <a:p>
            <a:pPr algn="l" indent="0" marL="0">
              <a:lnSpc>
                <a:spcPct val="106838"/>
              </a:lnSpc>
              <a:buNone/>
            </a:pPr>
            <a:r>
              <a:rPr lang="en-US" sz="1200" b="1" dirty="0">
                <a:solidFill>
                  <a:srgbClr val="FFFFFF"/>
                </a:solidFill>
                <a:latin typeface="Poppins" pitchFamily="34" charset="0"/>
                <a:ea typeface="Poppins" pitchFamily="34" charset="-122"/>
                <a:cs typeface="Poppins" pitchFamily="34" charset="-120"/>
              </a:rPr>
              <a:t>100% pronto em 3 meses</a:t>
            </a:r>
            <a:endParaRPr lang="en-US" sz="1200" dirty="0"/>
          </a:p>
        </p:txBody>
      </p:sp>
      <p:sp>
        <p:nvSpPr>
          <p:cNvPr id="14" name="Shape 12"/>
          <p:cNvSpPr/>
          <p:nvPr/>
        </p:nvSpPr>
        <p:spPr>
          <a:xfrm>
            <a:off x="9267593" y="2474454"/>
            <a:ext cx="2162121" cy="406390"/>
          </a:xfrm>
          <a:prstGeom prst="roundRect">
            <a:avLst>
              <a:gd name="adj" fmla="val 21875"/>
            </a:avLst>
          </a:prstGeom>
          <a:ln w="12700">
            <a:solidFill>
              <a:srgbClr val="2F2F39"/>
            </a:solidFill>
            <a:prstDash val="dash"/>
          </a:ln>
        </p:spPr>
      </p:sp>
      <p:sp>
        <p:nvSpPr>
          <p:cNvPr id="15" name="Text 13"/>
          <p:cNvSpPr txBox="1"/>
          <p:nvPr/>
        </p:nvSpPr>
        <p:spPr>
          <a:xfrm>
            <a:off x="761981" y="3036415"/>
            <a:ext cx="1716997" cy="438139"/>
          </a:xfrm>
          <a:prstGeom prst="rect">
            <a:avLst/>
          </a:prstGeom>
          <a:noFill/>
          <a:ln/>
        </p:spPr>
        <p:txBody>
          <a:bodyPr wrap="square" lIns="0" tIns="0" rIns="0" bIns="0" rtlCol="0" anchor="t"/>
          <a:lstStyle/>
          <a:p>
            <a:pPr algn="l" indent="0" marL="0">
              <a:lnSpc>
                <a:spcPct val="106838"/>
              </a:lnSpc>
              <a:buNone/>
            </a:pPr>
            <a:r>
              <a:rPr lang="en-US" sz="1300" b="1" dirty="0">
                <a:solidFill>
                  <a:srgbClr val="FFFFFF"/>
                </a:solidFill>
                <a:latin typeface="Poppins" pitchFamily="34" charset="0"/>
                <a:ea typeface="Poppins" pitchFamily="34" charset="-122"/>
                <a:cs typeface="Poppins" pitchFamily="34" charset="-120"/>
              </a:rPr>
              <a:t>A realidade</a:t>
            </a:r>
            <a:endParaRPr lang="en-US" sz="1300" dirty="0"/>
          </a:p>
        </p:txBody>
      </p:sp>
      <p:sp>
        <p:nvSpPr>
          <p:cNvPr id="16" name="Text 14"/>
          <p:cNvSpPr txBox="1"/>
          <p:nvPr/>
        </p:nvSpPr>
        <p:spPr>
          <a:xfrm>
            <a:off x="761981" y="3284059"/>
            <a:ext cx="1716997" cy="190495"/>
          </a:xfrm>
          <a:prstGeom prst="rect">
            <a:avLst/>
          </a:prstGeom>
          <a:noFill/>
          <a:ln/>
        </p:spPr>
        <p:txBody>
          <a:bodyPr wrap="square" lIns="0" tIns="0" rIns="0" bIns="0" rtlCol="0" anchor="t"/>
          <a:lstStyle/>
          <a:p>
            <a:pPr algn="l" indent="0" marL="0">
              <a:lnSpc>
                <a:spcPct val="106838"/>
              </a:lnSpc>
              <a:buNone/>
            </a:pPr>
            <a:r>
              <a:rPr lang="en-US" sz="1000" dirty="0">
                <a:solidFill>
                  <a:srgbClr val="A3A6B4"/>
                </a:solidFill>
                <a:latin typeface="Poppins" pitchFamily="34" charset="0"/>
                <a:ea typeface="Poppins" pitchFamily="34" charset="-122"/>
                <a:cs typeface="Poppins" pitchFamily="34" charset="-120"/>
              </a:rPr>
              <a:t>o que está pronto hoje</a:t>
            </a:r>
            <a:endParaRPr lang="en-US" sz="1000" dirty="0"/>
          </a:p>
        </p:txBody>
      </p:sp>
      <p:sp>
        <p:nvSpPr>
          <p:cNvPr id="17" name="Shape 15"/>
          <p:cNvSpPr/>
          <p:nvPr/>
        </p:nvSpPr>
        <p:spPr>
          <a:xfrm>
            <a:off x="2590735" y="3052289"/>
            <a:ext cx="4960020" cy="406390"/>
          </a:xfrm>
          <a:prstGeom prst="rect">
            <a:avLst/>
          </a:prstGeom>
          <a:solidFill>
            <a:srgbClr val="FFD166"/>
          </a:solidFill>
          <a:ln/>
        </p:spPr>
      </p:sp>
      <p:sp>
        <p:nvSpPr>
          <p:cNvPr id="18" name="Text 16"/>
          <p:cNvSpPr txBox="1"/>
          <p:nvPr/>
        </p:nvSpPr>
        <p:spPr>
          <a:xfrm>
            <a:off x="2743131" y="3052289"/>
            <a:ext cx="4999928" cy="406390"/>
          </a:xfrm>
          <a:prstGeom prst="rect">
            <a:avLst/>
          </a:prstGeom>
          <a:noFill/>
          <a:ln/>
        </p:spPr>
        <p:txBody>
          <a:bodyPr wrap="square" lIns="0" tIns="0" rIns="0" bIns="0" rtlCol="0" anchor="t"/>
          <a:lstStyle/>
          <a:p>
            <a:pPr algn="l" indent="0" marL="0">
              <a:lnSpc>
                <a:spcPct val="106838"/>
              </a:lnSpc>
              <a:buNone/>
            </a:pPr>
            <a:r>
              <a:rPr lang="en-US" sz="1200" b="1" dirty="0">
                <a:solidFill>
                  <a:srgbClr val="14141A"/>
                </a:solidFill>
                <a:latin typeface="Poppins" pitchFamily="34" charset="0"/>
                <a:ea typeface="Poppins" pitchFamily="34" charset="-122"/>
                <a:cs typeface="Poppins" pitchFamily="34" charset="-120"/>
              </a:rPr>
              <a:t>75% pronto</a:t>
            </a:r>
            <a:endParaRPr lang="en-US" sz="1200" dirty="0"/>
          </a:p>
        </p:txBody>
      </p:sp>
      <p:sp>
        <p:nvSpPr>
          <p:cNvPr id="19" name="Shape 17"/>
          <p:cNvSpPr/>
          <p:nvPr/>
        </p:nvSpPr>
        <p:spPr>
          <a:xfrm>
            <a:off x="7550755" y="3052289"/>
            <a:ext cx="1653340" cy="406390"/>
          </a:xfrm>
          <a:prstGeom prst="rect">
            <a:avLst/>
          </a:prstGeom>
          <a:solidFill>
            <a:srgbClr val="25252D"/>
          </a:solidFill>
          <a:ln/>
        </p:spPr>
      </p:sp>
      <p:sp>
        <p:nvSpPr>
          <p:cNvPr id="20" name="Text 18"/>
          <p:cNvSpPr txBox="1"/>
          <p:nvPr/>
        </p:nvSpPr>
        <p:spPr>
          <a:xfrm>
            <a:off x="7550755" y="3052289"/>
            <a:ext cx="1719474" cy="406390"/>
          </a:xfrm>
          <a:prstGeom prst="rect">
            <a:avLst/>
          </a:prstGeom>
          <a:noFill/>
          <a:ln/>
        </p:spPr>
        <p:txBody>
          <a:bodyPr wrap="square" lIns="0" tIns="0" rIns="0" bIns="0" rtlCol="0" anchor="t"/>
          <a:lstStyle/>
          <a:p>
            <a:pPr algn="l" indent="0" marL="0">
              <a:lnSpc>
                <a:spcPct val="106838"/>
              </a:lnSpc>
              <a:buNone/>
            </a:pPr>
            <a:r>
              <a:rPr lang="en-US" sz="1200" b="1" dirty="0">
                <a:solidFill>
                  <a:srgbClr val="A3A6B4"/>
                </a:solidFill>
                <a:latin typeface="Poppins" pitchFamily="34" charset="0"/>
                <a:ea typeface="Poppins" pitchFamily="34" charset="-122"/>
                <a:cs typeface="Poppins" pitchFamily="34" charset="-120"/>
              </a:rPr>
              <a:t>falta 25%</a:t>
            </a:r>
            <a:endParaRPr lang="en-US" sz="1200" dirty="0"/>
          </a:p>
        </p:txBody>
      </p:sp>
      <p:sp>
        <p:nvSpPr>
          <p:cNvPr id="21" name="Shape 19"/>
          <p:cNvSpPr/>
          <p:nvPr/>
        </p:nvSpPr>
        <p:spPr>
          <a:xfrm>
            <a:off x="9267593" y="3052289"/>
            <a:ext cx="2162121" cy="406390"/>
          </a:xfrm>
          <a:prstGeom prst="roundRect">
            <a:avLst>
              <a:gd name="adj" fmla="val 21875"/>
            </a:avLst>
          </a:prstGeom>
          <a:ln w="12700">
            <a:solidFill>
              <a:srgbClr val="FF6B6B"/>
            </a:solidFill>
            <a:prstDash val="dash"/>
          </a:ln>
        </p:spPr>
      </p:sp>
      <p:sp>
        <p:nvSpPr>
          <p:cNvPr id="22" name="Text 20"/>
          <p:cNvSpPr txBox="1"/>
          <p:nvPr/>
        </p:nvSpPr>
        <p:spPr>
          <a:xfrm>
            <a:off x="9280293" y="3064989"/>
            <a:ext cx="2235398" cy="393690"/>
          </a:xfrm>
          <a:prstGeom prst="rect">
            <a:avLst/>
          </a:prstGeom>
          <a:noFill/>
          <a:ln/>
        </p:spPr>
        <p:txBody>
          <a:bodyPr wrap="square" lIns="0" tIns="0" rIns="0" bIns="0" rtlCol="0" anchor="t"/>
          <a:lstStyle/>
          <a:p>
            <a:pPr algn="l" indent="0" marL="0">
              <a:lnSpc>
                <a:spcPct val="106838"/>
              </a:lnSpc>
              <a:buNone/>
            </a:pPr>
            <a:r>
              <a:rPr lang="en-US" sz="1100" b="1" dirty="0">
                <a:solidFill>
                  <a:srgbClr val="FF6B6B"/>
                </a:solidFill>
                <a:latin typeface="Poppins" pitchFamily="34" charset="0"/>
                <a:ea typeface="Poppins" pitchFamily="34" charset="-122"/>
                <a:cs typeface="Poppins" pitchFamily="34" charset="-120"/>
              </a:rPr>
              <a:t>+1 mês</a:t>
            </a:r>
            <a:endParaRPr lang="en-US" sz="1100" dirty="0"/>
          </a:p>
        </p:txBody>
      </p:sp>
      <p:sp>
        <p:nvSpPr>
          <p:cNvPr id="23" name="Text 21"/>
          <p:cNvSpPr txBox="1"/>
          <p:nvPr/>
        </p:nvSpPr>
        <p:spPr>
          <a:xfrm>
            <a:off x="761981" y="3614250"/>
            <a:ext cx="1716997" cy="438139"/>
          </a:xfrm>
          <a:prstGeom prst="rect">
            <a:avLst/>
          </a:prstGeom>
          <a:noFill/>
          <a:ln/>
        </p:spPr>
        <p:txBody>
          <a:bodyPr wrap="square" lIns="0" tIns="0" rIns="0" bIns="0" rtlCol="0" anchor="t"/>
          <a:lstStyle/>
          <a:p>
            <a:pPr algn="l" indent="0" marL="0">
              <a:lnSpc>
                <a:spcPct val="106838"/>
              </a:lnSpc>
              <a:buNone/>
            </a:pPr>
            <a:r>
              <a:rPr lang="en-US" sz="1300" b="1" dirty="0">
                <a:solidFill>
                  <a:srgbClr val="FFFFFF"/>
                </a:solidFill>
                <a:latin typeface="Poppins" pitchFamily="34" charset="0"/>
                <a:ea typeface="Poppins" pitchFamily="34" charset="-122"/>
                <a:cs typeface="Poppins" pitchFamily="34" charset="-120"/>
              </a:rPr>
              <a:t>O dinheiro</a:t>
            </a:r>
            <a:endParaRPr lang="en-US" sz="1300" dirty="0"/>
          </a:p>
        </p:txBody>
      </p:sp>
      <p:sp>
        <p:nvSpPr>
          <p:cNvPr id="24" name="Text 22"/>
          <p:cNvSpPr txBox="1"/>
          <p:nvPr/>
        </p:nvSpPr>
        <p:spPr>
          <a:xfrm>
            <a:off x="761981" y="3861894"/>
            <a:ext cx="1716997" cy="190495"/>
          </a:xfrm>
          <a:prstGeom prst="rect">
            <a:avLst/>
          </a:prstGeom>
          <a:noFill/>
          <a:ln/>
        </p:spPr>
        <p:txBody>
          <a:bodyPr wrap="square" lIns="0" tIns="0" rIns="0" bIns="0" rtlCol="0" anchor="t"/>
          <a:lstStyle/>
          <a:p>
            <a:pPr algn="l" indent="0" marL="0">
              <a:lnSpc>
                <a:spcPct val="106838"/>
              </a:lnSpc>
              <a:buNone/>
            </a:pPr>
            <a:r>
              <a:rPr lang="en-US" sz="1000" dirty="0">
                <a:solidFill>
                  <a:srgbClr val="A3A6B4"/>
                </a:solidFill>
                <a:latin typeface="Poppins" pitchFamily="34" charset="0"/>
                <a:ea typeface="Poppins" pitchFamily="34" charset="-122"/>
                <a:cs typeface="Poppins" pitchFamily="34" charset="-120"/>
              </a:rPr>
              <a:t>o que já foi gasto</a:t>
            </a:r>
            <a:endParaRPr lang="en-US" sz="1000" dirty="0"/>
          </a:p>
        </p:txBody>
      </p:sp>
      <p:sp>
        <p:nvSpPr>
          <p:cNvPr id="25" name="Shape 23"/>
          <p:cNvSpPr/>
          <p:nvPr/>
        </p:nvSpPr>
        <p:spPr>
          <a:xfrm>
            <a:off x="2590735" y="3630125"/>
            <a:ext cx="6613360" cy="406390"/>
          </a:xfrm>
          <a:prstGeom prst="roundRect">
            <a:avLst>
              <a:gd name="adj" fmla="val 21875"/>
            </a:avLst>
          </a:prstGeom>
          <a:solidFill>
            <a:srgbClr val="FF6B6B"/>
          </a:solidFill>
          <a:ln/>
        </p:spPr>
      </p:sp>
      <p:sp>
        <p:nvSpPr>
          <p:cNvPr id="26" name="Text 24"/>
          <p:cNvSpPr txBox="1"/>
          <p:nvPr/>
        </p:nvSpPr>
        <p:spPr>
          <a:xfrm>
            <a:off x="2743131" y="3630125"/>
            <a:ext cx="6719402" cy="406390"/>
          </a:xfrm>
          <a:prstGeom prst="rect">
            <a:avLst/>
          </a:prstGeom>
          <a:noFill/>
          <a:ln/>
        </p:spPr>
        <p:txBody>
          <a:bodyPr wrap="square" lIns="0" tIns="0" rIns="0" bIns="0" rtlCol="0" anchor="t"/>
          <a:lstStyle/>
          <a:p>
            <a:pPr algn="l" indent="0" marL="0">
              <a:lnSpc>
                <a:spcPct val="106838"/>
              </a:lnSpc>
              <a:buNone/>
            </a:pPr>
            <a:r>
              <a:rPr lang="en-US" sz="1200" b="1" dirty="0">
                <a:solidFill>
                  <a:srgbClr val="FFFFFF"/>
                </a:solidFill>
                <a:latin typeface="Poppins" pitchFamily="34" charset="0"/>
                <a:ea typeface="Poppins" pitchFamily="34" charset="-122"/>
                <a:cs typeface="Poppins" pitchFamily="34" charset="-120"/>
              </a:rPr>
              <a:t>R$ 300 mil gastos · o orçamento inteiro</a:t>
            </a:r>
            <a:endParaRPr lang="en-US" sz="1200" dirty="0"/>
          </a:p>
        </p:txBody>
      </p:sp>
      <p:sp>
        <p:nvSpPr>
          <p:cNvPr id="27" name="Shape 25"/>
          <p:cNvSpPr/>
          <p:nvPr/>
        </p:nvSpPr>
        <p:spPr>
          <a:xfrm>
            <a:off x="9267593" y="3630125"/>
            <a:ext cx="2162121" cy="406390"/>
          </a:xfrm>
          <a:prstGeom prst="roundRect">
            <a:avLst>
              <a:gd name="adj" fmla="val 21875"/>
            </a:avLst>
          </a:prstGeom>
          <a:ln w="12700">
            <a:solidFill>
              <a:srgbClr val="FF6B6B"/>
            </a:solidFill>
            <a:prstDash val="dash"/>
          </a:ln>
        </p:spPr>
      </p:sp>
      <p:sp>
        <p:nvSpPr>
          <p:cNvPr id="28" name="Text 26"/>
          <p:cNvSpPr txBox="1"/>
          <p:nvPr/>
        </p:nvSpPr>
        <p:spPr>
          <a:xfrm>
            <a:off x="9280293" y="3642825"/>
            <a:ext cx="2235398" cy="393690"/>
          </a:xfrm>
          <a:prstGeom prst="rect">
            <a:avLst/>
          </a:prstGeom>
          <a:noFill/>
          <a:ln/>
        </p:spPr>
        <p:txBody>
          <a:bodyPr wrap="square" lIns="0" tIns="0" rIns="0" bIns="0" rtlCol="0" anchor="t"/>
          <a:lstStyle/>
          <a:p>
            <a:pPr algn="l" indent="0" marL="0">
              <a:lnSpc>
                <a:spcPct val="106838"/>
              </a:lnSpc>
              <a:buNone/>
            </a:pPr>
            <a:r>
              <a:rPr lang="en-US" sz="1100" b="1" dirty="0">
                <a:solidFill>
                  <a:srgbClr val="FF6B6B"/>
                </a:solidFill>
                <a:latin typeface="Poppins" pitchFamily="34" charset="0"/>
                <a:ea typeface="Poppins" pitchFamily="34" charset="-122"/>
                <a:cs typeface="Poppins" pitchFamily="34" charset="-120"/>
              </a:rPr>
              <a:t>+ R$ ?</a:t>
            </a:r>
            <a:endParaRPr lang="en-US" sz="1100" dirty="0"/>
          </a:p>
        </p:txBody>
      </p:sp>
      <p:sp>
        <p:nvSpPr>
          <p:cNvPr id="29" name="Shape 27"/>
          <p:cNvSpPr/>
          <p:nvPr/>
        </p:nvSpPr>
        <p:spPr>
          <a:xfrm>
            <a:off x="9169171" y="2127197"/>
            <a:ext cx="19050" cy="2095448"/>
          </a:xfrm>
          <a:prstGeom prst="rect">
            <a:avLst/>
          </a:prstGeom>
          <a:solidFill>
            <a:srgbClr val="FF6B6B"/>
          </a:solidFill>
          <a:ln/>
        </p:spPr>
      </p:sp>
      <p:sp>
        <p:nvSpPr>
          <p:cNvPr id="30" name="Text 28"/>
          <p:cNvSpPr txBox="1"/>
          <p:nvPr/>
        </p:nvSpPr>
        <p:spPr>
          <a:xfrm>
            <a:off x="9245369" y="1943051"/>
            <a:ext cx="401080" cy="190495"/>
          </a:xfrm>
          <a:prstGeom prst="rect">
            <a:avLst/>
          </a:prstGeom>
          <a:noFill/>
          <a:ln/>
        </p:spPr>
        <p:txBody>
          <a:bodyPr wrap="square" lIns="0" tIns="0" rIns="0" bIns="0" rtlCol="0" anchor="t"/>
          <a:lstStyle/>
          <a:p>
            <a:pPr algn="l" indent="0" marL="0">
              <a:lnSpc>
                <a:spcPct val="106838"/>
              </a:lnSpc>
              <a:buNone/>
            </a:pPr>
            <a:r>
              <a:rPr lang="en-US" sz="1000" b="1" spc="100" kern="0" dirty="0">
                <a:solidFill>
                  <a:srgbClr val="FF6B6B"/>
                </a:solidFill>
                <a:latin typeface="Poppins" pitchFamily="34" charset="0"/>
                <a:ea typeface="Poppins" pitchFamily="34" charset="-122"/>
                <a:cs typeface="Poppins" pitchFamily="34" charset="-120"/>
              </a:rPr>
              <a:t>HOJE</a:t>
            </a:r>
            <a:endParaRPr lang="en-US" sz="1000" dirty="0"/>
          </a:p>
        </p:txBody>
      </p:sp>
      <p:sp>
        <p:nvSpPr>
          <p:cNvPr id="31" name="Shape 29"/>
          <p:cNvSpPr/>
          <p:nvPr/>
        </p:nvSpPr>
        <p:spPr>
          <a:xfrm>
            <a:off x="761981" y="4268284"/>
            <a:ext cx="25399" cy="495288"/>
          </a:xfrm>
          <a:prstGeom prst="rect">
            <a:avLst/>
          </a:prstGeom>
          <a:solidFill>
            <a:srgbClr val="22C2F4"/>
          </a:solidFill>
          <a:ln/>
        </p:spPr>
      </p:sp>
      <p:sp>
        <p:nvSpPr>
          <p:cNvPr id="32" name="Text 30"/>
          <p:cNvSpPr txBox="1"/>
          <p:nvPr/>
        </p:nvSpPr>
        <p:spPr>
          <a:xfrm>
            <a:off x="914377" y="4306383"/>
            <a:ext cx="10935951" cy="419090"/>
          </a:xfrm>
          <a:prstGeom prst="rect">
            <a:avLst/>
          </a:prstGeom>
          <a:noFill/>
          <a:ln/>
        </p:spPr>
        <p:txBody>
          <a:bodyPr wrap="square" lIns="0" tIns="0" rIns="0" bIns="0" rtlCol="0" anchor="t"/>
          <a:lstStyle/>
          <a:p>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Três perguntas, três números: </a:t>
            </a:r>
            <a:pPr algn="l" indent="0" marL="0">
              <a:lnSpc>
                <a:spcPct val="106838"/>
              </a:lnSpc>
              <a:buNone/>
            </a:pPr>
            <a:r>
              <a:rPr lang="en-US" sz="1100" b="1" dirty="0">
                <a:solidFill>
                  <a:srgbClr val="FFFFFF"/>
                </a:solidFill>
                <a:latin typeface="Poppins" pitchFamily="34" charset="0"/>
                <a:ea typeface="Poppins" pitchFamily="34" charset="-122"/>
                <a:cs typeface="Poppins" pitchFamily="34" charset="-120"/>
              </a:rPr>
              <a:t>quanto devia estar pronto</a:t>
            </a:r>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 (100%), </a:t>
            </a:r>
            <a:pPr algn="l" indent="0" marL="0">
              <a:lnSpc>
                <a:spcPct val="106838"/>
              </a:lnSpc>
              <a:buNone/>
            </a:pPr>
            <a:r>
              <a:rPr lang="en-US" sz="1100" b="1" dirty="0">
                <a:solidFill>
                  <a:srgbClr val="FFFFFF"/>
                </a:solidFill>
                <a:latin typeface="Poppins" pitchFamily="34" charset="0"/>
                <a:ea typeface="Poppins" pitchFamily="34" charset="-122"/>
                <a:cs typeface="Poppins" pitchFamily="34" charset="-120"/>
              </a:rPr>
              <a:t>quanto está pronto</a:t>
            </a:r>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 (75%), </a:t>
            </a:r>
            <a:pPr algn="l" indent="0" marL="0">
              <a:lnSpc>
                <a:spcPct val="106838"/>
              </a:lnSpc>
              <a:buNone/>
            </a:pPr>
            <a:r>
              <a:rPr lang="en-US" sz="1100" b="1" dirty="0">
                <a:solidFill>
                  <a:srgbClr val="FFFFFF"/>
                </a:solidFill>
                <a:latin typeface="Poppins" pitchFamily="34" charset="0"/>
                <a:ea typeface="Poppins" pitchFamily="34" charset="-122"/>
                <a:cs typeface="Poppins" pitchFamily="34" charset="-120"/>
              </a:rPr>
              <a:t>quanto já custou</a:t>
            </a:r>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 (R$ 300 mil). Tudo o que vem agora é dividir um pelo outro.</a:t>
            </a:r>
            <a:endParaRPr lang="en-US" sz="1100" dirty="0"/>
          </a:p>
        </p:txBody>
      </p:sp>
      <p:pic>
        <p:nvPicPr>
          <p:cNvPr id="33"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34" name="Text 31"/>
          <p:cNvSpPr txBox="1"/>
          <p:nvPr/>
        </p:nvSpPr>
        <p:spPr>
          <a:xfrm>
            <a:off x="10950797" y="6387940"/>
            <a:ext cx="498074"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57 / 133</a:t>
            </a:r>
            <a:endParaRPr lang="en-US" sz="10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SPI · SCHEDULE PERFORMANCE INDEX · ÍNDICE DE PRAZO</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SPI: quanto do que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devia</a:t>
            </a:r>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 estar pronto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está</a:t>
            </a:r>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 pronto?</a:t>
            </a:r>
            <a:endParaRPr lang="en-US" sz="3100" dirty="0"/>
          </a:p>
        </p:txBody>
      </p:sp>
      <p:sp>
        <p:nvSpPr>
          <p:cNvPr id="4" name="Text 2"/>
          <p:cNvSpPr txBox="1"/>
          <p:nvPr/>
        </p:nvSpPr>
        <p:spPr>
          <a:xfrm>
            <a:off x="761981" y="1645799"/>
            <a:ext cx="1981150" cy="628634"/>
          </a:xfrm>
          <a:prstGeom prst="rect">
            <a:avLst/>
          </a:prstGeom>
          <a:noFill/>
          <a:ln/>
        </p:spPr>
        <p:txBody>
          <a:bodyPr wrap="square" lIns="0" tIns="0" rIns="0" bIns="0" rtlCol="0" anchor="t"/>
          <a:lstStyle/>
          <a:p>
            <a:pPr algn="l" indent="0" marL="0">
              <a:lnSpc>
                <a:spcPct val="106838"/>
              </a:lnSpc>
              <a:buNone/>
            </a:pPr>
            <a:r>
              <a:rPr lang="en-US" sz="1300" b="1" dirty="0">
                <a:solidFill>
                  <a:srgbClr val="FFFFFF"/>
                </a:solidFill>
                <a:latin typeface="Poppins" pitchFamily="34" charset="0"/>
                <a:ea typeface="Poppins" pitchFamily="34" charset="-122"/>
                <a:cs typeface="Poppins" pitchFamily="34" charset="-120"/>
              </a:rPr>
              <a:t>Devia estar pronto</a:t>
            </a:r>
            <a:endParaRPr lang="en-US" sz="1300" dirty="0"/>
          </a:p>
        </p:txBody>
      </p:sp>
      <p:sp>
        <p:nvSpPr>
          <p:cNvPr id="5" name="Text 3"/>
          <p:cNvSpPr txBox="1"/>
          <p:nvPr/>
        </p:nvSpPr>
        <p:spPr>
          <a:xfrm>
            <a:off x="761981" y="1893443"/>
            <a:ext cx="1981150" cy="380990"/>
          </a:xfrm>
          <a:prstGeom prst="rect">
            <a:avLst/>
          </a:prstGeom>
          <a:noFill/>
          <a:ln/>
        </p:spPr>
        <p:txBody>
          <a:bodyPr wrap="square" lIns="0" tIns="0" rIns="0" bIns="0" rtlCol="0" anchor="t"/>
          <a:lstStyle/>
          <a:p>
            <a:pPr algn="l" indent="0" marL="0">
              <a:lnSpc>
                <a:spcPct val="106838"/>
              </a:lnSpc>
              <a:buNone/>
            </a:pPr>
            <a:r>
              <a:rPr lang="en-US" sz="1000" dirty="0">
                <a:solidFill>
                  <a:srgbClr val="A3A6B4"/>
                </a:solidFill>
                <a:latin typeface="Poppins" pitchFamily="34" charset="0"/>
                <a:ea typeface="Poppins" pitchFamily="34" charset="-122"/>
                <a:cs typeface="Poppins" pitchFamily="34" charset="-120"/>
              </a:rPr>
              <a:t>PV · pelo plano, no fim do 3º mês</a:t>
            </a:r>
            <a:endParaRPr lang="en-US" sz="1000" dirty="0"/>
          </a:p>
        </p:txBody>
      </p:sp>
      <p:sp>
        <p:nvSpPr>
          <p:cNvPr id="6" name="Shape 4"/>
          <p:cNvSpPr/>
          <p:nvPr/>
        </p:nvSpPr>
        <p:spPr>
          <a:xfrm>
            <a:off x="2844729" y="1756922"/>
            <a:ext cx="7137222" cy="406390"/>
          </a:xfrm>
          <a:prstGeom prst="roundRect">
            <a:avLst>
              <a:gd name="adj" fmla="val 21875"/>
            </a:avLst>
          </a:prstGeom>
          <a:solidFill>
            <a:srgbClr val="467CF6"/>
          </a:solidFill>
          <a:ln/>
        </p:spPr>
      </p:sp>
      <p:sp>
        <p:nvSpPr>
          <p:cNvPr id="7" name="Text 5"/>
          <p:cNvSpPr txBox="1"/>
          <p:nvPr/>
        </p:nvSpPr>
        <p:spPr>
          <a:xfrm>
            <a:off x="2997125" y="1756922"/>
            <a:ext cx="7264218" cy="406390"/>
          </a:xfrm>
          <a:prstGeom prst="rect">
            <a:avLst/>
          </a:prstGeom>
          <a:noFill/>
          <a:ln/>
        </p:spPr>
        <p:txBody>
          <a:bodyPr wrap="square" lIns="0" tIns="0" rIns="0" bIns="0" rtlCol="0" anchor="t"/>
          <a:lstStyle/>
          <a:p>
            <a:pPr algn="l" indent="0" marL="0">
              <a:lnSpc>
                <a:spcPct val="106838"/>
              </a:lnSpc>
              <a:buNone/>
            </a:pPr>
            <a:r>
              <a:rPr lang="en-US" sz="1200" b="1" dirty="0">
                <a:solidFill>
                  <a:srgbClr val="FFFFFF"/>
                </a:solidFill>
                <a:latin typeface="Poppins" pitchFamily="34" charset="0"/>
                <a:ea typeface="Poppins" pitchFamily="34" charset="-122"/>
                <a:cs typeface="Poppins" pitchFamily="34" charset="-120"/>
              </a:rPr>
              <a:t>100%</a:t>
            </a:r>
            <a:endParaRPr lang="en-US" sz="1200" dirty="0"/>
          </a:p>
        </p:txBody>
      </p:sp>
      <p:sp>
        <p:nvSpPr>
          <p:cNvPr id="8" name="Text 6"/>
          <p:cNvSpPr txBox="1"/>
          <p:nvPr/>
        </p:nvSpPr>
        <p:spPr>
          <a:xfrm>
            <a:off x="761981" y="2439530"/>
            <a:ext cx="1981150" cy="438139"/>
          </a:xfrm>
          <a:prstGeom prst="rect">
            <a:avLst/>
          </a:prstGeom>
          <a:noFill/>
          <a:ln/>
        </p:spPr>
        <p:txBody>
          <a:bodyPr wrap="square" lIns="0" tIns="0" rIns="0" bIns="0" rtlCol="0" anchor="t"/>
          <a:lstStyle/>
          <a:p>
            <a:pPr algn="l" indent="0" marL="0">
              <a:lnSpc>
                <a:spcPct val="106838"/>
              </a:lnSpc>
              <a:buNone/>
            </a:pPr>
            <a:r>
              <a:rPr lang="en-US" sz="1300" b="1" dirty="0">
                <a:solidFill>
                  <a:srgbClr val="FFFFFF"/>
                </a:solidFill>
                <a:latin typeface="Poppins" pitchFamily="34" charset="0"/>
                <a:ea typeface="Poppins" pitchFamily="34" charset="-122"/>
                <a:cs typeface="Poppins" pitchFamily="34" charset="-120"/>
              </a:rPr>
              <a:t>Está pronto</a:t>
            </a:r>
            <a:endParaRPr lang="en-US" sz="1300" dirty="0"/>
          </a:p>
        </p:txBody>
      </p:sp>
      <p:sp>
        <p:nvSpPr>
          <p:cNvPr id="9" name="Text 7"/>
          <p:cNvSpPr txBox="1"/>
          <p:nvPr/>
        </p:nvSpPr>
        <p:spPr>
          <a:xfrm>
            <a:off x="761981" y="2687173"/>
            <a:ext cx="1981150" cy="190495"/>
          </a:xfrm>
          <a:prstGeom prst="rect">
            <a:avLst/>
          </a:prstGeom>
          <a:noFill/>
          <a:ln/>
        </p:spPr>
        <p:txBody>
          <a:bodyPr wrap="square" lIns="0" tIns="0" rIns="0" bIns="0" rtlCol="0" anchor="t"/>
          <a:lstStyle/>
          <a:p>
            <a:pPr algn="l" indent="0" marL="0">
              <a:lnSpc>
                <a:spcPct val="106838"/>
              </a:lnSpc>
              <a:buNone/>
            </a:pPr>
            <a:r>
              <a:rPr lang="en-US" sz="1000" dirty="0">
                <a:solidFill>
                  <a:srgbClr val="A3A6B4"/>
                </a:solidFill>
                <a:latin typeface="Poppins" pitchFamily="34" charset="0"/>
                <a:ea typeface="Poppins" pitchFamily="34" charset="-122"/>
                <a:cs typeface="Poppins" pitchFamily="34" charset="-120"/>
              </a:rPr>
              <a:t>EV · valor agregado</a:t>
            </a:r>
            <a:endParaRPr lang="en-US" sz="1000" dirty="0"/>
          </a:p>
        </p:txBody>
      </p:sp>
      <p:sp>
        <p:nvSpPr>
          <p:cNvPr id="10" name="Shape 8"/>
          <p:cNvSpPr/>
          <p:nvPr/>
        </p:nvSpPr>
        <p:spPr>
          <a:xfrm>
            <a:off x="2844729" y="2455404"/>
            <a:ext cx="5352916" cy="406390"/>
          </a:xfrm>
          <a:prstGeom prst="rect">
            <a:avLst/>
          </a:prstGeom>
          <a:solidFill>
            <a:srgbClr val="FFD166"/>
          </a:solidFill>
          <a:ln/>
        </p:spPr>
      </p:sp>
      <p:sp>
        <p:nvSpPr>
          <p:cNvPr id="11" name="Text 9"/>
          <p:cNvSpPr txBox="1"/>
          <p:nvPr/>
        </p:nvSpPr>
        <p:spPr>
          <a:xfrm>
            <a:off x="2997125" y="2455404"/>
            <a:ext cx="5408541" cy="406390"/>
          </a:xfrm>
          <a:prstGeom prst="rect">
            <a:avLst/>
          </a:prstGeom>
          <a:noFill/>
          <a:ln/>
        </p:spPr>
        <p:txBody>
          <a:bodyPr wrap="square" lIns="0" tIns="0" rIns="0" bIns="0" rtlCol="0" anchor="t"/>
          <a:lstStyle/>
          <a:p>
            <a:pPr algn="l" indent="0" marL="0">
              <a:lnSpc>
                <a:spcPct val="106838"/>
              </a:lnSpc>
              <a:buNone/>
            </a:pPr>
            <a:r>
              <a:rPr lang="en-US" sz="1200" b="1" dirty="0">
                <a:solidFill>
                  <a:srgbClr val="14141A"/>
                </a:solidFill>
                <a:latin typeface="Poppins" pitchFamily="34" charset="0"/>
                <a:ea typeface="Poppins" pitchFamily="34" charset="-122"/>
                <a:cs typeface="Poppins" pitchFamily="34" charset="-120"/>
              </a:rPr>
              <a:t>75%</a:t>
            </a:r>
            <a:endParaRPr lang="en-US" sz="1200" dirty="0"/>
          </a:p>
        </p:txBody>
      </p:sp>
      <p:sp>
        <p:nvSpPr>
          <p:cNvPr id="12" name="Shape 10"/>
          <p:cNvSpPr/>
          <p:nvPr/>
        </p:nvSpPr>
        <p:spPr>
          <a:xfrm>
            <a:off x="8197645" y="2455404"/>
            <a:ext cx="1784305" cy="406390"/>
          </a:xfrm>
          <a:prstGeom prst="rect">
            <a:avLst/>
          </a:prstGeom>
          <a:solidFill>
            <a:srgbClr val="25252D"/>
          </a:solidFill>
          <a:ln/>
        </p:spPr>
      </p:sp>
      <p:sp>
        <p:nvSpPr>
          <p:cNvPr id="13" name="Shape 11"/>
          <p:cNvSpPr/>
          <p:nvPr/>
        </p:nvSpPr>
        <p:spPr>
          <a:xfrm>
            <a:off x="761981" y="3131662"/>
            <a:ext cx="5244969" cy="1723982"/>
          </a:xfrm>
          <a:prstGeom prst="roundRect">
            <a:avLst>
              <a:gd name="adj" fmla="val 8840"/>
            </a:avLst>
          </a:prstGeom>
          <a:solidFill>
            <a:srgbClr val="0059DB"/>
          </a:solidFill>
          <a:ln/>
        </p:spPr>
      </p:sp>
      <p:sp>
        <p:nvSpPr>
          <p:cNvPr id="14" name="Shape 12"/>
          <p:cNvSpPr/>
          <p:nvPr/>
        </p:nvSpPr>
        <p:spPr>
          <a:xfrm>
            <a:off x="984225" y="3328507"/>
            <a:ext cx="625955" cy="247644"/>
          </a:xfrm>
          <a:prstGeom prst="roundRect">
            <a:avLst>
              <a:gd name="adj" fmla="val 50000"/>
            </a:avLst>
          </a:prstGeom>
          <a:solidFill>
            <a:srgbClr val="FFFFFF">
              <a:alpha val="16000"/>
            </a:srgbClr>
          </a:solidFill>
          <a:ln/>
        </p:spPr>
      </p:sp>
      <p:sp>
        <p:nvSpPr>
          <p:cNvPr id="15" name="Text 13"/>
          <p:cNvSpPr txBox="1"/>
          <p:nvPr/>
        </p:nvSpPr>
        <p:spPr>
          <a:xfrm>
            <a:off x="1073123" y="3366606"/>
            <a:ext cx="466086"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A conta</a:t>
            </a:r>
            <a:endParaRPr lang="en-US" sz="900" dirty="0"/>
          </a:p>
        </p:txBody>
      </p:sp>
      <p:sp>
        <p:nvSpPr>
          <p:cNvPr id="16" name="Text 14"/>
          <p:cNvSpPr txBox="1"/>
          <p:nvPr/>
        </p:nvSpPr>
        <p:spPr>
          <a:xfrm>
            <a:off x="984225" y="3715848"/>
            <a:ext cx="4992499" cy="438139"/>
          </a:xfrm>
          <a:prstGeom prst="rect">
            <a:avLst/>
          </a:prstGeom>
          <a:noFill/>
          <a:ln/>
        </p:spPr>
        <p:txBody>
          <a:bodyPr wrap="square" lIns="0" tIns="0" rIns="0" bIns="0" rtlCol="0" anchor="t"/>
          <a:lstStyle/>
          <a:p>
            <a:pPr algn="l" indent="0" marL="0">
              <a:lnSpc>
                <a:spcPct val="106838"/>
              </a:lnSpc>
              <a:buNone/>
            </a:pPr>
            <a:r>
              <a:rPr lang="en-US" sz="2300" b="1" dirty="0">
                <a:solidFill>
                  <a:srgbClr val="F5F6FC"/>
                </a:solidFill>
                <a:latin typeface="Poppins" pitchFamily="34" charset="0"/>
                <a:ea typeface="Poppins" pitchFamily="34" charset="-122"/>
                <a:cs typeface="Poppins" pitchFamily="34" charset="-120"/>
              </a:rPr>
              <a:t>SPI = 75% ÷ 100% = 0,75</a:t>
            </a:r>
            <a:endParaRPr lang="en-US" sz="2300" dirty="0"/>
          </a:p>
        </p:txBody>
      </p:sp>
      <p:sp>
        <p:nvSpPr>
          <p:cNvPr id="17" name="Text 15"/>
          <p:cNvSpPr txBox="1"/>
          <p:nvPr/>
        </p:nvSpPr>
        <p:spPr>
          <a:xfrm>
            <a:off x="984225" y="4230185"/>
            <a:ext cx="4992499" cy="428614"/>
          </a:xfrm>
          <a:prstGeom prst="rect">
            <a:avLst/>
          </a:prstGeom>
          <a:noFill/>
          <a:ln/>
        </p:spPr>
        <p:txBody>
          <a:bodyPr wrap="square" lIns="0" tIns="0" rIns="0" bIns="0" rtlCol="0" anchor="t"/>
          <a:lstStyle/>
          <a:p>
            <a:pPr algn="l" indent="0" marL="0">
              <a:lnSpc>
                <a:spcPct val="115385"/>
              </a:lnSpc>
              <a:buNone/>
            </a:pPr>
            <a:r>
              <a:rPr lang="en-US" sz="1250" dirty="0">
                <a:solidFill>
                  <a:srgbClr val="DBE6FF"/>
                </a:solidFill>
                <a:latin typeface="Poppins" pitchFamily="34" charset="0"/>
                <a:ea typeface="Poppins" pitchFamily="34" charset="-122"/>
                <a:cs typeface="Poppins" pitchFamily="34" charset="-120"/>
              </a:rPr>
              <a:t>"andou </a:t>
            </a:r>
            <a:pPr algn="l" indent="0" marL="0">
              <a:lnSpc>
                <a:spcPct val="115385"/>
              </a:lnSpc>
              <a:buNone/>
            </a:pPr>
            <a:r>
              <a:rPr lang="en-US" sz="1250" b="1" dirty="0">
                <a:solidFill>
                  <a:srgbClr val="FFFFFF"/>
                </a:solidFill>
                <a:latin typeface="Poppins" pitchFamily="34" charset="0"/>
                <a:ea typeface="Poppins" pitchFamily="34" charset="-122"/>
                <a:cs typeface="Poppins" pitchFamily="34" charset="-120"/>
              </a:rPr>
              <a:t>75% do que devia</a:t>
            </a:r>
            <a:pPr algn="l" indent="0" marL="0">
              <a:lnSpc>
                <a:spcPct val="115385"/>
              </a:lnSpc>
              <a:buNone/>
            </a:pPr>
            <a:r>
              <a:rPr lang="en-US" sz="1250" dirty="0">
                <a:solidFill>
                  <a:srgbClr val="DBE6FF"/>
                </a:solidFill>
                <a:latin typeface="Poppins" pitchFamily="34" charset="0"/>
                <a:ea typeface="Poppins" pitchFamily="34" charset="-122"/>
                <a:cs typeface="Poppins" pitchFamily="34" charset="-120"/>
              </a:rPr>
              <a:t>". Em tempo: 3 meses ÷ 0,75 = </a:t>
            </a:r>
            <a:pPr algn="l" indent="0" marL="0">
              <a:lnSpc>
                <a:spcPct val="115385"/>
              </a:lnSpc>
              <a:buNone/>
            </a:pPr>
            <a:r>
              <a:rPr lang="en-US" sz="1250" b="1" dirty="0">
                <a:solidFill>
                  <a:srgbClr val="FFFFFF"/>
                </a:solidFill>
                <a:latin typeface="Poppins" pitchFamily="34" charset="0"/>
                <a:ea typeface="Poppins" pitchFamily="34" charset="-122"/>
                <a:cs typeface="Poppins" pitchFamily="34" charset="-120"/>
              </a:rPr>
              <a:t>4 meses</a:t>
            </a:r>
            <a:pPr algn="l" indent="0" marL="0">
              <a:lnSpc>
                <a:spcPct val="115385"/>
              </a:lnSpc>
              <a:buNone/>
            </a:pPr>
            <a:r>
              <a:rPr lang="en-US" sz="1250" dirty="0">
                <a:solidFill>
                  <a:srgbClr val="DBE6FF"/>
                </a:solidFill>
                <a:latin typeface="Poppins" pitchFamily="34" charset="0"/>
                <a:ea typeface="Poppins" pitchFamily="34" charset="-122"/>
                <a:cs typeface="Poppins" pitchFamily="34" charset="-120"/>
              </a:rPr>
              <a:t>. Um mês de atraso, se o ritmo não mudar.</a:t>
            </a:r>
            <a:endParaRPr lang="en-US" sz="1250" dirty="0"/>
          </a:p>
        </p:txBody>
      </p:sp>
      <p:sp>
        <p:nvSpPr>
          <p:cNvPr id="18" name="Shape 16"/>
          <p:cNvSpPr/>
          <p:nvPr/>
        </p:nvSpPr>
        <p:spPr>
          <a:xfrm>
            <a:off x="6184745" y="3131662"/>
            <a:ext cx="5244969" cy="1723982"/>
          </a:xfrm>
          <a:prstGeom prst="roundRect">
            <a:avLst>
              <a:gd name="adj" fmla="val 8840"/>
            </a:avLst>
          </a:prstGeom>
          <a:solidFill>
            <a:srgbClr val="1E1E24"/>
          </a:solidFill>
          <a:ln w="6350">
            <a:solidFill>
              <a:srgbClr val="2F2F39"/>
            </a:solidFill>
            <a:prstDash val="solid"/>
          </a:ln>
        </p:spPr>
      </p:sp>
      <p:sp>
        <p:nvSpPr>
          <p:cNvPr id="19" name="Shape 17"/>
          <p:cNvSpPr/>
          <p:nvPr/>
        </p:nvSpPr>
        <p:spPr>
          <a:xfrm>
            <a:off x="6406990" y="3328507"/>
            <a:ext cx="1145253" cy="247644"/>
          </a:xfrm>
          <a:prstGeom prst="roundRect">
            <a:avLst>
              <a:gd name="adj" fmla="val 50000"/>
            </a:avLst>
          </a:prstGeom>
          <a:solidFill>
            <a:srgbClr val="22C2F4">
              <a:alpha val="14000"/>
            </a:srgbClr>
          </a:solidFill>
          <a:ln/>
        </p:spPr>
      </p:sp>
      <p:sp>
        <p:nvSpPr>
          <p:cNvPr id="20" name="Text 18"/>
          <p:cNvSpPr txBox="1"/>
          <p:nvPr/>
        </p:nvSpPr>
        <p:spPr>
          <a:xfrm>
            <a:off x="6495888" y="3366606"/>
            <a:ext cx="1006156"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A régua da Torre</a:t>
            </a:r>
            <a:endParaRPr lang="en-US" sz="900" dirty="0"/>
          </a:p>
        </p:txBody>
      </p:sp>
      <p:sp>
        <p:nvSpPr>
          <p:cNvPr id="21" name="Shape 19"/>
          <p:cNvSpPr/>
          <p:nvPr/>
        </p:nvSpPr>
        <p:spPr>
          <a:xfrm>
            <a:off x="6406990" y="3753947"/>
            <a:ext cx="1920132" cy="253994"/>
          </a:xfrm>
          <a:prstGeom prst="rect">
            <a:avLst/>
          </a:prstGeom>
          <a:solidFill>
            <a:srgbClr val="FF6B6B"/>
          </a:solidFill>
          <a:ln/>
        </p:spPr>
      </p:sp>
      <p:sp>
        <p:nvSpPr>
          <p:cNvPr id="22" name="Text 20"/>
          <p:cNvSpPr txBox="1"/>
          <p:nvPr/>
        </p:nvSpPr>
        <p:spPr>
          <a:xfrm>
            <a:off x="6406990" y="3753947"/>
            <a:ext cx="1996938" cy="253994"/>
          </a:xfrm>
          <a:prstGeom prst="rect">
            <a:avLst/>
          </a:prstGeom>
          <a:noFill/>
          <a:ln/>
        </p:spPr>
        <p:txBody>
          <a:bodyPr wrap="square" lIns="0" tIns="0" rIns="0" bIns="0" rtlCol="0" anchor="t"/>
          <a:lstStyle/>
          <a:p>
            <a:pPr algn="l" indent="0" marL="0">
              <a:lnSpc>
                <a:spcPct val="106838"/>
              </a:lnSpc>
              <a:buNone/>
            </a:pPr>
            <a:r>
              <a:rPr lang="en-US" sz="1000" b="1" dirty="0">
                <a:solidFill>
                  <a:srgbClr val="14141A"/>
                </a:solidFill>
                <a:latin typeface="Poppins" pitchFamily="34" charset="0"/>
                <a:ea typeface="Poppins" pitchFamily="34" charset="-122"/>
                <a:cs typeface="Poppins" pitchFamily="34" charset="-120"/>
              </a:rPr>
              <a:t>crítico &lt; 0,80</a:t>
            </a:r>
            <a:endParaRPr lang="en-US" sz="1000" dirty="0"/>
          </a:p>
        </p:txBody>
      </p:sp>
      <p:sp>
        <p:nvSpPr>
          <p:cNvPr id="23" name="Shape 21"/>
          <p:cNvSpPr/>
          <p:nvPr/>
        </p:nvSpPr>
        <p:spPr>
          <a:xfrm>
            <a:off x="8327122" y="3753947"/>
            <a:ext cx="960017" cy="253994"/>
          </a:xfrm>
          <a:prstGeom prst="rect">
            <a:avLst/>
          </a:prstGeom>
          <a:solidFill>
            <a:srgbClr val="FFD166"/>
          </a:solidFill>
          <a:ln/>
        </p:spPr>
      </p:sp>
      <p:sp>
        <p:nvSpPr>
          <p:cNvPr id="24" name="Text 22"/>
          <p:cNvSpPr txBox="1"/>
          <p:nvPr/>
        </p:nvSpPr>
        <p:spPr>
          <a:xfrm>
            <a:off x="8327122" y="3753947"/>
            <a:ext cx="998417" cy="253994"/>
          </a:xfrm>
          <a:prstGeom prst="rect">
            <a:avLst/>
          </a:prstGeom>
          <a:noFill/>
          <a:ln/>
        </p:spPr>
        <p:txBody>
          <a:bodyPr wrap="square" lIns="0" tIns="0" rIns="0" bIns="0" rtlCol="0" anchor="t"/>
          <a:lstStyle/>
          <a:p>
            <a:pPr algn="l" indent="0" marL="0">
              <a:lnSpc>
                <a:spcPct val="106838"/>
              </a:lnSpc>
              <a:buNone/>
            </a:pPr>
            <a:r>
              <a:rPr lang="en-US" sz="1000" b="1" dirty="0">
                <a:solidFill>
                  <a:srgbClr val="14141A"/>
                </a:solidFill>
                <a:latin typeface="Poppins" pitchFamily="34" charset="0"/>
                <a:ea typeface="Poppins" pitchFamily="34" charset="-122"/>
                <a:cs typeface="Poppins" pitchFamily="34" charset="-120"/>
              </a:rPr>
              <a:t>atenção</a:t>
            </a:r>
            <a:endParaRPr lang="en-US" sz="1000" dirty="0"/>
          </a:p>
        </p:txBody>
      </p:sp>
      <p:sp>
        <p:nvSpPr>
          <p:cNvPr id="25" name="Shape 23"/>
          <p:cNvSpPr/>
          <p:nvPr/>
        </p:nvSpPr>
        <p:spPr>
          <a:xfrm>
            <a:off x="9287139" y="3753947"/>
            <a:ext cx="1920331" cy="253994"/>
          </a:xfrm>
          <a:prstGeom prst="rect">
            <a:avLst/>
          </a:prstGeom>
          <a:solidFill>
            <a:srgbClr val="5AD47A"/>
          </a:solidFill>
          <a:ln/>
        </p:spPr>
      </p:sp>
      <p:sp>
        <p:nvSpPr>
          <p:cNvPr id="26" name="Text 24"/>
          <p:cNvSpPr txBox="1"/>
          <p:nvPr/>
        </p:nvSpPr>
        <p:spPr>
          <a:xfrm>
            <a:off x="9287139" y="3753947"/>
            <a:ext cx="1997144" cy="253994"/>
          </a:xfrm>
          <a:prstGeom prst="rect">
            <a:avLst/>
          </a:prstGeom>
          <a:noFill/>
          <a:ln/>
        </p:spPr>
        <p:txBody>
          <a:bodyPr wrap="square" lIns="0" tIns="0" rIns="0" bIns="0" rtlCol="0" anchor="t"/>
          <a:lstStyle/>
          <a:p>
            <a:pPr algn="l" indent="0" marL="0">
              <a:lnSpc>
                <a:spcPct val="106838"/>
              </a:lnSpc>
              <a:buNone/>
            </a:pPr>
            <a:r>
              <a:rPr lang="en-US" sz="1000" b="1" dirty="0">
                <a:solidFill>
                  <a:srgbClr val="14141A"/>
                </a:solidFill>
                <a:latin typeface="Poppins" pitchFamily="34" charset="0"/>
                <a:ea typeface="Poppins" pitchFamily="34" charset="-122"/>
                <a:cs typeface="Poppins" pitchFamily="34" charset="-120"/>
              </a:rPr>
              <a:t>ok ≥ 0,90</a:t>
            </a:r>
            <a:endParaRPr lang="en-US" sz="1000" dirty="0"/>
          </a:p>
        </p:txBody>
      </p:sp>
      <p:sp>
        <p:nvSpPr>
          <p:cNvPr id="27" name="Text 25"/>
          <p:cNvSpPr txBox="1"/>
          <p:nvPr/>
        </p:nvSpPr>
        <p:spPr>
          <a:xfrm>
            <a:off x="6406990" y="4084139"/>
            <a:ext cx="4992499" cy="394285"/>
          </a:xfrm>
          <a:prstGeom prst="rect">
            <a:avLst/>
          </a:prstGeom>
          <a:noFill/>
          <a:ln/>
        </p:spPr>
        <p:txBody>
          <a:bodyPr wrap="square" lIns="0" tIns="0" rIns="0" bIns="0" rtlCol="0" anchor="t"/>
          <a:lstStyle/>
          <a:p>
            <a:pPr algn="l" indent="0" marL="0">
              <a:lnSpc>
                <a:spcPct val="115385"/>
              </a:lnSpc>
              <a:buNone/>
            </a:pPr>
            <a:r>
              <a:rPr lang="en-US" sz="1150" dirty="0">
                <a:solidFill>
                  <a:srgbClr val="A3A6B4"/>
                </a:solidFill>
                <a:latin typeface="Poppins" pitchFamily="34" charset="0"/>
                <a:ea typeface="Poppins" pitchFamily="34" charset="-122"/>
                <a:cs typeface="Poppins" pitchFamily="34" charset="-120"/>
              </a:rPr>
              <a:t>Nosso exemplo (0,75) é </a:t>
            </a:r>
            <a:pPr algn="l" indent="0" marL="0">
              <a:lnSpc>
                <a:spcPct val="115385"/>
              </a:lnSpc>
              <a:buNone/>
            </a:pPr>
            <a:r>
              <a:rPr lang="en-US" sz="1150" b="1" dirty="0">
                <a:solidFill>
                  <a:srgbClr val="FF6B6B"/>
                </a:solidFill>
                <a:latin typeface="Poppins" pitchFamily="34" charset="0"/>
                <a:ea typeface="Poppins" pitchFamily="34" charset="-122"/>
                <a:cs typeface="Poppins" pitchFamily="34" charset="-120"/>
              </a:rPr>
              <a:t>crítico</a:t>
            </a:r>
            <a:pPr algn="l" indent="0" marL="0">
              <a:lnSpc>
                <a:spcPct val="115385"/>
              </a:lnSpc>
              <a:buNone/>
            </a:pPr>
            <a:r>
              <a:rPr lang="en-US" sz="1150" dirty="0">
                <a:solidFill>
                  <a:srgbClr val="A3A6B4"/>
                </a:solidFill>
                <a:latin typeface="Poppins" pitchFamily="34" charset="0"/>
                <a:ea typeface="Poppins" pitchFamily="34" charset="-122"/>
                <a:cs typeface="Poppins" pitchFamily="34" charset="-120"/>
              </a:rPr>
              <a:t>. Na Vértice, o pior é o </a:t>
            </a:r>
            <a:pPr algn="l" indent="0" marL="0">
              <a:lnSpc>
                <a:spcPct val="115385"/>
              </a:lnSpc>
              <a:buNone/>
            </a:pPr>
            <a:r>
              <a:rPr lang="en-US" sz="1150" b="1" dirty="0">
                <a:solidFill>
                  <a:srgbClr val="FFFFFF"/>
                </a:solidFill>
                <a:latin typeface="Poppins" pitchFamily="34" charset="0"/>
                <a:ea typeface="Poppins" pitchFamily="34" charset="-122"/>
                <a:cs typeface="Poppins" pitchFamily="34" charset="-120"/>
              </a:rPr>
              <a:t>PRJ-016: 0,63</a:t>
            </a:r>
            <a:pPr algn="l" indent="0" marL="0">
              <a:lnSpc>
                <a:spcPct val="115385"/>
              </a:lnSpc>
              <a:buNone/>
            </a:pPr>
            <a:r>
              <a:rPr lang="en-US" sz="1150" dirty="0">
                <a:solidFill>
                  <a:srgbClr val="A3A6B4"/>
                </a:solidFill>
                <a:latin typeface="Poppins" pitchFamily="34" charset="0"/>
                <a:ea typeface="Poppins" pitchFamily="34" charset="-122"/>
                <a:cs typeface="Poppins" pitchFamily="34" charset="-120"/>
              </a:rPr>
              <a:t>, +298 dias projetados.</a:t>
            </a:r>
            <a:endParaRPr lang="en-US" sz="1150" dirty="0"/>
          </a:p>
        </p:txBody>
      </p:sp>
      <p:pic>
        <p:nvPicPr>
          <p:cNvPr id="28"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29" name="Text 26"/>
          <p:cNvSpPr txBox="1"/>
          <p:nvPr/>
        </p:nvSpPr>
        <p:spPr>
          <a:xfrm>
            <a:off x="10940876" y="6387940"/>
            <a:ext cx="508392"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58 / 133</a:t>
            </a:r>
            <a:endParaRPr lang="en-US" sz="10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CPI · COST PERFORMANCE INDEX · ÍNDICE DE CUSTO</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CPI: o que foi entregue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vale</a:t>
            </a:r>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 quanto, e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custou</a:t>
            </a:r>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 quanto?</a:t>
            </a:r>
            <a:endParaRPr lang="en-US" sz="3100" dirty="0"/>
          </a:p>
        </p:txBody>
      </p:sp>
      <p:sp>
        <p:nvSpPr>
          <p:cNvPr id="4" name="Text 2"/>
          <p:cNvSpPr txBox="1"/>
          <p:nvPr/>
        </p:nvSpPr>
        <p:spPr>
          <a:xfrm>
            <a:off x="761981" y="1645799"/>
            <a:ext cx="1981150" cy="438139"/>
          </a:xfrm>
          <a:prstGeom prst="rect">
            <a:avLst/>
          </a:prstGeom>
          <a:noFill/>
          <a:ln/>
        </p:spPr>
        <p:txBody>
          <a:bodyPr wrap="square" lIns="0" tIns="0" rIns="0" bIns="0" rtlCol="0" anchor="t"/>
          <a:lstStyle/>
          <a:p>
            <a:pPr algn="l" indent="0" marL="0">
              <a:lnSpc>
                <a:spcPct val="106838"/>
              </a:lnSpc>
              <a:buNone/>
            </a:pPr>
            <a:r>
              <a:rPr lang="en-US" sz="1300" b="1" dirty="0">
                <a:solidFill>
                  <a:srgbClr val="FFFFFF"/>
                </a:solidFill>
                <a:latin typeface="Poppins" pitchFamily="34" charset="0"/>
                <a:ea typeface="Poppins" pitchFamily="34" charset="-122"/>
                <a:cs typeface="Poppins" pitchFamily="34" charset="-120"/>
              </a:rPr>
              <a:t>Vale</a:t>
            </a:r>
            <a:endParaRPr lang="en-US" sz="1300" dirty="0"/>
          </a:p>
        </p:txBody>
      </p:sp>
      <p:sp>
        <p:nvSpPr>
          <p:cNvPr id="5" name="Text 3"/>
          <p:cNvSpPr txBox="1"/>
          <p:nvPr/>
        </p:nvSpPr>
        <p:spPr>
          <a:xfrm>
            <a:off x="761981" y="1893443"/>
            <a:ext cx="1981150" cy="190495"/>
          </a:xfrm>
          <a:prstGeom prst="rect">
            <a:avLst/>
          </a:prstGeom>
          <a:noFill/>
          <a:ln/>
        </p:spPr>
        <p:txBody>
          <a:bodyPr wrap="square" lIns="0" tIns="0" rIns="0" bIns="0" rtlCol="0" anchor="t"/>
          <a:lstStyle/>
          <a:p>
            <a:pPr algn="l" indent="0" marL="0">
              <a:lnSpc>
                <a:spcPct val="106838"/>
              </a:lnSpc>
              <a:buNone/>
            </a:pPr>
            <a:r>
              <a:rPr lang="en-US" sz="1000" dirty="0">
                <a:solidFill>
                  <a:srgbClr val="A3A6B4"/>
                </a:solidFill>
                <a:latin typeface="Poppins" pitchFamily="34" charset="0"/>
                <a:ea typeface="Poppins" pitchFamily="34" charset="-122"/>
                <a:cs typeface="Poppins" pitchFamily="34" charset="-120"/>
              </a:rPr>
              <a:t>EV · 75% de R$ 300 mil</a:t>
            </a:r>
            <a:endParaRPr lang="en-US" sz="1000" dirty="0"/>
          </a:p>
        </p:txBody>
      </p:sp>
      <p:sp>
        <p:nvSpPr>
          <p:cNvPr id="6" name="Shape 4"/>
          <p:cNvSpPr/>
          <p:nvPr/>
        </p:nvSpPr>
        <p:spPr>
          <a:xfrm>
            <a:off x="2844729" y="1661674"/>
            <a:ext cx="6438739" cy="406390"/>
          </a:xfrm>
          <a:prstGeom prst="rect">
            <a:avLst/>
          </a:prstGeom>
          <a:solidFill>
            <a:srgbClr val="FFD166"/>
          </a:solidFill>
          <a:ln/>
        </p:spPr>
      </p:sp>
      <p:sp>
        <p:nvSpPr>
          <p:cNvPr id="7" name="Text 5"/>
          <p:cNvSpPr txBox="1"/>
          <p:nvPr/>
        </p:nvSpPr>
        <p:spPr>
          <a:xfrm>
            <a:off x="2997125" y="1661674"/>
            <a:ext cx="6537797" cy="406390"/>
          </a:xfrm>
          <a:prstGeom prst="rect">
            <a:avLst/>
          </a:prstGeom>
          <a:noFill/>
          <a:ln/>
        </p:spPr>
        <p:txBody>
          <a:bodyPr wrap="square" lIns="0" tIns="0" rIns="0" bIns="0" rtlCol="0" anchor="t"/>
          <a:lstStyle/>
          <a:p>
            <a:pPr algn="l" indent="0" marL="0">
              <a:lnSpc>
                <a:spcPct val="106838"/>
              </a:lnSpc>
              <a:buNone/>
            </a:pPr>
            <a:r>
              <a:rPr lang="en-US" sz="1200" b="1" dirty="0">
                <a:solidFill>
                  <a:srgbClr val="14141A"/>
                </a:solidFill>
                <a:latin typeface="Poppins" pitchFamily="34" charset="0"/>
                <a:ea typeface="Poppins" pitchFamily="34" charset="-122"/>
                <a:cs typeface="Poppins" pitchFamily="34" charset="-120"/>
              </a:rPr>
              <a:t>R$ 225 mil</a:t>
            </a:r>
            <a:endParaRPr lang="en-US" sz="1200" dirty="0"/>
          </a:p>
        </p:txBody>
      </p:sp>
      <p:sp>
        <p:nvSpPr>
          <p:cNvPr id="8" name="Shape 6"/>
          <p:cNvSpPr/>
          <p:nvPr/>
        </p:nvSpPr>
        <p:spPr>
          <a:xfrm>
            <a:off x="9283468" y="1661674"/>
            <a:ext cx="2146246" cy="406390"/>
          </a:xfrm>
          <a:prstGeom prst="rect">
            <a:avLst/>
          </a:prstGeom>
          <a:solidFill>
            <a:srgbClr val="25252D"/>
          </a:solidFill>
          <a:ln/>
        </p:spPr>
      </p:sp>
      <p:sp>
        <p:nvSpPr>
          <p:cNvPr id="9" name="Text 7"/>
          <p:cNvSpPr txBox="1"/>
          <p:nvPr/>
        </p:nvSpPr>
        <p:spPr>
          <a:xfrm>
            <a:off x="761981" y="2249034"/>
            <a:ext cx="1981150" cy="438139"/>
          </a:xfrm>
          <a:prstGeom prst="rect">
            <a:avLst/>
          </a:prstGeom>
          <a:noFill/>
          <a:ln/>
        </p:spPr>
        <p:txBody>
          <a:bodyPr wrap="square" lIns="0" tIns="0" rIns="0" bIns="0" rtlCol="0" anchor="t"/>
          <a:lstStyle/>
          <a:p>
            <a:pPr algn="l" indent="0" marL="0">
              <a:lnSpc>
                <a:spcPct val="106838"/>
              </a:lnSpc>
              <a:buNone/>
            </a:pPr>
            <a:r>
              <a:rPr lang="en-US" sz="1300" b="1" dirty="0">
                <a:solidFill>
                  <a:srgbClr val="FFFFFF"/>
                </a:solidFill>
                <a:latin typeface="Poppins" pitchFamily="34" charset="0"/>
                <a:ea typeface="Poppins" pitchFamily="34" charset="-122"/>
                <a:cs typeface="Poppins" pitchFamily="34" charset="-120"/>
              </a:rPr>
              <a:t>Custou</a:t>
            </a:r>
            <a:endParaRPr lang="en-US" sz="1300" dirty="0"/>
          </a:p>
        </p:txBody>
      </p:sp>
      <p:sp>
        <p:nvSpPr>
          <p:cNvPr id="10" name="Text 8"/>
          <p:cNvSpPr txBox="1"/>
          <p:nvPr/>
        </p:nvSpPr>
        <p:spPr>
          <a:xfrm>
            <a:off x="761981" y="2496678"/>
            <a:ext cx="1981150" cy="190495"/>
          </a:xfrm>
          <a:prstGeom prst="rect">
            <a:avLst/>
          </a:prstGeom>
          <a:noFill/>
          <a:ln/>
        </p:spPr>
        <p:txBody>
          <a:bodyPr wrap="square" lIns="0" tIns="0" rIns="0" bIns="0" rtlCol="0" anchor="t"/>
          <a:lstStyle/>
          <a:p>
            <a:pPr algn="l" indent="0" marL="0">
              <a:lnSpc>
                <a:spcPct val="106838"/>
              </a:lnSpc>
              <a:buNone/>
            </a:pPr>
            <a:r>
              <a:rPr lang="en-US" sz="1000" dirty="0">
                <a:solidFill>
                  <a:srgbClr val="A3A6B4"/>
                </a:solidFill>
                <a:latin typeface="Poppins" pitchFamily="34" charset="0"/>
                <a:ea typeface="Poppins" pitchFamily="34" charset="-122"/>
                <a:cs typeface="Poppins" pitchFamily="34" charset="-120"/>
              </a:rPr>
              <a:t>AC · custo real</a:t>
            </a:r>
            <a:endParaRPr lang="en-US" sz="1000" dirty="0"/>
          </a:p>
        </p:txBody>
      </p:sp>
      <p:sp>
        <p:nvSpPr>
          <p:cNvPr id="11" name="Shape 9"/>
          <p:cNvSpPr/>
          <p:nvPr/>
        </p:nvSpPr>
        <p:spPr>
          <a:xfrm>
            <a:off x="2844729" y="2264909"/>
            <a:ext cx="8584985" cy="406390"/>
          </a:xfrm>
          <a:prstGeom prst="roundRect">
            <a:avLst>
              <a:gd name="adj" fmla="val 21875"/>
            </a:avLst>
          </a:prstGeom>
          <a:solidFill>
            <a:srgbClr val="FF6B6B"/>
          </a:solidFill>
          <a:ln/>
        </p:spPr>
      </p:sp>
      <p:sp>
        <p:nvSpPr>
          <p:cNvPr id="12" name="Text 10"/>
          <p:cNvSpPr txBox="1"/>
          <p:nvPr/>
        </p:nvSpPr>
        <p:spPr>
          <a:xfrm>
            <a:off x="2997125" y="2264909"/>
            <a:ext cx="8769893" cy="406390"/>
          </a:xfrm>
          <a:prstGeom prst="rect">
            <a:avLst/>
          </a:prstGeom>
          <a:noFill/>
          <a:ln/>
        </p:spPr>
        <p:txBody>
          <a:bodyPr wrap="square" lIns="0" tIns="0" rIns="0" bIns="0" rtlCol="0" anchor="t"/>
          <a:lstStyle/>
          <a:p>
            <a:pPr algn="l" indent="0" marL="0">
              <a:lnSpc>
                <a:spcPct val="106838"/>
              </a:lnSpc>
              <a:buNone/>
            </a:pPr>
            <a:r>
              <a:rPr lang="en-US" sz="1200" b="1" dirty="0">
                <a:solidFill>
                  <a:srgbClr val="FFFFFF"/>
                </a:solidFill>
                <a:latin typeface="Poppins" pitchFamily="34" charset="0"/>
                <a:ea typeface="Poppins" pitchFamily="34" charset="-122"/>
                <a:cs typeface="Poppins" pitchFamily="34" charset="-120"/>
              </a:rPr>
              <a:t>R$ 300 mil</a:t>
            </a:r>
            <a:endParaRPr lang="en-US" sz="1200" dirty="0"/>
          </a:p>
        </p:txBody>
      </p:sp>
      <p:sp>
        <p:nvSpPr>
          <p:cNvPr id="13" name="Shape 11"/>
          <p:cNvSpPr/>
          <p:nvPr/>
        </p:nvSpPr>
        <p:spPr>
          <a:xfrm>
            <a:off x="761981" y="2941167"/>
            <a:ext cx="5244969" cy="1938289"/>
          </a:xfrm>
          <a:prstGeom prst="roundRect">
            <a:avLst>
              <a:gd name="adj" fmla="val 7862"/>
            </a:avLst>
          </a:prstGeom>
          <a:solidFill>
            <a:srgbClr val="0059DB"/>
          </a:solidFill>
          <a:ln/>
        </p:spPr>
      </p:sp>
      <p:sp>
        <p:nvSpPr>
          <p:cNvPr id="14" name="Shape 12"/>
          <p:cNvSpPr/>
          <p:nvPr/>
        </p:nvSpPr>
        <p:spPr>
          <a:xfrm>
            <a:off x="984225" y="3138012"/>
            <a:ext cx="625955" cy="247644"/>
          </a:xfrm>
          <a:prstGeom prst="roundRect">
            <a:avLst>
              <a:gd name="adj" fmla="val 50000"/>
            </a:avLst>
          </a:prstGeom>
          <a:solidFill>
            <a:srgbClr val="FFFFFF">
              <a:alpha val="16000"/>
            </a:srgbClr>
          </a:solidFill>
          <a:ln/>
        </p:spPr>
      </p:sp>
      <p:sp>
        <p:nvSpPr>
          <p:cNvPr id="15" name="Text 13"/>
          <p:cNvSpPr txBox="1"/>
          <p:nvPr/>
        </p:nvSpPr>
        <p:spPr>
          <a:xfrm>
            <a:off x="1073123" y="3176111"/>
            <a:ext cx="466086"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A conta</a:t>
            </a:r>
            <a:endParaRPr lang="en-US" sz="900" dirty="0"/>
          </a:p>
        </p:txBody>
      </p:sp>
      <p:sp>
        <p:nvSpPr>
          <p:cNvPr id="16" name="Text 14"/>
          <p:cNvSpPr txBox="1"/>
          <p:nvPr/>
        </p:nvSpPr>
        <p:spPr>
          <a:xfrm>
            <a:off x="984225" y="3525352"/>
            <a:ext cx="4992499" cy="438139"/>
          </a:xfrm>
          <a:prstGeom prst="rect">
            <a:avLst/>
          </a:prstGeom>
          <a:noFill/>
          <a:ln/>
        </p:spPr>
        <p:txBody>
          <a:bodyPr wrap="square" lIns="0" tIns="0" rIns="0" bIns="0" rtlCol="0" anchor="t"/>
          <a:lstStyle/>
          <a:p>
            <a:pPr algn="l" indent="0" marL="0">
              <a:lnSpc>
                <a:spcPct val="106838"/>
              </a:lnSpc>
              <a:buNone/>
            </a:pPr>
            <a:r>
              <a:rPr lang="en-US" sz="2300" b="1" dirty="0">
                <a:solidFill>
                  <a:srgbClr val="F5F6FC"/>
                </a:solidFill>
                <a:latin typeface="Poppins" pitchFamily="34" charset="0"/>
                <a:ea typeface="Poppins" pitchFamily="34" charset="-122"/>
                <a:cs typeface="Poppins" pitchFamily="34" charset="-120"/>
              </a:rPr>
              <a:t>CPI = 225 ÷ 300 = 0,75</a:t>
            </a:r>
            <a:endParaRPr lang="en-US" sz="2300" dirty="0"/>
          </a:p>
        </p:txBody>
      </p:sp>
      <p:sp>
        <p:nvSpPr>
          <p:cNvPr id="17" name="Text 15"/>
          <p:cNvSpPr txBox="1"/>
          <p:nvPr/>
        </p:nvSpPr>
        <p:spPr>
          <a:xfrm>
            <a:off x="984225" y="4039690"/>
            <a:ext cx="4992499" cy="642921"/>
          </a:xfrm>
          <a:prstGeom prst="rect">
            <a:avLst/>
          </a:prstGeom>
          <a:noFill/>
          <a:ln/>
        </p:spPr>
        <p:txBody>
          <a:bodyPr wrap="square" lIns="0" tIns="0" rIns="0" bIns="0" rtlCol="0" anchor="t"/>
          <a:lstStyle/>
          <a:p>
            <a:pPr algn="l" indent="0" marL="0">
              <a:lnSpc>
                <a:spcPct val="115385"/>
              </a:lnSpc>
              <a:buNone/>
            </a:pPr>
            <a:r>
              <a:rPr lang="en-US" sz="1250" dirty="0">
                <a:solidFill>
                  <a:srgbClr val="DBE6FF"/>
                </a:solidFill>
                <a:latin typeface="Poppins" pitchFamily="34" charset="0"/>
                <a:ea typeface="Poppins" pitchFamily="34" charset="-122"/>
                <a:cs typeface="Poppins" pitchFamily="34" charset="-120"/>
              </a:rPr>
              <a:t>cada </a:t>
            </a:r>
            <a:pPr algn="l" indent="0" marL="0">
              <a:lnSpc>
                <a:spcPct val="115385"/>
              </a:lnSpc>
              <a:buNone/>
            </a:pPr>
            <a:r>
              <a:rPr lang="en-US" sz="1250" b="1" dirty="0">
                <a:solidFill>
                  <a:srgbClr val="FFFFFF"/>
                </a:solidFill>
                <a:latin typeface="Poppins" pitchFamily="34" charset="0"/>
                <a:ea typeface="Poppins" pitchFamily="34" charset="-122"/>
                <a:cs typeface="Poppins" pitchFamily="34" charset="-120"/>
              </a:rPr>
              <a:t>R$ 1</a:t>
            </a:r>
            <a:pPr algn="l" indent="0" marL="0">
              <a:lnSpc>
                <a:spcPct val="115385"/>
              </a:lnSpc>
              <a:buNone/>
            </a:pPr>
            <a:r>
              <a:rPr lang="en-US" sz="1250" dirty="0">
                <a:solidFill>
                  <a:srgbClr val="DBE6FF"/>
                </a:solidFill>
                <a:latin typeface="Poppins" pitchFamily="34" charset="0"/>
                <a:ea typeface="Poppins" pitchFamily="34" charset="-122"/>
                <a:cs typeface="Poppins" pitchFamily="34" charset="-120"/>
              </a:rPr>
              <a:t> gasto comprou </a:t>
            </a:r>
            <a:pPr algn="l" indent="0" marL="0">
              <a:lnSpc>
                <a:spcPct val="115385"/>
              </a:lnSpc>
              <a:buNone/>
            </a:pPr>
            <a:r>
              <a:rPr lang="en-US" sz="1250" b="1" dirty="0">
                <a:solidFill>
                  <a:srgbClr val="FFFFFF"/>
                </a:solidFill>
                <a:latin typeface="Poppins" pitchFamily="34" charset="0"/>
                <a:ea typeface="Poppins" pitchFamily="34" charset="-122"/>
                <a:cs typeface="Poppins" pitchFamily="34" charset="-120"/>
              </a:rPr>
              <a:t>R$ 0,75</a:t>
            </a:r>
            <a:pPr algn="l" indent="0" marL="0">
              <a:lnSpc>
                <a:spcPct val="115385"/>
              </a:lnSpc>
              <a:buNone/>
            </a:pPr>
            <a:r>
              <a:rPr lang="en-US" sz="1250" dirty="0">
                <a:solidFill>
                  <a:srgbClr val="DBE6FF"/>
                </a:solidFill>
                <a:latin typeface="Poppins" pitchFamily="34" charset="0"/>
                <a:ea typeface="Poppins" pitchFamily="34" charset="-122"/>
                <a:cs typeface="Poppins" pitchFamily="34" charset="-120"/>
              </a:rPr>
              <a:t> de entrega. Os outros 25 centavos viraram retrabalho, hora extra, escopo que ninguém cobrou.</a:t>
            </a:r>
            <a:endParaRPr lang="en-US" sz="1250" dirty="0"/>
          </a:p>
        </p:txBody>
      </p:sp>
      <p:sp>
        <p:nvSpPr>
          <p:cNvPr id="18" name="Shape 16"/>
          <p:cNvSpPr/>
          <p:nvPr/>
        </p:nvSpPr>
        <p:spPr>
          <a:xfrm>
            <a:off x="6184745" y="2941167"/>
            <a:ext cx="5244969" cy="1938289"/>
          </a:xfrm>
          <a:prstGeom prst="roundRect">
            <a:avLst>
              <a:gd name="adj" fmla="val 7862"/>
            </a:avLst>
          </a:prstGeom>
          <a:solidFill>
            <a:srgbClr val="1E1E24"/>
          </a:solidFill>
          <a:ln w="6350">
            <a:solidFill>
              <a:srgbClr val="2F2F39"/>
            </a:solidFill>
            <a:prstDash val="solid"/>
          </a:ln>
        </p:spPr>
      </p:sp>
      <p:sp>
        <p:nvSpPr>
          <p:cNvPr id="19" name="Shape 17"/>
          <p:cNvSpPr/>
          <p:nvPr/>
        </p:nvSpPr>
        <p:spPr>
          <a:xfrm>
            <a:off x="6406990" y="3138012"/>
            <a:ext cx="1057447" cy="247644"/>
          </a:xfrm>
          <a:prstGeom prst="roundRect">
            <a:avLst>
              <a:gd name="adj" fmla="val 50000"/>
            </a:avLst>
          </a:prstGeom>
          <a:solidFill>
            <a:srgbClr val="22C2F4">
              <a:alpha val="14000"/>
            </a:srgbClr>
          </a:solidFill>
          <a:ln/>
        </p:spPr>
      </p:sp>
      <p:sp>
        <p:nvSpPr>
          <p:cNvPr id="20" name="Text 18"/>
          <p:cNvSpPr txBox="1"/>
          <p:nvPr/>
        </p:nvSpPr>
        <p:spPr>
          <a:xfrm>
            <a:off x="6495888" y="3176111"/>
            <a:ext cx="914838"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Independentes</a:t>
            </a:r>
            <a:endParaRPr lang="en-US" sz="900" dirty="0"/>
          </a:p>
        </p:txBody>
      </p:sp>
      <p:sp>
        <p:nvSpPr>
          <p:cNvPr id="21" name="Text 19"/>
          <p:cNvSpPr txBox="1"/>
          <p:nvPr/>
        </p:nvSpPr>
        <p:spPr>
          <a:xfrm>
            <a:off x="6406990" y="3550752"/>
            <a:ext cx="4992499" cy="642921"/>
          </a:xfrm>
          <a:prstGeom prst="rect">
            <a:avLst/>
          </a:prstGeom>
          <a:noFill/>
          <a:ln/>
        </p:spPr>
        <p:txBody>
          <a:bodyPr wrap="square" lIns="0" tIns="0" rIns="0" bIns="0" rtlCol="0" anchor="t"/>
          <a:lstStyle/>
          <a:p>
            <a:pPr algn="l" indent="0" marL="0">
              <a:lnSpc>
                <a:spcPct val="115385"/>
              </a:lnSpc>
              <a:buNone/>
            </a:pPr>
            <a:r>
              <a:rPr lang="en-US" sz="1250" dirty="0">
                <a:solidFill>
                  <a:srgbClr val="A3A6B4"/>
                </a:solidFill>
                <a:latin typeface="Poppins" pitchFamily="34" charset="0"/>
                <a:ea typeface="Poppins" pitchFamily="34" charset="-122"/>
                <a:cs typeface="Poppins" pitchFamily="34" charset="-120"/>
              </a:rPr>
              <a:t>Aqui os dois deram 0,75 por coincidência. Dá para estar </a:t>
            </a:r>
            <a:pPr algn="l" indent="0" marL="0">
              <a:lnSpc>
                <a:spcPct val="115385"/>
              </a:lnSpc>
              <a:buNone/>
            </a:pPr>
            <a:r>
              <a:rPr lang="en-US" sz="1250" b="1" dirty="0">
                <a:solidFill>
                  <a:srgbClr val="FFFFFF"/>
                </a:solidFill>
                <a:latin typeface="Poppins" pitchFamily="34" charset="0"/>
                <a:ea typeface="Poppins" pitchFamily="34" charset="-122"/>
                <a:cs typeface="Poppins" pitchFamily="34" charset="-120"/>
              </a:rPr>
              <a:t>no prazo e estourando</a:t>
            </a:r>
            <a:pPr algn="l" indent="0" marL="0">
              <a:lnSpc>
                <a:spcPct val="115385"/>
              </a:lnSpc>
              <a:buNone/>
            </a:pPr>
            <a:r>
              <a:rPr lang="en-US" sz="1250" dirty="0">
                <a:solidFill>
                  <a:srgbClr val="A3A6B4"/>
                </a:solidFill>
                <a:latin typeface="Poppins" pitchFamily="34" charset="0"/>
                <a:ea typeface="Poppins" pitchFamily="34" charset="-122"/>
                <a:cs typeface="Poppins" pitchFamily="34" charset="-120"/>
              </a:rPr>
              <a:t> (hora extra para entregar) ou </a:t>
            </a:r>
            <a:pPr algn="l" indent="0" marL="0">
              <a:lnSpc>
                <a:spcPct val="115385"/>
              </a:lnSpc>
              <a:buNone/>
            </a:pPr>
            <a:r>
              <a:rPr lang="en-US" sz="1250" b="1" dirty="0">
                <a:solidFill>
                  <a:srgbClr val="FFFFFF"/>
                </a:solidFill>
                <a:latin typeface="Poppins" pitchFamily="34" charset="0"/>
                <a:ea typeface="Poppins" pitchFamily="34" charset="-122"/>
                <a:cs typeface="Poppins" pitchFamily="34" charset="-120"/>
              </a:rPr>
              <a:t>atrasado e barato</a:t>
            </a:r>
            <a:pPr algn="l" indent="0" marL="0">
              <a:lnSpc>
                <a:spcPct val="115385"/>
              </a:lnSpc>
              <a:buNone/>
            </a:pPr>
            <a:r>
              <a:rPr lang="en-US" sz="1250" dirty="0">
                <a:solidFill>
                  <a:srgbClr val="A3A6B4"/>
                </a:solidFill>
                <a:latin typeface="Poppins" pitchFamily="34" charset="0"/>
                <a:ea typeface="Poppins" pitchFamily="34" charset="-122"/>
                <a:cs typeface="Poppins" pitchFamily="34" charset="-120"/>
              </a:rPr>
              <a:t> (time parado). Por isso a Torre olha os dois.</a:t>
            </a:r>
            <a:endParaRPr lang="en-US" sz="1250" dirty="0"/>
          </a:p>
        </p:txBody>
      </p:sp>
      <p:sp>
        <p:nvSpPr>
          <p:cNvPr id="22" name="Text 20"/>
          <p:cNvSpPr txBox="1"/>
          <p:nvPr/>
        </p:nvSpPr>
        <p:spPr>
          <a:xfrm>
            <a:off x="6406990" y="4269871"/>
            <a:ext cx="4992499" cy="394285"/>
          </a:xfrm>
          <a:prstGeom prst="rect">
            <a:avLst/>
          </a:prstGeom>
          <a:noFill/>
          <a:ln/>
        </p:spPr>
        <p:txBody>
          <a:bodyPr wrap="square" lIns="0" tIns="0" rIns="0" bIns="0" rtlCol="0" anchor="t"/>
          <a:lstStyle/>
          <a:p>
            <a:pPr algn="l" indent="0" marL="0">
              <a:lnSpc>
                <a:spcPct val="115385"/>
              </a:lnSpc>
              <a:buNone/>
            </a:pPr>
            <a:r>
              <a:rPr lang="en-US" sz="1150" dirty="0">
                <a:solidFill>
                  <a:srgbClr val="A3A6B4"/>
                </a:solidFill>
                <a:latin typeface="Poppins" pitchFamily="34" charset="0"/>
                <a:ea typeface="Poppins" pitchFamily="34" charset="-122"/>
                <a:cs typeface="Poppins" pitchFamily="34" charset="-120"/>
              </a:rPr>
              <a:t>Na Vértice: </a:t>
            </a:r>
            <a:pPr algn="l" indent="0" marL="0">
              <a:lnSpc>
                <a:spcPct val="115385"/>
              </a:lnSpc>
              <a:buNone/>
            </a:pPr>
            <a:r>
              <a:rPr lang="en-US" sz="1150" b="1" dirty="0">
                <a:solidFill>
                  <a:srgbClr val="FFFFFF"/>
                </a:solidFill>
                <a:latin typeface="Poppins" pitchFamily="34" charset="0"/>
                <a:ea typeface="Poppins" pitchFamily="34" charset="-122"/>
                <a:cs typeface="Poppins" pitchFamily="34" charset="-120"/>
              </a:rPr>
              <a:t>PRJ-009, CPI 0,77</a:t>
            </a:r>
            <a:pPr algn="l" indent="0" marL="0">
              <a:lnSpc>
                <a:spcPct val="115385"/>
              </a:lnSpc>
              <a:buNone/>
            </a:pPr>
            <a:r>
              <a:rPr lang="en-US" sz="1150" dirty="0">
                <a:solidFill>
                  <a:srgbClr val="A3A6B4"/>
                </a:solidFill>
                <a:latin typeface="Poppins" pitchFamily="34" charset="0"/>
                <a:ea typeface="Poppins" pitchFamily="34" charset="-122"/>
                <a:cs typeface="Poppins" pitchFamily="34" charset="-120"/>
              </a:rPr>
              <a:t>. E 8 projetos com o CPI caindo desde o 6º mês.</a:t>
            </a:r>
            <a:endParaRPr lang="en-US" sz="1150" dirty="0"/>
          </a:p>
        </p:txBody>
      </p:sp>
      <p:pic>
        <p:nvPicPr>
          <p:cNvPr id="23"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24" name="Text 21"/>
          <p:cNvSpPr txBox="1"/>
          <p:nvPr/>
        </p:nvSpPr>
        <p:spPr>
          <a:xfrm>
            <a:off x="10941273" y="6387940"/>
            <a:ext cx="507979"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59 / 133</a:t>
            </a:r>
            <a:endParaRPr lang="en-US" sz="10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EAC · ESTIMATE AT COMPLETION · ESTIMATIVA NO TÉRMINO</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EAC: se nada mudar,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quanto vai custar no fim</a:t>
            </a:r>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a:t>
            </a:r>
            <a:endParaRPr lang="en-US" sz="3100" dirty="0"/>
          </a:p>
        </p:txBody>
      </p:sp>
      <p:sp>
        <p:nvSpPr>
          <p:cNvPr id="4" name="Text 2"/>
          <p:cNvSpPr txBox="1"/>
          <p:nvPr/>
        </p:nvSpPr>
        <p:spPr>
          <a:xfrm>
            <a:off x="761981" y="1645799"/>
            <a:ext cx="1981150" cy="438139"/>
          </a:xfrm>
          <a:prstGeom prst="rect">
            <a:avLst/>
          </a:prstGeom>
          <a:noFill/>
          <a:ln/>
        </p:spPr>
        <p:txBody>
          <a:bodyPr wrap="square" lIns="0" tIns="0" rIns="0" bIns="0" rtlCol="0" anchor="t"/>
          <a:lstStyle/>
          <a:p>
            <a:pPr algn="l" indent="0" marL="0">
              <a:lnSpc>
                <a:spcPct val="106838"/>
              </a:lnSpc>
              <a:buNone/>
            </a:pPr>
            <a:r>
              <a:rPr lang="en-US" sz="1300" b="1" dirty="0">
                <a:solidFill>
                  <a:srgbClr val="FFFFFF"/>
                </a:solidFill>
                <a:latin typeface="Poppins" pitchFamily="34" charset="0"/>
                <a:ea typeface="Poppins" pitchFamily="34" charset="-122"/>
                <a:cs typeface="Poppins" pitchFamily="34" charset="-120"/>
              </a:rPr>
              <a:t>Orçamento</a:t>
            </a:r>
            <a:endParaRPr lang="en-US" sz="1300" dirty="0"/>
          </a:p>
        </p:txBody>
      </p:sp>
      <p:sp>
        <p:nvSpPr>
          <p:cNvPr id="5" name="Text 3"/>
          <p:cNvSpPr txBox="1"/>
          <p:nvPr/>
        </p:nvSpPr>
        <p:spPr>
          <a:xfrm>
            <a:off x="761981" y="1893443"/>
            <a:ext cx="1981150" cy="190495"/>
          </a:xfrm>
          <a:prstGeom prst="rect">
            <a:avLst/>
          </a:prstGeom>
          <a:noFill/>
          <a:ln/>
        </p:spPr>
        <p:txBody>
          <a:bodyPr wrap="square" lIns="0" tIns="0" rIns="0" bIns="0" rtlCol="0" anchor="t"/>
          <a:lstStyle/>
          <a:p>
            <a:pPr algn="l" indent="0" marL="0">
              <a:lnSpc>
                <a:spcPct val="106838"/>
              </a:lnSpc>
              <a:buNone/>
            </a:pPr>
            <a:r>
              <a:rPr lang="en-US" sz="1000" dirty="0">
                <a:solidFill>
                  <a:srgbClr val="A3A6B4"/>
                </a:solidFill>
                <a:latin typeface="Poppins" pitchFamily="34" charset="0"/>
                <a:ea typeface="Poppins" pitchFamily="34" charset="-122"/>
                <a:cs typeface="Poppins" pitchFamily="34" charset="-120"/>
              </a:rPr>
              <a:t>BAC · o combinado</a:t>
            </a:r>
            <a:endParaRPr lang="en-US" sz="1000" dirty="0"/>
          </a:p>
        </p:txBody>
      </p:sp>
      <p:sp>
        <p:nvSpPr>
          <p:cNvPr id="6" name="Shape 4"/>
          <p:cNvSpPr/>
          <p:nvPr/>
        </p:nvSpPr>
        <p:spPr>
          <a:xfrm>
            <a:off x="2844729" y="1661674"/>
            <a:ext cx="6438739" cy="406390"/>
          </a:xfrm>
          <a:prstGeom prst="rect">
            <a:avLst/>
          </a:prstGeom>
          <a:solidFill>
            <a:srgbClr val="467CF6"/>
          </a:solidFill>
          <a:ln/>
        </p:spPr>
      </p:sp>
      <p:sp>
        <p:nvSpPr>
          <p:cNvPr id="7" name="Text 5"/>
          <p:cNvSpPr txBox="1"/>
          <p:nvPr/>
        </p:nvSpPr>
        <p:spPr>
          <a:xfrm>
            <a:off x="2997125" y="1661674"/>
            <a:ext cx="6537797" cy="406390"/>
          </a:xfrm>
          <a:prstGeom prst="rect">
            <a:avLst/>
          </a:prstGeom>
          <a:noFill/>
          <a:ln/>
        </p:spPr>
        <p:txBody>
          <a:bodyPr wrap="square" lIns="0" tIns="0" rIns="0" bIns="0" rtlCol="0" anchor="t"/>
          <a:lstStyle/>
          <a:p>
            <a:pPr algn="l" indent="0" marL="0">
              <a:lnSpc>
                <a:spcPct val="106838"/>
              </a:lnSpc>
              <a:buNone/>
            </a:pPr>
            <a:r>
              <a:rPr lang="en-US" sz="1200" b="1" dirty="0">
                <a:solidFill>
                  <a:srgbClr val="FFFFFF"/>
                </a:solidFill>
                <a:latin typeface="Poppins" pitchFamily="34" charset="0"/>
                <a:ea typeface="Poppins" pitchFamily="34" charset="-122"/>
                <a:cs typeface="Poppins" pitchFamily="34" charset="-120"/>
              </a:rPr>
              <a:t>R$ 300 mil</a:t>
            </a:r>
            <a:endParaRPr lang="en-US" sz="1200" dirty="0"/>
          </a:p>
        </p:txBody>
      </p:sp>
      <p:sp>
        <p:nvSpPr>
          <p:cNvPr id="8" name="Text 6"/>
          <p:cNvSpPr txBox="1"/>
          <p:nvPr/>
        </p:nvSpPr>
        <p:spPr>
          <a:xfrm>
            <a:off x="761981" y="2249034"/>
            <a:ext cx="1981150" cy="438139"/>
          </a:xfrm>
          <a:prstGeom prst="rect">
            <a:avLst/>
          </a:prstGeom>
          <a:noFill/>
          <a:ln/>
        </p:spPr>
        <p:txBody>
          <a:bodyPr wrap="square" lIns="0" tIns="0" rIns="0" bIns="0" rtlCol="0" anchor="t"/>
          <a:lstStyle/>
          <a:p>
            <a:pPr algn="l" indent="0" marL="0">
              <a:lnSpc>
                <a:spcPct val="106838"/>
              </a:lnSpc>
              <a:buNone/>
            </a:pPr>
            <a:r>
              <a:rPr lang="en-US" sz="1300" b="1" dirty="0">
                <a:solidFill>
                  <a:srgbClr val="FFFFFF"/>
                </a:solidFill>
                <a:latin typeface="Poppins" pitchFamily="34" charset="0"/>
                <a:ea typeface="Poppins" pitchFamily="34" charset="-122"/>
                <a:cs typeface="Poppins" pitchFamily="34" charset="-120"/>
              </a:rPr>
              <a:t>Vai custar</a:t>
            </a:r>
            <a:endParaRPr lang="en-US" sz="1300" dirty="0"/>
          </a:p>
        </p:txBody>
      </p:sp>
      <p:sp>
        <p:nvSpPr>
          <p:cNvPr id="9" name="Text 7"/>
          <p:cNvSpPr txBox="1"/>
          <p:nvPr/>
        </p:nvSpPr>
        <p:spPr>
          <a:xfrm>
            <a:off x="761981" y="2496678"/>
            <a:ext cx="1981150" cy="190495"/>
          </a:xfrm>
          <a:prstGeom prst="rect">
            <a:avLst/>
          </a:prstGeom>
          <a:noFill/>
          <a:ln/>
        </p:spPr>
        <p:txBody>
          <a:bodyPr wrap="square" lIns="0" tIns="0" rIns="0" bIns="0" rtlCol="0" anchor="t"/>
          <a:lstStyle/>
          <a:p>
            <a:pPr algn="l" indent="0" marL="0">
              <a:lnSpc>
                <a:spcPct val="106838"/>
              </a:lnSpc>
              <a:buNone/>
            </a:pPr>
            <a:r>
              <a:rPr lang="en-US" sz="1000" dirty="0">
                <a:solidFill>
                  <a:srgbClr val="A3A6B4"/>
                </a:solidFill>
                <a:latin typeface="Poppins" pitchFamily="34" charset="0"/>
                <a:ea typeface="Poppins" pitchFamily="34" charset="-122"/>
                <a:cs typeface="Poppins" pitchFamily="34" charset="-120"/>
              </a:rPr>
              <a:t>EAC = orçamento ÷ CPI</a:t>
            </a:r>
            <a:endParaRPr lang="en-US" sz="1000" dirty="0"/>
          </a:p>
        </p:txBody>
      </p:sp>
      <p:sp>
        <p:nvSpPr>
          <p:cNvPr id="10" name="Shape 8"/>
          <p:cNvSpPr/>
          <p:nvPr/>
        </p:nvSpPr>
        <p:spPr>
          <a:xfrm>
            <a:off x="2844729" y="2264909"/>
            <a:ext cx="6438739" cy="406390"/>
          </a:xfrm>
          <a:prstGeom prst="rect">
            <a:avLst/>
          </a:prstGeom>
          <a:solidFill>
            <a:srgbClr val="467CF6">
              <a:alpha val="55000"/>
            </a:srgbClr>
          </a:solidFill>
          <a:ln/>
        </p:spPr>
      </p:sp>
      <p:sp>
        <p:nvSpPr>
          <p:cNvPr id="11" name="Text 9"/>
          <p:cNvSpPr txBox="1"/>
          <p:nvPr/>
        </p:nvSpPr>
        <p:spPr>
          <a:xfrm>
            <a:off x="2997125" y="2264909"/>
            <a:ext cx="6537797" cy="406390"/>
          </a:xfrm>
          <a:prstGeom prst="rect">
            <a:avLst/>
          </a:prstGeom>
          <a:noFill/>
          <a:ln/>
        </p:spPr>
        <p:txBody>
          <a:bodyPr wrap="square" lIns="0" tIns="0" rIns="0" bIns="0" rtlCol="0" anchor="t"/>
          <a:lstStyle/>
          <a:p>
            <a:pPr algn="l" indent="0" marL="0">
              <a:lnSpc>
                <a:spcPct val="106838"/>
              </a:lnSpc>
              <a:buNone/>
            </a:pPr>
            <a:r>
              <a:rPr lang="en-US" sz="1200" b="1" dirty="0">
                <a:solidFill>
                  <a:srgbClr val="FFFFFF"/>
                </a:solidFill>
                <a:latin typeface="Poppins" pitchFamily="34" charset="0"/>
                <a:ea typeface="Poppins" pitchFamily="34" charset="-122"/>
                <a:cs typeface="Poppins" pitchFamily="34" charset="-120"/>
              </a:rPr>
              <a:t>R$ 300 mil</a:t>
            </a:r>
            <a:endParaRPr lang="en-US" sz="1200" dirty="0"/>
          </a:p>
        </p:txBody>
      </p:sp>
      <p:sp>
        <p:nvSpPr>
          <p:cNvPr id="12" name="Shape 10"/>
          <p:cNvSpPr/>
          <p:nvPr/>
        </p:nvSpPr>
        <p:spPr>
          <a:xfrm>
            <a:off x="9283468" y="2264909"/>
            <a:ext cx="2146246" cy="406390"/>
          </a:xfrm>
          <a:prstGeom prst="rect">
            <a:avLst/>
          </a:prstGeom>
          <a:solidFill>
            <a:srgbClr val="FF6B6B"/>
          </a:solidFill>
          <a:ln/>
        </p:spPr>
      </p:sp>
      <p:sp>
        <p:nvSpPr>
          <p:cNvPr id="13" name="Text 11"/>
          <p:cNvSpPr txBox="1"/>
          <p:nvPr/>
        </p:nvSpPr>
        <p:spPr>
          <a:xfrm>
            <a:off x="9283468" y="2264909"/>
            <a:ext cx="2232096" cy="406390"/>
          </a:xfrm>
          <a:prstGeom prst="rect">
            <a:avLst/>
          </a:prstGeom>
          <a:noFill/>
          <a:ln/>
        </p:spPr>
        <p:txBody>
          <a:bodyPr wrap="square" lIns="0" tIns="0" rIns="0" bIns="0" rtlCol="0" anchor="t"/>
          <a:lstStyle/>
          <a:p>
            <a:pPr algn="l" indent="0" marL="0">
              <a:lnSpc>
                <a:spcPct val="106838"/>
              </a:lnSpc>
              <a:buNone/>
            </a:pPr>
            <a:r>
              <a:rPr lang="en-US" sz="1200" b="1" dirty="0">
                <a:solidFill>
                  <a:srgbClr val="FFFFFF"/>
                </a:solidFill>
                <a:latin typeface="Poppins" pitchFamily="34" charset="0"/>
                <a:ea typeface="Poppins" pitchFamily="34" charset="-122"/>
                <a:cs typeface="Poppins" pitchFamily="34" charset="-120"/>
              </a:rPr>
              <a:t>+ R$ 100 mil</a:t>
            </a:r>
            <a:endParaRPr lang="en-US" sz="1200" dirty="0"/>
          </a:p>
        </p:txBody>
      </p:sp>
      <p:sp>
        <p:nvSpPr>
          <p:cNvPr id="14" name="Text 12"/>
          <p:cNvSpPr txBox="1"/>
          <p:nvPr/>
        </p:nvSpPr>
        <p:spPr>
          <a:xfrm>
            <a:off x="761981" y="2852269"/>
            <a:ext cx="1981150" cy="438139"/>
          </a:xfrm>
          <a:prstGeom prst="rect">
            <a:avLst/>
          </a:prstGeom>
          <a:noFill/>
          <a:ln/>
        </p:spPr>
        <p:txBody>
          <a:bodyPr wrap="square" lIns="0" tIns="0" rIns="0" bIns="0" rtlCol="0" anchor="t"/>
          <a:lstStyle/>
          <a:p>
            <a:pPr algn="l" indent="0" marL="0">
              <a:lnSpc>
                <a:spcPct val="106838"/>
              </a:lnSpc>
              <a:buNone/>
            </a:pPr>
            <a:r>
              <a:rPr lang="en-US" sz="1300" b="1" dirty="0">
                <a:solidFill>
                  <a:srgbClr val="FFFFFF"/>
                </a:solidFill>
                <a:latin typeface="Poppins" pitchFamily="34" charset="0"/>
                <a:ea typeface="Poppins" pitchFamily="34" charset="-122"/>
                <a:cs typeface="Poppins" pitchFamily="34" charset="-120"/>
              </a:rPr>
              <a:t>Prazo</a:t>
            </a:r>
            <a:endParaRPr lang="en-US" sz="1300" dirty="0"/>
          </a:p>
        </p:txBody>
      </p:sp>
      <p:sp>
        <p:nvSpPr>
          <p:cNvPr id="15" name="Text 13"/>
          <p:cNvSpPr txBox="1"/>
          <p:nvPr/>
        </p:nvSpPr>
        <p:spPr>
          <a:xfrm>
            <a:off x="761981" y="3099913"/>
            <a:ext cx="1981150" cy="190495"/>
          </a:xfrm>
          <a:prstGeom prst="rect">
            <a:avLst/>
          </a:prstGeom>
          <a:noFill/>
          <a:ln/>
        </p:spPr>
        <p:txBody>
          <a:bodyPr wrap="square" lIns="0" tIns="0" rIns="0" bIns="0" rtlCol="0" anchor="t"/>
          <a:lstStyle/>
          <a:p>
            <a:pPr algn="l" indent="0" marL="0">
              <a:lnSpc>
                <a:spcPct val="106838"/>
              </a:lnSpc>
              <a:buNone/>
            </a:pPr>
            <a:r>
              <a:rPr lang="en-US" sz="1000" dirty="0">
                <a:solidFill>
                  <a:srgbClr val="A3A6B4"/>
                </a:solidFill>
                <a:latin typeface="Poppins" pitchFamily="34" charset="0"/>
                <a:ea typeface="Poppins" pitchFamily="34" charset="-122"/>
                <a:cs typeface="Poppins" pitchFamily="34" charset="-120"/>
              </a:rPr>
              <a:t>duração ÷ SPI</a:t>
            </a:r>
            <a:endParaRPr lang="en-US" sz="1000" dirty="0"/>
          </a:p>
        </p:txBody>
      </p:sp>
      <p:sp>
        <p:nvSpPr>
          <p:cNvPr id="16" name="Shape 14"/>
          <p:cNvSpPr/>
          <p:nvPr/>
        </p:nvSpPr>
        <p:spPr>
          <a:xfrm>
            <a:off x="2844729" y="2868144"/>
            <a:ext cx="6438739" cy="406390"/>
          </a:xfrm>
          <a:prstGeom prst="rect">
            <a:avLst/>
          </a:prstGeom>
          <a:solidFill>
            <a:srgbClr val="467CF6">
              <a:alpha val="55000"/>
            </a:srgbClr>
          </a:solidFill>
          <a:ln/>
        </p:spPr>
      </p:sp>
      <p:sp>
        <p:nvSpPr>
          <p:cNvPr id="17" name="Text 15"/>
          <p:cNvSpPr txBox="1"/>
          <p:nvPr/>
        </p:nvSpPr>
        <p:spPr>
          <a:xfrm>
            <a:off x="2997125" y="2868144"/>
            <a:ext cx="6537797" cy="406390"/>
          </a:xfrm>
          <a:prstGeom prst="rect">
            <a:avLst/>
          </a:prstGeom>
          <a:noFill/>
          <a:ln/>
        </p:spPr>
        <p:txBody>
          <a:bodyPr wrap="square" lIns="0" tIns="0" rIns="0" bIns="0" rtlCol="0" anchor="t"/>
          <a:lstStyle/>
          <a:p>
            <a:pPr algn="l" indent="0" marL="0">
              <a:lnSpc>
                <a:spcPct val="106838"/>
              </a:lnSpc>
              <a:buNone/>
            </a:pPr>
            <a:r>
              <a:rPr lang="en-US" sz="1200" b="1" dirty="0">
                <a:solidFill>
                  <a:srgbClr val="FFFFFF"/>
                </a:solidFill>
                <a:latin typeface="Poppins" pitchFamily="34" charset="0"/>
                <a:ea typeface="Poppins" pitchFamily="34" charset="-122"/>
                <a:cs typeface="Poppins" pitchFamily="34" charset="-120"/>
              </a:rPr>
              <a:t>3 meses</a:t>
            </a:r>
            <a:endParaRPr lang="en-US" sz="1200" dirty="0"/>
          </a:p>
        </p:txBody>
      </p:sp>
      <p:sp>
        <p:nvSpPr>
          <p:cNvPr id="18" name="Shape 16"/>
          <p:cNvSpPr/>
          <p:nvPr/>
        </p:nvSpPr>
        <p:spPr>
          <a:xfrm>
            <a:off x="9283468" y="2868144"/>
            <a:ext cx="2146246" cy="406390"/>
          </a:xfrm>
          <a:prstGeom prst="rect">
            <a:avLst/>
          </a:prstGeom>
          <a:solidFill>
            <a:srgbClr val="FF6B6B"/>
          </a:solidFill>
          <a:ln/>
        </p:spPr>
      </p:sp>
      <p:sp>
        <p:nvSpPr>
          <p:cNvPr id="19" name="Text 17"/>
          <p:cNvSpPr txBox="1"/>
          <p:nvPr/>
        </p:nvSpPr>
        <p:spPr>
          <a:xfrm>
            <a:off x="9283468" y="2868144"/>
            <a:ext cx="2232096" cy="406390"/>
          </a:xfrm>
          <a:prstGeom prst="rect">
            <a:avLst/>
          </a:prstGeom>
          <a:noFill/>
          <a:ln/>
        </p:spPr>
        <p:txBody>
          <a:bodyPr wrap="square" lIns="0" tIns="0" rIns="0" bIns="0" rtlCol="0" anchor="t"/>
          <a:lstStyle/>
          <a:p>
            <a:pPr algn="l" indent="0" marL="0">
              <a:lnSpc>
                <a:spcPct val="106838"/>
              </a:lnSpc>
              <a:buNone/>
            </a:pPr>
            <a:r>
              <a:rPr lang="en-US" sz="1200" b="1" dirty="0">
                <a:solidFill>
                  <a:srgbClr val="FFFFFF"/>
                </a:solidFill>
                <a:latin typeface="Poppins" pitchFamily="34" charset="0"/>
                <a:ea typeface="Poppins" pitchFamily="34" charset="-122"/>
                <a:cs typeface="Poppins" pitchFamily="34" charset="-120"/>
              </a:rPr>
              <a:t>+ 1 mês</a:t>
            </a:r>
            <a:endParaRPr lang="en-US" sz="1200" dirty="0"/>
          </a:p>
        </p:txBody>
      </p:sp>
      <p:sp>
        <p:nvSpPr>
          <p:cNvPr id="20" name="Shape 18"/>
          <p:cNvSpPr/>
          <p:nvPr/>
        </p:nvSpPr>
        <p:spPr>
          <a:xfrm>
            <a:off x="761981" y="3544402"/>
            <a:ext cx="5244969" cy="1938289"/>
          </a:xfrm>
          <a:prstGeom prst="roundRect">
            <a:avLst>
              <a:gd name="adj" fmla="val 7862"/>
            </a:avLst>
          </a:prstGeom>
          <a:solidFill>
            <a:srgbClr val="0059DB"/>
          </a:solidFill>
          <a:ln/>
        </p:spPr>
      </p:sp>
      <p:sp>
        <p:nvSpPr>
          <p:cNvPr id="21" name="Shape 19"/>
          <p:cNvSpPr/>
          <p:nvPr/>
        </p:nvSpPr>
        <p:spPr>
          <a:xfrm>
            <a:off x="984225" y="3741247"/>
            <a:ext cx="625955" cy="247644"/>
          </a:xfrm>
          <a:prstGeom prst="roundRect">
            <a:avLst>
              <a:gd name="adj" fmla="val 50000"/>
            </a:avLst>
          </a:prstGeom>
          <a:solidFill>
            <a:srgbClr val="FFFFFF">
              <a:alpha val="16000"/>
            </a:srgbClr>
          </a:solidFill>
          <a:ln/>
        </p:spPr>
      </p:sp>
      <p:sp>
        <p:nvSpPr>
          <p:cNvPr id="22" name="Text 20"/>
          <p:cNvSpPr txBox="1"/>
          <p:nvPr/>
        </p:nvSpPr>
        <p:spPr>
          <a:xfrm>
            <a:off x="1073123" y="3779346"/>
            <a:ext cx="466086"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A conta</a:t>
            </a:r>
            <a:endParaRPr lang="en-US" sz="900" dirty="0"/>
          </a:p>
        </p:txBody>
      </p:sp>
      <p:sp>
        <p:nvSpPr>
          <p:cNvPr id="23" name="Text 21"/>
          <p:cNvSpPr txBox="1"/>
          <p:nvPr/>
        </p:nvSpPr>
        <p:spPr>
          <a:xfrm>
            <a:off x="984225" y="4128587"/>
            <a:ext cx="4992499" cy="438139"/>
          </a:xfrm>
          <a:prstGeom prst="rect">
            <a:avLst/>
          </a:prstGeom>
          <a:noFill/>
          <a:ln/>
        </p:spPr>
        <p:txBody>
          <a:bodyPr wrap="square" lIns="0" tIns="0" rIns="0" bIns="0" rtlCol="0" anchor="t"/>
          <a:lstStyle/>
          <a:p>
            <a:pPr algn="l" indent="0" marL="0">
              <a:lnSpc>
                <a:spcPct val="106838"/>
              </a:lnSpc>
              <a:buNone/>
            </a:pPr>
            <a:r>
              <a:rPr lang="en-US" sz="2300" b="1" dirty="0">
                <a:solidFill>
                  <a:srgbClr val="F5F6FC"/>
                </a:solidFill>
                <a:latin typeface="Poppins" pitchFamily="34" charset="0"/>
                <a:ea typeface="Poppins" pitchFamily="34" charset="-122"/>
                <a:cs typeface="Poppins" pitchFamily="34" charset="-120"/>
              </a:rPr>
              <a:t>300 ÷ 0,75 = R$ 400 mil</a:t>
            </a:r>
            <a:endParaRPr lang="en-US" sz="2300" dirty="0"/>
          </a:p>
        </p:txBody>
      </p:sp>
      <p:sp>
        <p:nvSpPr>
          <p:cNvPr id="24" name="Text 22"/>
          <p:cNvSpPr txBox="1"/>
          <p:nvPr/>
        </p:nvSpPr>
        <p:spPr>
          <a:xfrm>
            <a:off x="984225" y="4642925"/>
            <a:ext cx="4992499" cy="642921"/>
          </a:xfrm>
          <a:prstGeom prst="rect">
            <a:avLst/>
          </a:prstGeom>
          <a:noFill/>
          <a:ln/>
        </p:spPr>
        <p:txBody>
          <a:bodyPr wrap="square" lIns="0" tIns="0" rIns="0" bIns="0" rtlCol="0" anchor="t"/>
          <a:lstStyle/>
          <a:p>
            <a:pPr algn="l" indent="0" marL="0">
              <a:lnSpc>
                <a:spcPct val="115385"/>
              </a:lnSpc>
              <a:buNone/>
            </a:pPr>
            <a:r>
              <a:rPr lang="en-US" sz="1250" b="1" dirty="0">
                <a:solidFill>
                  <a:srgbClr val="FFFFFF"/>
                </a:solidFill>
                <a:latin typeface="Poppins" pitchFamily="34" charset="0"/>
                <a:ea typeface="Poppins" pitchFamily="34" charset="-122"/>
                <a:cs typeface="Poppins" pitchFamily="34" charset="-120"/>
              </a:rPr>
              <a:t>Estouro previsto: R$ 100 mil.</a:t>
            </a:r>
            <a:pPr algn="l" indent="0" marL="0">
              <a:lnSpc>
                <a:spcPct val="115385"/>
              </a:lnSpc>
              <a:buNone/>
            </a:pPr>
            <a:r>
              <a:rPr lang="en-US" sz="1250" dirty="0">
                <a:solidFill>
                  <a:srgbClr val="DBE6FF"/>
                </a:solidFill>
                <a:latin typeface="Poppins" pitchFamily="34" charset="0"/>
                <a:ea typeface="Poppins" pitchFamily="34" charset="-122"/>
                <a:cs typeface="Poppins" pitchFamily="34" charset="-120"/>
              </a:rPr>
              <a:t> É o primeiro número que o dono quer ouvir, e sai de três colunas: orçamento, % concluído e custo real.</a:t>
            </a:r>
            <a:endParaRPr lang="en-US" sz="1250" dirty="0"/>
          </a:p>
        </p:txBody>
      </p:sp>
      <p:sp>
        <p:nvSpPr>
          <p:cNvPr id="25" name="Shape 23"/>
          <p:cNvSpPr/>
          <p:nvPr/>
        </p:nvSpPr>
        <p:spPr>
          <a:xfrm>
            <a:off x="6184745" y="3544402"/>
            <a:ext cx="5244969" cy="1938289"/>
          </a:xfrm>
          <a:prstGeom prst="roundRect">
            <a:avLst>
              <a:gd name="adj" fmla="val 7862"/>
            </a:avLst>
          </a:prstGeom>
          <a:solidFill>
            <a:srgbClr val="1E1E24"/>
          </a:solidFill>
          <a:ln w="6350">
            <a:solidFill>
              <a:srgbClr val="2F2F39"/>
            </a:solidFill>
            <a:prstDash val="solid"/>
          </a:ln>
        </p:spPr>
      </p:sp>
      <p:sp>
        <p:nvSpPr>
          <p:cNvPr id="26" name="Shape 24"/>
          <p:cNvSpPr/>
          <p:nvPr/>
        </p:nvSpPr>
        <p:spPr>
          <a:xfrm>
            <a:off x="6406990" y="3741247"/>
            <a:ext cx="779939" cy="247644"/>
          </a:xfrm>
          <a:prstGeom prst="roundRect">
            <a:avLst>
              <a:gd name="adj" fmla="val 50000"/>
            </a:avLst>
          </a:prstGeom>
          <a:solidFill>
            <a:srgbClr val="22C2F4">
              <a:alpha val="14000"/>
            </a:srgbClr>
          </a:solidFill>
          <a:ln/>
        </p:spPr>
      </p:sp>
      <p:sp>
        <p:nvSpPr>
          <p:cNvPr id="27" name="Text 25"/>
          <p:cNvSpPr txBox="1"/>
          <p:nvPr/>
        </p:nvSpPr>
        <p:spPr>
          <a:xfrm>
            <a:off x="6495888" y="3779346"/>
            <a:ext cx="626229"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Na Vértice</a:t>
            </a:r>
            <a:endParaRPr lang="en-US" sz="900" dirty="0"/>
          </a:p>
        </p:txBody>
      </p:sp>
      <p:sp>
        <p:nvSpPr>
          <p:cNvPr id="28" name="Text 26"/>
          <p:cNvSpPr txBox="1"/>
          <p:nvPr/>
        </p:nvSpPr>
        <p:spPr>
          <a:xfrm>
            <a:off x="6406990" y="4077789"/>
            <a:ext cx="4992499" cy="419090"/>
          </a:xfrm>
          <a:prstGeom prst="rect">
            <a:avLst/>
          </a:prstGeom>
          <a:noFill/>
          <a:ln/>
        </p:spPr>
        <p:txBody>
          <a:bodyPr wrap="square" lIns="0" tIns="0" rIns="0" bIns="0" rtlCol="0" anchor="t"/>
          <a:lstStyle/>
          <a:p>
            <a:pPr algn="l" indent="0" marL="0">
              <a:lnSpc>
                <a:spcPct val="85470"/>
              </a:lnSpc>
              <a:buNone/>
            </a:pPr>
            <a:r>
              <a:rPr lang="en-US" sz="3300" b="1" spc="-66" kern="0" dirty="0">
                <a:solidFill>
                  <a:srgbClr val="FF6B6B"/>
                </a:solidFill>
                <a:latin typeface="Poppins" pitchFamily="34" charset="0"/>
                <a:ea typeface="Poppins" pitchFamily="34" charset="-122"/>
                <a:cs typeface="Poppins" pitchFamily="34" charset="-120"/>
              </a:rPr>
              <a:t>R$ 6,47 mi</a:t>
            </a:r>
            <a:endParaRPr lang="en-US" sz="3300" dirty="0"/>
          </a:p>
        </p:txBody>
      </p:sp>
      <p:sp>
        <p:nvSpPr>
          <p:cNvPr id="29" name="Text 27"/>
          <p:cNvSpPr txBox="1"/>
          <p:nvPr/>
        </p:nvSpPr>
        <p:spPr>
          <a:xfrm>
            <a:off x="6406990" y="4573076"/>
            <a:ext cx="4992499" cy="394285"/>
          </a:xfrm>
          <a:prstGeom prst="rect">
            <a:avLst/>
          </a:prstGeom>
          <a:noFill/>
          <a:ln/>
        </p:spPr>
        <p:txBody>
          <a:bodyPr wrap="square" lIns="0" tIns="0" rIns="0" bIns="0" rtlCol="0" anchor="t"/>
          <a:lstStyle/>
          <a:p>
            <a:pPr algn="l" indent="0" marL="0">
              <a:lnSpc>
                <a:spcPct val="115385"/>
              </a:lnSpc>
              <a:buNone/>
            </a:pPr>
            <a:r>
              <a:rPr lang="en-US" sz="1150" dirty="0">
                <a:solidFill>
                  <a:srgbClr val="A3A6B4"/>
                </a:solidFill>
                <a:latin typeface="Poppins" pitchFamily="34" charset="0"/>
                <a:ea typeface="Poppins" pitchFamily="34" charset="-122"/>
                <a:cs typeface="Poppins" pitchFamily="34" charset="-120"/>
              </a:rPr>
              <a:t>de estouro previsto, somando só quem estoura. O maior é o </a:t>
            </a:r>
            <a:pPr algn="l" indent="0" marL="0">
              <a:lnSpc>
                <a:spcPct val="115385"/>
              </a:lnSpc>
              <a:buNone/>
            </a:pPr>
            <a:r>
              <a:rPr lang="en-US" sz="1150" b="1" dirty="0">
                <a:solidFill>
                  <a:srgbClr val="FFFFFF"/>
                </a:solidFill>
                <a:latin typeface="Poppins" pitchFamily="34" charset="0"/>
                <a:ea typeface="Poppins" pitchFamily="34" charset="-122"/>
                <a:cs typeface="Poppins" pitchFamily="34" charset="-120"/>
              </a:rPr>
              <a:t>PRJ-021, R$ 1,78 mi</a:t>
            </a:r>
            <a:pPr algn="l" indent="0" marL="0">
              <a:lnSpc>
                <a:spcPct val="115385"/>
              </a:lnSpc>
              <a:buNone/>
            </a:pPr>
            <a:r>
              <a:rPr lang="en-US" sz="1150" dirty="0">
                <a:solidFill>
                  <a:srgbClr val="A3A6B4"/>
                </a:solidFill>
                <a:latin typeface="Poppins" pitchFamily="34" charset="0"/>
                <a:ea typeface="Poppins" pitchFamily="34" charset="-122"/>
                <a:cs typeface="Poppins" pitchFamily="34" charset="-120"/>
              </a:rPr>
              <a:t>. Resposta da pergunta 2 do dono.</a:t>
            </a:r>
            <a:endParaRPr lang="en-US" sz="1150" dirty="0"/>
          </a:p>
        </p:txBody>
      </p:sp>
      <p:pic>
        <p:nvPicPr>
          <p:cNvPr id="30"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31" name="Text 28"/>
          <p:cNvSpPr txBox="1"/>
          <p:nvPr/>
        </p:nvSpPr>
        <p:spPr>
          <a:xfrm>
            <a:off x="10940082" y="6387940"/>
            <a:ext cx="509218"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60 / 133</a:t>
            </a:r>
            <a:endParaRPr lang="en-US" sz="10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FAROL × NÚMERO</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O projeto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melancia</a:t>
            </a:r>
            <a:endParaRPr lang="en-US" sz="3100" dirty="0"/>
          </a:p>
        </p:txBody>
      </p:sp>
      <p:sp>
        <p:nvSpPr>
          <p:cNvPr id="4" name="Shape 2"/>
          <p:cNvSpPr/>
          <p:nvPr/>
        </p:nvSpPr>
        <p:spPr>
          <a:xfrm>
            <a:off x="761981" y="1582301"/>
            <a:ext cx="5244969" cy="2307076"/>
          </a:xfrm>
          <a:prstGeom prst="roundRect">
            <a:avLst>
              <a:gd name="adj" fmla="val 6606"/>
            </a:avLst>
          </a:prstGeom>
          <a:solidFill>
            <a:srgbClr val="1E1E24"/>
          </a:solidFill>
          <a:ln w="6350">
            <a:solidFill>
              <a:srgbClr val="2F2F39"/>
            </a:solidFill>
            <a:prstDash val="solid"/>
          </a:ln>
        </p:spPr>
      </p:sp>
      <p:sp>
        <p:nvSpPr>
          <p:cNvPr id="5" name="Shape 3"/>
          <p:cNvSpPr/>
          <p:nvPr/>
        </p:nvSpPr>
        <p:spPr>
          <a:xfrm>
            <a:off x="984225" y="1779146"/>
            <a:ext cx="562556" cy="247644"/>
          </a:xfrm>
          <a:prstGeom prst="roundRect">
            <a:avLst>
              <a:gd name="adj" fmla="val 50000"/>
            </a:avLst>
          </a:prstGeom>
          <a:solidFill>
            <a:srgbClr val="22C2F4">
              <a:alpha val="14000"/>
            </a:srgbClr>
          </a:solidFill>
          <a:ln/>
        </p:spPr>
      </p:sp>
      <p:sp>
        <p:nvSpPr>
          <p:cNvPr id="6" name="Text 4"/>
          <p:cNvSpPr txBox="1"/>
          <p:nvPr/>
        </p:nvSpPr>
        <p:spPr>
          <a:xfrm>
            <a:off x="1073123" y="1817245"/>
            <a:ext cx="400151"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O farol</a:t>
            </a:r>
            <a:endParaRPr lang="en-US" sz="900" dirty="0"/>
          </a:p>
        </p:txBody>
      </p:sp>
      <p:sp>
        <p:nvSpPr>
          <p:cNvPr id="7" name="Text 5"/>
          <p:cNvSpPr txBox="1"/>
          <p:nvPr/>
        </p:nvSpPr>
        <p:spPr>
          <a:xfrm>
            <a:off x="984225" y="2191886"/>
            <a:ext cx="4992499" cy="668519"/>
          </a:xfrm>
          <a:prstGeom prst="rect">
            <a:avLst/>
          </a:prstGeom>
          <a:noFill/>
          <a:ln/>
        </p:spPr>
        <p:txBody>
          <a:bodyPr wrap="square" lIns="0" tIns="0" rIns="0" bIns="0" rtlCol="0" anchor="t"/>
          <a:lstStyle/>
          <a:p>
            <a:pPr algn="l" indent="0" marL="0">
              <a:lnSpc>
                <a:spcPct val="115385"/>
              </a:lnSpc>
              <a:buNone/>
            </a:pPr>
            <a:r>
              <a:rPr lang="en-US" sz="1300" dirty="0">
                <a:solidFill>
                  <a:srgbClr val="A3A6B4"/>
                </a:solidFill>
                <a:latin typeface="Poppins" pitchFamily="34" charset="0"/>
                <a:ea typeface="Poppins" pitchFamily="34" charset="-122"/>
                <a:cs typeface="Poppins" pitchFamily="34" charset="-120"/>
              </a:rPr>
              <a:t>Toda sexta o gerente põe uma cor no status: </a:t>
            </a:r>
            <a:pPr algn="l" indent="0" marL="0">
              <a:lnSpc>
                <a:spcPct val="115385"/>
              </a:lnSpc>
              <a:buNone/>
            </a:pPr>
            <a:r>
              <a:rPr lang="en-US" sz="1300" b="1" dirty="0">
                <a:solidFill>
                  <a:srgbClr val="5AD47A"/>
                </a:solidFill>
                <a:latin typeface="Poppins" pitchFamily="34" charset="0"/>
                <a:ea typeface="Poppins" pitchFamily="34" charset="-122"/>
                <a:cs typeface="Poppins" pitchFamily="34" charset="-120"/>
              </a:rPr>
              <a:t>verde</a:t>
            </a:r>
            <a:pPr algn="l" indent="0" marL="0">
              <a:lnSpc>
                <a:spcPct val="115385"/>
              </a:lnSpc>
              <a:buNone/>
            </a:pPr>
            <a:r>
              <a:rPr lang="en-US" sz="1300" dirty="0">
                <a:solidFill>
                  <a:srgbClr val="A3A6B4"/>
                </a:solidFill>
                <a:latin typeface="Poppins" pitchFamily="34" charset="0"/>
                <a:ea typeface="Poppins" pitchFamily="34" charset="-122"/>
                <a:cs typeface="Poppins" pitchFamily="34" charset="-120"/>
              </a:rPr>
              <a:t>, </a:t>
            </a:r>
            <a:pPr algn="l" indent="0" marL="0">
              <a:lnSpc>
                <a:spcPct val="115385"/>
              </a:lnSpc>
              <a:buNone/>
            </a:pPr>
            <a:r>
              <a:rPr lang="en-US" sz="1300" b="1" dirty="0">
                <a:solidFill>
                  <a:srgbClr val="FFD166"/>
                </a:solidFill>
                <a:latin typeface="Poppins" pitchFamily="34" charset="0"/>
                <a:ea typeface="Poppins" pitchFamily="34" charset="-122"/>
                <a:cs typeface="Poppins" pitchFamily="34" charset="-120"/>
              </a:rPr>
              <a:t>amarelo</a:t>
            </a:r>
            <a:pPr algn="l" indent="0" marL="0">
              <a:lnSpc>
                <a:spcPct val="115385"/>
              </a:lnSpc>
              <a:buNone/>
            </a:pPr>
            <a:r>
              <a:rPr lang="en-US" sz="1300" dirty="0">
                <a:solidFill>
                  <a:srgbClr val="A3A6B4"/>
                </a:solidFill>
                <a:latin typeface="Poppins" pitchFamily="34" charset="0"/>
                <a:ea typeface="Poppins" pitchFamily="34" charset="-122"/>
                <a:cs typeface="Poppins" pitchFamily="34" charset="-120"/>
              </a:rPr>
              <a:t> ou </a:t>
            </a:r>
            <a:pPr algn="l" indent="0" marL="0">
              <a:lnSpc>
                <a:spcPct val="115385"/>
              </a:lnSpc>
              <a:buNone/>
            </a:pPr>
            <a:r>
              <a:rPr lang="en-US" sz="1300" b="1" dirty="0">
                <a:solidFill>
                  <a:srgbClr val="FF6B6B"/>
                </a:solidFill>
                <a:latin typeface="Poppins" pitchFamily="34" charset="0"/>
                <a:ea typeface="Poppins" pitchFamily="34" charset="-122"/>
                <a:cs typeface="Poppins" pitchFamily="34" charset="-120"/>
              </a:rPr>
              <a:t>vermelho</a:t>
            </a:r>
            <a:pPr algn="l" indent="0" marL="0">
              <a:lnSpc>
                <a:spcPct val="115385"/>
              </a:lnSpc>
              <a:buNone/>
            </a:pPr>
            <a:r>
              <a:rPr lang="en-US" sz="1300" dirty="0">
                <a:solidFill>
                  <a:srgbClr val="A3A6B4"/>
                </a:solidFill>
                <a:latin typeface="Poppins" pitchFamily="34" charset="0"/>
                <a:ea typeface="Poppins" pitchFamily="34" charset="-122"/>
                <a:cs typeface="Poppins" pitchFamily="34" charset="-120"/>
              </a:rPr>
              <a:t>. No olhômetro. É a mensagem do pedreiro: </a:t>
            </a:r>
            <a:pPr algn="l" indent="0" marL="0">
              <a:lnSpc>
                <a:spcPct val="115385"/>
              </a:lnSpc>
              <a:buNone/>
            </a:pPr>
            <a:r>
              <a:rPr lang="en-US" sz="1300" i="1" dirty="0">
                <a:solidFill>
                  <a:srgbClr val="A3A6B4"/>
                </a:solidFill>
                <a:latin typeface="Poppins" pitchFamily="34" charset="0"/>
                <a:ea typeface="Poppins" pitchFamily="34" charset="-122"/>
                <a:cs typeface="Poppins" pitchFamily="34" charset="-120"/>
              </a:rPr>
              <a:t>"tá tudo certo, chefe"</a:t>
            </a:r>
            <a:pPr algn="l" indent="0" marL="0">
              <a:lnSpc>
                <a:spcPct val="115385"/>
              </a:lnSpc>
              <a:buNone/>
            </a:pPr>
            <a:r>
              <a:rPr lang="en-US" sz="1300" dirty="0">
                <a:solidFill>
                  <a:srgbClr val="A3A6B4"/>
                </a:solidFill>
                <a:latin typeface="Poppins" pitchFamily="34" charset="0"/>
                <a:ea typeface="Poppins" pitchFamily="34" charset="-122"/>
                <a:cs typeface="Poppins" pitchFamily="34" charset="-120"/>
              </a:rPr>
              <a:t>.</a:t>
            </a:r>
            <a:endParaRPr lang="en-US" sz="1300" dirty="0"/>
          </a:p>
        </p:txBody>
      </p:sp>
      <p:sp>
        <p:nvSpPr>
          <p:cNvPr id="8" name="Text 6"/>
          <p:cNvSpPr txBox="1"/>
          <p:nvPr/>
        </p:nvSpPr>
        <p:spPr>
          <a:xfrm>
            <a:off x="984225" y="3000102"/>
            <a:ext cx="4992499" cy="419090"/>
          </a:xfrm>
          <a:prstGeom prst="rect">
            <a:avLst/>
          </a:prstGeom>
          <a:noFill/>
          <a:ln/>
        </p:spPr>
        <p:txBody>
          <a:bodyPr wrap="square" lIns="0" tIns="0" rIns="0" bIns="0" rtlCol="0" anchor="t"/>
          <a:lstStyle/>
          <a:p>
            <a:pPr algn="l" indent="0" marL="0">
              <a:lnSpc>
                <a:spcPct val="85470"/>
              </a:lnSpc>
              <a:buNone/>
            </a:pPr>
            <a:r>
              <a:rPr lang="en-US" sz="3300" b="1" spc="-66" kern="0" dirty="0">
                <a:solidFill>
                  <a:srgbClr val="5AD47A"/>
                </a:solidFill>
                <a:latin typeface="Poppins" pitchFamily="34" charset="0"/>
                <a:ea typeface="Poppins" pitchFamily="34" charset="-122"/>
                <a:cs typeface="Poppins" pitchFamily="34" charset="-120"/>
              </a:rPr>
              <a:t>32 verdes</a:t>
            </a:r>
            <a:endParaRPr lang="en-US" sz="3300" dirty="0"/>
          </a:p>
        </p:txBody>
      </p:sp>
      <p:sp>
        <p:nvSpPr>
          <p:cNvPr id="9" name="Text 7"/>
          <p:cNvSpPr txBox="1"/>
          <p:nvPr/>
        </p:nvSpPr>
        <p:spPr>
          <a:xfrm>
            <a:off x="984225" y="3495389"/>
            <a:ext cx="4992499" cy="197143"/>
          </a:xfrm>
          <a:prstGeom prst="rect">
            <a:avLst/>
          </a:prstGeom>
          <a:noFill/>
          <a:ln/>
        </p:spPr>
        <p:txBody>
          <a:bodyPr wrap="square" lIns="0" tIns="0" rIns="0" bIns="0" rtlCol="0" anchor="t"/>
          <a:lstStyle/>
          <a:p>
            <a:pPr algn="l" indent="0" marL="0">
              <a:lnSpc>
                <a:spcPct val="115385"/>
              </a:lnSpc>
              <a:buNone/>
            </a:pPr>
            <a:r>
              <a:rPr lang="en-US" sz="1150" dirty="0">
                <a:solidFill>
                  <a:srgbClr val="A3A6B4"/>
                </a:solidFill>
                <a:latin typeface="Poppins" pitchFamily="34" charset="0"/>
                <a:ea typeface="Poppins" pitchFamily="34" charset="-122"/>
                <a:cs typeface="Poppins" pitchFamily="34" charset="-120"/>
              </a:rPr>
              <a:t>de 41 projetos em andamento, pelo gerente</a:t>
            </a:r>
            <a:endParaRPr lang="en-US" sz="1150" dirty="0"/>
          </a:p>
        </p:txBody>
      </p:sp>
      <p:sp>
        <p:nvSpPr>
          <p:cNvPr id="10" name="Shape 8"/>
          <p:cNvSpPr/>
          <p:nvPr/>
        </p:nvSpPr>
        <p:spPr>
          <a:xfrm>
            <a:off x="6184745" y="1582301"/>
            <a:ext cx="5244969" cy="2307076"/>
          </a:xfrm>
          <a:prstGeom prst="roundRect">
            <a:avLst>
              <a:gd name="adj" fmla="val 6606"/>
            </a:avLst>
          </a:prstGeom>
          <a:solidFill>
            <a:srgbClr val="0059DB"/>
          </a:solidFill>
          <a:ln/>
        </p:spPr>
      </p:sp>
      <p:sp>
        <p:nvSpPr>
          <p:cNvPr id="11" name="Shape 9"/>
          <p:cNvSpPr/>
          <p:nvPr/>
        </p:nvSpPr>
        <p:spPr>
          <a:xfrm>
            <a:off x="6406990" y="1779146"/>
            <a:ext cx="755234" cy="247644"/>
          </a:xfrm>
          <a:prstGeom prst="roundRect">
            <a:avLst>
              <a:gd name="adj" fmla="val 50000"/>
            </a:avLst>
          </a:prstGeom>
          <a:solidFill>
            <a:srgbClr val="FFFFFF">
              <a:alpha val="16000"/>
            </a:srgbClr>
          </a:solidFill>
          <a:ln/>
        </p:spPr>
      </p:sp>
      <p:sp>
        <p:nvSpPr>
          <p:cNvPr id="12" name="Text 10"/>
          <p:cNvSpPr txBox="1"/>
          <p:nvPr/>
        </p:nvSpPr>
        <p:spPr>
          <a:xfrm>
            <a:off x="6495888" y="1817245"/>
            <a:ext cx="600536"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O número</a:t>
            </a:r>
            <a:endParaRPr lang="en-US" sz="900" dirty="0"/>
          </a:p>
        </p:txBody>
      </p:sp>
      <p:sp>
        <p:nvSpPr>
          <p:cNvPr id="13" name="Text 11"/>
          <p:cNvSpPr txBox="1"/>
          <p:nvPr/>
        </p:nvSpPr>
        <p:spPr>
          <a:xfrm>
            <a:off x="6406990" y="2191886"/>
            <a:ext cx="4992499" cy="445679"/>
          </a:xfrm>
          <a:prstGeom prst="rect">
            <a:avLst/>
          </a:prstGeom>
          <a:noFill/>
          <a:ln/>
        </p:spPr>
        <p:txBody>
          <a:bodyPr wrap="square" lIns="0" tIns="0" rIns="0" bIns="0" rtlCol="0" anchor="t"/>
          <a:lstStyle/>
          <a:p>
            <a:pPr algn="l" indent="0" marL="0">
              <a:lnSpc>
                <a:spcPct val="115385"/>
              </a:lnSpc>
              <a:buNone/>
            </a:pPr>
            <a:r>
              <a:rPr lang="en-US" sz="1300" dirty="0">
                <a:solidFill>
                  <a:srgbClr val="DBE6FF"/>
                </a:solidFill>
                <a:latin typeface="Poppins" pitchFamily="34" charset="0"/>
                <a:ea typeface="Poppins" pitchFamily="34" charset="-122"/>
                <a:cs typeface="Poppins" pitchFamily="34" charset="-120"/>
              </a:rPr>
              <a:t>O SPI não tem opinião. Ele divide o que está pronto pelo que devia estar.</a:t>
            </a:r>
            <a:endParaRPr lang="en-US" sz="1300" dirty="0"/>
          </a:p>
        </p:txBody>
      </p:sp>
      <p:sp>
        <p:nvSpPr>
          <p:cNvPr id="14" name="Text 12"/>
          <p:cNvSpPr txBox="1"/>
          <p:nvPr/>
        </p:nvSpPr>
        <p:spPr>
          <a:xfrm>
            <a:off x="6406990" y="2777262"/>
            <a:ext cx="4992499" cy="419090"/>
          </a:xfrm>
          <a:prstGeom prst="rect">
            <a:avLst/>
          </a:prstGeom>
          <a:noFill/>
          <a:ln/>
        </p:spPr>
        <p:txBody>
          <a:bodyPr wrap="square" lIns="0" tIns="0" rIns="0" bIns="0" rtlCol="0" anchor="t"/>
          <a:lstStyle/>
          <a:p>
            <a:pPr algn="l" indent="0" marL="0">
              <a:lnSpc>
                <a:spcPct val="85470"/>
              </a:lnSpc>
              <a:buNone/>
            </a:pPr>
            <a:r>
              <a:rPr lang="en-US" sz="3300" b="1" spc="-66" kern="0" dirty="0">
                <a:solidFill>
                  <a:srgbClr val="F5F6FC"/>
                </a:solidFill>
                <a:latin typeface="Poppins" pitchFamily="34" charset="0"/>
                <a:ea typeface="Poppins" pitchFamily="34" charset="-122"/>
                <a:cs typeface="Poppins" pitchFamily="34" charset="-120"/>
              </a:rPr>
              <a:t>24 ok</a:t>
            </a:r>
            <a:endParaRPr lang="en-US" sz="3300" dirty="0"/>
          </a:p>
        </p:txBody>
      </p:sp>
      <p:sp>
        <p:nvSpPr>
          <p:cNvPr id="15" name="Text 13"/>
          <p:cNvSpPr txBox="1"/>
          <p:nvPr/>
        </p:nvSpPr>
        <p:spPr>
          <a:xfrm>
            <a:off x="6406990" y="3272549"/>
            <a:ext cx="4992499" cy="197143"/>
          </a:xfrm>
          <a:prstGeom prst="rect">
            <a:avLst/>
          </a:prstGeom>
          <a:noFill/>
          <a:ln/>
        </p:spPr>
        <p:txBody>
          <a:bodyPr wrap="square" lIns="0" tIns="0" rIns="0" bIns="0" rtlCol="0" anchor="t"/>
          <a:lstStyle/>
          <a:p>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pelo SPI e CPI. Os outros 17 estão em atenção ou críticos.</a:t>
            </a:r>
            <a:endParaRPr lang="en-US" sz="1150" dirty="0"/>
          </a:p>
        </p:txBody>
      </p:sp>
      <p:sp>
        <p:nvSpPr>
          <p:cNvPr id="16" name="Shape 14"/>
          <p:cNvSpPr/>
          <p:nvPr/>
        </p:nvSpPr>
        <p:spPr>
          <a:xfrm>
            <a:off x="761981" y="4067173"/>
            <a:ext cx="10667733" cy="932633"/>
          </a:xfrm>
          <a:prstGeom prst="roundRect">
            <a:avLst>
              <a:gd name="adj" fmla="val 16340"/>
            </a:avLst>
          </a:prstGeom>
          <a:solidFill>
            <a:srgbClr val="1E1E24"/>
          </a:solidFill>
          <a:ln w="6350">
            <a:solidFill>
              <a:srgbClr val="467CF6"/>
            </a:solidFill>
            <a:prstDash val="solid"/>
          </a:ln>
        </p:spPr>
      </p:sp>
      <p:sp>
        <p:nvSpPr>
          <p:cNvPr id="17" name="Text 15"/>
          <p:cNvSpPr txBox="1"/>
          <p:nvPr/>
        </p:nvSpPr>
        <p:spPr>
          <a:xfrm>
            <a:off x="984225" y="4340216"/>
            <a:ext cx="10632174" cy="462745"/>
          </a:xfrm>
          <a:prstGeom prst="rect">
            <a:avLst/>
          </a:prstGeom>
          <a:noFill/>
          <a:ln/>
        </p:spPr>
        <p:txBody>
          <a:bodyPr wrap="square" lIns="0" tIns="0" rIns="0" bIns="0" rtlCol="0" anchor="t"/>
          <a:lstStyle/>
          <a:p>
            <a:pPr algn="l" indent="0" marL="0">
              <a:lnSpc>
                <a:spcPct val="115385"/>
              </a:lnSpc>
              <a:buNone/>
            </a:pPr>
            <a:r>
              <a:rPr lang="en-US" sz="1350" b="1" dirty="0">
                <a:solidFill>
                  <a:srgbClr val="FFFFFF"/>
                </a:solidFill>
                <a:latin typeface="Poppins" pitchFamily="34" charset="0"/>
                <a:ea typeface="Poppins" pitchFamily="34" charset="-122"/>
                <a:cs typeface="Poppins" pitchFamily="34" charset="-120"/>
              </a:rPr>
              <a:t>Melancia</a:t>
            </a:r>
            <a:pPr algn="l" indent="0" marL="0">
              <a:lnSpc>
                <a:spcPct val="115385"/>
              </a:lnSpc>
              <a:buNone/>
            </a:pPr>
            <a:r>
              <a:rPr lang="en-US" sz="1350" dirty="0">
                <a:solidFill>
                  <a:srgbClr val="A3A6B4"/>
                </a:solidFill>
                <a:latin typeface="Poppins" pitchFamily="34" charset="0"/>
                <a:ea typeface="Poppins" pitchFamily="34" charset="-122"/>
                <a:cs typeface="Poppins" pitchFamily="34" charset="-120"/>
              </a:rPr>
              <a:t> = verde por fora, vermelho por dentro. </a:t>
            </a:r>
            <a:pPr algn="l" indent="0" marL="0">
              <a:lnSpc>
                <a:spcPct val="115385"/>
              </a:lnSpc>
              <a:buNone/>
            </a:pPr>
            <a:r>
              <a:rPr lang="en-US" sz="1350" b="1" dirty="0">
                <a:solidFill>
                  <a:srgbClr val="FFFFFF"/>
                </a:solidFill>
                <a:latin typeface="Poppins" pitchFamily="34" charset="0"/>
                <a:ea typeface="Poppins" pitchFamily="34" charset="-122"/>
                <a:cs typeface="Poppins" pitchFamily="34" charset="-120"/>
              </a:rPr>
              <a:t>4 projetos</a:t>
            </a:r>
            <a:pPr algn="l" indent="0" marL="0">
              <a:lnSpc>
                <a:spcPct val="115385"/>
              </a:lnSpc>
              <a:buNone/>
            </a:pPr>
            <a:r>
              <a:rPr lang="en-US" sz="1350" dirty="0">
                <a:solidFill>
                  <a:srgbClr val="A3A6B4"/>
                </a:solidFill>
                <a:latin typeface="Poppins" pitchFamily="34" charset="0"/>
                <a:ea typeface="Poppins" pitchFamily="34" charset="-122"/>
                <a:cs typeface="Poppins" pitchFamily="34" charset="-120"/>
              </a:rPr>
              <a:t> na Vértice (PRJ-012, 028, 034, 042) estão verdes para o gerente e abaixo de 0,9 pelo número. Ninguém mentiu. Só ninguém fez a conta.</a:t>
            </a:r>
            <a:endParaRPr lang="en-US" sz="1350" dirty="0"/>
          </a:p>
        </p:txBody>
      </p:sp>
      <p:pic>
        <p:nvPicPr>
          <p:cNvPr id="18"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19" name="Text 16"/>
          <p:cNvSpPr txBox="1"/>
          <p:nvPr/>
        </p:nvSpPr>
        <p:spPr>
          <a:xfrm>
            <a:off x="10977090" y="6387940"/>
            <a:ext cx="470730"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61 / 133</a:t>
            </a:r>
            <a:endParaRPr lang="en-US" sz="10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GLOSSÁRIO · AS SIGLAS FICAM EM INGLÊS, ATÉ NO PMO BRASILEIRO</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As siglas, em uma linha cada</a:t>
            </a:r>
            <a:endParaRPr lang="en-US" sz="3100" dirty="0"/>
          </a:p>
        </p:txBody>
      </p:sp>
      <p:sp>
        <p:nvSpPr>
          <p:cNvPr id="4" name="Text 2"/>
          <p:cNvSpPr txBox="1"/>
          <p:nvPr/>
        </p:nvSpPr>
        <p:spPr>
          <a:xfrm>
            <a:off x="876278" y="1582301"/>
            <a:ext cx="788023" cy="171446"/>
          </a:xfrm>
          <a:prstGeom prst="rect">
            <a:avLst/>
          </a:prstGeom>
          <a:noFill/>
          <a:ln/>
        </p:spPr>
        <p:txBody>
          <a:bodyPr wrap="square" lIns="0" tIns="0" rIns="0" bIns="0" rtlCol="0" anchor="t"/>
          <a:lstStyle/>
          <a:p>
            <a:pPr algn="l"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SIGLA</a:t>
            </a:r>
            <a:endParaRPr lang="en-US" sz="900" dirty="0"/>
          </a:p>
        </p:txBody>
      </p:sp>
      <p:sp>
        <p:nvSpPr>
          <p:cNvPr id="5" name="Text 3"/>
          <p:cNvSpPr txBox="1"/>
          <p:nvPr/>
        </p:nvSpPr>
        <p:spPr>
          <a:xfrm>
            <a:off x="1862587" y="1582301"/>
            <a:ext cx="2585195" cy="171446"/>
          </a:xfrm>
          <a:prstGeom prst="rect">
            <a:avLst/>
          </a:prstGeom>
          <a:noFill/>
          <a:ln/>
        </p:spPr>
        <p:txBody>
          <a:bodyPr wrap="square" lIns="0" tIns="0" rIns="0" bIns="0" rtlCol="0" anchor="t"/>
          <a:lstStyle/>
          <a:p>
            <a:pPr algn="l"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INGLÊS</a:t>
            </a:r>
            <a:endParaRPr lang="en-US" sz="900" dirty="0"/>
          </a:p>
        </p:txBody>
      </p:sp>
      <p:sp>
        <p:nvSpPr>
          <p:cNvPr id="6" name="Text 4"/>
          <p:cNvSpPr txBox="1"/>
          <p:nvPr/>
        </p:nvSpPr>
        <p:spPr>
          <a:xfrm>
            <a:off x="4576946" y="1582301"/>
            <a:ext cx="2846666" cy="171446"/>
          </a:xfrm>
          <a:prstGeom prst="rect">
            <a:avLst/>
          </a:prstGeom>
          <a:noFill/>
          <a:ln/>
        </p:spPr>
        <p:txBody>
          <a:bodyPr wrap="square" lIns="0" tIns="0" rIns="0" bIns="0" rtlCol="0" anchor="t"/>
          <a:lstStyle/>
          <a:p>
            <a:pPr algn="l"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PORTUGUÊS (PMBOK)</a:t>
            </a:r>
            <a:endParaRPr lang="en-US" sz="900" dirty="0"/>
          </a:p>
        </p:txBody>
      </p:sp>
      <p:sp>
        <p:nvSpPr>
          <p:cNvPr id="7" name="Text 5"/>
          <p:cNvSpPr txBox="1"/>
          <p:nvPr/>
        </p:nvSpPr>
        <p:spPr>
          <a:xfrm>
            <a:off x="7542718" y="1582301"/>
            <a:ext cx="3923607" cy="171446"/>
          </a:xfrm>
          <a:prstGeom prst="rect">
            <a:avLst/>
          </a:prstGeom>
          <a:noFill/>
          <a:ln/>
        </p:spPr>
        <p:txBody>
          <a:bodyPr wrap="square" lIns="0" tIns="0" rIns="0" bIns="0" rtlCol="0" anchor="t"/>
          <a:lstStyle/>
          <a:p>
            <a:pPr algn="l"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EM UMA FRASE</a:t>
            </a:r>
            <a:endParaRPr lang="en-US" sz="900" dirty="0"/>
          </a:p>
        </p:txBody>
      </p:sp>
      <p:sp>
        <p:nvSpPr>
          <p:cNvPr id="8" name="Shape 6"/>
          <p:cNvSpPr/>
          <p:nvPr/>
        </p:nvSpPr>
        <p:spPr>
          <a:xfrm>
            <a:off x="761981" y="1880744"/>
            <a:ext cx="986309" cy="392996"/>
          </a:xfrm>
          <a:prstGeom prst="rect">
            <a:avLst/>
          </a:prstGeom>
          <a:solidFill>
            <a:srgbClr val="1E1E24"/>
          </a:solidFill>
          <a:ln/>
        </p:spPr>
      </p:sp>
      <p:sp>
        <p:nvSpPr>
          <p:cNvPr id="9" name="Text 7"/>
          <p:cNvSpPr txBox="1"/>
          <p:nvPr/>
        </p:nvSpPr>
        <p:spPr>
          <a:xfrm>
            <a:off x="876278" y="1982341"/>
            <a:ext cx="788023" cy="189801"/>
          </a:xfrm>
          <a:prstGeom prst="rect">
            <a:avLst/>
          </a:prstGeom>
          <a:noFill/>
          <a:ln/>
        </p:spPr>
        <p:txBody>
          <a:bodyPr wrap="square" lIns="0" tIns="0" rIns="0" bIns="0" rtlCol="0" anchor="t"/>
          <a:lstStyle/>
          <a:p>
            <a:pPr algn="l" indent="0" marL="0">
              <a:lnSpc>
                <a:spcPct val="111111"/>
              </a:lnSpc>
              <a:buNone/>
            </a:pPr>
            <a:r>
              <a:rPr lang="en-US" sz="1150" b="1" dirty="0">
                <a:solidFill>
                  <a:srgbClr val="F5F6FC"/>
                </a:solidFill>
                <a:latin typeface="Poppins" pitchFamily="34" charset="0"/>
                <a:ea typeface="Poppins" pitchFamily="34" charset="-122"/>
                <a:cs typeface="Poppins" pitchFamily="34" charset="-120"/>
              </a:rPr>
              <a:t>PV</a:t>
            </a:r>
            <a:endParaRPr lang="en-US" sz="1150" dirty="0"/>
          </a:p>
        </p:txBody>
      </p:sp>
      <p:sp>
        <p:nvSpPr>
          <p:cNvPr id="10" name="Shape 8"/>
          <p:cNvSpPr/>
          <p:nvPr/>
        </p:nvSpPr>
        <p:spPr>
          <a:xfrm>
            <a:off x="1748290" y="1880744"/>
            <a:ext cx="2714359" cy="392996"/>
          </a:xfrm>
          <a:prstGeom prst="rect">
            <a:avLst/>
          </a:prstGeom>
          <a:solidFill>
            <a:srgbClr val="1E1E24"/>
          </a:solidFill>
          <a:ln/>
        </p:spPr>
      </p:sp>
      <p:sp>
        <p:nvSpPr>
          <p:cNvPr id="11" name="Text 9"/>
          <p:cNvSpPr txBox="1"/>
          <p:nvPr/>
        </p:nvSpPr>
        <p:spPr>
          <a:xfrm>
            <a:off x="1862587" y="1982341"/>
            <a:ext cx="2585195" cy="189801"/>
          </a:xfrm>
          <a:prstGeom prst="rect">
            <a:avLst/>
          </a:prstGeom>
          <a:noFill/>
          <a:ln/>
        </p:spPr>
        <p:txBody>
          <a:bodyPr wrap="square" lIns="0" tIns="0" rIns="0" bIns="0" rtlCol="0" anchor="t"/>
          <a:lstStyle/>
          <a:p>
            <a:pPr algn="l" indent="0" marL="0">
              <a:lnSpc>
                <a:spcPct val="111111"/>
              </a:lnSpc>
              <a:buNone/>
            </a:pPr>
            <a:r>
              <a:rPr lang="en-US" sz="1150" dirty="0">
                <a:solidFill>
                  <a:srgbClr val="F5F6FC"/>
                </a:solidFill>
                <a:latin typeface="Poppins" pitchFamily="34" charset="0"/>
                <a:ea typeface="Poppins" pitchFamily="34" charset="-122"/>
                <a:cs typeface="Poppins" pitchFamily="34" charset="-120"/>
              </a:rPr>
              <a:t>Planned Value</a:t>
            </a:r>
            <a:endParaRPr lang="en-US" sz="1150" dirty="0"/>
          </a:p>
        </p:txBody>
      </p:sp>
      <p:sp>
        <p:nvSpPr>
          <p:cNvPr id="12" name="Shape 10"/>
          <p:cNvSpPr/>
          <p:nvPr/>
        </p:nvSpPr>
        <p:spPr>
          <a:xfrm>
            <a:off x="4462649" y="1880744"/>
            <a:ext cx="2965773" cy="392996"/>
          </a:xfrm>
          <a:prstGeom prst="rect">
            <a:avLst/>
          </a:prstGeom>
          <a:solidFill>
            <a:srgbClr val="1E1E24"/>
          </a:solidFill>
          <a:ln/>
        </p:spPr>
      </p:sp>
      <p:sp>
        <p:nvSpPr>
          <p:cNvPr id="13" name="Text 11"/>
          <p:cNvSpPr txBox="1"/>
          <p:nvPr/>
        </p:nvSpPr>
        <p:spPr>
          <a:xfrm>
            <a:off x="4576946" y="1982341"/>
            <a:ext cx="2846666" cy="189801"/>
          </a:xfrm>
          <a:prstGeom prst="rect">
            <a:avLst/>
          </a:prstGeom>
          <a:noFill/>
          <a:ln/>
        </p:spPr>
        <p:txBody>
          <a:bodyPr wrap="square" lIns="0" tIns="0" rIns="0" bIns="0" rtlCol="0" anchor="t"/>
          <a:lstStyle/>
          <a:p>
            <a:pPr algn="l" indent="0" marL="0">
              <a:lnSpc>
                <a:spcPct val="111111"/>
              </a:lnSpc>
              <a:buNone/>
            </a:pPr>
            <a:r>
              <a:rPr lang="en-US" sz="1150" dirty="0">
                <a:solidFill>
                  <a:srgbClr val="F5F6FC"/>
                </a:solidFill>
                <a:latin typeface="Poppins" pitchFamily="34" charset="0"/>
                <a:ea typeface="Poppins" pitchFamily="34" charset="-122"/>
                <a:cs typeface="Poppins" pitchFamily="34" charset="-120"/>
              </a:rPr>
              <a:t>Valor Planejado</a:t>
            </a:r>
            <a:endParaRPr lang="en-US" sz="1150" dirty="0"/>
          </a:p>
        </p:txBody>
      </p:sp>
      <p:sp>
        <p:nvSpPr>
          <p:cNvPr id="14" name="Shape 12"/>
          <p:cNvSpPr/>
          <p:nvPr/>
        </p:nvSpPr>
        <p:spPr>
          <a:xfrm>
            <a:off x="7428421" y="1880744"/>
            <a:ext cx="4001293" cy="392996"/>
          </a:xfrm>
          <a:prstGeom prst="rect">
            <a:avLst/>
          </a:prstGeom>
          <a:solidFill>
            <a:srgbClr val="1E1E24"/>
          </a:solidFill>
          <a:ln/>
        </p:spPr>
      </p:sp>
      <p:sp>
        <p:nvSpPr>
          <p:cNvPr id="15" name="Text 13"/>
          <p:cNvSpPr txBox="1"/>
          <p:nvPr/>
        </p:nvSpPr>
        <p:spPr>
          <a:xfrm>
            <a:off x="7542718" y="1982341"/>
            <a:ext cx="3923607" cy="189801"/>
          </a:xfrm>
          <a:prstGeom prst="rect">
            <a:avLst/>
          </a:prstGeom>
          <a:noFill/>
          <a:ln/>
        </p:spPr>
        <p:txBody>
          <a:bodyPr wrap="square" lIns="0" tIns="0" rIns="0" bIns="0" rtlCol="0" anchor="t"/>
          <a:lstStyle/>
          <a:p>
            <a:pPr algn="l" indent="0" marL="0">
              <a:lnSpc>
                <a:spcPct val="111111"/>
              </a:lnSpc>
              <a:buNone/>
            </a:pPr>
            <a:r>
              <a:rPr lang="en-US" sz="1150" dirty="0">
                <a:solidFill>
                  <a:srgbClr val="F5F6FC"/>
                </a:solidFill>
                <a:latin typeface="Poppins" pitchFamily="34" charset="0"/>
                <a:ea typeface="Poppins" pitchFamily="34" charset="-122"/>
                <a:cs typeface="Poppins" pitchFamily="34" charset="-120"/>
              </a:rPr>
              <a:t>quanto devia estar pronto hoje</a:t>
            </a:r>
            <a:endParaRPr lang="en-US" sz="1150" dirty="0"/>
          </a:p>
        </p:txBody>
      </p:sp>
      <p:sp>
        <p:nvSpPr>
          <p:cNvPr id="16" name="Shape 14"/>
          <p:cNvSpPr/>
          <p:nvPr/>
        </p:nvSpPr>
        <p:spPr>
          <a:xfrm>
            <a:off x="761981" y="2324538"/>
            <a:ext cx="986309" cy="392996"/>
          </a:xfrm>
          <a:prstGeom prst="rect">
            <a:avLst/>
          </a:prstGeom>
          <a:solidFill>
            <a:srgbClr val="1E1E24"/>
          </a:solidFill>
          <a:ln/>
        </p:spPr>
      </p:sp>
      <p:sp>
        <p:nvSpPr>
          <p:cNvPr id="17" name="Text 15"/>
          <p:cNvSpPr txBox="1"/>
          <p:nvPr/>
        </p:nvSpPr>
        <p:spPr>
          <a:xfrm>
            <a:off x="876278" y="2426135"/>
            <a:ext cx="788023" cy="189801"/>
          </a:xfrm>
          <a:prstGeom prst="rect">
            <a:avLst/>
          </a:prstGeom>
          <a:noFill/>
          <a:ln/>
        </p:spPr>
        <p:txBody>
          <a:bodyPr wrap="square" lIns="0" tIns="0" rIns="0" bIns="0" rtlCol="0" anchor="t"/>
          <a:lstStyle/>
          <a:p>
            <a:pPr algn="l" indent="0" marL="0">
              <a:lnSpc>
                <a:spcPct val="111111"/>
              </a:lnSpc>
              <a:buNone/>
            </a:pPr>
            <a:r>
              <a:rPr lang="en-US" sz="1150" b="1" dirty="0">
                <a:solidFill>
                  <a:srgbClr val="F5F6FC"/>
                </a:solidFill>
                <a:latin typeface="Poppins" pitchFamily="34" charset="0"/>
                <a:ea typeface="Poppins" pitchFamily="34" charset="-122"/>
                <a:cs typeface="Poppins" pitchFamily="34" charset="-120"/>
              </a:rPr>
              <a:t>EV</a:t>
            </a:r>
            <a:endParaRPr lang="en-US" sz="1150" dirty="0"/>
          </a:p>
        </p:txBody>
      </p:sp>
      <p:sp>
        <p:nvSpPr>
          <p:cNvPr id="18" name="Shape 16"/>
          <p:cNvSpPr/>
          <p:nvPr/>
        </p:nvSpPr>
        <p:spPr>
          <a:xfrm>
            <a:off x="1748290" y="2324538"/>
            <a:ext cx="2714359" cy="392996"/>
          </a:xfrm>
          <a:prstGeom prst="rect">
            <a:avLst/>
          </a:prstGeom>
          <a:solidFill>
            <a:srgbClr val="1E1E24"/>
          </a:solidFill>
          <a:ln/>
        </p:spPr>
      </p:sp>
      <p:sp>
        <p:nvSpPr>
          <p:cNvPr id="19" name="Text 17"/>
          <p:cNvSpPr txBox="1"/>
          <p:nvPr/>
        </p:nvSpPr>
        <p:spPr>
          <a:xfrm>
            <a:off x="1862587" y="2426135"/>
            <a:ext cx="2585195" cy="189801"/>
          </a:xfrm>
          <a:prstGeom prst="rect">
            <a:avLst/>
          </a:prstGeom>
          <a:noFill/>
          <a:ln/>
        </p:spPr>
        <p:txBody>
          <a:bodyPr wrap="square" lIns="0" tIns="0" rIns="0" bIns="0" rtlCol="0" anchor="t"/>
          <a:lstStyle/>
          <a:p>
            <a:pPr algn="l" indent="0" marL="0">
              <a:lnSpc>
                <a:spcPct val="111111"/>
              </a:lnSpc>
              <a:buNone/>
            </a:pPr>
            <a:r>
              <a:rPr lang="en-US" sz="1150" dirty="0">
                <a:solidFill>
                  <a:srgbClr val="F5F6FC"/>
                </a:solidFill>
                <a:latin typeface="Poppins" pitchFamily="34" charset="0"/>
                <a:ea typeface="Poppins" pitchFamily="34" charset="-122"/>
                <a:cs typeface="Poppins" pitchFamily="34" charset="-120"/>
              </a:rPr>
              <a:t>Earned Value</a:t>
            </a:r>
            <a:endParaRPr lang="en-US" sz="1150" dirty="0"/>
          </a:p>
        </p:txBody>
      </p:sp>
      <p:sp>
        <p:nvSpPr>
          <p:cNvPr id="20" name="Shape 18"/>
          <p:cNvSpPr/>
          <p:nvPr/>
        </p:nvSpPr>
        <p:spPr>
          <a:xfrm>
            <a:off x="4462649" y="2324538"/>
            <a:ext cx="2965773" cy="392996"/>
          </a:xfrm>
          <a:prstGeom prst="rect">
            <a:avLst/>
          </a:prstGeom>
          <a:solidFill>
            <a:srgbClr val="1E1E24"/>
          </a:solidFill>
          <a:ln/>
        </p:spPr>
      </p:sp>
      <p:sp>
        <p:nvSpPr>
          <p:cNvPr id="21" name="Text 19"/>
          <p:cNvSpPr txBox="1"/>
          <p:nvPr/>
        </p:nvSpPr>
        <p:spPr>
          <a:xfrm>
            <a:off x="4576946" y="2426135"/>
            <a:ext cx="2846666" cy="189801"/>
          </a:xfrm>
          <a:prstGeom prst="rect">
            <a:avLst/>
          </a:prstGeom>
          <a:noFill/>
          <a:ln/>
        </p:spPr>
        <p:txBody>
          <a:bodyPr wrap="square" lIns="0" tIns="0" rIns="0" bIns="0" rtlCol="0" anchor="t"/>
          <a:lstStyle/>
          <a:p>
            <a:pPr algn="l" indent="0" marL="0">
              <a:lnSpc>
                <a:spcPct val="111111"/>
              </a:lnSpc>
              <a:buNone/>
            </a:pPr>
            <a:r>
              <a:rPr lang="en-US" sz="1150" dirty="0">
                <a:solidFill>
                  <a:srgbClr val="F5F6FC"/>
                </a:solidFill>
                <a:latin typeface="Poppins" pitchFamily="34" charset="0"/>
                <a:ea typeface="Poppins" pitchFamily="34" charset="-122"/>
                <a:cs typeface="Poppins" pitchFamily="34" charset="-120"/>
              </a:rPr>
              <a:t>Valor Agregado</a:t>
            </a:r>
            <a:endParaRPr lang="en-US" sz="1150" dirty="0"/>
          </a:p>
        </p:txBody>
      </p:sp>
      <p:sp>
        <p:nvSpPr>
          <p:cNvPr id="22" name="Shape 20"/>
          <p:cNvSpPr/>
          <p:nvPr/>
        </p:nvSpPr>
        <p:spPr>
          <a:xfrm>
            <a:off x="7428421" y="2324538"/>
            <a:ext cx="4001293" cy="392996"/>
          </a:xfrm>
          <a:prstGeom prst="rect">
            <a:avLst/>
          </a:prstGeom>
          <a:solidFill>
            <a:srgbClr val="1E1E24"/>
          </a:solidFill>
          <a:ln/>
        </p:spPr>
      </p:sp>
      <p:sp>
        <p:nvSpPr>
          <p:cNvPr id="23" name="Text 21"/>
          <p:cNvSpPr txBox="1"/>
          <p:nvPr/>
        </p:nvSpPr>
        <p:spPr>
          <a:xfrm>
            <a:off x="7542718" y="2426135"/>
            <a:ext cx="3923607" cy="189801"/>
          </a:xfrm>
          <a:prstGeom prst="rect">
            <a:avLst/>
          </a:prstGeom>
          <a:noFill/>
          <a:ln/>
        </p:spPr>
        <p:txBody>
          <a:bodyPr wrap="square" lIns="0" tIns="0" rIns="0" bIns="0" rtlCol="0" anchor="t"/>
          <a:lstStyle/>
          <a:p>
            <a:pPr algn="l" indent="0" marL="0">
              <a:lnSpc>
                <a:spcPct val="111111"/>
              </a:lnSpc>
              <a:buNone/>
            </a:pPr>
            <a:r>
              <a:rPr lang="en-US" sz="1150" dirty="0">
                <a:solidFill>
                  <a:srgbClr val="F5F6FC"/>
                </a:solidFill>
                <a:latin typeface="Poppins" pitchFamily="34" charset="0"/>
                <a:ea typeface="Poppins" pitchFamily="34" charset="-122"/>
                <a:cs typeface="Poppins" pitchFamily="34" charset="-120"/>
              </a:rPr>
              <a:t>quanto está pronto de verdade</a:t>
            </a:r>
            <a:endParaRPr lang="en-US" sz="1150" dirty="0"/>
          </a:p>
        </p:txBody>
      </p:sp>
      <p:sp>
        <p:nvSpPr>
          <p:cNvPr id="24" name="Shape 22"/>
          <p:cNvSpPr/>
          <p:nvPr/>
        </p:nvSpPr>
        <p:spPr>
          <a:xfrm>
            <a:off x="761981" y="2768332"/>
            <a:ext cx="986309" cy="392996"/>
          </a:xfrm>
          <a:prstGeom prst="rect">
            <a:avLst/>
          </a:prstGeom>
          <a:solidFill>
            <a:srgbClr val="1E1E24"/>
          </a:solidFill>
          <a:ln/>
        </p:spPr>
      </p:sp>
      <p:sp>
        <p:nvSpPr>
          <p:cNvPr id="25" name="Text 23"/>
          <p:cNvSpPr txBox="1"/>
          <p:nvPr/>
        </p:nvSpPr>
        <p:spPr>
          <a:xfrm>
            <a:off x="876278" y="2869930"/>
            <a:ext cx="788023" cy="189801"/>
          </a:xfrm>
          <a:prstGeom prst="rect">
            <a:avLst/>
          </a:prstGeom>
          <a:noFill/>
          <a:ln/>
        </p:spPr>
        <p:txBody>
          <a:bodyPr wrap="square" lIns="0" tIns="0" rIns="0" bIns="0" rtlCol="0" anchor="t"/>
          <a:lstStyle/>
          <a:p>
            <a:pPr algn="l" indent="0" marL="0">
              <a:lnSpc>
                <a:spcPct val="111111"/>
              </a:lnSpc>
              <a:buNone/>
            </a:pPr>
            <a:r>
              <a:rPr lang="en-US" sz="1150" b="1" dirty="0">
                <a:solidFill>
                  <a:srgbClr val="F5F6FC"/>
                </a:solidFill>
                <a:latin typeface="Poppins" pitchFamily="34" charset="0"/>
                <a:ea typeface="Poppins" pitchFamily="34" charset="-122"/>
                <a:cs typeface="Poppins" pitchFamily="34" charset="-120"/>
              </a:rPr>
              <a:t>AC</a:t>
            </a:r>
            <a:endParaRPr lang="en-US" sz="1150" dirty="0"/>
          </a:p>
        </p:txBody>
      </p:sp>
      <p:sp>
        <p:nvSpPr>
          <p:cNvPr id="26" name="Shape 24"/>
          <p:cNvSpPr/>
          <p:nvPr/>
        </p:nvSpPr>
        <p:spPr>
          <a:xfrm>
            <a:off x="1748290" y="2768332"/>
            <a:ext cx="2714359" cy="392996"/>
          </a:xfrm>
          <a:prstGeom prst="rect">
            <a:avLst/>
          </a:prstGeom>
          <a:solidFill>
            <a:srgbClr val="1E1E24"/>
          </a:solidFill>
          <a:ln/>
        </p:spPr>
      </p:sp>
      <p:sp>
        <p:nvSpPr>
          <p:cNvPr id="27" name="Text 25"/>
          <p:cNvSpPr txBox="1"/>
          <p:nvPr/>
        </p:nvSpPr>
        <p:spPr>
          <a:xfrm>
            <a:off x="1862587" y="2869930"/>
            <a:ext cx="2585195" cy="189801"/>
          </a:xfrm>
          <a:prstGeom prst="rect">
            <a:avLst/>
          </a:prstGeom>
          <a:noFill/>
          <a:ln/>
        </p:spPr>
        <p:txBody>
          <a:bodyPr wrap="square" lIns="0" tIns="0" rIns="0" bIns="0" rtlCol="0" anchor="t"/>
          <a:lstStyle/>
          <a:p>
            <a:pPr algn="l" indent="0" marL="0">
              <a:lnSpc>
                <a:spcPct val="111111"/>
              </a:lnSpc>
              <a:buNone/>
            </a:pPr>
            <a:r>
              <a:rPr lang="en-US" sz="1150" dirty="0">
                <a:solidFill>
                  <a:srgbClr val="F5F6FC"/>
                </a:solidFill>
                <a:latin typeface="Poppins" pitchFamily="34" charset="0"/>
                <a:ea typeface="Poppins" pitchFamily="34" charset="-122"/>
                <a:cs typeface="Poppins" pitchFamily="34" charset="-120"/>
              </a:rPr>
              <a:t>Actual Cost</a:t>
            </a:r>
            <a:endParaRPr lang="en-US" sz="1150" dirty="0"/>
          </a:p>
        </p:txBody>
      </p:sp>
      <p:sp>
        <p:nvSpPr>
          <p:cNvPr id="28" name="Shape 26"/>
          <p:cNvSpPr/>
          <p:nvPr/>
        </p:nvSpPr>
        <p:spPr>
          <a:xfrm>
            <a:off x="4462649" y="2768332"/>
            <a:ext cx="2965773" cy="392996"/>
          </a:xfrm>
          <a:prstGeom prst="rect">
            <a:avLst/>
          </a:prstGeom>
          <a:solidFill>
            <a:srgbClr val="1E1E24"/>
          </a:solidFill>
          <a:ln/>
        </p:spPr>
      </p:sp>
      <p:sp>
        <p:nvSpPr>
          <p:cNvPr id="29" name="Text 27"/>
          <p:cNvSpPr txBox="1"/>
          <p:nvPr/>
        </p:nvSpPr>
        <p:spPr>
          <a:xfrm>
            <a:off x="4576946" y="2869930"/>
            <a:ext cx="2846666" cy="189801"/>
          </a:xfrm>
          <a:prstGeom prst="rect">
            <a:avLst/>
          </a:prstGeom>
          <a:noFill/>
          <a:ln/>
        </p:spPr>
        <p:txBody>
          <a:bodyPr wrap="square" lIns="0" tIns="0" rIns="0" bIns="0" rtlCol="0" anchor="t"/>
          <a:lstStyle/>
          <a:p>
            <a:pPr algn="l" indent="0" marL="0">
              <a:lnSpc>
                <a:spcPct val="111111"/>
              </a:lnSpc>
              <a:buNone/>
            </a:pPr>
            <a:r>
              <a:rPr lang="en-US" sz="1150" dirty="0">
                <a:solidFill>
                  <a:srgbClr val="F5F6FC"/>
                </a:solidFill>
                <a:latin typeface="Poppins" pitchFamily="34" charset="0"/>
                <a:ea typeface="Poppins" pitchFamily="34" charset="-122"/>
                <a:cs typeface="Poppins" pitchFamily="34" charset="-120"/>
              </a:rPr>
              <a:t>Custo Real</a:t>
            </a:r>
            <a:endParaRPr lang="en-US" sz="1150" dirty="0"/>
          </a:p>
        </p:txBody>
      </p:sp>
      <p:sp>
        <p:nvSpPr>
          <p:cNvPr id="30" name="Shape 28"/>
          <p:cNvSpPr/>
          <p:nvPr/>
        </p:nvSpPr>
        <p:spPr>
          <a:xfrm>
            <a:off x="7428421" y="2768332"/>
            <a:ext cx="4001293" cy="392996"/>
          </a:xfrm>
          <a:prstGeom prst="rect">
            <a:avLst/>
          </a:prstGeom>
          <a:solidFill>
            <a:srgbClr val="1E1E24"/>
          </a:solidFill>
          <a:ln/>
        </p:spPr>
      </p:sp>
      <p:sp>
        <p:nvSpPr>
          <p:cNvPr id="31" name="Text 29"/>
          <p:cNvSpPr txBox="1"/>
          <p:nvPr/>
        </p:nvSpPr>
        <p:spPr>
          <a:xfrm>
            <a:off x="7542718" y="2869930"/>
            <a:ext cx="3923607" cy="189801"/>
          </a:xfrm>
          <a:prstGeom prst="rect">
            <a:avLst/>
          </a:prstGeom>
          <a:noFill/>
          <a:ln/>
        </p:spPr>
        <p:txBody>
          <a:bodyPr wrap="square" lIns="0" tIns="0" rIns="0" bIns="0" rtlCol="0" anchor="t"/>
          <a:lstStyle/>
          <a:p>
            <a:pPr algn="l" indent="0" marL="0">
              <a:lnSpc>
                <a:spcPct val="111111"/>
              </a:lnSpc>
              <a:buNone/>
            </a:pPr>
            <a:r>
              <a:rPr lang="en-US" sz="1150" dirty="0">
                <a:solidFill>
                  <a:srgbClr val="F5F6FC"/>
                </a:solidFill>
                <a:latin typeface="Poppins" pitchFamily="34" charset="0"/>
                <a:ea typeface="Poppins" pitchFamily="34" charset="-122"/>
                <a:cs typeface="Poppins" pitchFamily="34" charset="-120"/>
              </a:rPr>
              <a:t>quanto já foi gasto</a:t>
            </a:r>
            <a:endParaRPr lang="en-US" sz="1150" dirty="0"/>
          </a:p>
        </p:txBody>
      </p:sp>
      <p:sp>
        <p:nvSpPr>
          <p:cNvPr id="32" name="Shape 30"/>
          <p:cNvSpPr/>
          <p:nvPr/>
        </p:nvSpPr>
        <p:spPr>
          <a:xfrm>
            <a:off x="761981" y="3212127"/>
            <a:ext cx="986309" cy="392996"/>
          </a:xfrm>
          <a:prstGeom prst="rect">
            <a:avLst/>
          </a:prstGeom>
          <a:solidFill>
            <a:srgbClr val="1B2A4A"/>
          </a:solidFill>
          <a:ln/>
        </p:spPr>
      </p:sp>
      <p:sp>
        <p:nvSpPr>
          <p:cNvPr id="33" name="Text 31"/>
          <p:cNvSpPr txBox="1"/>
          <p:nvPr/>
        </p:nvSpPr>
        <p:spPr>
          <a:xfrm>
            <a:off x="876278" y="3313724"/>
            <a:ext cx="788023" cy="189801"/>
          </a:xfrm>
          <a:prstGeom prst="rect">
            <a:avLst/>
          </a:prstGeom>
          <a:noFill/>
          <a:ln/>
        </p:spPr>
        <p:txBody>
          <a:bodyPr wrap="square" lIns="0" tIns="0" rIns="0" bIns="0" rtlCol="0" anchor="t"/>
          <a:lstStyle/>
          <a:p>
            <a:pPr algn="l" indent="0" marL="0">
              <a:lnSpc>
                <a:spcPct val="111111"/>
              </a:lnSpc>
              <a:buNone/>
            </a:pPr>
            <a:r>
              <a:rPr lang="en-US" sz="1150" b="1" dirty="0">
                <a:solidFill>
                  <a:srgbClr val="F5F6FC"/>
                </a:solidFill>
                <a:latin typeface="Poppins" pitchFamily="34" charset="0"/>
                <a:ea typeface="Poppins" pitchFamily="34" charset="-122"/>
                <a:cs typeface="Poppins" pitchFamily="34" charset="-120"/>
              </a:rPr>
              <a:t>SPI</a:t>
            </a:r>
            <a:endParaRPr lang="en-US" sz="1150" dirty="0"/>
          </a:p>
        </p:txBody>
      </p:sp>
      <p:sp>
        <p:nvSpPr>
          <p:cNvPr id="34" name="Shape 32"/>
          <p:cNvSpPr/>
          <p:nvPr/>
        </p:nvSpPr>
        <p:spPr>
          <a:xfrm>
            <a:off x="1748290" y="3212127"/>
            <a:ext cx="2714359" cy="392996"/>
          </a:xfrm>
          <a:prstGeom prst="rect">
            <a:avLst/>
          </a:prstGeom>
          <a:solidFill>
            <a:srgbClr val="1B2A4A"/>
          </a:solidFill>
          <a:ln/>
        </p:spPr>
      </p:sp>
      <p:sp>
        <p:nvSpPr>
          <p:cNvPr id="35" name="Text 33"/>
          <p:cNvSpPr txBox="1"/>
          <p:nvPr/>
        </p:nvSpPr>
        <p:spPr>
          <a:xfrm>
            <a:off x="1862587" y="3313724"/>
            <a:ext cx="2585195" cy="189801"/>
          </a:xfrm>
          <a:prstGeom prst="rect">
            <a:avLst/>
          </a:prstGeom>
          <a:noFill/>
          <a:ln/>
        </p:spPr>
        <p:txBody>
          <a:bodyPr wrap="square" lIns="0" tIns="0" rIns="0" bIns="0" rtlCol="0" anchor="t"/>
          <a:lstStyle/>
          <a:p>
            <a:pPr algn="l" indent="0" marL="0">
              <a:lnSpc>
                <a:spcPct val="111111"/>
              </a:lnSpc>
              <a:buNone/>
            </a:pPr>
            <a:r>
              <a:rPr lang="en-US" sz="1150" dirty="0">
                <a:solidFill>
                  <a:srgbClr val="F5F6FC"/>
                </a:solidFill>
                <a:latin typeface="Poppins" pitchFamily="34" charset="0"/>
                <a:ea typeface="Poppins" pitchFamily="34" charset="-122"/>
                <a:cs typeface="Poppins" pitchFamily="34" charset="-120"/>
              </a:rPr>
              <a:t>Schedule Performance Index</a:t>
            </a:r>
            <a:endParaRPr lang="en-US" sz="1150" dirty="0"/>
          </a:p>
        </p:txBody>
      </p:sp>
      <p:sp>
        <p:nvSpPr>
          <p:cNvPr id="36" name="Shape 34"/>
          <p:cNvSpPr/>
          <p:nvPr/>
        </p:nvSpPr>
        <p:spPr>
          <a:xfrm>
            <a:off x="4462649" y="3212127"/>
            <a:ext cx="2965773" cy="392996"/>
          </a:xfrm>
          <a:prstGeom prst="rect">
            <a:avLst/>
          </a:prstGeom>
          <a:solidFill>
            <a:srgbClr val="1B2A4A"/>
          </a:solidFill>
          <a:ln/>
        </p:spPr>
      </p:sp>
      <p:sp>
        <p:nvSpPr>
          <p:cNvPr id="37" name="Text 35"/>
          <p:cNvSpPr txBox="1"/>
          <p:nvPr/>
        </p:nvSpPr>
        <p:spPr>
          <a:xfrm>
            <a:off x="4576946" y="3313724"/>
            <a:ext cx="2846666" cy="189801"/>
          </a:xfrm>
          <a:prstGeom prst="rect">
            <a:avLst/>
          </a:prstGeom>
          <a:noFill/>
          <a:ln/>
        </p:spPr>
        <p:txBody>
          <a:bodyPr wrap="square" lIns="0" tIns="0" rIns="0" bIns="0" rtlCol="0" anchor="t"/>
          <a:lstStyle/>
          <a:p>
            <a:pPr algn="l" indent="0" marL="0">
              <a:lnSpc>
                <a:spcPct val="111111"/>
              </a:lnSpc>
              <a:buNone/>
            </a:pPr>
            <a:r>
              <a:rPr lang="en-US" sz="1150" dirty="0">
                <a:solidFill>
                  <a:srgbClr val="F5F6FC"/>
                </a:solidFill>
                <a:latin typeface="Poppins" pitchFamily="34" charset="0"/>
                <a:ea typeface="Poppins" pitchFamily="34" charset="-122"/>
                <a:cs typeface="Poppins" pitchFamily="34" charset="-120"/>
              </a:rPr>
              <a:t>Índice de Desempenho de Prazo</a:t>
            </a:r>
            <a:endParaRPr lang="en-US" sz="1150" dirty="0"/>
          </a:p>
        </p:txBody>
      </p:sp>
      <p:sp>
        <p:nvSpPr>
          <p:cNvPr id="38" name="Shape 36"/>
          <p:cNvSpPr/>
          <p:nvPr/>
        </p:nvSpPr>
        <p:spPr>
          <a:xfrm>
            <a:off x="7428421" y="3212127"/>
            <a:ext cx="4001293" cy="392996"/>
          </a:xfrm>
          <a:prstGeom prst="rect">
            <a:avLst/>
          </a:prstGeom>
          <a:solidFill>
            <a:srgbClr val="1B2A4A"/>
          </a:solidFill>
          <a:ln/>
        </p:spPr>
      </p:sp>
      <p:sp>
        <p:nvSpPr>
          <p:cNvPr id="39" name="Text 37"/>
          <p:cNvSpPr txBox="1"/>
          <p:nvPr/>
        </p:nvSpPr>
        <p:spPr>
          <a:xfrm>
            <a:off x="7542718" y="3313724"/>
            <a:ext cx="3923607" cy="189801"/>
          </a:xfrm>
          <a:prstGeom prst="rect">
            <a:avLst/>
          </a:prstGeom>
          <a:noFill/>
          <a:ln/>
        </p:spPr>
        <p:txBody>
          <a:bodyPr wrap="square" lIns="0" tIns="0" rIns="0" bIns="0" rtlCol="0" anchor="t"/>
          <a:lstStyle/>
          <a:p>
            <a:pPr algn="l" indent="0" marL="0">
              <a:lnSpc>
                <a:spcPct val="111111"/>
              </a:lnSpc>
              <a:buNone/>
            </a:pPr>
            <a:r>
              <a:rPr lang="en-US" sz="1150" dirty="0">
                <a:solidFill>
                  <a:srgbClr val="F5F6FC"/>
                </a:solidFill>
                <a:latin typeface="Poppins" pitchFamily="34" charset="0"/>
                <a:ea typeface="Poppins" pitchFamily="34" charset="-122"/>
                <a:cs typeface="Poppins" pitchFamily="34" charset="-120"/>
              </a:rPr>
              <a:t>EV ÷ PV · abaixo de 1 é atraso</a:t>
            </a:r>
            <a:endParaRPr lang="en-US" sz="1150" dirty="0"/>
          </a:p>
        </p:txBody>
      </p:sp>
      <p:sp>
        <p:nvSpPr>
          <p:cNvPr id="40" name="Shape 38"/>
          <p:cNvSpPr/>
          <p:nvPr/>
        </p:nvSpPr>
        <p:spPr>
          <a:xfrm>
            <a:off x="761981" y="3655921"/>
            <a:ext cx="986309" cy="392996"/>
          </a:xfrm>
          <a:prstGeom prst="rect">
            <a:avLst/>
          </a:prstGeom>
          <a:solidFill>
            <a:srgbClr val="1B2A4A"/>
          </a:solidFill>
          <a:ln/>
        </p:spPr>
      </p:sp>
      <p:sp>
        <p:nvSpPr>
          <p:cNvPr id="41" name="Text 39"/>
          <p:cNvSpPr txBox="1"/>
          <p:nvPr/>
        </p:nvSpPr>
        <p:spPr>
          <a:xfrm>
            <a:off x="876278" y="3757519"/>
            <a:ext cx="788023" cy="189801"/>
          </a:xfrm>
          <a:prstGeom prst="rect">
            <a:avLst/>
          </a:prstGeom>
          <a:noFill/>
          <a:ln/>
        </p:spPr>
        <p:txBody>
          <a:bodyPr wrap="square" lIns="0" tIns="0" rIns="0" bIns="0" rtlCol="0" anchor="t"/>
          <a:lstStyle/>
          <a:p>
            <a:pPr algn="l" indent="0" marL="0">
              <a:lnSpc>
                <a:spcPct val="111111"/>
              </a:lnSpc>
              <a:buNone/>
            </a:pPr>
            <a:r>
              <a:rPr lang="en-US" sz="1150" b="1" dirty="0">
                <a:solidFill>
                  <a:srgbClr val="F5F6FC"/>
                </a:solidFill>
                <a:latin typeface="Poppins" pitchFamily="34" charset="0"/>
                <a:ea typeface="Poppins" pitchFamily="34" charset="-122"/>
                <a:cs typeface="Poppins" pitchFamily="34" charset="-120"/>
              </a:rPr>
              <a:t>CPI</a:t>
            </a:r>
            <a:endParaRPr lang="en-US" sz="1150" dirty="0"/>
          </a:p>
        </p:txBody>
      </p:sp>
      <p:sp>
        <p:nvSpPr>
          <p:cNvPr id="42" name="Shape 40"/>
          <p:cNvSpPr/>
          <p:nvPr/>
        </p:nvSpPr>
        <p:spPr>
          <a:xfrm>
            <a:off x="1748290" y="3655921"/>
            <a:ext cx="2714359" cy="392996"/>
          </a:xfrm>
          <a:prstGeom prst="rect">
            <a:avLst/>
          </a:prstGeom>
          <a:solidFill>
            <a:srgbClr val="1B2A4A"/>
          </a:solidFill>
          <a:ln/>
        </p:spPr>
      </p:sp>
      <p:sp>
        <p:nvSpPr>
          <p:cNvPr id="43" name="Text 41"/>
          <p:cNvSpPr txBox="1"/>
          <p:nvPr/>
        </p:nvSpPr>
        <p:spPr>
          <a:xfrm>
            <a:off x="1862587" y="3757519"/>
            <a:ext cx="2585195" cy="189801"/>
          </a:xfrm>
          <a:prstGeom prst="rect">
            <a:avLst/>
          </a:prstGeom>
          <a:noFill/>
          <a:ln/>
        </p:spPr>
        <p:txBody>
          <a:bodyPr wrap="square" lIns="0" tIns="0" rIns="0" bIns="0" rtlCol="0" anchor="t"/>
          <a:lstStyle/>
          <a:p>
            <a:pPr algn="l" indent="0" marL="0">
              <a:lnSpc>
                <a:spcPct val="111111"/>
              </a:lnSpc>
              <a:buNone/>
            </a:pPr>
            <a:r>
              <a:rPr lang="en-US" sz="1150" dirty="0">
                <a:solidFill>
                  <a:srgbClr val="F5F6FC"/>
                </a:solidFill>
                <a:latin typeface="Poppins" pitchFamily="34" charset="0"/>
                <a:ea typeface="Poppins" pitchFamily="34" charset="-122"/>
                <a:cs typeface="Poppins" pitchFamily="34" charset="-120"/>
              </a:rPr>
              <a:t>Cost Performance Index</a:t>
            </a:r>
            <a:endParaRPr lang="en-US" sz="1150" dirty="0"/>
          </a:p>
        </p:txBody>
      </p:sp>
      <p:sp>
        <p:nvSpPr>
          <p:cNvPr id="44" name="Shape 42"/>
          <p:cNvSpPr/>
          <p:nvPr/>
        </p:nvSpPr>
        <p:spPr>
          <a:xfrm>
            <a:off x="4462649" y="3655921"/>
            <a:ext cx="2965773" cy="392996"/>
          </a:xfrm>
          <a:prstGeom prst="rect">
            <a:avLst/>
          </a:prstGeom>
          <a:solidFill>
            <a:srgbClr val="1B2A4A"/>
          </a:solidFill>
          <a:ln/>
        </p:spPr>
      </p:sp>
      <p:sp>
        <p:nvSpPr>
          <p:cNvPr id="45" name="Text 43"/>
          <p:cNvSpPr txBox="1"/>
          <p:nvPr/>
        </p:nvSpPr>
        <p:spPr>
          <a:xfrm>
            <a:off x="4576946" y="3757519"/>
            <a:ext cx="2846666" cy="189801"/>
          </a:xfrm>
          <a:prstGeom prst="rect">
            <a:avLst/>
          </a:prstGeom>
          <a:noFill/>
          <a:ln/>
        </p:spPr>
        <p:txBody>
          <a:bodyPr wrap="square" lIns="0" tIns="0" rIns="0" bIns="0" rtlCol="0" anchor="t"/>
          <a:lstStyle/>
          <a:p>
            <a:pPr algn="l" indent="0" marL="0">
              <a:lnSpc>
                <a:spcPct val="111111"/>
              </a:lnSpc>
              <a:buNone/>
            </a:pPr>
            <a:r>
              <a:rPr lang="en-US" sz="1150" dirty="0">
                <a:solidFill>
                  <a:srgbClr val="F5F6FC"/>
                </a:solidFill>
                <a:latin typeface="Poppins" pitchFamily="34" charset="0"/>
                <a:ea typeface="Poppins" pitchFamily="34" charset="-122"/>
                <a:cs typeface="Poppins" pitchFamily="34" charset="-120"/>
              </a:rPr>
              <a:t>Índice de Desempenho de Custo</a:t>
            </a:r>
            <a:endParaRPr lang="en-US" sz="1150" dirty="0"/>
          </a:p>
        </p:txBody>
      </p:sp>
      <p:sp>
        <p:nvSpPr>
          <p:cNvPr id="46" name="Shape 44"/>
          <p:cNvSpPr/>
          <p:nvPr/>
        </p:nvSpPr>
        <p:spPr>
          <a:xfrm>
            <a:off x="7428421" y="3655921"/>
            <a:ext cx="4001293" cy="392996"/>
          </a:xfrm>
          <a:prstGeom prst="rect">
            <a:avLst/>
          </a:prstGeom>
          <a:solidFill>
            <a:srgbClr val="1B2A4A"/>
          </a:solidFill>
          <a:ln/>
        </p:spPr>
      </p:sp>
      <p:sp>
        <p:nvSpPr>
          <p:cNvPr id="47" name="Text 45"/>
          <p:cNvSpPr txBox="1"/>
          <p:nvPr/>
        </p:nvSpPr>
        <p:spPr>
          <a:xfrm>
            <a:off x="7542718" y="3757519"/>
            <a:ext cx="3923607" cy="189801"/>
          </a:xfrm>
          <a:prstGeom prst="rect">
            <a:avLst/>
          </a:prstGeom>
          <a:noFill/>
          <a:ln/>
        </p:spPr>
        <p:txBody>
          <a:bodyPr wrap="square" lIns="0" tIns="0" rIns="0" bIns="0" rtlCol="0" anchor="t"/>
          <a:lstStyle/>
          <a:p>
            <a:pPr algn="l" indent="0" marL="0">
              <a:lnSpc>
                <a:spcPct val="111111"/>
              </a:lnSpc>
              <a:buNone/>
            </a:pPr>
            <a:r>
              <a:rPr lang="en-US" sz="1150" dirty="0">
                <a:solidFill>
                  <a:srgbClr val="F5F6FC"/>
                </a:solidFill>
                <a:latin typeface="Poppins" pitchFamily="34" charset="0"/>
                <a:ea typeface="Poppins" pitchFamily="34" charset="-122"/>
                <a:cs typeface="Poppins" pitchFamily="34" charset="-120"/>
              </a:rPr>
              <a:t>EV ÷ AC · abaixo de 1 é estouro</a:t>
            </a:r>
            <a:endParaRPr lang="en-US" sz="1150" dirty="0"/>
          </a:p>
        </p:txBody>
      </p:sp>
      <p:sp>
        <p:nvSpPr>
          <p:cNvPr id="48" name="Shape 46"/>
          <p:cNvSpPr/>
          <p:nvPr/>
        </p:nvSpPr>
        <p:spPr>
          <a:xfrm>
            <a:off x="761981" y="4099715"/>
            <a:ext cx="986309" cy="392996"/>
          </a:xfrm>
          <a:prstGeom prst="rect">
            <a:avLst/>
          </a:prstGeom>
          <a:solidFill>
            <a:srgbClr val="1E1E24"/>
          </a:solidFill>
          <a:ln/>
        </p:spPr>
      </p:sp>
      <p:sp>
        <p:nvSpPr>
          <p:cNvPr id="49" name="Text 47"/>
          <p:cNvSpPr txBox="1"/>
          <p:nvPr/>
        </p:nvSpPr>
        <p:spPr>
          <a:xfrm>
            <a:off x="876278" y="4201313"/>
            <a:ext cx="788023" cy="189801"/>
          </a:xfrm>
          <a:prstGeom prst="rect">
            <a:avLst/>
          </a:prstGeom>
          <a:noFill/>
          <a:ln/>
        </p:spPr>
        <p:txBody>
          <a:bodyPr wrap="square" lIns="0" tIns="0" rIns="0" bIns="0" rtlCol="0" anchor="t"/>
          <a:lstStyle/>
          <a:p>
            <a:pPr algn="l" indent="0" marL="0">
              <a:lnSpc>
                <a:spcPct val="111111"/>
              </a:lnSpc>
              <a:buNone/>
            </a:pPr>
            <a:r>
              <a:rPr lang="en-US" sz="1150" b="1" dirty="0">
                <a:solidFill>
                  <a:srgbClr val="F5F6FC"/>
                </a:solidFill>
                <a:latin typeface="Poppins" pitchFamily="34" charset="0"/>
                <a:ea typeface="Poppins" pitchFamily="34" charset="-122"/>
                <a:cs typeface="Poppins" pitchFamily="34" charset="-120"/>
              </a:rPr>
              <a:t>BAC</a:t>
            </a:r>
            <a:endParaRPr lang="en-US" sz="1150" dirty="0"/>
          </a:p>
        </p:txBody>
      </p:sp>
      <p:sp>
        <p:nvSpPr>
          <p:cNvPr id="50" name="Shape 48"/>
          <p:cNvSpPr/>
          <p:nvPr/>
        </p:nvSpPr>
        <p:spPr>
          <a:xfrm>
            <a:off x="1748290" y="4099715"/>
            <a:ext cx="2714359" cy="392996"/>
          </a:xfrm>
          <a:prstGeom prst="rect">
            <a:avLst/>
          </a:prstGeom>
          <a:solidFill>
            <a:srgbClr val="1E1E24"/>
          </a:solidFill>
          <a:ln/>
        </p:spPr>
      </p:sp>
      <p:sp>
        <p:nvSpPr>
          <p:cNvPr id="51" name="Text 49"/>
          <p:cNvSpPr txBox="1"/>
          <p:nvPr/>
        </p:nvSpPr>
        <p:spPr>
          <a:xfrm>
            <a:off x="1862587" y="4201313"/>
            <a:ext cx="2585195" cy="189801"/>
          </a:xfrm>
          <a:prstGeom prst="rect">
            <a:avLst/>
          </a:prstGeom>
          <a:noFill/>
          <a:ln/>
        </p:spPr>
        <p:txBody>
          <a:bodyPr wrap="square" lIns="0" tIns="0" rIns="0" bIns="0" rtlCol="0" anchor="t"/>
          <a:lstStyle/>
          <a:p>
            <a:pPr algn="l" indent="0" marL="0">
              <a:lnSpc>
                <a:spcPct val="111111"/>
              </a:lnSpc>
              <a:buNone/>
            </a:pPr>
            <a:r>
              <a:rPr lang="en-US" sz="1150" dirty="0">
                <a:solidFill>
                  <a:srgbClr val="F5F6FC"/>
                </a:solidFill>
                <a:latin typeface="Poppins" pitchFamily="34" charset="0"/>
                <a:ea typeface="Poppins" pitchFamily="34" charset="-122"/>
                <a:cs typeface="Poppins" pitchFamily="34" charset="-120"/>
              </a:rPr>
              <a:t>Budget at Completion</a:t>
            </a:r>
            <a:endParaRPr lang="en-US" sz="1150" dirty="0"/>
          </a:p>
        </p:txBody>
      </p:sp>
      <p:sp>
        <p:nvSpPr>
          <p:cNvPr id="52" name="Shape 50"/>
          <p:cNvSpPr/>
          <p:nvPr/>
        </p:nvSpPr>
        <p:spPr>
          <a:xfrm>
            <a:off x="4462649" y="4099715"/>
            <a:ext cx="2965773" cy="392996"/>
          </a:xfrm>
          <a:prstGeom prst="rect">
            <a:avLst/>
          </a:prstGeom>
          <a:solidFill>
            <a:srgbClr val="1E1E24"/>
          </a:solidFill>
          <a:ln/>
        </p:spPr>
      </p:sp>
      <p:sp>
        <p:nvSpPr>
          <p:cNvPr id="53" name="Text 51"/>
          <p:cNvSpPr txBox="1"/>
          <p:nvPr/>
        </p:nvSpPr>
        <p:spPr>
          <a:xfrm>
            <a:off x="4576946" y="4201313"/>
            <a:ext cx="2846666" cy="189801"/>
          </a:xfrm>
          <a:prstGeom prst="rect">
            <a:avLst/>
          </a:prstGeom>
          <a:noFill/>
          <a:ln/>
        </p:spPr>
        <p:txBody>
          <a:bodyPr wrap="square" lIns="0" tIns="0" rIns="0" bIns="0" rtlCol="0" anchor="t"/>
          <a:lstStyle/>
          <a:p>
            <a:pPr algn="l" indent="0" marL="0">
              <a:lnSpc>
                <a:spcPct val="111111"/>
              </a:lnSpc>
              <a:buNone/>
            </a:pPr>
            <a:r>
              <a:rPr lang="en-US" sz="1150" dirty="0">
                <a:solidFill>
                  <a:srgbClr val="F5F6FC"/>
                </a:solidFill>
                <a:latin typeface="Poppins" pitchFamily="34" charset="0"/>
                <a:ea typeface="Poppins" pitchFamily="34" charset="-122"/>
                <a:cs typeface="Poppins" pitchFamily="34" charset="-120"/>
              </a:rPr>
              <a:t>Orçamento no Término</a:t>
            </a:r>
            <a:endParaRPr lang="en-US" sz="1150" dirty="0"/>
          </a:p>
        </p:txBody>
      </p:sp>
      <p:sp>
        <p:nvSpPr>
          <p:cNvPr id="54" name="Shape 52"/>
          <p:cNvSpPr/>
          <p:nvPr/>
        </p:nvSpPr>
        <p:spPr>
          <a:xfrm>
            <a:off x="7428421" y="4099715"/>
            <a:ext cx="4001293" cy="392996"/>
          </a:xfrm>
          <a:prstGeom prst="rect">
            <a:avLst/>
          </a:prstGeom>
          <a:solidFill>
            <a:srgbClr val="1E1E24"/>
          </a:solidFill>
          <a:ln/>
        </p:spPr>
      </p:sp>
      <p:sp>
        <p:nvSpPr>
          <p:cNvPr id="55" name="Text 53"/>
          <p:cNvSpPr txBox="1"/>
          <p:nvPr/>
        </p:nvSpPr>
        <p:spPr>
          <a:xfrm>
            <a:off x="7542718" y="4201313"/>
            <a:ext cx="3923607" cy="189801"/>
          </a:xfrm>
          <a:prstGeom prst="rect">
            <a:avLst/>
          </a:prstGeom>
          <a:noFill/>
          <a:ln/>
        </p:spPr>
        <p:txBody>
          <a:bodyPr wrap="square" lIns="0" tIns="0" rIns="0" bIns="0" rtlCol="0" anchor="t"/>
          <a:lstStyle/>
          <a:p>
            <a:pPr algn="l" indent="0" marL="0">
              <a:lnSpc>
                <a:spcPct val="111111"/>
              </a:lnSpc>
              <a:buNone/>
            </a:pPr>
            <a:r>
              <a:rPr lang="en-US" sz="1150" dirty="0">
                <a:solidFill>
                  <a:srgbClr val="F5F6FC"/>
                </a:solidFill>
                <a:latin typeface="Poppins" pitchFamily="34" charset="0"/>
                <a:ea typeface="Poppins" pitchFamily="34" charset="-122"/>
                <a:cs typeface="Poppins" pitchFamily="34" charset="-120"/>
              </a:rPr>
              <a:t>o orçamento original</a:t>
            </a:r>
            <a:endParaRPr lang="en-US" sz="1150" dirty="0"/>
          </a:p>
        </p:txBody>
      </p:sp>
      <p:sp>
        <p:nvSpPr>
          <p:cNvPr id="56" name="Shape 54"/>
          <p:cNvSpPr/>
          <p:nvPr/>
        </p:nvSpPr>
        <p:spPr>
          <a:xfrm>
            <a:off x="761981" y="4543510"/>
            <a:ext cx="986309" cy="392996"/>
          </a:xfrm>
          <a:prstGeom prst="rect">
            <a:avLst/>
          </a:prstGeom>
          <a:solidFill>
            <a:srgbClr val="1E1E24"/>
          </a:solidFill>
          <a:ln/>
        </p:spPr>
      </p:sp>
      <p:sp>
        <p:nvSpPr>
          <p:cNvPr id="57" name="Text 55"/>
          <p:cNvSpPr txBox="1"/>
          <p:nvPr/>
        </p:nvSpPr>
        <p:spPr>
          <a:xfrm>
            <a:off x="876278" y="4645107"/>
            <a:ext cx="788023" cy="189801"/>
          </a:xfrm>
          <a:prstGeom prst="rect">
            <a:avLst/>
          </a:prstGeom>
          <a:noFill/>
          <a:ln/>
        </p:spPr>
        <p:txBody>
          <a:bodyPr wrap="square" lIns="0" tIns="0" rIns="0" bIns="0" rtlCol="0" anchor="t"/>
          <a:lstStyle/>
          <a:p>
            <a:pPr algn="l" indent="0" marL="0">
              <a:lnSpc>
                <a:spcPct val="111111"/>
              </a:lnSpc>
              <a:buNone/>
            </a:pPr>
            <a:r>
              <a:rPr lang="en-US" sz="1150" b="1" dirty="0">
                <a:solidFill>
                  <a:srgbClr val="F5F6FC"/>
                </a:solidFill>
                <a:latin typeface="Poppins" pitchFamily="34" charset="0"/>
                <a:ea typeface="Poppins" pitchFamily="34" charset="-122"/>
                <a:cs typeface="Poppins" pitchFamily="34" charset="-120"/>
              </a:rPr>
              <a:t>EAC</a:t>
            </a:r>
            <a:endParaRPr lang="en-US" sz="1150" dirty="0"/>
          </a:p>
        </p:txBody>
      </p:sp>
      <p:sp>
        <p:nvSpPr>
          <p:cNvPr id="58" name="Shape 56"/>
          <p:cNvSpPr/>
          <p:nvPr/>
        </p:nvSpPr>
        <p:spPr>
          <a:xfrm>
            <a:off x="1748290" y="4543510"/>
            <a:ext cx="2714359" cy="392996"/>
          </a:xfrm>
          <a:prstGeom prst="rect">
            <a:avLst/>
          </a:prstGeom>
          <a:solidFill>
            <a:srgbClr val="1E1E24"/>
          </a:solidFill>
          <a:ln/>
        </p:spPr>
      </p:sp>
      <p:sp>
        <p:nvSpPr>
          <p:cNvPr id="59" name="Text 57"/>
          <p:cNvSpPr txBox="1"/>
          <p:nvPr/>
        </p:nvSpPr>
        <p:spPr>
          <a:xfrm>
            <a:off x="1862587" y="4645107"/>
            <a:ext cx="2585195" cy="189801"/>
          </a:xfrm>
          <a:prstGeom prst="rect">
            <a:avLst/>
          </a:prstGeom>
          <a:noFill/>
          <a:ln/>
        </p:spPr>
        <p:txBody>
          <a:bodyPr wrap="square" lIns="0" tIns="0" rIns="0" bIns="0" rtlCol="0" anchor="t"/>
          <a:lstStyle/>
          <a:p>
            <a:pPr algn="l" indent="0" marL="0">
              <a:lnSpc>
                <a:spcPct val="111111"/>
              </a:lnSpc>
              <a:buNone/>
            </a:pPr>
            <a:r>
              <a:rPr lang="en-US" sz="1150" dirty="0">
                <a:solidFill>
                  <a:srgbClr val="F5F6FC"/>
                </a:solidFill>
                <a:latin typeface="Poppins" pitchFamily="34" charset="0"/>
                <a:ea typeface="Poppins" pitchFamily="34" charset="-122"/>
                <a:cs typeface="Poppins" pitchFamily="34" charset="-120"/>
              </a:rPr>
              <a:t>Estimate at Completion</a:t>
            </a:r>
            <a:endParaRPr lang="en-US" sz="1150" dirty="0"/>
          </a:p>
        </p:txBody>
      </p:sp>
      <p:sp>
        <p:nvSpPr>
          <p:cNvPr id="60" name="Shape 58"/>
          <p:cNvSpPr/>
          <p:nvPr/>
        </p:nvSpPr>
        <p:spPr>
          <a:xfrm>
            <a:off x="4462649" y="4543510"/>
            <a:ext cx="2965773" cy="392996"/>
          </a:xfrm>
          <a:prstGeom prst="rect">
            <a:avLst/>
          </a:prstGeom>
          <a:solidFill>
            <a:srgbClr val="1E1E24"/>
          </a:solidFill>
          <a:ln/>
        </p:spPr>
      </p:sp>
      <p:sp>
        <p:nvSpPr>
          <p:cNvPr id="61" name="Text 59"/>
          <p:cNvSpPr txBox="1"/>
          <p:nvPr/>
        </p:nvSpPr>
        <p:spPr>
          <a:xfrm>
            <a:off x="4576946" y="4645107"/>
            <a:ext cx="2846666" cy="189801"/>
          </a:xfrm>
          <a:prstGeom prst="rect">
            <a:avLst/>
          </a:prstGeom>
          <a:noFill/>
          <a:ln/>
        </p:spPr>
        <p:txBody>
          <a:bodyPr wrap="square" lIns="0" tIns="0" rIns="0" bIns="0" rtlCol="0" anchor="t"/>
          <a:lstStyle/>
          <a:p>
            <a:pPr algn="l" indent="0" marL="0">
              <a:lnSpc>
                <a:spcPct val="111111"/>
              </a:lnSpc>
              <a:buNone/>
            </a:pPr>
            <a:r>
              <a:rPr lang="en-US" sz="1150" dirty="0">
                <a:solidFill>
                  <a:srgbClr val="F5F6FC"/>
                </a:solidFill>
                <a:latin typeface="Poppins" pitchFamily="34" charset="0"/>
                <a:ea typeface="Poppins" pitchFamily="34" charset="-122"/>
                <a:cs typeface="Poppins" pitchFamily="34" charset="-120"/>
              </a:rPr>
              <a:t>Estimativa no Término</a:t>
            </a:r>
            <a:endParaRPr lang="en-US" sz="1150" dirty="0"/>
          </a:p>
        </p:txBody>
      </p:sp>
      <p:sp>
        <p:nvSpPr>
          <p:cNvPr id="62" name="Shape 60"/>
          <p:cNvSpPr/>
          <p:nvPr/>
        </p:nvSpPr>
        <p:spPr>
          <a:xfrm>
            <a:off x="7428421" y="4543510"/>
            <a:ext cx="4001293" cy="392996"/>
          </a:xfrm>
          <a:prstGeom prst="rect">
            <a:avLst/>
          </a:prstGeom>
          <a:solidFill>
            <a:srgbClr val="1E1E24"/>
          </a:solidFill>
          <a:ln/>
        </p:spPr>
      </p:sp>
      <p:sp>
        <p:nvSpPr>
          <p:cNvPr id="63" name="Text 61"/>
          <p:cNvSpPr txBox="1"/>
          <p:nvPr/>
        </p:nvSpPr>
        <p:spPr>
          <a:xfrm>
            <a:off x="7542718" y="4645107"/>
            <a:ext cx="3923607" cy="189801"/>
          </a:xfrm>
          <a:prstGeom prst="rect">
            <a:avLst/>
          </a:prstGeom>
          <a:noFill/>
          <a:ln/>
        </p:spPr>
        <p:txBody>
          <a:bodyPr wrap="square" lIns="0" tIns="0" rIns="0" bIns="0" rtlCol="0" anchor="t"/>
          <a:lstStyle/>
          <a:p>
            <a:pPr algn="l" indent="0" marL="0">
              <a:lnSpc>
                <a:spcPct val="111111"/>
              </a:lnSpc>
              <a:buNone/>
            </a:pPr>
            <a:r>
              <a:rPr lang="en-US" sz="1150" dirty="0">
                <a:solidFill>
                  <a:srgbClr val="F5F6FC"/>
                </a:solidFill>
                <a:latin typeface="Poppins" pitchFamily="34" charset="0"/>
                <a:ea typeface="Poppins" pitchFamily="34" charset="-122"/>
                <a:cs typeface="Poppins" pitchFamily="34" charset="-120"/>
              </a:rPr>
              <a:t>BAC ÷ CPI · quanto vai custar no fim</a:t>
            </a:r>
            <a:endParaRPr lang="en-US" sz="1150" dirty="0"/>
          </a:p>
        </p:txBody>
      </p:sp>
      <p:sp>
        <p:nvSpPr>
          <p:cNvPr id="64" name="Shape 62"/>
          <p:cNvSpPr/>
          <p:nvPr/>
        </p:nvSpPr>
        <p:spPr>
          <a:xfrm>
            <a:off x="761981" y="4987304"/>
            <a:ext cx="986309" cy="392996"/>
          </a:xfrm>
          <a:prstGeom prst="rect">
            <a:avLst/>
          </a:prstGeom>
          <a:solidFill>
            <a:srgbClr val="1E1E24"/>
          </a:solidFill>
          <a:ln/>
        </p:spPr>
      </p:sp>
      <p:sp>
        <p:nvSpPr>
          <p:cNvPr id="65" name="Text 63"/>
          <p:cNvSpPr txBox="1"/>
          <p:nvPr/>
        </p:nvSpPr>
        <p:spPr>
          <a:xfrm>
            <a:off x="876278" y="5088902"/>
            <a:ext cx="788023" cy="189801"/>
          </a:xfrm>
          <a:prstGeom prst="rect">
            <a:avLst/>
          </a:prstGeom>
          <a:noFill/>
          <a:ln/>
        </p:spPr>
        <p:txBody>
          <a:bodyPr wrap="square" lIns="0" tIns="0" rIns="0" bIns="0" rtlCol="0" anchor="t"/>
          <a:lstStyle/>
          <a:p>
            <a:pPr algn="l" indent="0" marL="0">
              <a:lnSpc>
                <a:spcPct val="111111"/>
              </a:lnSpc>
              <a:buNone/>
            </a:pPr>
            <a:r>
              <a:rPr lang="en-US" sz="1150" b="1" dirty="0">
                <a:solidFill>
                  <a:srgbClr val="F5F6FC"/>
                </a:solidFill>
                <a:latin typeface="Poppins" pitchFamily="34" charset="0"/>
                <a:ea typeface="Poppins" pitchFamily="34" charset="-122"/>
                <a:cs typeface="Poppins" pitchFamily="34" charset="-120"/>
              </a:rPr>
              <a:t>Estouro</a:t>
            </a:r>
            <a:endParaRPr lang="en-US" sz="1150" dirty="0"/>
          </a:p>
        </p:txBody>
      </p:sp>
      <p:sp>
        <p:nvSpPr>
          <p:cNvPr id="66" name="Shape 64"/>
          <p:cNvSpPr/>
          <p:nvPr/>
        </p:nvSpPr>
        <p:spPr>
          <a:xfrm>
            <a:off x="1748290" y="4987304"/>
            <a:ext cx="2714359" cy="392996"/>
          </a:xfrm>
          <a:prstGeom prst="rect">
            <a:avLst/>
          </a:prstGeom>
          <a:solidFill>
            <a:srgbClr val="1E1E24"/>
          </a:solidFill>
          <a:ln/>
        </p:spPr>
      </p:sp>
      <p:sp>
        <p:nvSpPr>
          <p:cNvPr id="67" name="Text 65"/>
          <p:cNvSpPr txBox="1"/>
          <p:nvPr/>
        </p:nvSpPr>
        <p:spPr>
          <a:xfrm>
            <a:off x="1862587" y="5088902"/>
            <a:ext cx="2585195" cy="189801"/>
          </a:xfrm>
          <a:prstGeom prst="rect">
            <a:avLst/>
          </a:prstGeom>
          <a:noFill/>
          <a:ln/>
        </p:spPr>
        <p:txBody>
          <a:bodyPr wrap="square" lIns="0" tIns="0" rIns="0" bIns="0" rtlCol="0" anchor="t"/>
          <a:lstStyle/>
          <a:p>
            <a:pPr algn="l" indent="0" marL="0">
              <a:lnSpc>
                <a:spcPct val="111111"/>
              </a:lnSpc>
              <a:buNone/>
            </a:pPr>
            <a:r>
              <a:rPr lang="en-US" sz="1150" dirty="0">
                <a:solidFill>
                  <a:srgbClr val="F5F6FC"/>
                </a:solidFill>
                <a:latin typeface="Poppins" pitchFamily="34" charset="0"/>
                <a:ea typeface="Poppins" pitchFamily="34" charset="-122"/>
                <a:cs typeface="Poppins" pitchFamily="34" charset="-120"/>
              </a:rPr>
              <a:t>VAC · Variance at Completion</a:t>
            </a:r>
            <a:endParaRPr lang="en-US" sz="1150" dirty="0"/>
          </a:p>
        </p:txBody>
      </p:sp>
      <p:sp>
        <p:nvSpPr>
          <p:cNvPr id="68" name="Shape 66"/>
          <p:cNvSpPr/>
          <p:nvPr/>
        </p:nvSpPr>
        <p:spPr>
          <a:xfrm>
            <a:off x="4462649" y="4987304"/>
            <a:ext cx="2965773" cy="392996"/>
          </a:xfrm>
          <a:prstGeom prst="rect">
            <a:avLst/>
          </a:prstGeom>
          <a:solidFill>
            <a:srgbClr val="1E1E24"/>
          </a:solidFill>
          <a:ln/>
        </p:spPr>
      </p:sp>
      <p:sp>
        <p:nvSpPr>
          <p:cNvPr id="69" name="Text 67"/>
          <p:cNvSpPr txBox="1"/>
          <p:nvPr/>
        </p:nvSpPr>
        <p:spPr>
          <a:xfrm>
            <a:off x="4576946" y="5088902"/>
            <a:ext cx="2846666" cy="189801"/>
          </a:xfrm>
          <a:prstGeom prst="rect">
            <a:avLst/>
          </a:prstGeom>
          <a:noFill/>
          <a:ln/>
        </p:spPr>
        <p:txBody>
          <a:bodyPr wrap="square" lIns="0" tIns="0" rIns="0" bIns="0" rtlCol="0" anchor="t"/>
          <a:lstStyle/>
          <a:p>
            <a:pPr algn="l" indent="0" marL="0">
              <a:lnSpc>
                <a:spcPct val="111111"/>
              </a:lnSpc>
              <a:buNone/>
            </a:pPr>
            <a:r>
              <a:rPr lang="en-US" sz="1150" dirty="0">
                <a:solidFill>
                  <a:srgbClr val="F5F6FC"/>
                </a:solidFill>
                <a:latin typeface="Poppins" pitchFamily="34" charset="0"/>
                <a:ea typeface="Poppins" pitchFamily="34" charset="-122"/>
                <a:cs typeface="Poppins" pitchFamily="34" charset="-120"/>
              </a:rPr>
              <a:t>Variação no Término</a:t>
            </a:r>
            <a:endParaRPr lang="en-US" sz="1150" dirty="0"/>
          </a:p>
        </p:txBody>
      </p:sp>
      <p:sp>
        <p:nvSpPr>
          <p:cNvPr id="70" name="Shape 68"/>
          <p:cNvSpPr/>
          <p:nvPr/>
        </p:nvSpPr>
        <p:spPr>
          <a:xfrm>
            <a:off x="7428421" y="4987304"/>
            <a:ext cx="4001293" cy="392996"/>
          </a:xfrm>
          <a:prstGeom prst="rect">
            <a:avLst/>
          </a:prstGeom>
          <a:solidFill>
            <a:srgbClr val="1E1E24"/>
          </a:solidFill>
          <a:ln/>
        </p:spPr>
      </p:sp>
      <p:sp>
        <p:nvSpPr>
          <p:cNvPr id="71" name="Text 69"/>
          <p:cNvSpPr txBox="1"/>
          <p:nvPr/>
        </p:nvSpPr>
        <p:spPr>
          <a:xfrm>
            <a:off x="7542718" y="5088902"/>
            <a:ext cx="3923607" cy="189801"/>
          </a:xfrm>
          <a:prstGeom prst="rect">
            <a:avLst/>
          </a:prstGeom>
          <a:noFill/>
          <a:ln/>
        </p:spPr>
        <p:txBody>
          <a:bodyPr wrap="square" lIns="0" tIns="0" rIns="0" bIns="0" rtlCol="0" anchor="t"/>
          <a:lstStyle/>
          <a:p>
            <a:pPr algn="l" indent="0" marL="0">
              <a:lnSpc>
                <a:spcPct val="111111"/>
              </a:lnSpc>
              <a:buNone/>
            </a:pPr>
            <a:r>
              <a:rPr lang="en-US" sz="1150" dirty="0">
                <a:solidFill>
                  <a:srgbClr val="F5F6FC"/>
                </a:solidFill>
                <a:latin typeface="Poppins" pitchFamily="34" charset="0"/>
                <a:ea typeface="Poppins" pitchFamily="34" charset="-122"/>
                <a:cs typeface="Poppins" pitchFamily="34" charset="-120"/>
              </a:rPr>
              <a:t>EAC − BAC</a:t>
            </a:r>
            <a:endParaRPr lang="en-US" sz="1150" dirty="0"/>
          </a:p>
        </p:txBody>
      </p:sp>
      <p:sp>
        <p:nvSpPr>
          <p:cNvPr id="72" name="Shape 70"/>
          <p:cNvSpPr/>
          <p:nvPr/>
        </p:nvSpPr>
        <p:spPr>
          <a:xfrm>
            <a:off x="761981" y="5431099"/>
            <a:ext cx="986309" cy="392996"/>
          </a:xfrm>
          <a:prstGeom prst="rect">
            <a:avLst/>
          </a:prstGeom>
          <a:solidFill>
            <a:srgbClr val="1E1E24"/>
          </a:solidFill>
          <a:ln/>
        </p:spPr>
      </p:sp>
      <p:sp>
        <p:nvSpPr>
          <p:cNvPr id="73" name="Text 71"/>
          <p:cNvSpPr txBox="1"/>
          <p:nvPr/>
        </p:nvSpPr>
        <p:spPr>
          <a:xfrm>
            <a:off x="876278" y="5532696"/>
            <a:ext cx="788023" cy="189801"/>
          </a:xfrm>
          <a:prstGeom prst="rect">
            <a:avLst/>
          </a:prstGeom>
          <a:noFill/>
          <a:ln/>
        </p:spPr>
        <p:txBody>
          <a:bodyPr wrap="square" lIns="0" tIns="0" rIns="0" bIns="0" rtlCol="0" anchor="t"/>
          <a:lstStyle/>
          <a:p>
            <a:pPr algn="l" indent="0" marL="0">
              <a:lnSpc>
                <a:spcPct val="111111"/>
              </a:lnSpc>
              <a:buNone/>
            </a:pPr>
            <a:r>
              <a:rPr lang="en-US" sz="1150" b="1" dirty="0">
                <a:solidFill>
                  <a:srgbClr val="F5F6FC"/>
                </a:solidFill>
                <a:latin typeface="Poppins" pitchFamily="34" charset="0"/>
                <a:ea typeface="Poppins" pitchFamily="34" charset="-122"/>
                <a:cs typeface="Poppins" pitchFamily="34" charset="-120"/>
              </a:rPr>
              <a:t>Baseline</a:t>
            </a:r>
            <a:endParaRPr lang="en-US" sz="1150" dirty="0"/>
          </a:p>
        </p:txBody>
      </p:sp>
      <p:sp>
        <p:nvSpPr>
          <p:cNvPr id="74" name="Shape 72"/>
          <p:cNvSpPr/>
          <p:nvPr/>
        </p:nvSpPr>
        <p:spPr>
          <a:xfrm>
            <a:off x="1748290" y="5431099"/>
            <a:ext cx="2714359" cy="392996"/>
          </a:xfrm>
          <a:prstGeom prst="rect">
            <a:avLst/>
          </a:prstGeom>
          <a:solidFill>
            <a:srgbClr val="1E1E24"/>
          </a:solidFill>
          <a:ln/>
        </p:spPr>
      </p:sp>
      <p:sp>
        <p:nvSpPr>
          <p:cNvPr id="75" name="Text 73"/>
          <p:cNvSpPr txBox="1"/>
          <p:nvPr/>
        </p:nvSpPr>
        <p:spPr>
          <a:xfrm>
            <a:off x="1862587" y="5532696"/>
            <a:ext cx="2585195" cy="189801"/>
          </a:xfrm>
          <a:prstGeom prst="rect">
            <a:avLst/>
          </a:prstGeom>
          <a:noFill/>
          <a:ln/>
        </p:spPr>
        <p:txBody>
          <a:bodyPr wrap="square" lIns="0" tIns="0" rIns="0" bIns="0" rtlCol="0" anchor="t"/>
          <a:lstStyle/>
          <a:p>
            <a:pPr algn="l" indent="0" marL="0">
              <a:lnSpc>
                <a:spcPct val="111111"/>
              </a:lnSpc>
              <a:buNone/>
            </a:pPr>
            <a:r>
              <a:rPr lang="en-US" sz="1150" dirty="0">
                <a:solidFill>
                  <a:srgbClr val="F5F6FC"/>
                </a:solidFill>
                <a:latin typeface="Poppins" pitchFamily="34" charset="0"/>
                <a:ea typeface="Poppins" pitchFamily="34" charset="-122"/>
                <a:cs typeface="Poppins" pitchFamily="34" charset="-120"/>
              </a:rPr>
              <a:t>Baseline</a:t>
            </a:r>
            <a:endParaRPr lang="en-US" sz="1150" dirty="0"/>
          </a:p>
        </p:txBody>
      </p:sp>
      <p:sp>
        <p:nvSpPr>
          <p:cNvPr id="76" name="Shape 74"/>
          <p:cNvSpPr/>
          <p:nvPr/>
        </p:nvSpPr>
        <p:spPr>
          <a:xfrm>
            <a:off x="4462649" y="5431099"/>
            <a:ext cx="2965773" cy="392996"/>
          </a:xfrm>
          <a:prstGeom prst="rect">
            <a:avLst/>
          </a:prstGeom>
          <a:solidFill>
            <a:srgbClr val="1E1E24"/>
          </a:solidFill>
          <a:ln/>
        </p:spPr>
      </p:sp>
      <p:sp>
        <p:nvSpPr>
          <p:cNvPr id="77" name="Text 75"/>
          <p:cNvSpPr txBox="1"/>
          <p:nvPr/>
        </p:nvSpPr>
        <p:spPr>
          <a:xfrm>
            <a:off x="4576946" y="5532696"/>
            <a:ext cx="2846666" cy="189801"/>
          </a:xfrm>
          <a:prstGeom prst="rect">
            <a:avLst/>
          </a:prstGeom>
          <a:noFill/>
          <a:ln/>
        </p:spPr>
        <p:txBody>
          <a:bodyPr wrap="square" lIns="0" tIns="0" rIns="0" bIns="0" rtlCol="0" anchor="t"/>
          <a:lstStyle/>
          <a:p>
            <a:pPr algn="l" indent="0" marL="0">
              <a:lnSpc>
                <a:spcPct val="111111"/>
              </a:lnSpc>
              <a:buNone/>
            </a:pPr>
            <a:r>
              <a:rPr lang="en-US" sz="1150" dirty="0">
                <a:solidFill>
                  <a:srgbClr val="F5F6FC"/>
                </a:solidFill>
                <a:latin typeface="Poppins" pitchFamily="34" charset="0"/>
                <a:ea typeface="Poppins" pitchFamily="34" charset="-122"/>
                <a:cs typeface="Poppins" pitchFamily="34" charset="-120"/>
              </a:rPr>
              <a:t>Linha de base</a:t>
            </a:r>
            <a:endParaRPr lang="en-US" sz="1150" dirty="0"/>
          </a:p>
        </p:txBody>
      </p:sp>
      <p:sp>
        <p:nvSpPr>
          <p:cNvPr id="78" name="Shape 76"/>
          <p:cNvSpPr/>
          <p:nvPr/>
        </p:nvSpPr>
        <p:spPr>
          <a:xfrm>
            <a:off x="7428421" y="5431099"/>
            <a:ext cx="4001293" cy="392996"/>
          </a:xfrm>
          <a:prstGeom prst="rect">
            <a:avLst/>
          </a:prstGeom>
          <a:solidFill>
            <a:srgbClr val="1E1E24"/>
          </a:solidFill>
          <a:ln/>
        </p:spPr>
      </p:sp>
      <p:sp>
        <p:nvSpPr>
          <p:cNvPr id="79" name="Text 77"/>
          <p:cNvSpPr txBox="1"/>
          <p:nvPr/>
        </p:nvSpPr>
        <p:spPr>
          <a:xfrm>
            <a:off x="7542718" y="5532696"/>
            <a:ext cx="3923607" cy="189801"/>
          </a:xfrm>
          <a:prstGeom prst="rect">
            <a:avLst/>
          </a:prstGeom>
          <a:noFill/>
          <a:ln/>
        </p:spPr>
        <p:txBody>
          <a:bodyPr wrap="square" lIns="0" tIns="0" rIns="0" bIns="0" rtlCol="0" anchor="t"/>
          <a:lstStyle/>
          <a:p>
            <a:pPr algn="l" indent="0" marL="0">
              <a:lnSpc>
                <a:spcPct val="111111"/>
              </a:lnSpc>
              <a:buNone/>
            </a:pPr>
            <a:r>
              <a:rPr lang="en-US" sz="1150" dirty="0">
                <a:solidFill>
                  <a:srgbClr val="F5F6FC"/>
                </a:solidFill>
                <a:latin typeface="Poppins" pitchFamily="34" charset="0"/>
                <a:ea typeface="Poppins" pitchFamily="34" charset="-122"/>
                <a:cs typeface="Poppins" pitchFamily="34" charset="-120"/>
              </a:rPr>
              <a:t>o plano original, contra o qual tudo é medido</a:t>
            </a:r>
            <a:endParaRPr lang="en-US" sz="1150" dirty="0"/>
          </a:p>
        </p:txBody>
      </p:sp>
      <p:sp>
        <p:nvSpPr>
          <p:cNvPr id="80" name="Shape 78"/>
          <p:cNvSpPr/>
          <p:nvPr/>
        </p:nvSpPr>
        <p:spPr>
          <a:xfrm>
            <a:off x="761981" y="5989190"/>
            <a:ext cx="25399" cy="285743"/>
          </a:xfrm>
          <a:prstGeom prst="rect">
            <a:avLst/>
          </a:prstGeom>
          <a:solidFill>
            <a:srgbClr val="22C2F4"/>
          </a:solidFill>
          <a:ln/>
        </p:spPr>
      </p:sp>
      <p:sp>
        <p:nvSpPr>
          <p:cNvPr id="81" name="Text 79"/>
          <p:cNvSpPr txBox="1"/>
          <p:nvPr/>
        </p:nvSpPr>
        <p:spPr>
          <a:xfrm>
            <a:off x="914377" y="6027289"/>
            <a:ext cx="10935951" cy="209545"/>
          </a:xfrm>
          <a:prstGeom prst="rect">
            <a:avLst/>
          </a:prstGeom>
          <a:noFill/>
          <a:ln/>
        </p:spPr>
        <p:txBody>
          <a:bodyPr wrap="square" lIns="0" tIns="0" rIns="0" bIns="0" rtlCol="0" anchor="t"/>
          <a:lstStyle/>
          <a:p>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Régua da Torre: </a:t>
            </a:r>
            <a:pPr algn="l" indent="0" marL="0">
              <a:lnSpc>
                <a:spcPct val="106838"/>
              </a:lnSpc>
              <a:buNone/>
            </a:pPr>
            <a:r>
              <a:rPr lang="en-US" sz="1100" b="1" dirty="0">
                <a:solidFill>
                  <a:srgbClr val="FFFFFF"/>
                </a:solidFill>
                <a:latin typeface="Poppins" pitchFamily="34" charset="0"/>
                <a:ea typeface="Poppins" pitchFamily="34" charset="-122"/>
                <a:cs typeface="Poppins" pitchFamily="34" charset="-120"/>
              </a:rPr>
              <a:t>SPI ou CPI &lt; 0,9 = atenção · &lt; 0,8 = crítico</a:t>
            </a:r>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 Definida uma vez, usada em toda query, dashboard, Genie e app.</a:t>
            </a:r>
            <a:endParaRPr lang="en-US" sz="1100" dirty="0"/>
          </a:p>
        </p:txBody>
      </p:sp>
      <p:pic>
        <p:nvPicPr>
          <p:cNvPr id="82"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83" name="Text 80"/>
          <p:cNvSpPr txBox="1"/>
          <p:nvPr/>
        </p:nvSpPr>
        <p:spPr>
          <a:xfrm>
            <a:off x="10948218" y="6387940"/>
            <a:ext cx="500756"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62 / 133</a:t>
            </a:r>
            <a:endParaRPr lang="en-US" sz="10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1 · EXEMPLO 05 · UNION</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As três ferramentas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numa fila só</a:t>
            </a:r>
            <a:endParaRPr lang="en-US" sz="3100" dirty="0"/>
          </a:p>
        </p:txBody>
      </p:sp>
      <p:sp>
        <p:nvSpPr>
          <p:cNvPr id="4" name="Shape 2"/>
          <p:cNvSpPr/>
          <p:nvPr/>
        </p:nvSpPr>
        <p:spPr>
          <a:xfrm>
            <a:off x="761981" y="1582301"/>
            <a:ext cx="5820622" cy="2266993"/>
          </a:xfrm>
          <a:prstGeom prst="roundRect">
            <a:avLst>
              <a:gd name="adj" fmla="val 5042"/>
            </a:avLst>
          </a:prstGeom>
          <a:solidFill>
            <a:srgbClr val="0C0C10"/>
          </a:solidFill>
          <a:ln w="6350">
            <a:solidFill>
              <a:srgbClr val="2F2F39"/>
            </a:solidFill>
            <a:prstDash val="solid"/>
          </a:ln>
        </p:spPr>
      </p:sp>
      <p:sp>
        <p:nvSpPr>
          <p:cNvPr id="5" name="Text 3"/>
          <p:cNvSpPr txBox="1"/>
          <p:nvPr/>
        </p:nvSpPr>
        <p:spPr>
          <a:xfrm>
            <a:off x="958826" y="1753747"/>
            <a:ext cx="5650613" cy="1930451"/>
          </a:xfrm>
          <a:prstGeom prst="rect">
            <a:avLst/>
          </a:prstGeom>
          <a:noFill/>
          <a:ln/>
        </p:spPr>
        <p:txBody>
          <a:bodyPr wrap="square" lIns="0" tIns="0" rIns="0" bIns="0" rtlCol="0" anchor="t"/>
          <a:lstStyle/>
          <a:p>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CREATE OR REPLACE VIEW</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bronze.rascunho_tarefas </a:t>
            </a: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AS</a:t>
            </a:r>
            <a:pPr algn="l" indent="0" marL="0">
              <a:lnSpc>
                <a:spcPct val="123932"/>
              </a:lnSpc>
              <a:buNone/>
            </a:pPr>
            <a:endParaRPr lang="en-US" sz="950" dirty="0"/>
          </a:p>
          <a:p>
            <a:pPr algn="l" indent="0" marL="0">
              <a:lnSpc>
                <a:spcPct val="123932"/>
              </a:lnSpc>
              <a:buNone/>
            </a:pP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SELECT</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 </a:t>
            </a:r>
            <a:pPr algn="l" indent="0" marL="0">
              <a:lnSpc>
                <a:spcPct val="123932"/>
              </a:lnSpc>
              <a:buNone/>
            </a:pPr>
            <a:r>
              <a:rPr lang="en-US" sz="950" dirty="0">
                <a:solidFill>
                  <a:srgbClr val="F6C344"/>
                </a:solidFill>
                <a:latin typeface="Courier New" pitchFamily="34" charset="0"/>
                <a:ea typeface="Courier New" pitchFamily="34" charset="-122"/>
                <a:cs typeface="Courier New" pitchFamily="34" charset="-120"/>
              </a:rPr>
              <a:t>'excel'</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tarefa, </a:t>
            </a:r>
            <a:pPr algn="l" indent="0" marL="0">
              <a:lnSpc>
                <a:spcPct val="123932"/>
              </a:lnSpc>
              <a:buNone/>
            </a:pPr>
            <a:r>
              <a:rPr lang="en-US" sz="950" dirty="0">
                <a:solidFill>
                  <a:srgbClr val="6E7180"/>
                </a:solidFill>
                <a:latin typeface="Courier New" pitchFamily="34" charset="0"/>
                <a:ea typeface="Courier New" pitchFamily="34" charset="-122"/>
                <a:cs typeface="Courier New" pitchFamily="34" charset="-120"/>
              </a:rPr>
              <a:t>-- data texto OU série</a:t>
            </a:r>
            <a:pPr algn="l" indent="0" marL="0">
              <a:lnSpc>
                <a:spcPct val="123932"/>
              </a:lnSpc>
              <a:buNone/>
            </a:pPr>
            <a:endParaRPr lang="en-US" sz="950" dirty="0"/>
          </a:p>
          <a:p>
            <a:pPr algn="l" indent="0" marL="0">
              <a:lnSpc>
                <a:spcPct val="123932"/>
              </a:lnSpc>
              <a:buNone/>
            </a:pP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FROM</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bronze.excel_tarefas </a:t>
            </a: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WHERE</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tarefa &lt;&gt; </a:t>
            </a:r>
            <a:pPr algn="l" indent="0" marL="0">
              <a:lnSpc>
                <a:spcPct val="123932"/>
              </a:lnSpc>
              <a:buNone/>
            </a:pPr>
            <a:r>
              <a:rPr lang="en-US" sz="950" dirty="0">
                <a:solidFill>
                  <a:srgbClr val="F6C344"/>
                </a:solidFill>
                <a:latin typeface="Courier New" pitchFamily="34" charset="0"/>
                <a:ea typeface="Courier New" pitchFamily="34" charset="-122"/>
                <a:cs typeface="Courier New" pitchFamily="34" charset="-120"/>
              </a:rPr>
              <a:t>'TOTAL'</a:t>
            </a:r>
            <a:pPr algn="l" indent="0" marL="0">
              <a:lnSpc>
                <a:spcPct val="123932"/>
              </a:lnSpc>
              <a:buNone/>
            </a:pPr>
            <a:endParaRPr lang="en-US" sz="950" dirty="0"/>
          </a:p>
          <a:p>
            <a:pPr algn="l" indent="0" marL="0">
              <a:lnSpc>
                <a:spcPct val="123932"/>
              </a:lnSpc>
              <a:buNone/>
            </a:pP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UNION ALL</a:t>
            </a:r>
            <a:pPr algn="l" indent="0" marL="0">
              <a:lnSpc>
                <a:spcPct val="123932"/>
              </a:lnSpc>
              <a:buNone/>
            </a:pPr>
            <a:endParaRPr lang="en-US" sz="950" dirty="0"/>
          </a:p>
          <a:p>
            <a:pPr algn="l" indent="0" marL="0">
              <a:lnSpc>
                <a:spcPct val="123932"/>
              </a:lnSpc>
              <a:buNone/>
            </a:pP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SELECT</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 </a:t>
            </a:r>
            <a:pPr algn="l" indent="0" marL="0">
              <a:lnSpc>
                <a:spcPct val="123932"/>
              </a:lnSpc>
              <a:buNone/>
            </a:pPr>
            <a:r>
              <a:rPr lang="en-US" sz="950" dirty="0">
                <a:solidFill>
                  <a:srgbClr val="F6C344"/>
                </a:solidFill>
                <a:latin typeface="Courier New" pitchFamily="34" charset="0"/>
                <a:ea typeface="Courier New" pitchFamily="34" charset="-122"/>
                <a:cs typeface="Courier New" pitchFamily="34" charset="-120"/>
              </a:rPr>
              <a:t>'clickup'</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name,  </a:t>
            </a:r>
            <a:pPr algn="l" indent="0" marL="0">
              <a:lnSpc>
                <a:spcPct val="123932"/>
              </a:lnSpc>
              <a:buNone/>
            </a:pPr>
            <a:r>
              <a:rPr lang="en-US" sz="950" dirty="0">
                <a:solidFill>
                  <a:srgbClr val="6E7180"/>
                </a:solidFill>
                <a:latin typeface="Courier New" pitchFamily="34" charset="0"/>
                <a:ea typeface="Courier New" pitchFamily="34" charset="-122"/>
                <a:cs typeface="Courier New" pitchFamily="34" charset="-120"/>
              </a:rPr>
              <a:t>-- milissegundos</a:t>
            </a:r>
            <a:pPr algn="l" indent="0" marL="0">
              <a:lnSpc>
                <a:spcPct val="123932"/>
              </a:lnSpc>
              <a:buNone/>
            </a:pPr>
            <a:endParaRPr lang="en-US" sz="950" dirty="0"/>
          </a:p>
          <a:p>
            <a:pPr algn="l" indent="0" marL="0">
              <a:lnSpc>
                <a:spcPct val="123932"/>
              </a:lnSpc>
              <a:buNone/>
            </a:pP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FROM</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bronze.clickup_tarefas </a:t>
            </a: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JOIN</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bronze.projetos ...</a:t>
            </a:r>
            <a:endParaRPr lang="en-US" sz="950" dirty="0"/>
          </a:p>
          <a:p>
            <a:pPr algn="l" indent="0" marL="0">
              <a:lnSpc>
                <a:spcPct val="123932"/>
              </a:lnSpc>
              <a:buNone/>
            </a:pP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UNION ALL</a:t>
            </a:r>
            <a:pPr algn="l" indent="0" marL="0">
              <a:lnSpc>
                <a:spcPct val="123932"/>
              </a:lnSpc>
              <a:buNone/>
            </a:pPr>
            <a:endParaRPr lang="en-US" sz="950" dirty="0"/>
          </a:p>
          <a:p>
            <a:pPr algn="l" indent="0" marL="0">
              <a:lnSpc>
                <a:spcPct val="123932"/>
              </a:lnSpc>
              <a:buNone/>
            </a:pP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SELECT</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 </a:t>
            </a:r>
            <a:pPr algn="l" indent="0" marL="0">
              <a:lnSpc>
                <a:spcPct val="123932"/>
              </a:lnSpc>
              <a:buNone/>
            </a:pPr>
            <a:r>
              <a:rPr lang="en-US" sz="950" dirty="0">
                <a:solidFill>
                  <a:srgbClr val="F6C344"/>
                </a:solidFill>
                <a:latin typeface="Courier New" pitchFamily="34" charset="0"/>
                <a:ea typeface="Courier New" pitchFamily="34" charset="-122"/>
                <a:cs typeface="Courier New" pitchFamily="34" charset="-120"/>
              </a:rPr>
              <a:t>'msproject'</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Name, </a:t>
            </a:r>
            <a:pPr algn="l" indent="0" marL="0">
              <a:lnSpc>
                <a:spcPct val="123932"/>
              </a:lnSpc>
              <a:buNone/>
            </a:pPr>
            <a:r>
              <a:rPr lang="en-US" sz="950" dirty="0">
                <a:solidFill>
                  <a:srgbClr val="6E7180"/>
                </a:solidFill>
                <a:latin typeface="Courier New" pitchFamily="34" charset="0"/>
                <a:ea typeface="Courier New" pitchFamily="34" charset="-122"/>
                <a:cs typeface="Courier New" pitchFamily="34" charset="-120"/>
              </a:rPr>
              <a:t>-- PT40H0M0S</a:t>
            </a:r>
            <a:pPr algn="l" indent="0" marL="0">
              <a:lnSpc>
                <a:spcPct val="123932"/>
              </a:lnSpc>
              <a:buNone/>
            </a:pPr>
            <a:endParaRPr lang="en-US" sz="950" dirty="0"/>
          </a:p>
          <a:p>
            <a:pPr algn="l" indent="0" marL="0">
              <a:lnSpc>
                <a:spcPct val="123932"/>
              </a:lnSpc>
              <a:buNone/>
            </a:pP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FROM</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bronze.msproject_tarefas </a:t>
            </a: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WHERE</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Summary = 0;</a:t>
            </a:r>
            <a:endParaRPr lang="en-US" sz="950" dirty="0"/>
          </a:p>
          <a:p>
            <a:pPr algn="l" indent="0" marL="0">
              <a:lnSpc>
                <a:spcPct val="123932"/>
              </a:lnSpc>
              <a:buNone/>
            </a:pPr>
            <a:endParaRPr lang="en-US" sz="950" dirty="0"/>
          </a:p>
          <a:p>
            <a:pPr algn="l" indent="0" marL="0">
              <a:lnSpc>
                <a:spcPct val="123932"/>
              </a:lnSpc>
              <a:buNone/>
            </a:pPr>
            <a:pPr algn="l" indent="0" marL="0">
              <a:lnSpc>
                <a:spcPct val="123932"/>
              </a:lnSpc>
              <a:buNone/>
            </a:pPr>
            <a:r>
              <a:rPr lang="en-US" sz="950" dirty="0">
                <a:solidFill>
                  <a:srgbClr val="6E7180"/>
                </a:solidFill>
                <a:latin typeface="Courier New" pitchFamily="34" charset="0"/>
                <a:ea typeface="Courier New" pitchFamily="34" charset="-122"/>
                <a:cs typeface="Courier New" pitchFamily="34" charset="-120"/>
              </a:rPr>
              <a:t>-- 2. SPI = horas agregadas ÷ horas planejadas até 16/10</a:t>
            </a:r>
            <a:endParaRPr lang="en-US" sz="950" dirty="0"/>
          </a:p>
        </p:txBody>
      </p:sp>
      <p:sp>
        <p:nvSpPr>
          <p:cNvPr id="6" name="Shape 4"/>
          <p:cNvSpPr/>
          <p:nvPr/>
        </p:nvSpPr>
        <p:spPr>
          <a:xfrm>
            <a:off x="6773098" y="1582301"/>
            <a:ext cx="4656517" cy="1629131"/>
          </a:xfrm>
          <a:prstGeom prst="roundRect">
            <a:avLst>
              <a:gd name="adj" fmla="val 9354"/>
            </a:avLst>
          </a:prstGeom>
          <a:solidFill>
            <a:srgbClr val="1E1E24"/>
          </a:solidFill>
          <a:ln w="6350">
            <a:solidFill>
              <a:srgbClr val="2F2F39"/>
            </a:solidFill>
            <a:prstDash val="solid"/>
          </a:ln>
        </p:spPr>
      </p:sp>
      <p:sp>
        <p:nvSpPr>
          <p:cNvPr id="7" name="Shape 5"/>
          <p:cNvSpPr/>
          <p:nvPr/>
        </p:nvSpPr>
        <p:spPr>
          <a:xfrm>
            <a:off x="6995342" y="1779146"/>
            <a:ext cx="702451" cy="247644"/>
          </a:xfrm>
          <a:prstGeom prst="roundRect">
            <a:avLst>
              <a:gd name="adj" fmla="val 50000"/>
            </a:avLst>
          </a:prstGeom>
          <a:solidFill>
            <a:srgbClr val="22C2F4">
              <a:alpha val="14000"/>
            </a:srgbClr>
          </a:solidFill>
          <a:ln/>
        </p:spPr>
      </p:sp>
      <p:sp>
        <p:nvSpPr>
          <p:cNvPr id="8" name="Text 6"/>
          <p:cNvSpPr txBox="1"/>
          <p:nvPr/>
        </p:nvSpPr>
        <p:spPr>
          <a:xfrm>
            <a:off x="7084240" y="1817245"/>
            <a:ext cx="545642"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Conceito</a:t>
            </a:r>
            <a:endParaRPr lang="en-US" sz="900" dirty="0"/>
          </a:p>
        </p:txBody>
      </p:sp>
      <p:sp>
        <p:nvSpPr>
          <p:cNvPr id="9" name="Text 7"/>
          <p:cNvSpPr txBox="1"/>
          <p:nvPr/>
        </p:nvSpPr>
        <p:spPr>
          <a:xfrm>
            <a:off x="6995342" y="2191886"/>
            <a:ext cx="4380509" cy="822701"/>
          </a:xfrm>
          <a:prstGeom prst="rect">
            <a:avLst/>
          </a:prstGeom>
          <a:noFill/>
          <a:ln/>
        </p:spPr>
        <p:txBody>
          <a:bodyPr wrap="square" lIns="0" tIns="0" rIns="0" bIns="0" rtlCol="0" anchor="t"/>
          <a:lstStyle/>
          <a:p>
            <a:pPr algn="l" indent="0" marL="0">
              <a:lnSpc>
                <a:spcPct val="115385"/>
              </a:lnSpc>
              <a:buNone/>
            </a:pPr>
            <a:r>
              <a:rPr lang="en-US" sz="1200" dirty="0">
                <a:solidFill>
                  <a:srgbClr val="FFFFFF"/>
                </a:solidFill>
                <a:latin typeface="Poppins" pitchFamily="34" charset="0"/>
                <a:ea typeface="Poppins" pitchFamily="34" charset="-122"/>
                <a:cs typeface="Poppins" pitchFamily="34" charset="-120"/>
              </a:rPr>
              <a:t>UNION ALL empilha; a VIEW guarda a consulta com um nome. Cada ferramenta é traduzida para as mesmas 7 colunas e empilhada: um rascunho à mão da silver de amanhã.</a:t>
            </a:r>
            <a:endParaRPr lang="en-US" sz="1200" dirty="0"/>
          </a:p>
        </p:txBody>
      </p:sp>
      <p:sp>
        <p:nvSpPr>
          <p:cNvPr id="10" name="Shape 8"/>
          <p:cNvSpPr/>
          <p:nvPr/>
        </p:nvSpPr>
        <p:spPr>
          <a:xfrm>
            <a:off x="6773098" y="3351129"/>
            <a:ext cx="4656517" cy="1705329"/>
          </a:xfrm>
          <a:prstGeom prst="roundRect">
            <a:avLst>
              <a:gd name="adj" fmla="val 8936"/>
            </a:avLst>
          </a:prstGeom>
          <a:solidFill>
            <a:srgbClr val="0059DB"/>
          </a:solidFill>
          <a:ln/>
        </p:spPr>
      </p:sp>
      <p:sp>
        <p:nvSpPr>
          <p:cNvPr id="11" name="Shape 9"/>
          <p:cNvSpPr/>
          <p:nvPr/>
        </p:nvSpPr>
        <p:spPr>
          <a:xfrm>
            <a:off x="6995342" y="3547974"/>
            <a:ext cx="1034032" cy="247644"/>
          </a:xfrm>
          <a:prstGeom prst="roundRect">
            <a:avLst>
              <a:gd name="adj" fmla="val 50000"/>
            </a:avLst>
          </a:prstGeom>
          <a:solidFill>
            <a:srgbClr val="FFFFFF">
              <a:alpha val="16000"/>
            </a:srgbClr>
          </a:solidFill>
          <a:ln/>
        </p:spPr>
      </p:sp>
      <p:sp>
        <p:nvSpPr>
          <p:cNvPr id="12" name="Text 10"/>
          <p:cNvSpPr txBox="1"/>
          <p:nvPr/>
        </p:nvSpPr>
        <p:spPr>
          <a:xfrm>
            <a:off x="7084240" y="3586073"/>
            <a:ext cx="890486"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O que aparece</a:t>
            </a:r>
            <a:endParaRPr lang="en-US" sz="900" dirty="0"/>
          </a:p>
        </p:txBody>
      </p:sp>
      <p:sp>
        <p:nvSpPr>
          <p:cNvPr id="13" name="Shape 11"/>
          <p:cNvSpPr/>
          <p:nvPr/>
        </p:nvSpPr>
        <p:spPr>
          <a:xfrm>
            <a:off x="6995342" y="3967063"/>
            <a:ext cx="76198" cy="76198"/>
          </a:xfrm>
          <a:prstGeom prst="roundRect">
            <a:avLst>
              <a:gd name="adj" fmla="val 25000"/>
            </a:avLst>
          </a:prstGeom>
          <a:solidFill>
            <a:srgbClr val="22C2F4"/>
          </a:solidFill>
          <a:ln/>
        </p:spPr>
      </p:sp>
      <p:sp>
        <p:nvSpPr>
          <p:cNvPr id="14" name="Text 12"/>
          <p:cNvSpPr txBox="1"/>
          <p:nvPr/>
        </p:nvSpPr>
        <p:spPr>
          <a:xfrm>
            <a:off x="7185838" y="3884515"/>
            <a:ext cx="4182394"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Excel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20</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projetos / 1.643 tarefas · ClickUp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25</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 2.119 · Project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15</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 1.155</a:t>
            </a:r>
            <a:endParaRPr lang="en-US" sz="1200" dirty="0"/>
          </a:p>
        </p:txBody>
      </p:sp>
      <p:sp>
        <p:nvSpPr>
          <p:cNvPr id="15" name="Shape 13"/>
          <p:cNvSpPr/>
          <p:nvPr/>
        </p:nvSpPr>
        <p:spPr>
          <a:xfrm>
            <a:off x="6995342" y="4454612"/>
            <a:ext cx="76198" cy="76198"/>
          </a:xfrm>
          <a:prstGeom prst="roundRect">
            <a:avLst>
              <a:gd name="adj" fmla="val 25000"/>
            </a:avLst>
          </a:prstGeom>
          <a:solidFill>
            <a:srgbClr val="22C2F4"/>
          </a:solidFill>
          <a:ln/>
        </p:spPr>
      </p:sp>
      <p:sp>
        <p:nvSpPr>
          <p:cNvPr id="16" name="Text 14"/>
          <p:cNvSpPr txBox="1"/>
          <p:nvPr/>
        </p:nvSpPr>
        <p:spPr>
          <a:xfrm>
            <a:off x="7185838" y="4372064"/>
            <a:ext cx="4182394"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os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60</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projetos numa tabela só, pela primeira vez</a:t>
            </a:r>
            <a:endParaRPr lang="en-US" sz="1200" dirty="0"/>
          </a:p>
        </p:txBody>
      </p:sp>
      <p:sp>
        <p:nvSpPr>
          <p:cNvPr id="17" name="Shape 15"/>
          <p:cNvSpPr/>
          <p:nvPr/>
        </p:nvSpPr>
        <p:spPr>
          <a:xfrm>
            <a:off x="6995342" y="4736485"/>
            <a:ext cx="76198" cy="76198"/>
          </a:xfrm>
          <a:prstGeom prst="roundRect">
            <a:avLst>
              <a:gd name="adj" fmla="val 25000"/>
            </a:avLst>
          </a:prstGeom>
          <a:solidFill>
            <a:srgbClr val="22C2F4"/>
          </a:solidFill>
          <a:ln/>
        </p:spPr>
      </p:sp>
      <p:sp>
        <p:nvSpPr>
          <p:cNvPr id="18" name="Text 16"/>
          <p:cNvSpPr txBox="1"/>
          <p:nvPr/>
        </p:nvSpPr>
        <p:spPr>
          <a:xfrm>
            <a:off x="7185838" y="4653938"/>
            <a:ext cx="4182394"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o SPI de cada um: o pior é o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PRJ-016, 0,63</a:t>
            </a:r>
            <a:endParaRPr lang="en-US" sz="1200" dirty="0"/>
          </a:p>
        </p:txBody>
      </p:sp>
      <p:sp>
        <p:nvSpPr>
          <p:cNvPr id="19" name="Shape 17"/>
          <p:cNvSpPr/>
          <p:nvPr/>
        </p:nvSpPr>
        <p:spPr>
          <a:xfrm>
            <a:off x="761981" y="5196154"/>
            <a:ext cx="25399" cy="495288"/>
          </a:xfrm>
          <a:prstGeom prst="rect">
            <a:avLst/>
          </a:prstGeom>
          <a:solidFill>
            <a:srgbClr val="22C2F4"/>
          </a:solidFill>
          <a:ln/>
        </p:spPr>
      </p:sp>
      <p:sp>
        <p:nvSpPr>
          <p:cNvPr id="20" name="Text 18"/>
          <p:cNvSpPr txBox="1"/>
          <p:nvPr/>
        </p:nvSpPr>
        <p:spPr>
          <a:xfrm>
            <a:off x="914377" y="5234254"/>
            <a:ext cx="10935951" cy="419090"/>
          </a:xfrm>
          <a:prstGeom prst="rect">
            <a:avLst/>
          </a:prstGeom>
          <a:noFill/>
          <a:ln/>
        </p:spPr>
        <p:txBody>
          <a:bodyPr wrap="square" lIns="0" tIns="0" rIns="0" bIns="0" rtlCol="0" anchor="t"/>
          <a:lstStyle/>
          <a:p>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Arquivo: </a:t>
            </a:r>
            <a:pPr algn="l" indent="0" marL="0">
              <a:lnSpc>
                <a:spcPct val="106838"/>
              </a:lnSpc>
              <a:buNone/>
            </a:pPr>
            <a:r>
              <a:rPr lang="en-US" sz="1100" b="1" dirty="0">
                <a:solidFill>
                  <a:srgbClr val="FFFFFF"/>
                </a:solidFill>
                <a:latin typeface="Poppins" pitchFamily="34" charset="0"/>
                <a:ea typeface="Poppins" pitchFamily="34" charset="-122"/>
                <a:cs typeface="Poppins" pitchFamily="34" charset="-120"/>
              </a:rPr>
              <a:t>exemplo-01-a-05-sql-na-bronze.sql</a:t>
            </a:r>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 5 degraus: UNION ALL mínimo → Excel traduzido → a view → as horas → o SPI. A view que o exemplo 06, o dashboard e a verificação usam.</a:t>
            </a:r>
            <a:endParaRPr lang="en-US" sz="1100" dirty="0"/>
          </a:p>
        </p:txBody>
      </p:sp>
      <p:pic>
        <p:nvPicPr>
          <p:cNvPr id="21"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22" name="Text 19"/>
          <p:cNvSpPr txBox="1"/>
          <p:nvPr/>
        </p:nvSpPr>
        <p:spPr>
          <a:xfrm>
            <a:off x="10946035" y="6387940"/>
            <a:ext cx="503026"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63 / 133</a:t>
            </a:r>
            <a:endParaRPr lang="en-US" sz="10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1 · EXEMPLO 05 · TENTE COM A IA</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Peça a tradução do Excel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ao Assistant</a:t>
            </a:r>
            <a:endParaRPr lang="en-US" sz="3100" dirty="0"/>
          </a:p>
        </p:txBody>
      </p:sp>
      <p:sp>
        <p:nvSpPr>
          <p:cNvPr id="4" name="Shape 2"/>
          <p:cNvSpPr/>
          <p:nvPr/>
        </p:nvSpPr>
        <p:spPr>
          <a:xfrm>
            <a:off x="761981" y="1582301"/>
            <a:ext cx="6286343" cy="3222544"/>
          </a:xfrm>
          <a:prstGeom prst="roundRect">
            <a:avLst>
              <a:gd name="adj" fmla="val 3547"/>
            </a:avLst>
          </a:prstGeom>
          <a:solidFill>
            <a:srgbClr val="0C0C10"/>
          </a:solidFill>
          <a:ln w="6350">
            <a:solidFill>
              <a:srgbClr val="2F2F39"/>
            </a:solidFill>
            <a:prstDash val="solid"/>
          </a:ln>
        </p:spPr>
      </p:sp>
      <p:sp>
        <p:nvSpPr>
          <p:cNvPr id="5" name="Text 3"/>
          <p:cNvSpPr txBox="1"/>
          <p:nvPr/>
        </p:nvSpPr>
        <p:spPr>
          <a:xfrm>
            <a:off x="958826" y="1753747"/>
            <a:ext cx="6134963" cy="2886003"/>
          </a:xfrm>
          <a:prstGeom prst="rect">
            <a:avLst/>
          </a:prstGeom>
          <a:noFill/>
          <a:ln/>
        </p:spPr>
        <p:txBody>
          <a:bodyPr wrap="square" lIns="0" tIns="0" rIns="0" bIns="0" rtlCol="0" anchor="t"/>
          <a:lstStyle/>
          <a:p>
            <a:pPr algn="l" indent="0" marL="0">
              <a:lnSpc>
                <a:spcPct val="115385"/>
              </a:lnSpc>
              <a:buNone/>
            </a:pPr>
            <a:r>
              <a:rPr lang="en-US" sz="1050" dirty="0">
                <a:solidFill>
                  <a:srgbClr val="E6E8F2"/>
                </a:solidFill>
                <a:latin typeface="Courier New" pitchFamily="34" charset="0"/>
                <a:ea typeface="Courier New" pitchFamily="34" charset="-122"/>
                <a:cs typeface="Courier New" pitchFamily="34" charset="-120"/>
              </a:rPr>
              <a:t>Escreva um SELECT na tabela lakehouse_vertice.bronze.excel_tarefas, com LIMIT 10, que devolva 7 colunas: projeto_id, ferramenta, tarefa, inicio_baseline, fim_baseline, pct_concluido e horas. Regras:</a:t>
            </a:r>
            <a:endParaRPr lang="en-US" sz="1050" dirty="0"/>
          </a:p>
          <a:p>
            <a:pPr algn="l" indent="0" marL="0">
              <a:lnSpc>
                <a:spcPct val="115385"/>
              </a:lnSpc>
              <a:buNone/>
            </a:pPr>
            <a:r>
              <a:rPr lang="en-US" sz="1050" dirty="0">
                <a:solidFill>
                  <a:srgbClr val="E6E8F2"/>
                </a:solidFill>
                <a:latin typeface="Courier New" pitchFamily="34" charset="0"/>
                <a:ea typeface="Courier New" pitchFamily="34" charset="-122"/>
                <a:cs typeface="Courier New" pitchFamily="34" charset="-120"/>
              </a:rPr>
              <a:t>- projeto_id: extraia o padrão PRJ- seguido de 3 dígitos da coluna arquivo</a:t>
            </a:r>
            <a:endParaRPr lang="en-US" sz="1050" dirty="0"/>
          </a:p>
          <a:p>
            <a:pPr algn="l" indent="0" marL="0">
              <a:lnSpc>
                <a:spcPct val="115385"/>
              </a:lnSpc>
              <a:buNone/>
            </a:pPr>
            <a:r>
              <a:rPr lang="en-US" sz="1050" dirty="0">
                <a:solidFill>
                  <a:srgbClr val="E6E8F2"/>
                </a:solidFill>
                <a:latin typeface="Courier New" pitchFamily="34" charset="0"/>
                <a:ea typeface="Courier New" pitchFamily="34" charset="-122"/>
                <a:cs typeface="Courier New" pitchFamily="34" charset="-120"/>
              </a:rPr>
              <a:t>- ferramenta: o texto fixo 'excel'</a:t>
            </a:r>
            <a:endParaRPr lang="en-US" sz="1050" dirty="0"/>
          </a:p>
          <a:p>
            <a:pPr algn="l" indent="0" marL="0">
              <a:lnSpc>
                <a:spcPct val="115385"/>
              </a:lnSpc>
              <a:buNone/>
            </a:pPr>
            <a:r>
              <a:rPr lang="en-US" sz="1050" dirty="0">
                <a:solidFill>
                  <a:srgbClr val="E6E8F2"/>
                </a:solidFill>
                <a:latin typeface="Courier New" pitchFamily="34" charset="0"/>
                <a:ea typeface="Courier New" pitchFamily="34" charset="-122"/>
                <a:cs typeface="Courier New" pitchFamily="34" charset="-120"/>
              </a:rPr>
              <a:t>- inicio_baseline e fim_baseline vêm de inicio_previsto e termino_previsto, que são texto. Se tiver barra, é uma data dd/MM/yyyy. Senão, é o número de série do Excel: dias contados a partir de 1899-12-30</a:t>
            </a:r>
            <a:endParaRPr lang="en-US" sz="1050" dirty="0"/>
          </a:p>
          <a:p>
            <a:pPr algn="l" indent="0" marL="0">
              <a:lnSpc>
                <a:spcPct val="115385"/>
              </a:lnSpc>
              <a:buNone/>
            </a:pPr>
            <a:r>
              <a:rPr lang="en-US" sz="1050" dirty="0">
                <a:solidFill>
                  <a:srgbClr val="E6E8F2"/>
                </a:solidFill>
                <a:latin typeface="Courier New" pitchFamily="34" charset="0"/>
                <a:ea typeface="Courier New" pitchFamily="34" charset="-122"/>
                <a:cs typeface="Courier New" pitchFamily="34" charset="-120"/>
              </a:rPr>
              <a:t>- pct_concluido: se tiver o símbolo %, tire o % e troque vírgula por ponto. Senão, é uma fração (0.45): multiplique por 100. Limite o resultado a no máximo 100</a:t>
            </a:r>
            <a:endParaRPr lang="en-US" sz="1050" dirty="0"/>
          </a:p>
          <a:p>
            <a:pPr algn="l" indent="0" marL="0">
              <a:lnSpc>
                <a:spcPct val="115385"/>
              </a:lnSpc>
              <a:buNone/>
            </a:pPr>
            <a:r>
              <a:rPr lang="en-US" sz="1050" dirty="0">
                <a:solidFill>
                  <a:srgbClr val="E6E8F2"/>
                </a:solidFill>
                <a:latin typeface="Courier New" pitchFamily="34" charset="0"/>
                <a:ea typeface="Courier New" pitchFamily="34" charset="-122"/>
                <a:cs typeface="Courier New" pitchFamily="34" charset="-120"/>
              </a:rPr>
              <a:t>- horas: horas_previstas sem a letra h, como número</a:t>
            </a:r>
            <a:endParaRPr lang="en-US" sz="1050" dirty="0"/>
          </a:p>
          <a:p>
            <a:pPr algn="l" indent="0" marL="0">
              <a:lnSpc>
                <a:spcPct val="115385"/>
              </a:lnSpc>
              <a:buNone/>
            </a:pPr>
            <a:r>
              <a:rPr lang="en-US" sz="1050" dirty="0">
                <a:solidFill>
                  <a:srgbClr val="E6E8F2"/>
                </a:solidFill>
                <a:latin typeface="Courier New" pitchFamily="34" charset="0"/>
                <a:ea typeface="Courier New" pitchFamily="34" charset="-122"/>
                <a:cs typeface="Courier New" pitchFamily="34" charset="-120"/>
              </a:rPr>
              <a:t>- ignore as linhas em que tarefa = 'TOTAL'</a:t>
            </a:r>
            <a:endParaRPr lang="en-US" sz="1050" dirty="0"/>
          </a:p>
          <a:p>
            <a:pPr algn="l" indent="0" marL="0">
              <a:lnSpc>
                <a:spcPct val="115385"/>
              </a:lnSpc>
              <a:buNone/>
            </a:pPr>
            <a:r>
              <a:rPr lang="en-US" sz="1050" dirty="0">
                <a:solidFill>
                  <a:srgbClr val="E6E8F2"/>
                </a:solidFill>
                <a:latin typeface="Courier New" pitchFamily="34" charset="0"/>
                <a:ea typeface="Courier New" pitchFamily="34" charset="-122"/>
                <a:cs typeface="Courier New" pitchFamily="34" charset="-120"/>
              </a:rPr>
              <a:t>Use CASE WHEN e escreva um comentário curto em português antes de cada coluna.</a:t>
            </a:r>
            <a:endParaRPr lang="en-US" sz="1050" dirty="0"/>
          </a:p>
        </p:txBody>
      </p:sp>
      <p:sp>
        <p:nvSpPr>
          <p:cNvPr id="6" name="Shape 4"/>
          <p:cNvSpPr/>
          <p:nvPr/>
        </p:nvSpPr>
        <p:spPr>
          <a:xfrm>
            <a:off x="7238819" y="1582301"/>
            <a:ext cx="4190895" cy="1397858"/>
          </a:xfrm>
          <a:prstGeom prst="roundRect">
            <a:avLst>
              <a:gd name="adj" fmla="val 10902"/>
            </a:avLst>
          </a:prstGeom>
          <a:solidFill>
            <a:srgbClr val="1E1E24"/>
          </a:solidFill>
          <a:ln w="6350">
            <a:solidFill>
              <a:srgbClr val="2F2F39"/>
            </a:solidFill>
            <a:prstDash val="solid"/>
          </a:ln>
        </p:spPr>
      </p:sp>
      <p:sp>
        <p:nvSpPr>
          <p:cNvPr id="7" name="Shape 5"/>
          <p:cNvSpPr/>
          <p:nvPr/>
        </p:nvSpPr>
        <p:spPr>
          <a:xfrm>
            <a:off x="7461063" y="1779146"/>
            <a:ext cx="491121" cy="247644"/>
          </a:xfrm>
          <a:prstGeom prst="roundRect">
            <a:avLst>
              <a:gd name="adj" fmla="val 50000"/>
            </a:avLst>
          </a:prstGeom>
          <a:solidFill>
            <a:srgbClr val="22C2F4">
              <a:alpha val="14000"/>
            </a:srgbClr>
          </a:solidFill>
          <a:ln/>
        </p:spPr>
      </p:sp>
      <p:sp>
        <p:nvSpPr>
          <p:cNvPr id="8" name="Text 6"/>
          <p:cNvSpPr txBox="1"/>
          <p:nvPr/>
        </p:nvSpPr>
        <p:spPr>
          <a:xfrm>
            <a:off x="7549961" y="1817245"/>
            <a:ext cx="325858"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Onde</a:t>
            </a:r>
            <a:endParaRPr lang="en-US" sz="900" dirty="0"/>
          </a:p>
        </p:txBody>
      </p:sp>
      <p:sp>
        <p:nvSpPr>
          <p:cNvPr id="9" name="Text 7"/>
          <p:cNvSpPr txBox="1"/>
          <p:nvPr/>
        </p:nvSpPr>
        <p:spPr>
          <a:xfrm>
            <a:off x="7461063" y="2191886"/>
            <a:ext cx="3896263" cy="591428"/>
          </a:xfrm>
          <a:prstGeom prst="rect">
            <a:avLst/>
          </a:prstGeom>
          <a:noFill/>
          <a:ln/>
        </p:spPr>
        <p:txBody>
          <a:bodyPr wrap="square" lIns="0" tIns="0" rIns="0" bIns="0" rtlCol="0" anchor="t"/>
          <a:lstStyle/>
          <a:p>
            <a:pPr algn="l" indent="0" marL="0">
              <a:lnSpc>
                <a:spcPct val="115385"/>
              </a:lnSpc>
              <a:buNone/>
            </a:pPr>
            <a:r>
              <a:rPr lang="en-US" sz="1150" dirty="0">
                <a:solidFill>
                  <a:srgbClr val="FFFFFF"/>
                </a:solidFill>
                <a:latin typeface="Poppins" pitchFamily="34" charset="0"/>
                <a:ea typeface="Poppins" pitchFamily="34" charset="-122"/>
                <a:cs typeface="Poppins" pitchFamily="34" charset="-120"/>
              </a:rPr>
              <a:t>SQL Editor → ícone do </a:t>
            </a:r>
            <a:pPr algn="l" indent="0" marL="0">
              <a:lnSpc>
                <a:spcPct val="115385"/>
              </a:lnSpc>
              <a:buNone/>
            </a:pPr>
            <a:r>
              <a:rPr lang="en-US" sz="1150" b="1" dirty="0">
                <a:solidFill>
                  <a:srgbClr val="FFFFFF"/>
                </a:solidFill>
                <a:latin typeface="Poppins" pitchFamily="34" charset="0"/>
                <a:ea typeface="Poppins" pitchFamily="34" charset="-122"/>
                <a:cs typeface="Poppins" pitchFamily="34" charset="-120"/>
              </a:rPr>
              <a:t>Assistant</a:t>
            </a:r>
            <a:pPr algn="l" indent="0" marL="0">
              <a:lnSpc>
                <a:spcPct val="115385"/>
              </a:lnSpc>
              <a:buNone/>
            </a:pPr>
            <a:r>
              <a:rPr lang="en-US" sz="1150" dirty="0">
                <a:solidFill>
                  <a:srgbClr val="FFFFFF"/>
                </a:solidFill>
                <a:latin typeface="Poppins" pitchFamily="34" charset="0"/>
                <a:ea typeface="Poppins" pitchFamily="34" charset="-122"/>
                <a:cs typeface="Poppins" pitchFamily="34" charset="-120"/>
              </a:rPr>
              <a:t> → cole o prompt. Ele escreve a query; você lê, roda e compara com o gabarito (bloco 2 do exemplo 05).</a:t>
            </a:r>
            <a:endParaRPr lang="en-US" sz="1150" dirty="0"/>
          </a:p>
        </p:txBody>
      </p:sp>
      <p:sp>
        <p:nvSpPr>
          <p:cNvPr id="10" name="Shape 8"/>
          <p:cNvSpPr/>
          <p:nvPr/>
        </p:nvSpPr>
        <p:spPr>
          <a:xfrm>
            <a:off x="7238819" y="3119856"/>
            <a:ext cx="4190895" cy="1397858"/>
          </a:xfrm>
          <a:prstGeom prst="roundRect">
            <a:avLst>
              <a:gd name="adj" fmla="val 10902"/>
            </a:avLst>
          </a:prstGeom>
          <a:solidFill>
            <a:srgbClr val="0059DB"/>
          </a:solidFill>
          <a:ln/>
        </p:spPr>
      </p:sp>
      <p:sp>
        <p:nvSpPr>
          <p:cNvPr id="11" name="Shape 9"/>
          <p:cNvSpPr/>
          <p:nvPr/>
        </p:nvSpPr>
        <p:spPr>
          <a:xfrm>
            <a:off x="7461063" y="3316701"/>
            <a:ext cx="569700" cy="247644"/>
          </a:xfrm>
          <a:prstGeom prst="roundRect">
            <a:avLst>
              <a:gd name="adj" fmla="val 50000"/>
            </a:avLst>
          </a:prstGeom>
          <a:solidFill>
            <a:srgbClr val="FFFFFF">
              <a:alpha val="16000"/>
            </a:srgbClr>
          </a:solidFill>
          <a:ln/>
        </p:spPr>
      </p:sp>
      <p:sp>
        <p:nvSpPr>
          <p:cNvPr id="12" name="Text 10"/>
          <p:cNvSpPr txBox="1"/>
          <p:nvPr/>
        </p:nvSpPr>
        <p:spPr>
          <a:xfrm>
            <a:off x="7549961" y="3354800"/>
            <a:ext cx="407580"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A lição</a:t>
            </a:r>
            <a:endParaRPr lang="en-US" sz="900" dirty="0"/>
          </a:p>
        </p:txBody>
      </p:sp>
      <p:sp>
        <p:nvSpPr>
          <p:cNvPr id="13" name="Text 11"/>
          <p:cNvSpPr txBox="1"/>
          <p:nvPr/>
        </p:nvSpPr>
        <p:spPr>
          <a:xfrm>
            <a:off x="7461063" y="3729440"/>
            <a:ext cx="3896263" cy="591428"/>
          </a:xfrm>
          <a:prstGeom prst="rect">
            <a:avLst/>
          </a:prstGeom>
          <a:noFill/>
          <a:ln/>
        </p:spPr>
        <p:txBody>
          <a:bodyPr wrap="square" lIns="0" tIns="0" rIns="0" bIns="0" rtlCol="0" anchor="t"/>
          <a:lstStyle/>
          <a:p>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A IA acerta quando </a:t>
            </a:r>
            <a:pPr algn="l" indent="0" marL="0">
              <a:lnSpc>
                <a:spcPct val="115385"/>
              </a:lnSpc>
              <a:buNone/>
            </a:pPr>
            <a:r>
              <a:rPr lang="en-US" sz="1150" b="1" dirty="0">
                <a:solidFill>
                  <a:srgbClr val="FFFFFF"/>
                </a:solidFill>
                <a:latin typeface="Poppins" pitchFamily="34" charset="0"/>
                <a:ea typeface="Poppins" pitchFamily="34" charset="-122"/>
                <a:cs typeface="Poppins" pitchFamily="34" charset="-120"/>
              </a:rPr>
              <a:t>você</a:t>
            </a:r>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 já sabe o que está errado no dado. Cada regra do prompt é um achado dos exemplos 01 a 03.</a:t>
            </a:r>
            <a:endParaRPr lang="en-US" sz="1150" dirty="0"/>
          </a:p>
        </p:txBody>
      </p:sp>
      <p:pic>
        <p:nvPicPr>
          <p:cNvPr id="14"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15" name="Text 12"/>
          <p:cNvSpPr txBox="1"/>
          <p:nvPr/>
        </p:nvSpPr>
        <p:spPr>
          <a:xfrm>
            <a:off x="10939288" y="6387940"/>
            <a:ext cx="510043"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64 / 133</a:t>
            </a:r>
            <a:endParaRPr lang="en-US" sz="10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1 · EXEMPLO 05 · PERGUNTA 1</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Quem atrasa: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os 7 críticos</a:t>
            </a:r>
            <a:endParaRPr lang="en-US" sz="3100" dirty="0"/>
          </a:p>
        </p:txBody>
      </p:sp>
      <p:sp>
        <p:nvSpPr>
          <p:cNvPr id="4" name="Text 2"/>
          <p:cNvSpPr txBox="1"/>
          <p:nvPr/>
        </p:nvSpPr>
        <p:spPr>
          <a:xfrm>
            <a:off x="876278" y="1582301"/>
            <a:ext cx="4634963" cy="171446"/>
          </a:xfrm>
          <a:prstGeom prst="rect">
            <a:avLst/>
          </a:prstGeom>
          <a:noFill/>
          <a:ln/>
        </p:spPr>
        <p:txBody>
          <a:bodyPr wrap="square" lIns="0" tIns="0" rIns="0" bIns="0" rtlCol="0" anchor="t"/>
          <a:lstStyle/>
          <a:p>
            <a:pPr algn="l"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PROJETO</a:t>
            </a:r>
            <a:endParaRPr lang="en-US" sz="900" dirty="0"/>
          </a:p>
        </p:txBody>
      </p:sp>
      <p:sp>
        <p:nvSpPr>
          <p:cNvPr id="5" name="Text 3"/>
          <p:cNvSpPr txBox="1"/>
          <p:nvPr/>
        </p:nvSpPr>
        <p:spPr>
          <a:xfrm>
            <a:off x="5561568" y="1582301"/>
            <a:ext cx="2975337" cy="171446"/>
          </a:xfrm>
          <a:prstGeom prst="rect">
            <a:avLst/>
          </a:prstGeom>
          <a:noFill/>
          <a:ln/>
        </p:spPr>
        <p:txBody>
          <a:bodyPr wrap="square" lIns="0" tIns="0" rIns="0" bIns="0" rtlCol="0" anchor="t"/>
          <a:lstStyle/>
          <a:p>
            <a:pPr algn="l"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CLIENTE</a:t>
            </a:r>
            <a:endParaRPr lang="en-US" sz="900" dirty="0"/>
          </a:p>
        </p:txBody>
      </p:sp>
      <p:sp>
        <p:nvSpPr>
          <p:cNvPr id="6" name="Text 4"/>
          <p:cNvSpPr txBox="1"/>
          <p:nvPr/>
        </p:nvSpPr>
        <p:spPr>
          <a:xfrm>
            <a:off x="8651063" y="1582301"/>
            <a:ext cx="575462" cy="171446"/>
          </a:xfrm>
          <a:prstGeom prst="rect">
            <a:avLst/>
          </a:prstGeom>
          <a:noFill/>
          <a:ln/>
        </p:spPr>
        <p:txBody>
          <a:bodyPr wrap="square" lIns="0" tIns="0" rIns="0" bIns="0" rtlCol="0" anchor="t"/>
          <a:lstStyle/>
          <a:p>
            <a:pPr algn="r"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SPI</a:t>
            </a:r>
            <a:endParaRPr lang="en-US" sz="900" dirty="0"/>
          </a:p>
        </p:txBody>
      </p:sp>
      <p:sp>
        <p:nvSpPr>
          <p:cNvPr id="7" name="Text 5"/>
          <p:cNvSpPr txBox="1"/>
          <p:nvPr/>
        </p:nvSpPr>
        <p:spPr>
          <a:xfrm>
            <a:off x="9432987" y="1582301"/>
            <a:ext cx="543991" cy="171446"/>
          </a:xfrm>
          <a:prstGeom prst="rect">
            <a:avLst/>
          </a:prstGeom>
          <a:noFill/>
          <a:ln/>
        </p:spPr>
        <p:txBody>
          <a:bodyPr wrap="square" lIns="0" tIns="0" rIns="0" bIns="0" rtlCol="0" anchor="t"/>
          <a:lstStyle/>
          <a:p>
            <a:pPr algn="r"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CPI</a:t>
            </a:r>
            <a:endParaRPr lang="en-US" sz="900" dirty="0"/>
          </a:p>
        </p:txBody>
      </p:sp>
      <p:sp>
        <p:nvSpPr>
          <p:cNvPr id="8" name="Text 6"/>
          <p:cNvSpPr txBox="1"/>
          <p:nvPr/>
        </p:nvSpPr>
        <p:spPr>
          <a:xfrm>
            <a:off x="10184649" y="1582301"/>
            <a:ext cx="1175999" cy="171446"/>
          </a:xfrm>
          <a:prstGeom prst="rect">
            <a:avLst/>
          </a:prstGeom>
          <a:noFill/>
          <a:ln/>
        </p:spPr>
        <p:txBody>
          <a:bodyPr wrap="square" lIns="0" tIns="0" rIns="0" bIns="0" rtlCol="0" anchor="t"/>
          <a:lstStyle/>
          <a:p>
            <a:pPr algn="r"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ESTOURO</a:t>
            </a:r>
            <a:endParaRPr lang="en-US" sz="900" dirty="0"/>
          </a:p>
        </p:txBody>
      </p:sp>
      <p:sp>
        <p:nvSpPr>
          <p:cNvPr id="9" name="Shape 7"/>
          <p:cNvSpPr/>
          <p:nvPr/>
        </p:nvSpPr>
        <p:spPr>
          <a:xfrm>
            <a:off x="761981" y="1880744"/>
            <a:ext cx="4685290" cy="384761"/>
          </a:xfrm>
          <a:prstGeom prst="rect">
            <a:avLst/>
          </a:prstGeom>
          <a:solidFill>
            <a:srgbClr val="1E1E24"/>
          </a:solidFill>
          <a:ln/>
        </p:spPr>
      </p:sp>
      <p:sp>
        <p:nvSpPr>
          <p:cNvPr id="10" name="Text 8"/>
          <p:cNvSpPr txBox="1"/>
          <p:nvPr/>
        </p:nvSpPr>
        <p:spPr>
          <a:xfrm>
            <a:off x="876278" y="1982341"/>
            <a:ext cx="4634963" cy="181566"/>
          </a:xfrm>
          <a:prstGeom prst="rect">
            <a:avLst/>
          </a:prstGeom>
          <a:noFill/>
          <a:ln/>
        </p:spPr>
        <p:txBody>
          <a:bodyPr wrap="square" lIns="0" tIns="0" rIns="0" bIns="0" rtlCol="0" anchor="t"/>
          <a:lstStyle/>
          <a:p>
            <a:pPr algn="l" indent="0" marL="0">
              <a:lnSpc>
                <a:spcPct val="111111"/>
              </a:lnSpc>
              <a:buNone/>
            </a:pPr>
            <a:r>
              <a:rPr lang="en-US" sz="1100" b="1" dirty="0">
                <a:solidFill>
                  <a:srgbClr val="F5F6FC"/>
                </a:solidFill>
                <a:latin typeface="Poppins" pitchFamily="34" charset="0"/>
                <a:ea typeface="Poppins" pitchFamily="34" charset="-122"/>
                <a:cs typeface="Poppins" pitchFamily="34" charset="-120"/>
              </a:rPr>
              <a:t>PRJ-016 · Integração com laboratórios</a:t>
            </a:r>
            <a:endParaRPr lang="en-US" sz="1100" dirty="0"/>
          </a:p>
        </p:txBody>
      </p:sp>
      <p:sp>
        <p:nvSpPr>
          <p:cNvPr id="11" name="Shape 9"/>
          <p:cNvSpPr/>
          <p:nvPr/>
        </p:nvSpPr>
        <p:spPr>
          <a:xfrm>
            <a:off x="5447271" y="1880744"/>
            <a:ext cx="3089495" cy="384761"/>
          </a:xfrm>
          <a:prstGeom prst="rect">
            <a:avLst/>
          </a:prstGeom>
          <a:solidFill>
            <a:srgbClr val="1E1E24"/>
          </a:solidFill>
          <a:ln/>
        </p:spPr>
      </p:sp>
      <p:sp>
        <p:nvSpPr>
          <p:cNvPr id="12" name="Text 10"/>
          <p:cNvSpPr txBox="1"/>
          <p:nvPr/>
        </p:nvSpPr>
        <p:spPr>
          <a:xfrm>
            <a:off x="5561568" y="1982341"/>
            <a:ext cx="2975337"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Operadora Bem Cuidar</a:t>
            </a:r>
            <a:endParaRPr lang="en-US" sz="1100" dirty="0"/>
          </a:p>
        </p:txBody>
      </p:sp>
      <p:sp>
        <p:nvSpPr>
          <p:cNvPr id="13" name="Shape 11"/>
          <p:cNvSpPr/>
          <p:nvPr/>
        </p:nvSpPr>
        <p:spPr>
          <a:xfrm>
            <a:off x="8536766" y="1880744"/>
            <a:ext cx="781923" cy="384761"/>
          </a:xfrm>
          <a:prstGeom prst="rect">
            <a:avLst/>
          </a:prstGeom>
          <a:solidFill>
            <a:srgbClr val="1E1E24"/>
          </a:solidFill>
          <a:ln/>
        </p:spPr>
      </p:sp>
      <p:sp>
        <p:nvSpPr>
          <p:cNvPr id="14" name="Text 12"/>
          <p:cNvSpPr txBox="1"/>
          <p:nvPr/>
        </p:nvSpPr>
        <p:spPr>
          <a:xfrm>
            <a:off x="8651063" y="1982341"/>
            <a:ext cx="575462" cy="181566"/>
          </a:xfrm>
          <a:prstGeom prst="rect">
            <a:avLst/>
          </a:prstGeom>
          <a:noFill/>
          <a:ln/>
        </p:spPr>
        <p:txBody>
          <a:bodyPr wrap="square" lIns="0" tIns="0" rIns="0" bIns="0" rtlCol="0" anchor="t"/>
          <a:lstStyle/>
          <a:p>
            <a:pPr algn="r" indent="0" marL="0">
              <a:lnSpc>
                <a:spcPct val="111111"/>
              </a:lnSpc>
              <a:buNone/>
            </a:pPr>
            <a:r>
              <a:rPr lang="en-US" sz="1100" b="1" dirty="0">
                <a:solidFill>
                  <a:srgbClr val="FF6B6B"/>
                </a:solidFill>
                <a:latin typeface="Poppins" pitchFamily="34" charset="0"/>
                <a:ea typeface="Poppins" pitchFamily="34" charset="-122"/>
                <a:cs typeface="Poppins" pitchFamily="34" charset="-120"/>
              </a:rPr>
              <a:t>0,63</a:t>
            </a:r>
            <a:endParaRPr lang="en-US" sz="1100" dirty="0"/>
          </a:p>
        </p:txBody>
      </p:sp>
      <p:sp>
        <p:nvSpPr>
          <p:cNvPr id="15" name="Shape 13"/>
          <p:cNvSpPr/>
          <p:nvPr/>
        </p:nvSpPr>
        <p:spPr>
          <a:xfrm>
            <a:off x="9318690" y="1880744"/>
            <a:ext cx="751662" cy="384761"/>
          </a:xfrm>
          <a:prstGeom prst="rect">
            <a:avLst/>
          </a:prstGeom>
          <a:solidFill>
            <a:srgbClr val="1E1E24"/>
          </a:solidFill>
          <a:ln/>
        </p:spPr>
      </p:sp>
      <p:sp>
        <p:nvSpPr>
          <p:cNvPr id="16" name="Text 14"/>
          <p:cNvSpPr txBox="1"/>
          <p:nvPr/>
        </p:nvSpPr>
        <p:spPr>
          <a:xfrm>
            <a:off x="9432987" y="1982341"/>
            <a:ext cx="543991" cy="181566"/>
          </a:xfrm>
          <a:prstGeom prst="rect">
            <a:avLst/>
          </a:prstGeom>
          <a:noFill/>
          <a:ln/>
        </p:spPr>
        <p:txBody>
          <a:bodyPr wrap="square" lIns="0" tIns="0" rIns="0" bIns="0" rtlCol="0" anchor="t"/>
          <a:lstStyle/>
          <a:p>
            <a:pPr algn="r" indent="0" marL="0">
              <a:lnSpc>
                <a:spcPct val="111111"/>
              </a:lnSpc>
              <a:buNone/>
            </a:pPr>
            <a:r>
              <a:rPr lang="en-US" sz="1100" dirty="0">
                <a:solidFill>
                  <a:srgbClr val="F5F6FC"/>
                </a:solidFill>
                <a:latin typeface="Poppins" pitchFamily="34" charset="0"/>
                <a:ea typeface="Poppins" pitchFamily="34" charset="-122"/>
                <a:cs typeface="Poppins" pitchFamily="34" charset="-120"/>
              </a:rPr>
              <a:t>0,92</a:t>
            </a:r>
            <a:endParaRPr lang="en-US" sz="1100" dirty="0"/>
          </a:p>
        </p:txBody>
      </p:sp>
      <p:sp>
        <p:nvSpPr>
          <p:cNvPr id="17" name="Shape 15"/>
          <p:cNvSpPr/>
          <p:nvPr/>
        </p:nvSpPr>
        <p:spPr>
          <a:xfrm>
            <a:off x="10070352" y="1880744"/>
            <a:ext cx="1359362" cy="384761"/>
          </a:xfrm>
          <a:prstGeom prst="rect">
            <a:avLst/>
          </a:prstGeom>
          <a:solidFill>
            <a:srgbClr val="1E1E24"/>
          </a:solidFill>
          <a:ln/>
        </p:spPr>
      </p:sp>
      <p:sp>
        <p:nvSpPr>
          <p:cNvPr id="18" name="Text 16"/>
          <p:cNvSpPr txBox="1"/>
          <p:nvPr/>
        </p:nvSpPr>
        <p:spPr>
          <a:xfrm>
            <a:off x="10184649" y="1982341"/>
            <a:ext cx="1175999" cy="181566"/>
          </a:xfrm>
          <a:prstGeom prst="rect">
            <a:avLst/>
          </a:prstGeom>
          <a:noFill/>
          <a:ln/>
        </p:spPr>
        <p:txBody>
          <a:bodyPr wrap="square" lIns="0" tIns="0" rIns="0" bIns="0" rtlCol="0" anchor="t"/>
          <a:lstStyle/>
          <a:p>
            <a:pPr algn="r" indent="0" marL="0">
              <a:lnSpc>
                <a:spcPct val="111111"/>
              </a:lnSpc>
              <a:buNone/>
            </a:pPr>
            <a:r>
              <a:rPr lang="en-US" sz="1100" dirty="0">
                <a:solidFill>
                  <a:srgbClr val="F5F6FC"/>
                </a:solidFill>
                <a:latin typeface="Poppins" pitchFamily="34" charset="0"/>
                <a:ea typeface="Poppins" pitchFamily="34" charset="-122"/>
                <a:cs typeface="Poppins" pitchFamily="34" charset="-120"/>
              </a:rPr>
              <a:t>R$ 257 mil</a:t>
            </a:r>
            <a:endParaRPr lang="en-US" sz="1100" dirty="0"/>
          </a:p>
        </p:txBody>
      </p:sp>
      <p:sp>
        <p:nvSpPr>
          <p:cNvPr id="19" name="Shape 17"/>
          <p:cNvSpPr/>
          <p:nvPr/>
        </p:nvSpPr>
        <p:spPr>
          <a:xfrm>
            <a:off x="761981" y="2316303"/>
            <a:ext cx="4685290" cy="384761"/>
          </a:xfrm>
          <a:prstGeom prst="rect">
            <a:avLst/>
          </a:prstGeom>
          <a:solidFill>
            <a:srgbClr val="1E1E24"/>
          </a:solidFill>
          <a:ln/>
        </p:spPr>
      </p:sp>
      <p:sp>
        <p:nvSpPr>
          <p:cNvPr id="20" name="Text 18"/>
          <p:cNvSpPr txBox="1"/>
          <p:nvPr/>
        </p:nvSpPr>
        <p:spPr>
          <a:xfrm>
            <a:off x="876278" y="2417900"/>
            <a:ext cx="4634963" cy="181566"/>
          </a:xfrm>
          <a:prstGeom prst="rect">
            <a:avLst/>
          </a:prstGeom>
          <a:noFill/>
          <a:ln/>
        </p:spPr>
        <p:txBody>
          <a:bodyPr wrap="square" lIns="0" tIns="0" rIns="0" bIns="0" rtlCol="0" anchor="t"/>
          <a:lstStyle/>
          <a:p>
            <a:pPr algn="l" indent="0" marL="0">
              <a:lnSpc>
                <a:spcPct val="111111"/>
              </a:lnSpc>
              <a:buNone/>
            </a:pPr>
            <a:r>
              <a:rPr lang="en-US" sz="1100" b="1" dirty="0">
                <a:solidFill>
                  <a:srgbClr val="F5F6FC"/>
                </a:solidFill>
                <a:latin typeface="Poppins" pitchFamily="34" charset="0"/>
                <a:ea typeface="Poppins" pitchFamily="34" charset="-122"/>
                <a:cs typeface="Poppins" pitchFamily="34" charset="-120"/>
              </a:rPr>
              <a:t>PRJ-030 · APIs de Open Finance</a:t>
            </a:r>
            <a:endParaRPr lang="en-US" sz="1100" dirty="0"/>
          </a:p>
        </p:txBody>
      </p:sp>
      <p:sp>
        <p:nvSpPr>
          <p:cNvPr id="21" name="Shape 19"/>
          <p:cNvSpPr/>
          <p:nvPr/>
        </p:nvSpPr>
        <p:spPr>
          <a:xfrm>
            <a:off x="5447271" y="2316303"/>
            <a:ext cx="3089495" cy="384761"/>
          </a:xfrm>
          <a:prstGeom prst="rect">
            <a:avLst/>
          </a:prstGeom>
          <a:solidFill>
            <a:srgbClr val="1E1E24"/>
          </a:solidFill>
          <a:ln/>
        </p:spPr>
      </p:sp>
      <p:sp>
        <p:nvSpPr>
          <p:cNvPr id="22" name="Text 20"/>
          <p:cNvSpPr txBox="1"/>
          <p:nvPr/>
        </p:nvSpPr>
        <p:spPr>
          <a:xfrm>
            <a:off x="5561568" y="2417900"/>
            <a:ext cx="2975337"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Seguradora Porto Firme</a:t>
            </a:r>
            <a:endParaRPr lang="en-US" sz="1100" dirty="0"/>
          </a:p>
        </p:txBody>
      </p:sp>
      <p:sp>
        <p:nvSpPr>
          <p:cNvPr id="23" name="Shape 21"/>
          <p:cNvSpPr/>
          <p:nvPr/>
        </p:nvSpPr>
        <p:spPr>
          <a:xfrm>
            <a:off x="8536766" y="2316303"/>
            <a:ext cx="781923" cy="384761"/>
          </a:xfrm>
          <a:prstGeom prst="rect">
            <a:avLst/>
          </a:prstGeom>
          <a:solidFill>
            <a:srgbClr val="1E1E24"/>
          </a:solidFill>
          <a:ln/>
        </p:spPr>
      </p:sp>
      <p:sp>
        <p:nvSpPr>
          <p:cNvPr id="24" name="Text 22"/>
          <p:cNvSpPr txBox="1"/>
          <p:nvPr/>
        </p:nvSpPr>
        <p:spPr>
          <a:xfrm>
            <a:off x="8651063" y="2417900"/>
            <a:ext cx="575462" cy="181566"/>
          </a:xfrm>
          <a:prstGeom prst="rect">
            <a:avLst/>
          </a:prstGeom>
          <a:noFill/>
          <a:ln/>
        </p:spPr>
        <p:txBody>
          <a:bodyPr wrap="square" lIns="0" tIns="0" rIns="0" bIns="0" rtlCol="0" anchor="t"/>
          <a:lstStyle/>
          <a:p>
            <a:pPr algn="r" indent="0" marL="0">
              <a:lnSpc>
                <a:spcPct val="111111"/>
              </a:lnSpc>
              <a:buNone/>
            </a:pPr>
            <a:r>
              <a:rPr lang="en-US" sz="1100" b="1" dirty="0">
                <a:solidFill>
                  <a:srgbClr val="FF6B6B"/>
                </a:solidFill>
                <a:latin typeface="Poppins" pitchFamily="34" charset="0"/>
                <a:ea typeface="Poppins" pitchFamily="34" charset="-122"/>
                <a:cs typeface="Poppins" pitchFamily="34" charset="-120"/>
              </a:rPr>
              <a:t>0,69</a:t>
            </a:r>
            <a:endParaRPr lang="en-US" sz="1100" dirty="0"/>
          </a:p>
        </p:txBody>
      </p:sp>
      <p:sp>
        <p:nvSpPr>
          <p:cNvPr id="25" name="Shape 23"/>
          <p:cNvSpPr/>
          <p:nvPr/>
        </p:nvSpPr>
        <p:spPr>
          <a:xfrm>
            <a:off x="9318690" y="2316303"/>
            <a:ext cx="751662" cy="384761"/>
          </a:xfrm>
          <a:prstGeom prst="rect">
            <a:avLst/>
          </a:prstGeom>
          <a:solidFill>
            <a:srgbClr val="1E1E24"/>
          </a:solidFill>
          <a:ln/>
        </p:spPr>
      </p:sp>
      <p:sp>
        <p:nvSpPr>
          <p:cNvPr id="26" name="Text 24"/>
          <p:cNvSpPr txBox="1"/>
          <p:nvPr/>
        </p:nvSpPr>
        <p:spPr>
          <a:xfrm>
            <a:off x="9432987" y="2417900"/>
            <a:ext cx="543991" cy="181566"/>
          </a:xfrm>
          <a:prstGeom prst="rect">
            <a:avLst/>
          </a:prstGeom>
          <a:noFill/>
          <a:ln/>
        </p:spPr>
        <p:txBody>
          <a:bodyPr wrap="square" lIns="0" tIns="0" rIns="0" bIns="0" rtlCol="0" anchor="t"/>
          <a:lstStyle/>
          <a:p>
            <a:pPr algn="r" indent="0" marL="0">
              <a:lnSpc>
                <a:spcPct val="111111"/>
              </a:lnSpc>
              <a:buNone/>
            </a:pPr>
            <a:r>
              <a:rPr lang="en-US" sz="1100" dirty="0">
                <a:solidFill>
                  <a:srgbClr val="F5F6FC"/>
                </a:solidFill>
                <a:latin typeface="Poppins" pitchFamily="34" charset="0"/>
                <a:ea typeface="Poppins" pitchFamily="34" charset="-122"/>
                <a:cs typeface="Poppins" pitchFamily="34" charset="-120"/>
              </a:rPr>
              <a:t>0,90</a:t>
            </a:r>
            <a:endParaRPr lang="en-US" sz="1100" dirty="0"/>
          </a:p>
        </p:txBody>
      </p:sp>
      <p:sp>
        <p:nvSpPr>
          <p:cNvPr id="27" name="Shape 25"/>
          <p:cNvSpPr/>
          <p:nvPr/>
        </p:nvSpPr>
        <p:spPr>
          <a:xfrm>
            <a:off x="10070352" y="2316303"/>
            <a:ext cx="1359362" cy="384761"/>
          </a:xfrm>
          <a:prstGeom prst="rect">
            <a:avLst/>
          </a:prstGeom>
          <a:solidFill>
            <a:srgbClr val="1E1E24"/>
          </a:solidFill>
          <a:ln/>
        </p:spPr>
      </p:sp>
      <p:sp>
        <p:nvSpPr>
          <p:cNvPr id="28" name="Text 26"/>
          <p:cNvSpPr txBox="1"/>
          <p:nvPr/>
        </p:nvSpPr>
        <p:spPr>
          <a:xfrm>
            <a:off x="10184649" y="2417900"/>
            <a:ext cx="1175999" cy="181566"/>
          </a:xfrm>
          <a:prstGeom prst="rect">
            <a:avLst/>
          </a:prstGeom>
          <a:noFill/>
          <a:ln/>
        </p:spPr>
        <p:txBody>
          <a:bodyPr wrap="square" lIns="0" tIns="0" rIns="0" bIns="0" rtlCol="0" anchor="t"/>
          <a:lstStyle/>
          <a:p>
            <a:pPr algn="r" indent="0" marL="0">
              <a:lnSpc>
                <a:spcPct val="111111"/>
              </a:lnSpc>
              <a:buNone/>
            </a:pPr>
            <a:r>
              <a:rPr lang="en-US" sz="1100" dirty="0">
                <a:solidFill>
                  <a:srgbClr val="F5F6FC"/>
                </a:solidFill>
                <a:latin typeface="Poppins" pitchFamily="34" charset="0"/>
                <a:ea typeface="Poppins" pitchFamily="34" charset="-122"/>
                <a:cs typeface="Poppins" pitchFamily="34" charset="-120"/>
              </a:rPr>
              <a:t>R$ 363 mil</a:t>
            </a:r>
            <a:endParaRPr lang="en-US" sz="1100" dirty="0"/>
          </a:p>
        </p:txBody>
      </p:sp>
      <p:sp>
        <p:nvSpPr>
          <p:cNvPr id="29" name="Shape 27"/>
          <p:cNvSpPr/>
          <p:nvPr/>
        </p:nvSpPr>
        <p:spPr>
          <a:xfrm>
            <a:off x="761981" y="2751862"/>
            <a:ext cx="4685290" cy="384761"/>
          </a:xfrm>
          <a:prstGeom prst="rect">
            <a:avLst/>
          </a:prstGeom>
          <a:solidFill>
            <a:srgbClr val="1E1E24"/>
          </a:solidFill>
          <a:ln/>
        </p:spPr>
      </p:sp>
      <p:sp>
        <p:nvSpPr>
          <p:cNvPr id="30" name="Text 28"/>
          <p:cNvSpPr txBox="1"/>
          <p:nvPr/>
        </p:nvSpPr>
        <p:spPr>
          <a:xfrm>
            <a:off x="876278" y="2853460"/>
            <a:ext cx="4634963" cy="181566"/>
          </a:xfrm>
          <a:prstGeom prst="rect">
            <a:avLst/>
          </a:prstGeom>
          <a:noFill/>
          <a:ln/>
        </p:spPr>
        <p:txBody>
          <a:bodyPr wrap="square" lIns="0" tIns="0" rIns="0" bIns="0" rtlCol="0" anchor="t"/>
          <a:lstStyle/>
          <a:p>
            <a:pPr algn="l" indent="0" marL="0">
              <a:lnSpc>
                <a:spcPct val="111111"/>
              </a:lnSpc>
              <a:buNone/>
            </a:pPr>
            <a:r>
              <a:rPr lang="en-US" sz="1100" b="1" dirty="0">
                <a:solidFill>
                  <a:srgbClr val="F5F6FC"/>
                </a:solidFill>
                <a:latin typeface="Poppins" pitchFamily="34" charset="0"/>
                <a:ea typeface="Poppins" pitchFamily="34" charset="-122"/>
                <a:cs typeface="Poppins" pitchFamily="34" charset="-120"/>
              </a:rPr>
              <a:t>PRJ-039 · Antifraude em tempo real</a:t>
            </a:r>
            <a:endParaRPr lang="en-US" sz="1100" dirty="0"/>
          </a:p>
        </p:txBody>
      </p:sp>
      <p:sp>
        <p:nvSpPr>
          <p:cNvPr id="31" name="Shape 29"/>
          <p:cNvSpPr/>
          <p:nvPr/>
        </p:nvSpPr>
        <p:spPr>
          <a:xfrm>
            <a:off x="5447271" y="2751862"/>
            <a:ext cx="3089495" cy="384761"/>
          </a:xfrm>
          <a:prstGeom prst="rect">
            <a:avLst/>
          </a:prstGeom>
          <a:solidFill>
            <a:srgbClr val="1E1E24"/>
          </a:solidFill>
          <a:ln/>
        </p:spPr>
      </p:sp>
      <p:sp>
        <p:nvSpPr>
          <p:cNvPr id="32" name="Text 30"/>
          <p:cNvSpPr txBox="1"/>
          <p:nvPr/>
        </p:nvSpPr>
        <p:spPr>
          <a:xfrm>
            <a:off x="5561568" y="2853460"/>
            <a:ext cx="2975337"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Banco Meridiano</a:t>
            </a:r>
            <a:endParaRPr lang="en-US" sz="1100" dirty="0"/>
          </a:p>
        </p:txBody>
      </p:sp>
      <p:sp>
        <p:nvSpPr>
          <p:cNvPr id="33" name="Shape 31"/>
          <p:cNvSpPr/>
          <p:nvPr/>
        </p:nvSpPr>
        <p:spPr>
          <a:xfrm>
            <a:off x="8536766" y="2751862"/>
            <a:ext cx="781923" cy="384761"/>
          </a:xfrm>
          <a:prstGeom prst="rect">
            <a:avLst/>
          </a:prstGeom>
          <a:solidFill>
            <a:srgbClr val="1E1E24"/>
          </a:solidFill>
          <a:ln/>
        </p:spPr>
      </p:sp>
      <p:sp>
        <p:nvSpPr>
          <p:cNvPr id="34" name="Text 32"/>
          <p:cNvSpPr txBox="1"/>
          <p:nvPr/>
        </p:nvSpPr>
        <p:spPr>
          <a:xfrm>
            <a:off x="8651063" y="2853460"/>
            <a:ext cx="575462" cy="181566"/>
          </a:xfrm>
          <a:prstGeom prst="rect">
            <a:avLst/>
          </a:prstGeom>
          <a:noFill/>
          <a:ln/>
        </p:spPr>
        <p:txBody>
          <a:bodyPr wrap="square" lIns="0" tIns="0" rIns="0" bIns="0" rtlCol="0" anchor="t"/>
          <a:lstStyle/>
          <a:p>
            <a:pPr algn="r" indent="0" marL="0">
              <a:lnSpc>
                <a:spcPct val="111111"/>
              </a:lnSpc>
              <a:buNone/>
            </a:pPr>
            <a:r>
              <a:rPr lang="en-US" sz="1100" b="1" dirty="0">
                <a:solidFill>
                  <a:srgbClr val="FF6B6B"/>
                </a:solidFill>
                <a:latin typeface="Poppins" pitchFamily="34" charset="0"/>
                <a:ea typeface="Poppins" pitchFamily="34" charset="-122"/>
                <a:cs typeface="Poppins" pitchFamily="34" charset="-120"/>
              </a:rPr>
              <a:t>0,75</a:t>
            </a:r>
            <a:endParaRPr lang="en-US" sz="1100" dirty="0"/>
          </a:p>
        </p:txBody>
      </p:sp>
      <p:sp>
        <p:nvSpPr>
          <p:cNvPr id="35" name="Shape 33"/>
          <p:cNvSpPr/>
          <p:nvPr/>
        </p:nvSpPr>
        <p:spPr>
          <a:xfrm>
            <a:off x="9318690" y="2751862"/>
            <a:ext cx="751662" cy="384761"/>
          </a:xfrm>
          <a:prstGeom prst="rect">
            <a:avLst/>
          </a:prstGeom>
          <a:solidFill>
            <a:srgbClr val="1E1E24"/>
          </a:solidFill>
          <a:ln/>
        </p:spPr>
      </p:sp>
      <p:sp>
        <p:nvSpPr>
          <p:cNvPr id="36" name="Text 34"/>
          <p:cNvSpPr txBox="1"/>
          <p:nvPr/>
        </p:nvSpPr>
        <p:spPr>
          <a:xfrm>
            <a:off x="9432987" y="2853460"/>
            <a:ext cx="543991" cy="181566"/>
          </a:xfrm>
          <a:prstGeom prst="rect">
            <a:avLst/>
          </a:prstGeom>
          <a:noFill/>
          <a:ln/>
        </p:spPr>
        <p:txBody>
          <a:bodyPr wrap="square" lIns="0" tIns="0" rIns="0" bIns="0" rtlCol="0" anchor="t"/>
          <a:lstStyle/>
          <a:p>
            <a:pPr algn="r" indent="0" marL="0">
              <a:lnSpc>
                <a:spcPct val="111111"/>
              </a:lnSpc>
              <a:buNone/>
            </a:pPr>
            <a:r>
              <a:rPr lang="en-US" sz="1100" dirty="0">
                <a:solidFill>
                  <a:srgbClr val="F5F6FC"/>
                </a:solidFill>
                <a:latin typeface="Poppins" pitchFamily="34" charset="0"/>
                <a:ea typeface="Poppins" pitchFamily="34" charset="-122"/>
                <a:cs typeface="Poppins" pitchFamily="34" charset="-120"/>
              </a:rPr>
              <a:t>0,95</a:t>
            </a:r>
            <a:endParaRPr lang="en-US" sz="1100" dirty="0"/>
          </a:p>
        </p:txBody>
      </p:sp>
      <p:sp>
        <p:nvSpPr>
          <p:cNvPr id="37" name="Shape 35"/>
          <p:cNvSpPr/>
          <p:nvPr/>
        </p:nvSpPr>
        <p:spPr>
          <a:xfrm>
            <a:off x="10070352" y="2751862"/>
            <a:ext cx="1359362" cy="384761"/>
          </a:xfrm>
          <a:prstGeom prst="rect">
            <a:avLst/>
          </a:prstGeom>
          <a:solidFill>
            <a:srgbClr val="1E1E24"/>
          </a:solidFill>
          <a:ln/>
        </p:spPr>
      </p:sp>
      <p:sp>
        <p:nvSpPr>
          <p:cNvPr id="38" name="Text 36"/>
          <p:cNvSpPr txBox="1"/>
          <p:nvPr/>
        </p:nvSpPr>
        <p:spPr>
          <a:xfrm>
            <a:off x="10184649" y="2853460"/>
            <a:ext cx="1175999" cy="181566"/>
          </a:xfrm>
          <a:prstGeom prst="rect">
            <a:avLst/>
          </a:prstGeom>
          <a:noFill/>
          <a:ln/>
        </p:spPr>
        <p:txBody>
          <a:bodyPr wrap="square" lIns="0" tIns="0" rIns="0" bIns="0" rtlCol="0" anchor="t"/>
          <a:lstStyle/>
          <a:p>
            <a:pPr algn="r" indent="0" marL="0">
              <a:lnSpc>
                <a:spcPct val="111111"/>
              </a:lnSpc>
              <a:buNone/>
            </a:pPr>
            <a:r>
              <a:rPr lang="en-US" sz="1100" dirty="0">
                <a:solidFill>
                  <a:srgbClr val="F5F6FC"/>
                </a:solidFill>
                <a:latin typeface="Poppins" pitchFamily="34" charset="0"/>
                <a:ea typeface="Poppins" pitchFamily="34" charset="-122"/>
                <a:cs typeface="Poppins" pitchFamily="34" charset="-120"/>
              </a:rPr>
              <a:t>R$ 130 mil</a:t>
            </a:r>
            <a:endParaRPr lang="en-US" sz="1100" dirty="0"/>
          </a:p>
        </p:txBody>
      </p:sp>
      <p:sp>
        <p:nvSpPr>
          <p:cNvPr id="39" name="Shape 37"/>
          <p:cNvSpPr/>
          <p:nvPr/>
        </p:nvSpPr>
        <p:spPr>
          <a:xfrm>
            <a:off x="761981" y="3187422"/>
            <a:ext cx="4685290" cy="384761"/>
          </a:xfrm>
          <a:prstGeom prst="rect">
            <a:avLst/>
          </a:prstGeom>
          <a:solidFill>
            <a:srgbClr val="1E1E24"/>
          </a:solidFill>
          <a:ln/>
        </p:spPr>
      </p:sp>
      <p:sp>
        <p:nvSpPr>
          <p:cNvPr id="40" name="Text 38"/>
          <p:cNvSpPr txBox="1"/>
          <p:nvPr/>
        </p:nvSpPr>
        <p:spPr>
          <a:xfrm>
            <a:off x="876278" y="3289019"/>
            <a:ext cx="4634963" cy="181566"/>
          </a:xfrm>
          <a:prstGeom prst="rect">
            <a:avLst/>
          </a:prstGeom>
          <a:noFill/>
          <a:ln/>
        </p:spPr>
        <p:txBody>
          <a:bodyPr wrap="square" lIns="0" tIns="0" rIns="0" bIns="0" rtlCol="0" anchor="t"/>
          <a:lstStyle/>
          <a:p>
            <a:pPr algn="l" indent="0" marL="0">
              <a:lnSpc>
                <a:spcPct val="111111"/>
              </a:lnSpc>
              <a:buNone/>
            </a:pPr>
            <a:r>
              <a:rPr lang="en-US" sz="1100" b="1" dirty="0">
                <a:solidFill>
                  <a:srgbClr val="F5F6FC"/>
                </a:solidFill>
                <a:latin typeface="Poppins" pitchFamily="34" charset="0"/>
                <a:ea typeface="Poppins" pitchFamily="34" charset="-122"/>
                <a:cs typeface="Poppins" pitchFamily="34" charset="-120"/>
              </a:rPr>
              <a:t>PRJ-009 · Prontuário eletrônico</a:t>
            </a:r>
            <a:endParaRPr lang="en-US" sz="1100" dirty="0"/>
          </a:p>
        </p:txBody>
      </p:sp>
      <p:sp>
        <p:nvSpPr>
          <p:cNvPr id="41" name="Shape 39"/>
          <p:cNvSpPr/>
          <p:nvPr/>
        </p:nvSpPr>
        <p:spPr>
          <a:xfrm>
            <a:off x="5447271" y="3187422"/>
            <a:ext cx="3089495" cy="384761"/>
          </a:xfrm>
          <a:prstGeom prst="rect">
            <a:avLst/>
          </a:prstGeom>
          <a:solidFill>
            <a:srgbClr val="1E1E24"/>
          </a:solidFill>
          <a:ln/>
        </p:spPr>
      </p:sp>
      <p:sp>
        <p:nvSpPr>
          <p:cNvPr id="42" name="Text 40"/>
          <p:cNvSpPr txBox="1"/>
          <p:nvPr/>
        </p:nvSpPr>
        <p:spPr>
          <a:xfrm>
            <a:off x="5561568" y="3289019"/>
            <a:ext cx="2975337"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Rede Diagnóstica Vida</a:t>
            </a:r>
            <a:endParaRPr lang="en-US" sz="1100" dirty="0"/>
          </a:p>
        </p:txBody>
      </p:sp>
      <p:sp>
        <p:nvSpPr>
          <p:cNvPr id="43" name="Shape 41"/>
          <p:cNvSpPr/>
          <p:nvPr/>
        </p:nvSpPr>
        <p:spPr>
          <a:xfrm>
            <a:off x="8536766" y="3187422"/>
            <a:ext cx="781923" cy="384761"/>
          </a:xfrm>
          <a:prstGeom prst="rect">
            <a:avLst/>
          </a:prstGeom>
          <a:solidFill>
            <a:srgbClr val="1E1E24"/>
          </a:solidFill>
          <a:ln/>
        </p:spPr>
      </p:sp>
      <p:sp>
        <p:nvSpPr>
          <p:cNvPr id="44" name="Text 42"/>
          <p:cNvSpPr txBox="1"/>
          <p:nvPr/>
        </p:nvSpPr>
        <p:spPr>
          <a:xfrm>
            <a:off x="8651063" y="3289019"/>
            <a:ext cx="575462" cy="181566"/>
          </a:xfrm>
          <a:prstGeom prst="rect">
            <a:avLst/>
          </a:prstGeom>
          <a:noFill/>
          <a:ln/>
        </p:spPr>
        <p:txBody>
          <a:bodyPr wrap="square" lIns="0" tIns="0" rIns="0" bIns="0" rtlCol="0" anchor="t"/>
          <a:lstStyle/>
          <a:p>
            <a:pPr algn="r" indent="0" marL="0">
              <a:lnSpc>
                <a:spcPct val="111111"/>
              </a:lnSpc>
              <a:buNone/>
            </a:pPr>
            <a:r>
              <a:rPr lang="en-US" sz="1100" dirty="0">
                <a:solidFill>
                  <a:srgbClr val="F5F6FC"/>
                </a:solidFill>
                <a:latin typeface="Poppins" pitchFamily="34" charset="0"/>
                <a:ea typeface="Poppins" pitchFamily="34" charset="-122"/>
                <a:cs typeface="Poppins" pitchFamily="34" charset="-120"/>
              </a:rPr>
              <a:t>0,94</a:t>
            </a:r>
            <a:endParaRPr lang="en-US" sz="1100" dirty="0"/>
          </a:p>
        </p:txBody>
      </p:sp>
      <p:sp>
        <p:nvSpPr>
          <p:cNvPr id="45" name="Shape 43"/>
          <p:cNvSpPr/>
          <p:nvPr/>
        </p:nvSpPr>
        <p:spPr>
          <a:xfrm>
            <a:off x="9318690" y="3187422"/>
            <a:ext cx="751662" cy="384761"/>
          </a:xfrm>
          <a:prstGeom prst="rect">
            <a:avLst/>
          </a:prstGeom>
          <a:solidFill>
            <a:srgbClr val="1E1E24"/>
          </a:solidFill>
          <a:ln/>
        </p:spPr>
      </p:sp>
      <p:sp>
        <p:nvSpPr>
          <p:cNvPr id="46" name="Text 44"/>
          <p:cNvSpPr txBox="1"/>
          <p:nvPr/>
        </p:nvSpPr>
        <p:spPr>
          <a:xfrm>
            <a:off x="9432987" y="3289019"/>
            <a:ext cx="543991" cy="181566"/>
          </a:xfrm>
          <a:prstGeom prst="rect">
            <a:avLst/>
          </a:prstGeom>
          <a:noFill/>
          <a:ln/>
        </p:spPr>
        <p:txBody>
          <a:bodyPr wrap="square" lIns="0" tIns="0" rIns="0" bIns="0" rtlCol="0" anchor="t"/>
          <a:lstStyle/>
          <a:p>
            <a:pPr algn="r" indent="0" marL="0">
              <a:lnSpc>
                <a:spcPct val="111111"/>
              </a:lnSpc>
              <a:buNone/>
            </a:pPr>
            <a:r>
              <a:rPr lang="en-US" sz="1100" b="1" dirty="0">
                <a:solidFill>
                  <a:srgbClr val="FF6B6B"/>
                </a:solidFill>
                <a:latin typeface="Poppins" pitchFamily="34" charset="0"/>
                <a:ea typeface="Poppins" pitchFamily="34" charset="-122"/>
                <a:cs typeface="Poppins" pitchFamily="34" charset="-120"/>
              </a:rPr>
              <a:t>0,77</a:t>
            </a:r>
            <a:endParaRPr lang="en-US" sz="1100" dirty="0"/>
          </a:p>
        </p:txBody>
      </p:sp>
      <p:sp>
        <p:nvSpPr>
          <p:cNvPr id="47" name="Shape 45"/>
          <p:cNvSpPr/>
          <p:nvPr/>
        </p:nvSpPr>
        <p:spPr>
          <a:xfrm>
            <a:off x="10070352" y="3187422"/>
            <a:ext cx="1359362" cy="384761"/>
          </a:xfrm>
          <a:prstGeom prst="rect">
            <a:avLst/>
          </a:prstGeom>
          <a:solidFill>
            <a:srgbClr val="1E1E24"/>
          </a:solidFill>
          <a:ln/>
        </p:spPr>
      </p:sp>
      <p:sp>
        <p:nvSpPr>
          <p:cNvPr id="48" name="Text 46"/>
          <p:cNvSpPr txBox="1"/>
          <p:nvPr/>
        </p:nvSpPr>
        <p:spPr>
          <a:xfrm>
            <a:off x="10184649" y="3289019"/>
            <a:ext cx="1175999" cy="181566"/>
          </a:xfrm>
          <a:prstGeom prst="rect">
            <a:avLst/>
          </a:prstGeom>
          <a:noFill/>
          <a:ln/>
        </p:spPr>
        <p:txBody>
          <a:bodyPr wrap="square" lIns="0" tIns="0" rIns="0" bIns="0" rtlCol="0" anchor="t"/>
          <a:lstStyle/>
          <a:p>
            <a:pPr algn="r" indent="0" marL="0">
              <a:lnSpc>
                <a:spcPct val="111111"/>
              </a:lnSpc>
              <a:buNone/>
            </a:pPr>
            <a:r>
              <a:rPr lang="en-US" sz="1100" dirty="0">
                <a:solidFill>
                  <a:srgbClr val="F5F6FC"/>
                </a:solidFill>
                <a:latin typeface="Poppins" pitchFamily="34" charset="0"/>
                <a:ea typeface="Poppins" pitchFamily="34" charset="-122"/>
                <a:cs typeface="Poppins" pitchFamily="34" charset="-120"/>
              </a:rPr>
              <a:t>R$ 518 mil</a:t>
            </a:r>
            <a:endParaRPr lang="en-US" sz="1100" dirty="0"/>
          </a:p>
        </p:txBody>
      </p:sp>
      <p:sp>
        <p:nvSpPr>
          <p:cNvPr id="49" name="Shape 47"/>
          <p:cNvSpPr/>
          <p:nvPr/>
        </p:nvSpPr>
        <p:spPr>
          <a:xfrm>
            <a:off x="761981" y="3622981"/>
            <a:ext cx="4685290" cy="384761"/>
          </a:xfrm>
          <a:prstGeom prst="rect">
            <a:avLst/>
          </a:prstGeom>
          <a:solidFill>
            <a:srgbClr val="1E1E24"/>
          </a:solidFill>
          <a:ln/>
        </p:spPr>
      </p:sp>
      <p:sp>
        <p:nvSpPr>
          <p:cNvPr id="50" name="Text 48"/>
          <p:cNvSpPr txBox="1"/>
          <p:nvPr/>
        </p:nvSpPr>
        <p:spPr>
          <a:xfrm>
            <a:off x="876278" y="3724579"/>
            <a:ext cx="4634963" cy="181566"/>
          </a:xfrm>
          <a:prstGeom prst="rect">
            <a:avLst/>
          </a:prstGeom>
          <a:noFill/>
          <a:ln/>
        </p:spPr>
        <p:txBody>
          <a:bodyPr wrap="square" lIns="0" tIns="0" rIns="0" bIns="0" rtlCol="0" anchor="t"/>
          <a:lstStyle/>
          <a:p>
            <a:pPr algn="l" indent="0" marL="0">
              <a:lnSpc>
                <a:spcPct val="111111"/>
              </a:lnSpc>
              <a:buNone/>
            </a:pPr>
            <a:r>
              <a:rPr lang="en-US" sz="1100" b="1" dirty="0">
                <a:solidFill>
                  <a:srgbClr val="F5F6FC"/>
                </a:solidFill>
                <a:latin typeface="Poppins" pitchFamily="34" charset="0"/>
                <a:ea typeface="Poppins" pitchFamily="34" charset="-122"/>
                <a:cs typeface="Poppins" pitchFamily="34" charset="-120"/>
              </a:rPr>
              <a:t>PRJ-011 · Checkout e meios de pagamento</a:t>
            </a:r>
            <a:endParaRPr lang="en-US" sz="1100" dirty="0"/>
          </a:p>
        </p:txBody>
      </p:sp>
      <p:sp>
        <p:nvSpPr>
          <p:cNvPr id="51" name="Shape 49"/>
          <p:cNvSpPr/>
          <p:nvPr/>
        </p:nvSpPr>
        <p:spPr>
          <a:xfrm>
            <a:off x="5447271" y="3622981"/>
            <a:ext cx="3089495" cy="384761"/>
          </a:xfrm>
          <a:prstGeom prst="rect">
            <a:avLst/>
          </a:prstGeom>
          <a:solidFill>
            <a:srgbClr val="1E1E24"/>
          </a:solidFill>
          <a:ln/>
        </p:spPr>
      </p:sp>
      <p:sp>
        <p:nvSpPr>
          <p:cNvPr id="52" name="Text 50"/>
          <p:cNvSpPr txBox="1"/>
          <p:nvPr/>
        </p:nvSpPr>
        <p:spPr>
          <a:xfrm>
            <a:off x="5561568" y="3724579"/>
            <a:ext cx="2975337"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Supermercados Bom Preço</a:t>
            </a:r>
            <a:endParaRPr lang="en-US" sz="1100" dirty="0"/>
          </a:p>
        </p:txBody>
      </p:sp>
      <p:sp>
        <p:nvSpPr>
          <p:cNvPr id="53" name="Shape 51"/>
          <p:cNvSpPr/>
          <p:nvPr/>
        </p:nvSpPr>
        <p:spPr>
          <a:xfrm>
            <a:off x="8536766" y="3622981"/>
            <a:ext cx="781923" cy="384761"/>
          </a:xfrm>
          <a:prstGeom prst="rect">
            <a:avLst/>
          </a:prstGeom>
          <a:solidFill>
            <a:srgbClr val="1E1E24"/>
          </a:solidFill>
          <a:ln/>
        </p:spPr>
      </p:sp>
      <p:sp>
        <p:nvSpPr>
          <p:cNvPr id="54" name="Text 52"/>
          <p:cNvSpPr txBox="1"/>
          <p:nvPr/>
        </p:nvSpPr>
        <p:spPr>
          <a:xfrm>
            <a:off x="8651063" y="3724579"/>
            <a:ext cx="575462" cy="181566"/>
          </a:xfrm>
          <a:prstGeom prst="rect">
            <a:avLst/>
          </a:prstGeom>
          <a:noFill/>
          <a:ln/>
        </p:spPr>
        <p:txBody>
          <a:bodyPr wrap="square" lIns="0" tIns="0" rIns="0" bIns="0" rtlCol="0" anchor="t"/>
          <a:lstStyle/>
          <a:p>
            <a:pPr algn="r" indent="0" marL="0">
              <a:lnSpc>
                <a:spcPct val="111111"/>
              </a:lnSpc>
              <a:buNone/>
            </a:pPr>
            <a:r>
              <a:rPr lang="en-US" sz="1100" b="1" dirty="0">
                <a:solidFill>
                  <a:srgbClr val="FF6B6B"/>
                </a:solidFill>
                <a:latin typeface="Poppins" pitchFamily="34" charset="0"/>
                <a:ea typeface="Poppins" pitchFamily="34" charset="-122"/>
                <a:cs typeface="Poppins" pitchFamily="34" charset="-120"/>
              </a:rPr>
              <a:t>0,77</a:t>
            </a:r>
            <a:endParaRPr lang="en-US" sz="1100" dirty="0"/>
          </a:p>
        </p:txBody>
      </p:sp>
      <p:sp>
        <p:nvSpPr>
          <p:cNvPr id="55" name="Shape 53"/>
          <p:cNvSpPr/>
          <p:nvPr/>
        </p:nvSpPr>
        <p:spPr>
          <a:xfrm>
            <a:off x="9318690" y="3622981"/>
            <a:ext cx="751662" cy="384761"/>
          </a:xfrm>
          <a:prstGeom prst="rect">
            <a:avLst/>
          </a:prstGeom>
          <a:solidFill>
            <a:srgbClr val="1E1E24"/>
          </a:solidFill>
          <a:ln/>
        </p:spPr>
      </p:sp>
      <p:sp>
        <p:nvSpPr>
          <p:cNvPr id="56" name="Text 54"/>
          <p:cNvSpPr txBox="1"/>
          <p:nvPr/>
        </p:nvSpPr>
        <p:spPr>
          <a:xfrm>
            <a:off x="9432987" y="3724579"/>
            <a:ext cx="543991" cy="181566"/>
          </a:xfrm>
          <a:prstGeom prst="rect">
            <a:avLst/>
          </a:prstGeom>
          <a:noFill/>
          <a:ln/>
        </p:spPr>
        <p:txBody>
          <a:bodyPr wrap="square" lIns="0" tIns="0" rIns="0" bIns="0" rtlCol="0" anchor="t"/>
          <a:lstStyle/>
          <a:p>
            <a:pPr algn="r" indent="0" marL="0">
              <a:lnSpc>
                <a:spcPct val="111111"/>
              </a:lnSpc>
              <a:buNone/>
            </a:pPr>
            <a:r>
              <a:rPr lang="en-US" sz="1100" dirty="0">
                <a:solidFill>
                  <a:srgbClr val="F5F6FC"/>
                </a:solidFill>
                <a:latin typeface="Poppins" pitchFamily="34" charset="0"/>
                <a:ea typeface="Poppins" pitchFamily="34" charset="-122"/>
                <a:cs typeface="Poppins" pitchFamily="34" charset="-120"/>
              </a:rPr>
              <a:t>0,92</a:t>
            </a:r>
            <a:endParaRPr lang="en-US" sz="1100" dirty="0"/>
          </a:p>
        </p:txBody>
      </p:sp>
      <p:sp>
        <p:nvSpPr>
          <p:cNvPr id="57" name="Shape 55"/>
          <p:cNvSpPr/>
          <p:nvPr/>
        </p:nvSpPr>
        <p:spPr>
          <a:xfrm>
            <a:off x="10070352" y="3622981"/>
            <a:ext cx="1359362" cy="384761"/>
          </a:xfrm>
          <a:prstGeom prst="rect">
            <a:avLst/>
          </a:prstGeom>
          <a:solidFill>
            <a:srgbClr val="1E1E24"/>
          </a:solidFill>
          <a:ln/>
        </p:spPr>
      </p:sp>
      <p:sp>
        <p:nvSpPr>
          <p:cNvPr id="58" name="Text 56"/>
          <p:cNvSpPr txBox="1"/>
          <p:nvPr/>
        </p:nvSpPr>
        <p:spPr>
          <a:xfrm>
            <a:off x="10184649" y="3724579"/>
            <a:ext cx="1175999" cy="181566"/>
          </a:xfrm>
          <a:prstGeom prst="rect">
            <a:avLst/>
          </a:prstGeom>
          <a:noFill/>
          <a:ln/>
        </p:spPr>
        <p:txBody>
          <a:bodyPr wrap="square" lIns="0" tIns="0" rIns="0" bIns="0" rtlCol="0" anchor="t"/>
          <a:lstStyle/>
          <a:p>
            <a:pPr algn="r" indent="0" marL="0">
              <a:lnSpc>
                <a:spcPct val="111111"/>
              </a:lnSpc>
              <a:buNone/>
            </a:pPr>
            <a:r>
              <a:rPr lang="en-US" sz="1100" dirty="0">
                <a:solidFill>
                  <a:srgbClr val="F5F6FC"/>
                </a:solidFill>
                <a:latin typeface="Poppins" pitchFamily="34" charset="0"/>
                <a:ea typeface="Poppins" pitchFamily="34" charset="-122"/>
                <a:cs typeface="Poppins" pitchFamily="34" charset="-120"/>
              </a:rPr>
              <a:t>R$ 310 mil</a:t>
            </a:r>
            <a:endParaRPr lang="en-US" sz="1100" dirty="0"/>
          </a:p>
        </p:txBody>
      </p:sp>
      <p:sp>
        <p:nvSpPr>
          <p:cNvPr id="59" name="Shape 57"/>
          <p:cNvSpPr/>
          <p:nvPr/>
        </p:nvSpPr>
        <p:spPr>
          <a:xfrm>
            <a:off x="761981" y="4058541"/>
            <a:ext cx="4685290" cy="384761"/>
          </a:xfrm>
          <a:prstGeom prst="rect">
            <a:avLst/>
          </a:prstGeom>
          <a:solidFill>
            <a:srgbClr val="1E1E24"/>
          </a:solidFill>
          <a:ln/>
        </p:spPr>
      </p:sp>
      <p:sp>
        <p:nvSpPr>
          <p:cNvPr id="60" name="Text 58"/>
          <p:cNvSpPr txBox="1"/>
          <p:nvPr/>
        </p:nvSpPr>
        <p:spPr>
          <a:xfrm>
            <a:off x="876278" y="4160138"/>
            <a:ext cx="4634963" cy="181566"/>
          </a:xfrm>
          <a:prstGeom prst="rect">
            <a:avLst/>
          </a:prstGeom>
          <a:noFill/>
          <a:ln/>
        </p:spPr>
        <p:txBody>
          <a:bodyPr wrap="square" lIns="0" tIns="0" rIns="0" bIns="0" rtlCol="0" anchor="t"/>
          <a:lstStyle/>
          <a:p>
            <a:pPr algn="l" indent="0" marL="0">
              <a:lnSpc>
                <a:spcPct val="111111"/>
              </a:lnSpc>
              <a:buNone/>
            </a:pPr>
            <a:r>
              <a:rPr lang="en-US" sz="1100" b="1" dirty="0">
                <a:solidFill>
                  <a:srgbClr val="F5F6FC"/>
                </a:solidFill>
                <a:latin typeface="Poppins" pitchFamily="34" charset="0"/>
                <a:ea typeface="Poppins" pitchFamily="34" charset="-122"/>
                <a:cs typeface="Poppins" pitchFamily="34" charset="-120"/>
              </a:rPr>
              <a:t>PRJ-027 · Migração do mainframe</a:t>
            </a:r>
            <a:endParaRPr lang="en-US" sz="1100" dirty="0"/>
          </a:p>
        </p:txBody>
      </p:sp>
      <p:sp>
        <p:nvSpPr>
          <p:cNvPr id="61" name="Shape 59"/>
          <p:cNvSpPr/>
          <p:nvPr/>
        </p:nvSpPr>
        <p:spPr>
          <a:xfrm>
            <a:off x="5447271" y="4058541"/>
            <a:ext cx="3089495" cy="384761"/>
          </a:xfrm>
          <a:prstGeom prst="rect">
            <a:avLst/>
          </a:prstGeom>
          <a:solidFill>
            <a:srgbClr val="1E1E24"/>
          </a:solidFill>
          <a:ln/>
        </p:spPr>
      </p:sp>
      <p:sp>
        <p:nvSpPr>
          <p:cNvPr id="62" name="Text 60"/>
          <p:cNvSpPr txBox="1"/>
          <p:nvPr/>
        </p:nvSpPr>
        <p:spPr>
          <a:xfrm>
            <a:off x="5561568" y="4160138"/>
            <a:ext cx="2975337"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Corretora Valor Real</a:t>
            </a:r>
            <a:endParaRPr lang="en-US" sz="1100" dirty="0"/>
          </a:p>
        </p:txBody>
      </p:sp>
      <p:sp>
        <p:nvSpPr>
          <p:cNvPr id="63" name="Shape 61"/>
          <p:cNvSpPr/>
          <p:nvPr/>
        </p:nvSpPr>
        <p:spPr>
          <a:xfrm>
            <a:off x="8536766" y="4058541"/>
            <a:ext cx="781923" cy="384761"/>
          </a:xfrm>
          <a:prstGeom prst="rect">
            <a:avLst/>
          </a:prstGeom>
          <a:solidFill>
            <a:srgbClr val="1E1E24"/>
          </a:solidFill>
          <a:ln/>
        </p:spPr>
      </p:sp>
      <p:sp>
        <p:nvSpPr>
          <p:cNvPr id="64" name="Text 62"/>
          <p:cNvSpPr txBox="1"/>
          <p:nvPr/>
        </p:nvSpPr>
        <p:spPr>
          <a:xfrm>
            <a:off x="8651063" y="4160138"/>
            <a:ext cx="575462" cy="181566"/>
          </a:xfrm>
          <a:prstGeom prst="rect">
            <a:avLst/>
          </a:prstGeom>
          <a:noFill/>
          <a:ln/>
        </p:spPr>
        <p:txBody>
          <a:bodyPr wrap="square" lIns="0" tIns="0" rIns="0" bIns="0" rtlCol="0" anchor="t"/>
          <a:lstStyle/>
          <a:p>
            <a:pPr algn="r" indent="0" marL="0">
              <a:lnSpc>
                <a:spcPct val="111111"/>
              </a:lnSpc>
              <a:buNone/>
            </a:pPr>
            <a:r>
              <a:rPr lang="en-US" sz="1100" dirty="0">
                <a:solidFill>
                  <a:srgbClr val="F5F6FC"/>
                </a:solidFill>
                <a:latin typeface="Poppins" pitchFamily="34" charset="0"/>
                <a:ea typeface="Poppins" pitchFamily="34" charset="-122"/>
                <a:cs typeface="Poppins" pitchFamily="34" charset="-120"/>
              </a:rPr>
              <a:t>0,95</a:t>
            </a:r>
            <a:endParaRPr lang="en-US" sz="1100" dirty="0"/>
          </a:p>
        </p:txBody>
      </p:sp>
      <p:sp>
        <p:nvSpPr>
          <p:cNvPr id="65" name="Shape 63"/>
          <p:cNvSpPr/>
          <p:nvPr/>
        </p:nvSpPr>
        <p:spPr>
          <a:xfrm>
            <a:off x="9318690" y="4058541"/>
            <a:ext cx="751662" cy="384761"/>
          </a:xfrm>
          <a:prstGeom prst="rect">
            <a:avLst/>
          </a:prstGeom>
          <a:solidFill>
            <a:srgbClr val="1E1E24"/>
          </a:solidFill>
          <a:ln/>
        </p:spPr>
      </p:sp>
      <p:sp>
        <p:nvSpPr>
          <p:cNvPr id="66" name="Text 64"/>
          <p:cNvSpPr txBox="1"/>
          <p:nvPr/>
        </p:nvSpPr>
        <p:spPr>
          <a:xfrm>
            <a:off x="9432987" y="4160138"/>
            <a:ext cx="543991" cy="181566"/>
          </a:xfrm>
          <a:prstGeom prst="rect">
            <a:avLst/>
          </a:prstGeom>
          <a:noFill/>
          <a:ln/>
        </p:spPr>
        <p:txBody>
          <a:bodyPr wrap="square" lIns="0" tIns="0" rIns="0" bIns="0" rtlCol="0" anchor="t"/>
          <a:lstStyle/>
          <a:p>
            <a:pPr algn="r" indent="0" marL="0">
              <a:lnSpc>
                <a:spcPct val="111111"/>
              </a:lnSpc>
              <a:buNone/>
            </a:pPr>
            <a:r>
              <a:rPr lang="en-US" sz="1100" b="1" dirty="0">
                <a:solidFill>
                  <a:srgbClr val="FF6B6B"/>
                </a:solidFill>
                <a:latin typeface="Poppins" pitchFamily="34" charset="0"/>
                <a:ea typeface="Poppins" pitchFamily="34" charset="-122"/>
                <a:cs typeface="Poppins" pitchFamily="34" charset="-120"/>
              </a:rPr>
              <a:t>0,79</a:t>
            </a:r>
            <a:endParaRPr lang="en-US" sz="1100" dirty="0"/>
          </a:p>
        </p:txBody>
      </p:sp>
      <p:sp>
        <p:nvSpPr>
          <p:cNvPr id="67" name="Shape 65"/>
          <p:cNvSpPr/>
          <p:nvPr/>
        </p:nvSpPr>
        <p:spPr>
          <a:xfrm>
            <a:off x="10070352" y="4058541"/>
            <a:ext cx="1359362" cy="384761"/>
          </a:xfrm>
          <a:prstGeom prst="rect">
            <a:avLst/>
          </a:prstGeom>
          <a:solidFill>
            <a:srgbClr val="1E1E24"/>
          </a:solidFill>
          <a:ln/>
        </p:spPr>
      </p:sp>
      <p:sp>
        <p:nvSpPr>
          <p:cNvPr id="68" name="Text 66"/>
          <p:cNvSpPr txBox="1"/>
          <p:nvPr/>
        </p:nvSpPr>
        <p:spPr>
          <a:xfrm>
            <a:off x="10184649" y="4160138"/>
            <a:ext cx="1175999" cy="181566"/>
          </a:xfrm>
          <a:prstGeom prst="rect">
            <a:avLst/>
          </a:prstGeom>
          <a:noFill/>
          <a:ln/>
        </p:spPr>
        <p:txBody>
          <a:bodyPr wrap="square" lIns="0" tIns="0" rIns="0" bIns="0" rtlCol="0" anchor="t"/>
          <a:lstStyle/>
          <a:p>
            <a:pPr algn="r" indent="0" marL="0">
              <a:lnSpc>
                <a:spcPct val="111111"/>
              </a:lnSpc>
              <a:buNone/>
            </a:pPr>
            <a:r>
              <a:rPr lang="en-US" sz="1100" dirty="0">
                <a:solidFill>
                  <a:srgbClr val="F5F6FC"/>
                </a:solidFill>
                <a:latin typeface="Poppins" pitchFamily="34" charset="0"/>
                <a:ea typeface="Poppins" pitchFamily="34" charset="-122"/>
                <a:cs typeface="Poppins" pitchFamily="34" charset="-120"/>
              </a:rPr>
              <a:t>R$ 497 mil</a:t>
            </a:r>
            <a:endParaRPr lang="en-US" sz="1100" dirty="0"/>
          </a:p>
        </p:txBody>
      </p:sp>
      <p:sp>
        <p:nvSpPr>
          <p:cNvPr id="69" name="Shape 67"/>
          <p:cNvSpPr/>
          <p:nvPr/>
        </p:nvSpPr>
        <p:spPr>
          <a:xfrm>
            <a:off x="761981" y="4494100"/>
            <a:ext cx="4685290" cy="384761"/>
          </a:xfrm>
          <a:prstGeom prst="rect">
            <a:avLst/>
          </a:prstGeom>
          <a:solidFill>
            <a:srgbClr val="1E1E24"/>
          </a:solidFill>
          <a:ln/>
        </p:spPr>
      </p:sp>
      <p:sp>
        <p:nvSpPr>
          <p:cNvPr id="70" name="Text 68"/>
          <p:cNvSpPr txBox="1"/>
          <p:nvPr/>
        </p:nvSpPr>
        <p:spPr>
          <a:xfrm>
            <a:off x="876278" y="4595698"/>
            <a:ext cx="4634963" cy="181566"/>
          </a:xfrm>
          <a:prstGeom prst="rect">
            <a:avLst/>
          </a:prstGeom>
          <a:noFill/>
          <a:ln/>
        </p:spPr>
        <p:txBody>
          <a:bodyPr wrap="square" lIns="0" tIns="0" rIns="0" bIns="0" rtlCol="0" anchor="t"/>
          <a:lstStyle/>
          <a:p>
            <a:pPr algn="l" indent="0" marL="0">
              <a:lnSpc>
                <a:spcPct val="111111"/>
              </a:lnSpc>
              <a:buNone/>
            </a:pPr>
            <a:r>
              <a:rPr lang="en-US" sz="1100" b="1" dirty="0">
                <a:solidFill>
                  <a:srgbClr val="F5F6FC"/>
                </a:solidFill>
                <a:latin typeface="Poppins" pitchFamily="34" charset="0"/>
                <a:ea typeface="Poppins" pitchFamily="34" charset="-122"/>
                <a:cs typeface="Poppins" pitchFamily="34" charset="-120"/>
              </a:rPr>
              <a:t>PRJ-054 · Migração do mainframe</a:t>
            </a:r>
            <a:endParaRPr lang="en-US" sz="1100" dirty="0"/>
          </a:p>
        </p:txBody>
      </p:sp>
      <p:sp>
        <p:nvSpPr>
          <p:cNvPr id="71" name="Shape 69"/>
          <p:cNvSpPr/>
          <p:nvPr/>
        </p:nvSpPr>
        <p:spPr>
          <a:xfrm>
            <a:off x="5447271" y="4494100"/>
            <a:ext cx="3089495" cy="384761"/>
          </a:xfrm>
          <a:prstGeom prst="rect">
            <a:avLst/>
          </a:prstGeom>
          <a:solidFill>
            <a:srgbClr val="1E1E24"/>
          </a:solidFill>
          <a:ln/>
        </p:spPr>
      </p:sp>
      <p:sp>
        <p:nvSpPr>
          <p:cNvPr id="72" name="Text 70"/>
          <p:cNvSpPr txBox="1"/>
          <p:nvPr/>
        </p:nvSpPr>
        <p:spPr>
          <a:xfrm>
            <a:off x="5561568" y="4595698"/>
            <a:ext cx="2975337"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Seguradora Porto Firme</a:t>
            </a:r>
            <a:endParaRPr lang="en-US" sz="1100" dirty="0"/>
          </a:p>
        </p:txBody>
      </p:sp>
      <p:sp>
        <p:nvSpPr>
          <p:cNvPr id="73" name="Shape 71"/>
          <p:cNvSpPr/>
          <p:nvPr/>
        </p:nvSpPr>
        <p:spPr>
          <a:xfrm>
            <a:off x="8536766" y="4494100"/>
            <a:ext cx="781923" cy="384761"/>
          </a:xfrm>
          <a:prstGeom prst="rect">
            <a:avLst/>
          </a:prstGeom>
          <a:solidFill>
            <a:srgbClr val="1E1E24"/>
          </a:solidFill>
          <a:ln/>
        </p:spPr>
      </p:sp>
      <p:sp>
        <p:nvSpPr>
          <p:cNvPr id="74" name="Text 72"/>
          <p:cNvSpPr txBox="1"/>
          <p:nvPr/>
        </p:nvSpPr>
        <p:spPr>
          <a:xfrm>
            <a:off x="8651063" y="4595698"/>
            <a:ext cx="575462" cy="181566"/>
          </a:xfrm>
          <a:prstGeom prst="rect">
            <a:avLst/>
          </a:prstGeom>
          <a:noFill/>
          <a:ln/>
        </p:spPr>
        <p:txBody>
          <a:bodyPr wrap="square" lIns="0" tIns="0" rIns="0" bIns="0" rtlCol="0" anchor="t"/>
          <a:lstStyle/>
          <a:p>
            <a:pPr algn="r" indent="0" marL="0">
              <a:lnSpc>
                <a:spcPct val="111111"/>
              </a:lnSpc>
              <a:buNone/>
            </a:pPr>
            <a:r>
              <a:rPr lang="en-US" sz="1100" b="1" dirty="0">
                <a:solidFill>
                  <a:srgbClr val="FF6B6B"/>
                </a:solidFill>
                <a:latin typeface="Poppins" pitchFamily="34" charset="0"/>
                <a:ea typeface="Poppins" pitchFamily="34" charset="-122"/>
                <a:cs typeface="Poppins" pitchFamily="34" charset="-120"/>
              </a:rPr>
              <a:t>0,80</a:t>
            </a:r>
            <a:endParaRPr lang="en-US" sz="1100" dirty="0"/>
          </a:p>
        </p:txBody>
      </p:sp>
      <p:sp>
        <p:nvSpPr>
          <p:cNvPr id="75" name="Shape 73"/>
          <p:cNvSpPr/>
          <p:nvPr/>
        </p:nvSpPr>
        <p:spPr>
          <a:xfrm>
            <a:off x="9318690" y="4494100"/>
            <a:ext cx="751662" cy="384761"/>
          </a:xfrm>
          <a:prstGeom prst="rect">
            <a:avLst/>
          </a:prstGeom>
          <a:solidFill>
            <a:srgbClr val="1E1E24"/>
          </a:solidFill>
          <a:ln/>
        </p:spPr>
      </p:sp>
      <p:sp>
        <p:nvSpPr>
          <p:cNvPr id="76" name="Text 74"/>
          <p:cNvSpPr txBox="1"/>
          <p:nvPr/>
        </p:nvSpPr>
        <p:spPr>
          <a:xfrm>
            <a:off x="9432987" y="4595698"/>
            <a:ext cx="543991" cy="181566"/>
          </a:xfrm>
          <a:prstGeom prst="rect">
            <a:avLst/>
          </a:prstGeom>
          <a:noFill/>
          <a:ln/>
        </p:spPr>
        <p:txBody>
          <a:bodyPr wrap="square" lIns="0" tIns="0" rIns="0" bIns="0" rtlCol="0" anchor="t"/>
          <a:lstStyle/>
          <a:p>
            <a:pPr algn="r" indent="0" marL="0">
              <a:lnSpc>
                <a:spcPct val="111111"/>
              </a:lnSpc>
              <a:buNone/>
            </a:pPr>
            <a:r>
              <a:rPr lang="en-US" sz="1100" dirty="0">
                <a:solidFill>
                  <a:srgbClr val="F5F6FC"/>
                </a:solidFill>
                <a:latin typeface="Poppins" pitchFamily="34" charset="0"/>
                <a:ea typeface="Poppins" pitchFamily="34" charset="-122"/>
                <a:cs typeface="Poppins" pitchFamily="34" charset="-120"/>
              </a:rPr>
              <a:t>0,93</a:t>
            </a:r>
            <a:endParaRPr lang="en-US" sz="1100" dirty="0"/>
          </a:p>
        </p:txBody>
      </p:sp>
      <p:sp>
        <p:nvSpPr>
          <p:cNvPr id="77" name="Shape 75"/>
          <p:cNvSpPr/>
          <p:nvPr/>
        </p:nvSpPr>
        <p:spPr>
          <a:xfrm>
            <a:off x="10070352" y="4494100"/>
            <a:ext cx="1359362" cy="384761"/>
          </a:xfrm>
          <a:prstGeom prst="rect">
            <a:avLst/>
          </a:prstGeom>
          <a:solidFill>
            <a:srgbClr val="1E1E24"/>
          </a:solidFill>
          <a:ln/>
        </p:spPr>
      </p:sp>
      <p:sp>
        <p:nvSpPr>
          <p:cNvPr id="78" name="Text 76"/>
          <p:cNvSpPr txBox="1"/>
          <p:nvPr/>
        </p:nvSpPr>
        <p:spPr>
          <a:xfrm>
            <a:off x="10184649" y="4595698"/>
            <a:ext cx="1175999" cy="181566"/>
          </a:xfrm>
          <a:prstGeom prst="rect">
            <a:avLst/>
          </a:prstGeom>
          <a:noFill/>
          <a:ln/>
        </p:spPr>
        <p:txBody>
          <a:bodyPr wrap="square" lIns="0" tIns="0" rIns="0" bIns="0" rtlCol="0" anchor="t"/>
          <a:lstStyle/>
          <a:p>
            <a:pPr algn="r" indent="0" marL="0">
              <a:lnSpc>
                <a:spcPct val="111111"/>
              </a:lnSpc>
              <a:buNone/>
            </a:pPr>
            <a:r>
              <a:rPr lang="en-US" sz="1100" dirty="0">
                <a:solidFill>
                  <a:srgbClr val="F5F6FC"/>
                </a:solidFill>
                <a:latin typeface="Poppins" pitchFamily="34" charset="0"/>
                <a:ea typeface="Poppins" pitchFamily="34" charset="-122"/>
                <a:cs typeface="Poppins" pitchFamily="34" charset="-120"/>
              </a:rPr>
              <a:t>R$ 410 mil</a:t>
            </a:r>
            <a:endParaRPr lang="en-US" sz="1100" dirty="0"/>
          </a:p>
        </p:txBody>
      </p:sp>
      <p:sp>
        <p:nvSpPr>
          <p:cNvPr id="79" name="Shape 77"/>
          <p:cNvSpPr/>
          <p:nvPr/>
        </p:nvSpPr>
        <p:spPr>
          <a:xfrm>
            <a:off x="761981" y="5005858"/>
            <a:ext cx="25399" cy="285743"/>
          </a:xfrm>
          <a:prstGeom prst="rect">
            <a:avLst/>
          </a:prstGeom>
          <a:solidFill>
            <a:srgbClr val="22C2F4"/>
          </a:solidFill>
          <a:ln/>
        </p:spPr>
      </p:sp>
      <p:sp>
        <p:nvSpPr>
          <p:cNvPr id="80" name="Text 78"/>
          <p:cNvSpPr txBox="1"/>
          <p:nvPr/>
        </p:nvSpPr>
        <p:spPr>
          <a:xfrm>
            <a:off x="914377" y="5043957"/>
            <a:ext cx="10935951" cy="209545"/>
          </a:xfrm>
          <a:prstGeom prst="rect">
            <a:avLst/>
          </a:prstGeom>
          <a:noFill/>
          <a:ln/>
        </p:spPr>
        <p:txBody>
          <a:bodyPr wrap="square" lIns="0" tIns="0" rIns="0" bIns="0" rtlCol="0" anchor="t"/>
          <a:lstStyle/>
          <a:p>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SPI = trabalho entregue ÷ trabalho que devia estar pronto. </a:t>
            </a:r>
            <a:pPr algn="l" indent="0" marL="0">
              <a:lnSpc>
                <a:spcPct val="106838"/>
              </a:lnSpc>
              <a:buNone/>
            </a:pPr>
            <a:r>
              <a:rPr lang="en-US" sz="1100" b="1" dirty="0">
                <a:solidFill>
                  <a:srgbClr val="FFFFFF"/>
                </a:solidFill>
                <a:latin typeface="Poppins" pitchFamily="34" charset="0"/>
                <a:ea typeface="Poppins" pitchFamily="34" charset="-122"/>
                <a:cs typeface="Poppins" pitchFamily="34" charset="-120"/>
              </a:rPr>
              <a:t>Abaixo de 0,8 é crítico</a:t>
            </a:r>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 abaixo de 0,9, atenção (mais 10 projetos).</a:t>
            </a:r>
            <a:endParaRPr lang="en-US" sz="1100" dirty="0"/>
          </a:p>
        </p:txBody>
      </p:sp>
      <p:pic>
        <p:nvPicPr>
          <p:cNvPr id="81"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82" name="Text 79"/>
          <p:cNvSpPr txBox="1"/>
          <p:nvPr/>
        </p:nvSpPr>
        <p:spPr>
          <a:xfrm>
            <a:off x="10940380" y="6387940"/>
            <a:ext cx="508908"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65 / 133</a:t>
            </a:r>
            <a:endParaRPr lang="en-US" sz="10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1 · EXEMPLO 06 · QUANTO CUSTA</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Se nada mudar,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quanto a Vértice vai perder?</a:t>
            </a:r>
            <a:endParaRPr lang="en-US" sz="3100" dirty="0"/>
          </a:p>
        </p:txBody>
      </p:sp>
      <p:sp>
        <p:nvSpPr>
          <p:cNvPr id="4" name="Shape 2"/>
          <p:cNvSpPr/>
          <p:nvPr/>
        </p:nvSpPr>
        <p:spPr>
          <a:xfrm>
            <a:off x="761981" y="1582301"/>
            <a:ext cx="5820622" cy="2266993"/>
          </a:xfrm>
          <a:prstGeom prst="roundRect">
            <a:avLst>
              <a:gd name="adj" fmla="val 5042"/>
            </a:avLst>
          </a:prstGeom>
          <a:solidFill>
            <a:srgbClr val="0C0C10"/>
          </a:solidFill>
          <a:ln w="6350">
            <a:solidFill>
              <a:srgbClr val="2F2F39"/>
            </a:solidFill>
            <a:prstDash val="solid"/>
          </a:ln>
        </p:spPr>
      </p:sp>
      <p:sp>
        <p:nvSpPr>
          <p:cNvPr id="5" name="Text 3"/>
          <p:cNvSpPr txBox="1"/>
          <p:nvPr/>
        </p:nvSpPr>
        <p:spPr>
          <a:xfrm>
            <a:off x="958826" y="1753747"/>
            <a:ext cx="5650613" cy="1930451"/>
          </a:xfrm>
          <a:prstGeom prst="rect">
            <a:avLst/>
          </a:prstGeom>
          <a:noFill/>
          <a:ln/>
        </p:spPr>
        <p:txBody>
          <a:bodyPr wrap="square" lIns="0" tIns="0" rIns="0" bIns="0" rtlCol="0" anchor="t"/>
          <a:lstStyle/>
          <a:p>
            <a:pPr algn="l" indent="0" marL="0">
              <a:lnSpc>
                <a:spcPct val="123932"/>
              </a:lnSpc>
              <a:buNone/>
            </a:pPr>
            <a:r>
              <a:rPr lang="en-US" sz="950" dirty="0">
                <a:solidFill>
                  <a:srgbClr val="6E7180"/>
                </a:solidFill>
                <a:latin typeface="Courier New" pitchFamily="34" charset="0"/>
                <a:ea typeface="Courier New" pitchFamily="34" charset="-122"/>
                <a:cs typeface="Courier New" pitchFamily="34" charset="-120"/>
              </a:rPr>
              <a:t>-- 1. projeto a projeto</a:t>
            </a:r>
            <a:pPr algn="l" indent="0" marL="0">
              <a:lnSpc>
                <a:spcPct val="123932"/>
              </a:lnSpc>
              <a:buNone/>
            </a:pPr>
            <a:endParaRPr lang="en-US" sz="950" dirty="0"/>
          </a:p>
          <a:p>
            <a:pPr algn="l" indent="0" marL="0">
              <a:lnSpc>
                <a:spcPct val="123932"/>
              </a:lnSpc>
              <a:buNone/>
            </a:pP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WITH</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valor </a:t>
            </a: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AS</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 </a:t>
            </a: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FROM</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bronze.rascunho_tarefas ...),</a:t>
            </a:r>
            <a:endParaRPr lang="en-US" sz="950" dirty="0"/>
          </a:p>
          <a:p>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custo </a:t>
            </a: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AS</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 replace(valor, </a:t>
            </a:r>
            <a:pPr algn="l" indent="0" marL="0">
              <a:lnSpc>
                <a:spcPct val="123932"/>
              </a:lnSpc>
              <a:buNone/>
            </a:pPr>
            <a:r>
              <a:rPr lang="en-US" sz="950" dirty="0">
                <a:solidFill>
                  <a:srgbClr val="F6C344"/>
                </a:solidFill>
                <a:latin typeface="Courier New" pitchFamily="34" charset="0"/>
                <a:ea typeface="Courier New" pitchFamily="34" charset="-122"/>
                <a:cs typeface="Courier New" pitchFamily="34" charset="-120"/>
              </a:rPr>
              <a:t>','</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a:t>
            </a:r>
            <a:pPr algn="l" indent="0" marL="0">
              <a:lnSpc>
                <a:spcPct val="123932"/>
              </a:lnSpc>
              <a:buNone/>
            </a:pPr>
            <a:r>
              <a:rPr lang="en-US" sz="950" dirty="0">
                <a:solidFill>
                  <a:srgbClr val="F6C344"/>
                </a:solidFill>
                <a:latin typeface="Courier New" pitchFamily="34" charset="0"/>
                <a:ea typeface="Courier New" pitchFamily="34" charset="-122"/>
                <a:cs typeface="Courier New" pitchFamily="34" charset="-120"/>
              </a:rPr>
              <a:t>'.'</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a:t>
            </a:r>
            <a:endParaRPr lang="en-US" sz="950" dirty="0"/>
          </a:p>
          <a:p>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farol </a:t>
            </a: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AS</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 </a:t>
            </a: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WHERE</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data_status = </a:t>
            </a:r>
            <a:pPr algn="l" indent="0" marL="0">
              <a:lnSpc>
                <a:spcPct val="123932"/>
              </a:lnSpc>
              <a:buNone/>
            </a:pPr>
            <a:r>
              <a:rPr lang="en-US" sz="950" dirty="0">
                <a:solidFill>
                  <a:srgbClr val="F6C344"/>
                </a:solidFill>
                <a:latin typeface="Courier New" pitchFamily="34" charset="0"/>
                <a:ea typeface="Courier New" pitchFamily="34" charset="-122"/>
                <a:cs typeface="Courier New" pitchFamily="34" charset="-120"/>
              </a:rPr>
              <a:t>'2026-10-16'</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a:t>
            </a:r>
            <a:endParaRPr lang="en-US" sz="950" dirty="0"/>
          </a:p>
          <a:p>
            <a:pPr algn="l" indent="0" marL="0">
              <a:lnSpc>
                <a:spcPct val="123932"/>
              </a:lnSpc>
              <a:buNone/>
            </a:pP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SELECT</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projeto_id, cliente, spi, cpi,</a:t>
            </a:r>
            <a:endParaRPr lang="en-US" sz="950" dirty="0"/>
          </a:p>
          <a:p>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farol </a:t>
            </a: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AS</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farol_do_gerente,</a:t>
            </a:r>
            <a:endParaRPr lang="en-US" sz="950" dirty="0"/>
          </a:p>
          <a:p>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eac - orcamento </a:t>
            </a: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AS</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estouro</a:t>
            </a:r>
            <a:endParaRPr lang="en-US" sz="950" dirty="0"/>
          </a:p>
          <a:p>
            <a:pPr algn="l" indent="0" marL="0">
              <a:lnSpc>
                <a:spcPct val="123932"/>
              </a:lnSpc>
              <a:buNone/>
            </a:pP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FROM</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 </a:t>
            </a: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ORDER BY</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spi;</a:t>
            </a:r>
            <a:endParaRPr lang="en-US" sz="950" dirty="0"/>
          </a:p>
          <a:p>
            <a:pPr algn="l" indent="0" marL="0">
              <a:lnSpc>
                <a:spcPct val="123932"/>
              </a:lnSpc>
              <a:buNone/>
            </a:pPr>
            <a:endParaRPr lang="en-US" sz="950" dirty="0"/>
          </a:p>
          <a:p>
            <a:pPr algn="l" indent="0" marL="0">
              <a:lnSpc>
                <a:spcPct val="123932"/>
              </a:lnSpc>
              <a:buNone/>
            </a:pPr>
            <a:pPr algn="l" indent="0" marL="0">
              <a:lnSpc>
                <a:spcPct val="123932"/>
              </a:lnSpc>
              <a:buNone/>
            </a:pPr>
            <a:r>
              <a:rPr lang="en-US" sz="950" dirty="0">
                <a:solidFill>
                  <a:srgbClr val="6E7180"/>
                </a:solidFill>
                <a:latin typeface="Courier New" pitchFamily="34" charset="0"/>
                <a:ea typeface="Courier New" pitchFamily="34" charset="-122"/>
                <a:cs typeface="Courier New" pitchFamily="34" charset="-120"/>
              </a:rPr>
              <a:t>-- 2. a carteira: só quem estoura</a:t>
            </a:r>
            <a:pPr algn="l" indent="0" marL="0">
              <a:lnSpc>
                <a:spcPct val="123932"/>
              </a:lnSpc>
              <a:buNone/>
            </a:pPr>
            <a:endParaRPr lang="en-US" sz="950" dirty="0"/>
          </a:p>
          <a:p>
            <a:pPr algn="l" indent="0" marL="0">
              <a:lnSpc>
                <a:spcPct val="123932"/>
              </a:lnSpc>
              <a:buNone/>
            </a:pP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SELECT SUM</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a:t>
            </a: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GREATEST</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(0, eac - orcamento))   </a:t>
            </a:r>
            <a:pPr algn="l" indent="0" marL="0">
              <a:lnSpc>
                <a:spcPct val="123932"/>
              </a:lnSpc>
              <a:buNone/>
            </a:pPr>
            <a:r>
              <a:rPr lang="en-US" sz="950" dirty="0">
                <a:solidFill>
                  <a:srgbClr val="6E7180"/>
                </a:solidFill>
                <a:latin typeface="Courier New" pitchFamily="34" charset="0"/>
                <a:ea typeface="Courier New" pitchFamily="34" charset="-122"/>
                <a:cs typeface="Courier New" pitchFamily="34" charset="-120"/>
              </a:rPr>
              <a:t>-- R$ 6,47 mi</a:t>
            </a:r>
            <a:endParaRPr lang="en-US" sz="950" dirty="0"/>
          </a:p>
        </p:txBody>
      </p:sp>
      <p:sp>
        <p:nvSpPr>
          <p:cNvPr id="6" name="Shape 4"/>
          <p:cNvSpPr/>
          <p:nvPr/>
        </p:nvSpPr>
        <p:spPr>
          <a:xfrm>
            <a:off x="6773098" y="1582301"/>
            <a:ext cx="4656517" cy="1629131"/>
          </a:xfrm>
          <a:prstGeom prst="roundRect">
            <a:avLst>
              <a:gd name="adj" fmla="val 9354"/>
            </a:avLst>
          </a:prstGeom>
          <a:solidFill>
            <a:srgbClr val="1E1E24"/>
          </a:solidFill>
          <a:ln w="6350">
            <a:solidFill>
              <a:srgbClr val="2F2F39"/>
            </a:solidFill>
            <a:prstDash val="solid"/>
          </a:ln>
        </p:spPr>
      </p:sp>
      <p:sp>
        <p:nvSpPr>
          <p:cNvPr id="7" name="Shape 5"/>
          <p:cNvSpPr/>
          <p:nvPr/>
        </p:nvSpPr>
        <p:spPr>
          <a:xfrm>
            <a:off x="6995342" y="1779146"/>
            <a:ext cx="702451" cy="247644"/>
          </a:xfrm>
          <a:prstGeom prst="roundRect">
            <a:avLst>
              <a:gd name="adj" fmla="val 50000"/>
            </a:avLst>
          </a:prstGeom>
          <a:solidFill>
            <a:srgbClr val="22C2F4">
              <a:alpha val="14000"/>
            </a:srgbClr>
          </a:solidFill>
          <a:ln/>
        </p:spPr>
      </p:sp>
      <p:sp>
        <p:nvSpPr>
          <p:cNvPr id="8" name="Text 6"/>
          <p:cNvSpPr txBox="1"/>
          <p:nvPr/>
        </p:nvSpPr>
        <p:spPr>
          <a:xfrm>
            <a:off x="7084240" y="1817245"/>
            <a:ext cx="545642"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Conceito</a:t>
            </a:r>
            <a:endParaRPr lang="en-US" sz="900" dirty="0"/>
          </a:p>
        </p:txBody>
      </p:sp>
      <p:sp>
        <p:nvSpPr>
          <p:cNvPr id="9" name="Text 7"/>
          <p:cNvSpPr txBox="1"/>
          <p:nvPr/>
        </p:nvSpPr>
        <p:spPr>
          <a:xfrm>
            <a:off x="6995342" y="2191886"/>
            <a:ext cx="4380509" cy="822701"/>
          </a:xfrm>
          <a:prstGeom prst="rect">
            <a:avLst/>
          </a:prstGeom>
          <a:noFill/>
          <a:ln/>
        </p:spPr>
        <p:txBody>
          <a:bodyPr wrap="square" lIns="0" tIns="0" rIns="0" bIns="0" rtlCol="0" anchor="t"/>
          <a:lstStyle/>
          <a:p>
            <a:pPr algn="l" indent="0" marL="0">
              <a:lnSpc>
                <a:spcPct val="115385"/>
              </a:lnSpc>
              <a:buNone/>
            </a:pPr>
            <a:r>
              <a:rPr lang="en-US" sz="1200" dirty="0">
                <a:solidFill>
                  <a:srgbClr val="FFFFFF"/>
                </a:solidFill>
                <a:latin typeface="Poppins" pitchFamily="34" charset="0"/>
                <a:ea typeface="Poppins" pitchFamily="34" charset="-122"/>
                <a:cs typeface="Poppins" pitchFamily="34" charset="-120"/>
              </a:rPr>
              <a:t>WITH divide a conta em 3 perguntas simples: quanto está pronto, quanto gastou, qual o farol. EV = orçamento × % pronto; CPI = EV ÷ custo; EAC = orçamento ÷ CPI.</a:t>
            </a:r>
            <a:endParaRPr lang="en-US" sz="1200" dirty="0"/>
          </a:p>
        </p:txBody>
      </p:sp>
      <p:sp>
        <p:nvSpPr>
          <p:cNvPr id="10" name="Shape 8"/>
          <p:cNvSpPr/>
          <p:nvPr/>
        </p:nvSpPr>
        <p:spPr>
          <a:xfrm>
            <a:off x="6773098" y="3351129"/>
            <a:ext cx="4656517" cy="1705329"/>
          </a:xfrm>
          <a:prstGeom prst="roundRect">
            <a:avLst>
              <a:gd name="adj" fmla="val 8936"/>
            </a:avLst>
          </a:prstGeom>
          <a:solidFill>
            <a:srgbClr val="0059DB"/>
          </a:solidFill>
          <a:ln/>
        </p:spPr>
      </p:sp>
      <p:sp>
        <p:nvSpPr>
          <p:cNvPr id="11" name="Shape 9"/>
          <p:cNvSpPr/>
          <p:nvPr/>
        </p:nvSpPr>
        <p:spPr>
          <a:xfrm>
            <a:off x="6995342" y="3547974"/>
            <a:ext cx="1034032" cy="247644"/>
          </a:xfrm>
          <a:prstGeom prst="roundRect">
            <a:avLst>
              <a:gd name="adj" fmla="val 50000"/>
            </a:avLst>
          </a:prstGeom>
          <a:solidFill>
            <a:srgbClr val="FFFFFF">
              <a:alpha val="16000"/>
            </a:srgbClr>
          </a:solidFill>
          <a:ln/>
        </p:spPr>
      </p:sp>
      <p:sp>
        <p:nvSpPr>
          <p:cNvPr id="12" name="Text 10"/>
          <p:cNvSpPr txBox="1"/>
          <p:nvPr/>
        </p:nvSpPr>
        <p:spPr>
          <a:xfrm>
            <a:off x="7084240" y="3586073"/>
            <a:ext cx="890486"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O que aparece</a:t>
            </a:r>
            <a:endParaRPr lang="en-US" sz="900" dirty="0"/>
          </a:p>
        </p:txBody>
      </p:sp>
      <p:sp>
        <p:nvSpPr>
          <p:cNvPr id="13" name="Shape 11"/>
          <p:cNvSpPr/>
          <p:nvPr/>
        </p:nvSpPr>
        <p:spPr>
          <a:xfrm>
            <a:off x="6995342" y="3967063"/>
            <a:ext cx="76198" cy="76198"/>
          </a:xfrm>
          <a:prstGeom prst="roundRect">
            <a:avLst>
              <a:gd name="adj" fmla="val 25000"/>
            </a:avLst>
          </a:prstGeom>
          <a:solidFill>
            <a:srgbClr val="22C2F4"/>
          </a:solidFill>
          <a:ln/>
        </p:spPr>
      </p:sp>
      <p:sp>
        <p:nvSpPr>
          <p:cNvPr id="14" name="Text 12"/>
          <p:cNvSpPr txBox="1"/>
          <p:nvPr/>
        </p:nvSpPr>
        <p:spPr>
          <a:xfrm>
            <a:off x="7185838" y="3884515"/>
            <a:ext cx="4182394" cy="205675"/>
          </a:xfrm>
          <a:prstGeom prst="rect">
            <a:avLst/>
          </a:prstGeom>
          <a:noFill/>
          <a:ln/>
        </p:spPr>
        <p:txBody>
          <a:bodyPr wrap="square" lIns="0" tIns="0" rIns="0" bIns="0" rtlCol="0" anchor="t"/>
          <a:lstStyle/>
          <a:p>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R$ 6,47 mi</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de estouro previsto</a:t>
            </a:r>
            <a:endParaRPr lang="en-US" sz="1200" dirty="0"/>
          </a:p>
        </p:txBody>
      </p:sp>
      <p:sp>
        <p:nvSpPr>
          <p:cNvPr id="15" name="Shape 13"/>
          <p:cNvSpPr/>
          <p:nvPr/>
        </p:nvSpPr>
        <p:spPr>
          <a:xfrm>
            <a:off x="6995342" y="4248937"/>
            <a:ext cx="76198" cy="76198"/>
          </a:xfrm>
          <a:prstGeom prst="roundRect">
            <a:avLst>
              <a:gd name="adj" fmla="val 25000"/>
            </a:avLst>
          </a:prstGeom>
          <a:solidFill>
            <a:srgbClr val="22C2F4"/>
          </a:solidFill>
          <a:ln/>
        </p:spPr>
      </p:sp>
      <p:sp>
        <p:nvSpPr>
          <p:cNvPr id="16" name="Text 14"/>
          <p:cNvSpPr txBox="1"/>
          <p:nvPr/>
        </p:nvSpPr>
        <p:spPr>
          <a:xfrm>
            <a:off x="7185838" y="4166389"/>
            <a:ext cx="4182394" cy="205675"/>
          </a:xfrm>
          <a:prstGeom prst="rect">
            <a:avLst/>
          </a:prstGeom>
          <a:noFill/>
          <a:ln/>
        </p:spPr>
        <p:txBody>
          <a:bodyPr wrap="square" lIns="0" tIns="0" rIns="0" bIns="0" rtlCol="0" anchor="t"/>
          <a:lstStyle/>
          <a:p>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7</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críticos e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10</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em atenção</a:t>
            </a:r>
            <a:endParaRPr lang="en-US" sz="1200" dirty="0"/>
          </a:p>
        </p:txBody>
      </p:sp>
      <p:sp>
        <p:nvSpPr>
          <p:cNvPr id="17" name="Shape 15"/>
          <p:cNvSpPr/>
          <p:nvPr/>
        </p:nvSpPr>
        <p:spPr>
          <a:xfrm>
            <a:off x="6995342" y="4530810"/>
            <a:ext cx="76198" cy="76198"/>
          </a:xfrm>
          <a:prstGeom prst="roundRect">
            <a:avLst>
              <a:gd name="adj" fmla="val 25000"/>
            </a:avLst>
          </a:prstGeom>
          <a:solidFill>
            <a:srgbClr val="22C2F4"/>
          </a:solidFill>
          <a:ln/>
        </p:spPr>
      </p:sp>
      <p:sp>
        <p:nvSpPr>
          <p:cNvPr id="18" name="Text 16"/>
          <p:cNvSpPr txBox="1"/>
          <p:nvPr/>
        </p:nvSpPr>
        <p:spPr>
          <a:xfrm>
            <a:off x="7185838" y="4448262"/>
            <a:ext cx="4182394" cy="411351"/>
          </a:xfrm>
          <a:prstGeom prst="rect">
            <a:avLst/>
          </a:prstGeom>
          <a:noFill/>
          <a:ln/>
        </p:spPr>
        <p:txBody>
          <a:bodyPr wrap="square" lIns="0" tIns="0" rIns="0" bIns="0" rtlCol="0" anchor="t"/>
          <a:lstStyle/>
          <a:p>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4</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melancias: verdes para o gerente, abaixo de 0,9 pelo número</a:t>
            </a:r>
            <a:endParaRPr lang="en-US" sz="1200" dirty="0"/>
          </a:p>
        </p:txBody>
      </p:sp>
      <p:sp>
        <p:nvSpPr>
          <p:cNvPr id="19" name="Shape 17"/>
          <p:cNvSpPr/>
          <p:nvPr/>
        </p:nvSpPr>
        <p:spPr>
          <a:xfrm>
            <a:off x="761981" y="5196154"/>
            <a:ext cx="25399" cy="285743"/>
          </a:xfrm>
          <a:prstGeom prst="rect">
            <a:avLst/>
          </a:prstGeom>
          <a:solidFill>
            <a:srgbClr val="22C2F4"/>
          </a:solidFill>
          <a:ln/>
        </p:spPr>
      </p:sp>
      <p:sp>
        <p:nvSpPr>
          <p:cNvPr id="20" name="Text 18"/>
          <p:cNvSpPr txBox="1"/>
          <p:nvPr/>
        </p:nvSpPr>
        <p:spPr>
          <a:xfrm>
            <a:off x="914377" y="5234254"/>
            <a:ext cx="10935951" cy="209545"/>
          </a:xfrm>
          <a:prstGeom prst="rect">
            <a:avLst/>
          </a:prstGeom>
          <a:noFill/>
          <a:ln/>
        </p:spPr>
        <p:txBody>
          <a:bodyPr wrap="square" lIns="0" tIns="0" rIns="0" bIns="0" rtlCol="0" anchor="t"/>
          <a:lstStyle/>
          <a:p>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Arquivo: </a:t>
            </a:r>
            <a:pPr algn="l" indent="0" marL="0">
              <a:lnSpc>
                <a:spcPct val="106838"/>
              </a:lnSpc>
              <a:buNone/>
            </a:pPr>
            <a:r>
              <a:rPr lang="en-US" sz="1100" b="1" dirty="0">
                <a:solidFill>
                  <a:srgbClr val="FFFFFF"/>
                </a:solidFill>
                <a:latin typeface="Poppins" pitchFamily="34" charset="0"/>
                <a:ea typeface="Poppins" pitchFamily="34" charset="-122"/>
                <a:cs typeface="Poppins" pitchFamily="34" charset="-120"/>
              </a:rPr>
              <a:t>exemplo-06-quanto-custa-o-atraso.sql</a:t>
            </a:r>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 Responde a pergunta 2 do dono.</a:t>
            </a:r>
            <a:endParaRPr lang="en-US" sz="1100" dirty="0"/>
          </a:p>
        </p:txBody>
      </p:sp>
      <p:pic>
        <p:nvPicPr>
          <p:cNvPr id="21"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22" name="Text 19"/>
          <p:cNvSpPr txBox="1"/>
          <p:nvPr/>
        </p:nvSpPr>
        <p:spPr>
          <a:xfrm>
            <a:off x="10939983" y="6387940"/>
            <a:ext cx="509321"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66 / 133</a:t>
            </a:r>
            <a:endParaRPr lang="en-US" sz="10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1 · EXEMPLO 06 · PERGUNTA 2</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Quanto custa: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R$ 6,47 mi</a:t>
            </a:r>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 e o farol mente</a:t>
            </a:r>
            <a:endParaRPr lang="en-US" sz="3100" dirty="0"/>
          </a:p>
        </p:txBody>
      </p:sp>
      <p:sp>
        <p:nvSpPr>
          <p:cNvPr id="4" name="Shape 2"/>
          <p:cNvSpPr/>
          <p:nvPr/>
        </p:nvSpPr>
        <p:spPr>
          <a:xfrm>
            <a:off x="761981" y="1582301"/>
            <a:ext cx="3437348" cy="1283263"/>
          </a:xfrm>
          <a:prstGeom prst="roundRect">
            <a:avLst>
              <a:gd name="adj" fmla="val 11876"/>
            </a:avLst>
          </a:prstGeom>
          <a:solidFill>
            <a:srgbClr val="0059DB"/>
          </a:solidFill>
          <a:ln/>
        </p:spPr>
      </p:sp>
      <p:sp>
        <p:nvSpPr>
          <p:cNvPr id="5" name="Text 3"/>
          <p:cNvSpPr txBox="1"/>
          <p:nvPr/>
        </p:nvSpPr>
        <p:spPr>
          <a:xfrm>
            <a:off x="984225" y="1779146"/>
            <a:ext cx="3112573" cy="419090"/>
          </a:xfrm>
          <a:prstGeom prst="rect">
            <a:avLst/>
          </a:prstGeom>
          <a:noFill/>
          <a:ln/>
        </p:spPr>
        <p:txBody>
          <a:bodyPr wrap="square" lIns="0" tIns="0" rIns="0" bIns="0" rtlCol="0" anchor="t"/>
          <a:lstStyle/>
          <a:p>
            <a:pPr algn="l" indent="0" marL="0">
              <a:lnSpc>
                <a:spcPct val="85470"/>
              </a:lnSpc>
              <a:buNone/>
            </a:pPr>
            <a:r>
              <a:rPr lang="en-US" sz="3300" b="1" spc="-66" kern="0" dirty="0">
                <a:solidFill>
                  <a:srgbClr val="F5F6FC"/>
                </a:solidFill>
                <a:latin typeface="Poppins" pitchFamily="34" charset="0"/>
                <a:ea typeface="Poppins" pitchFamily="34" charset="-122"/>
                <a:cs typeface="Poppins" pitchFamily="34" charset="-120"/>
              </a:rPr>
              <a:t>R$ 6,47 mi</a:t>
            </a:r>
            <a:endParaRPr lang="en-US" sz="3300" dirty="0"/>
          </a:p>
        </p:txBody>
      </p:sp>
      <p:sp>
        <p:nvSpPr>
          <p:cNvPr id="6" name="Text 4"/>
          <p:cNvSpPr txBox="1"/>
          <p:nvPr/>
        </p:nvSpPr>
        <p:spPr>
          <a:xfrm>
            <a:off x="984225" y="2274434"/>
            <a:ext cx="3112573" cy="394285"/>
          </a:xfrm>
          <a:prstGeom prst="rect">
            <a:avLst/>
          </a:prstGeom>
          <a:noFill/>
          <a:ln/>
        </p:spPr>
        <p:txBody>
          <a:bodyPr wrap="square" lIns="0" tIns="0" rIns="0" bIns="0" rtlCol="0" anchor="t"/>
          <a:lstStyle/>
          <a:p>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de estouro previsto: EAC − orçamento, só de quem estoura</a:t>
            </a:r>
            <a:endParaRPr lang="en-US" sz="1150" dirty="0"/>
          </a:p>
        </p:txBody>
      </p:sp>
      <p:sp>
        <p:nvSpPr>
          <p:cNvPr id="7" name="Shape 5"/>
          <p:cNvSpPr/>
          <p:nvPr/>
        </p:nvSpPr>
        <p:spPr>
          <a:xfrm>
            <a:off x="4377124" y="1582301"/>
            <a:ext cx="3437348" cy="1283263"/>
          </a:xfrm>
          <a:prstGeom prst="roundRect">
            <a:avLst>
              <a:gd name="adj" fmla="val 11876"/>
            </a:avLst>
          </a:prstGeom>
          <a:solidFill>
            <a:srgbClr val="0059DB"/>
          </a:solidFill>
          <a:ln/>
        </p:spPr>
      </p:sp>
      <p:sp>
        <p:nvSpPr>
          <p:cNvPr id="8" name="Text 6"/>
          <p:cNvSpPr txBox="1"/>
          <p:nvPr/>
        </p:nvSpPr>
        <p:spPr>
          <a:xfrm>
            <a:off x="4599369" y="1779146"/>
            <a:ext cx="3112573" cy="419090"/>
          </a:xfrm>
          <a:prstGeom prst="rect">
            <a:avLst/>
          </a:prstGeom>
          <a:noFill/>
          <a:ln/>
        </p:spPr>
        <p:txBody>
          <a:bodyPr wrap="square" lIns="0" tIns="0" rIns="0" bIns="0" rtlCol="0" anchor="t"/>
          <a:lstStyle/>
          <a:p>
            <a:pPr algn="l" indent="0" marL="0">
              <a:lnSpc>
                <a:spcPct val="85470"/>
              </a:lnSpc>
              <a:buNone/>
            </a:pPr>
            <a:r>
              <a:rPr lang="en-US" sz="3300" b="1" spc="-66" kern="0" dirty="0">
                <a:solidFill>
                  <a:srgbClr val="F5F6FC"/>
                </a:solidFill>
                <a:latin typeface="Poppins" pitchFamily="34" charset="0"/>
                <a:ea typeface="Poppins" pitchFamily="34" charset="-122"/>
                <a:cs typeface="Poppins" pitchFamily="34" charset="-120"/>
              </a:rPr>
              <a:t>17</a:t>
            </a:r>
            <a:endParaRPr lang="en-US" sz="3300" dirty="0"/>
          </a:p>
        </p:txBody>
      </p:sp>
      <p:sp>
        <p:nvSpPr>
          <p:cNvPr id="9" name="Text 7"/>
          <p:cNvSpPr txBox="1"/>
          <p:nvPr/>
        </p:nvSpPr>
        <p:spPr>
          <a:xfrm>
            <a:off x="4599369" y="2274434"/>
            <a:ext cx="3112573" cy="394285"/>
          </a:xfrm>
          <a:prstGeom prst="rect">
            <a:avLst/>
          </a:prstGeom>
          <a:noFill/>
          <a:ln/>
        </p:spPr>
        <p:txBody>
          <a:bodyPr wrap="square" lIns="0" tIns="0" rIns="0" bIns="0" rtlCol="0" anchor="t"/>
          <a:lstStyle/>
          <a:p>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projetos em risco: 7 críticos e 10 em atenção, de 41</a:t>
            </a:r>
            <a:endParaRPr lang="en-US" sz="1150" dirty="0"/>
          </a:p>
        </p:txBody>
      </p:sp>
      <p:sp>
        <p:nvSpPr>
          <p:cNvPr id="10" name="Shape 8"/>
          <p:cNvSpPr/>
          <p:nvPr/>
        </p:nvSpPr>
        <p:spPr>
          <a:xfrm>
            <a:off x="7992267" y="1582301"/>
            <a:ext cx="3437348" cy="1283263"/>
          </a:xfrm>
          <a:prstGeom prst="roundRect">
            <a:avLst>
              <a:gd name="adj" fmla="val 11876"/>
            </a:avLst>
          </a:prstGeom>
          <a:solidFill>
            <a:srgbClr val="1E1E24"/>
          </a:solidFill>
          <a:ln w="6350">
            <a:solidFill>
              <a:srgbClr val="2F2F39"/>
            </a:solidFill>
            <a:prstDash val="solid"/>
          </a:ln>
        </p:spPr>
      </p:sp>
      <p:sp>
        <p:nvSpPr>
          <p:cNvPr id="11" name="Text 9"/>
          <p:cNvSpPr txBox="1"/>
          <p:nvPr/>
        </p:nvSpPr>
        <p:spPr>
          <a:xfrm>
            <a:off x="8214512" y="1779146"/>
            <a:ext cx="3112573" cy="419090"/>
          </a:xfrm>
          <a:prstGeom prst="rect">
            <a:avLst/>
          </a:prstGeom>
          <a:noFill/>
          <a:ln/>
        </p:spPr>
        <p:txBody>
          <a:bodyPr wrap="square" lIns="0" tIns="0" rIns="0" bIns="0" rtlCol="0" anchor="t"/>
          <a:lstStyle/>
          <a:p>
            <a:pPr algn="l" indent="0" marL="0">
              <a:lnSpc>
                <a:spcPct val="85470"/>
              </a:lnSpc>
              <a:buNone/>
            </a:pPr>
            <a:r>
              <a:rPr lang="en-US" sz="3300" b="1" spc="-66" kern="0" dirty="0">
                <a:solidFill>
                  <a:srgbClr val="F5F6FC"/>
                </a:solidFill>
                <a:latin typeface="Poppins" pitchFamily="34" charset="0"/>
                <a:ea typeface="Poppins" pitchFamily="34" charset="-122"/>
                <a:cs typeface="Poppins" pitchFamily="34" charset="-120"/>
              </a:rPr>
              <a:t>4</a:t>
            </a:r>
            <a:endParaRPr lang="en-US" sz="3300" dirty="0"/>
          </a:p>
        </p:txBody>
      </p:sp>
      <p:sp>
        <p:nvSpPr>
          <p:cNvPr id="12" name="Text 10"/>
          <p:cNvSpPr txBox="1"/>
          <p:nvPr/>
        </p:nvSpPr>
        <p:spPr>
          <a:xfrm>
            <a:off x="8214512" y="2274434"/>
            <a:ext cx="3112573" cy="394285"/>
          </a:xfrm>
          <a:prstGeom prst="rect">
            <a:avLst/>
          </a:prstGeom>
          <a:noFill/>
          <a:ln/>
        </p:spPr>
        <p:txBody>
          <a:bodyPr wrap="square" lIns="0" tIns="0" rIns="0" bIns="0" rtlCol="0" anchor="t"/>
          <a:lstStyle/>
          <a:p>
            <a:pPr algn="l" indent="0" marL="0">
              <a:lnSpc>
                <a:spcPct val="115385"/>
              </a:lnSpc>
              <a:buNone/>
            </a:pPr>
            <a:r>
              <a:rPr lang="en-US" sz="1150" dirty="0">
                <a:solidFill>
                  <a:srgbClr val="A3A6B4"/>
                </a:solidFill>
                <a:latin typeface="Poppins" pitchFamily="34" charset="0"/>
                <a:ea typeface="Poppins" pitchFamily="34" charset="-122"/>
                <a:cs typeface="Poppins" pitchFamily="34" charset="-120"/>
              </a:rPr>
              <a:t>melancias: farol verde do gerente com SPI abaixo de 0,9</a:t>
            </a:r>
            <a:endParaRPr lang="en-US" sz="1150" dirty="0"/>
          </a:p>
        </p:txBody>
      </p:sp>
      <p:sp>
        <p:nvSpPr>
          <p:cNvPr id="13" name="Shape 11"/>
          <p:cNvSpPr/>
          <p:nvPr/>
        </p:nvSpPr>
        <p:spPr>
          <a:xfrm>
            <a:off x="761981" y="3056060"/>
            <a:ext cx="10667733" cy="1252109"/>
          </a:xfrm>
          <a:prstGeom prst="roundRect">
            <a:avLst>
              <a:gd name="adj" fmla="val 12171"/>
            </a:avLst>
          </a:prstGeom>
          <a:solidFill>
            <a:srgbClr val="1E1E24"/>
          </a:solidFill>
          <a:ln w="6350">
            <a:solidFill>
              <a:srgbClr val="2F2F39"/>
            </a:solidFill>
            <a:prstDash val="solid"/>
          </a:ln>
        </p:spPr>
      </p:sp>
      <p:sp>
        <p:nvSpPr>
          <p:cNvPr id="14" name="Shape 12"/>
          <p:cNvSpPr/>
          <p:nvPr/>
        </p:nvSpPr>
        <p:spPr>
          <a:xfrm>
            <a:off x="984225" y="3252905"/>
            <a:ext cx="3221255" cy="247644"/>
          </a:xfrm>
          <a:prstGeom prst="roundRect">
            <a:avLst>
              <a:gd name="adj" fmla="val 50000"/>
            </a:avLst>
          </a:prstGeom>
          <a:solidFill>
            <a:srgbClr val="22C2F4">
              <a:alpha val="14000"/>
            </a:srgbClr>
          </a:solidFill>
          <a:ln/>
        </p:spPr>
      </p:sp>
      <p:sp>
        <p:nvSpPr>
          <p:cNvPr id="15" name="Text 13"/>
          <p:cNvSpPr txBox="1"/>
          <p:nvPr/>
        </p:nvSpPr>
        <p:spPr>
          <a:xfrm>
            <a:off x="1073123" y="3291004"/>
            <a:ext cx="3165197"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As melancias: verdes por fora, vermelhas por dentro</a:t>
            </a:r>
            <a:endParaRPr lang="en-US" sz="900" dirty="0"/>
          </a:p>
        </p:txBody>
      </p:sp>
      <p:sp>
        <p:nvSpPr>
          <p:cNvPr id="16" name="Text 14"/>
          <p:cNvSpPr txBox="1"/>
          <p:nvPr/>
        </p:nvSpPr>
        <p:spPr>
          <a:xfrm>
            <a:off x="984225" y="3665644"/>
            <a:ext cx="10632174" cy="445679"/>
          </a:xfrm>
          <a:prstGeom prst="rect">
            <a:avLst/>
          </a:prstGeom>
          <a:noFill/>
          <a:ln/>
        </p:spPr>
        <p:txBody>
          <a:bodyPr wrap="square" lIns="0" tIns="0" rIns="0" bIns="0" rtlCol="0" anchor="t"/>
          <a:lstStyle/>
          <a:p>
            <a:pPr algn="l" indent="0" marL="0">
              <a:lnSpc>
                <a:spcPct val="115385"/>
              </a:lnSpc>
              <a:buNone/>
            </a:pPr>
            <a:r>
              <a:rPr lang="en-US" sz="1300" dirty="0">
                <a:solidFill>
                  <a:srgbClr val="FFFFFF"/>
                </a:solidFill>
                <a:latin typeface="Poppins" pitchFamily="34" charset="0"/>
                <a:ea typeface="Poppins" pitchFamily="34" charset="-122"/>
                <a:cs typeface="Poppins" pitchFamily="34" charset="-120"/>
              </a:rPr>
              <a:t>PRJ-012 · PRJ-028 · PRJ-034 · PRJ-042: o gerente publicou verde na sexta; o número diz atraso. A regra da Vértice é verde só com SPI ≥ 0,95.</a:t>
            </a:r>
            <a:endParaRPr lang="en-US" sz="1300" dirty="0"/>
          </a:p>
        </p:txBody>
      </p:sp>
      <p:pic>
        <p:nvPicPr>
          <p:cNvPr id="17"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18" name="Text 15"/>
          <p:cNvSpPr txBox="1"/>
          <p:nvPr/>
        </p:nvSpPr>
        <p:spPr>
          <a:xfrm>
            <a:off x="10950400" y="6387940"/>
            <a:ext cx="498486"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67 / 133</a:t>
            </a:r>
            <a:endParaRPr lang="en-US" sz="10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1 · BÔNUS · EXEMPLO 07</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SQL que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lê PDF</a:t>
            </a:r>
            <a:endParaRPr lang="en-US" sz="3100" dirty="0"/>
          </a:p>
        </p:txBody>
      </p:sp>
      <p:sp>
        <p:nvSpPr>
          <p:cNvPr id="4" name="Shape 2"/>
          <p:cNvSpPr/>
          <p:nvPr/>
        </p:nvSpPr>
        <p:spPr>
          <a:xfrm>
            <a:off x="761981" y="1582301"/>
            <a:ext cx="5921822" cy="1917156"/>
          </a:xfrm>
          <a:prstGeom prst="roundRect">
            <a:avLst>
              <a:gd name="adj" fmla="val 5962"/>
            </a:avLst>
          </a:prstGeom>
          <a:solidFill>
            <a:srgbClr val="0C0C10"/>
          </a:solidFill>
          <a:ln w="6350">
            <a:solidFill>
              <a:srgbClr val="2F2F39"/>
            </a:solidFill>
            <a:prstDash val="solid"/>
          </a:ln>
        </p:spPr>
      </p:sp>
      <p:sp>
        <p:nvSpPr>
          <p:cNvPr id="5" name="Text 3"/>
          <p:cNvSpPr txBox="1"/>
          <p:nvPr/>
        </p:nvSpPr>
        <p:spPr>
          <a:xfrm>
            <a:off x="958826" y="1753747"/>
            <a:ext cx="5755861" cy="1580614"/>
          </a:xfrm>
          <a:prstGeom prst="rect">
            <a:avLst/>
          </a:prstGeom>
          <a:noFill/>
          <a:ln/>
        </p:spPr>
        <p:txBody>
          <a:bodyPr wrap="square" lIns="0" tIns="0" rIns="0" bIns="0" rtlCol="0" anchor="t"/>
          <a:lstStyle/>
          <a:p>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SELECT</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e.value:type::STRING    </a:t>
            </a: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AS</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tipo,</a:t>
            </a:r>
            <a:endParaRPr lang="en-US" sz="950" dirty="0"/>
          </a:p>
          <a:p>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e.value:content::STRING </a:t>
            </a: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AS</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texto</a:t>
            </a:r>
            <a:endParaRPr lang="en-US" sz="950" dirty="0"/>
          </a:p>
          <a:p>
            <a:pPr algn="l" indent="0" marL="0">
              <a:lnSpc>
                <a:spcPct val="123932"/>
              </a:lnSpc>
              <a:buNone/>
            </a:pP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FROM</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a:t>
            </a:r>
            <a:endParaRPr lang="en-US" sz="950" dirty="0"/>
          </a:p>
          <a:p>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a:t>
            </a: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SELECT</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ai_parse_document(content,</a:t>
            </a:r>
            <a:endParaRPr lang="en-US" sz="950" dirty="0"/>
          </a:p>
          <a:p>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map(</a:t>
            </a:r>
            <a:pPr algn="l" indent="0" marL="0">
              <a:lnSpc>
                <a:spcPct val="123932"/>
              </a:lnSpc>
              <a:buNone/>
            </a:pPr>
            <a:r>
              <a:rPr lang="en-US" sz="950" dirty="0">
                <a:solidFill>
                  <a:srgbClr val="F6C344"/>
                </a:solidFill>
                <a:latin typeface="Courier New" pitchFamily="34" charset="0"/>
                <a:ea typeface="Courier New" pitchFamily="34" charset="-122"/>
                <a:cs typeface="Courier New" pitchFamily="34" charset="-120"/>
              </a:rPr>
              <a:t>'version'</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a:t>
            </a:r>
            <a:pPr algn="l" indent="0" marL="0">
              <a:lnSpc>
                <a:spcPct val="123932"/>
              </a:lnSpc>
              <a:buNone/>
            </a:pPr>
            <a:r>
              <a:rPr lang="en-US" sz="950" dirty="0">
                <a:solidFill>
                  <a:srgbClr val="F6C344"/>
                </a:solidFill>
                <a:latin typeface="Courier New" pitchFamily="34" charset="0"/>
                <a:ea typeface="Courier New" pitchFamily="34" charset="-122"/>
                <a:cs typeface="Courier New" pitchFamily="34" charset="-120"/>
              </a:rPr>
              <a:t>'2.0'</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a:t>
            </a: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AS</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doc</a:t>
            </a:r>
            <a:endParaRPr lang="en-US" sz="950" dirty="0"/>
          </a:p>
          <a:p>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a:t>
            </a: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FROM</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read_files(</a:t>
            </a:r>
            <a:endParaRPr lang="en-US" sz="950" dirty="0"/>
          </a:p>
          <a:p>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a:t>
            </a:r>
            <a:pPr algn="l" indent="0" marL="0">
              <a:lnSpc>
                <a:spcPct val="123932"/>
              </a:lnSpc>
              <a:buNone/>
            </a:pPr>
            <a:r>
              <a:rPr lang="en-US" sz="950" dirty="0">
                <a:solidFill>
                  <a:srgbClr val="F6C344"/>
                </a:solidFill>
                <a:latin typeface="Courier New" pitchFamily="34" charset="0"/>
                <a:ea typeface="Courier New" pitchFamily="34" charset="-122"/>
                <a:cs typeface="Courier New" pitchFamily="34" charset="-120"/>
              </a:rPr>
              <a:t>'/Volumes/.../contratos/contrato_codeforge_consultoria_ltda.pdf'</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a:t>
            </a:r>
            <a:endParaRPr lang="en-US" sz="950" dirty="0"/>
          </a:p>
          <a:p>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format =&gt; </a:t>
            </a:r>
            <a:pPr algn="l" indent="0" marL="0">
              <a:lnSpc>
                <a:spcPct val="123932"/>
              </a:lnSpc>
              <a:buNone/>
            </a:pPr>
            <a:r>
              <a:rPr lang="en-US" sz="950" dirty="0">
                <a:solidFill>
                  <a:srgbClr val="F6C344"/>
                </a:solidFill>
                <a:latin typeface="Courier New" pitchFamily="34" charset="0"/>
                <a:ea typeface="Courier New" pitchFamily="34" charset="-122"/>
                <a:cs typeface="Courier New" pitchFamily="34" charset="-120"/>
              </a:rPr>
              <a:t>'binaryFile'</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a:t>
            </a:r>
            <a:endParaRPr lang="en-US" sz="950" dirty="0"/>
          </a:p>
          <a:p>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a:t>
            </a: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LATERAL</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variant_explode(doc:document:elements) </a:t>
            </a: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AS</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e;</a:t>
            </a:r>
            <a:endParaRPr lang="en-US" sz="950" dirty="0"/>
          </a:p>
        </p:txBody>
      </p:sp>
      <p:sp>
        <p:nvSpPr>
          <p:cNvPr id="6" name="Shape 4"/>
          <p:cNvSpPr/>
          <p:nvPr/>
        </p:nvSpPr>
        <p:spPr>
          <a:xfrm>
            <a:off x="6874298" y="1582301"/>
            <a:ext cx="4555317" cy="1397858"/>
          </a:xfrm>
          <a:prstGeom prst="roundRect">
            <a:avLst>
              <a:gd name="adj" fmla="val 10902"/>
            </a:avLst>
          </a:prstGeom>
          <a:solidFill>
            <a:srgbClr val="1E1E24"/>
          </a:solidFill>
          <a:ln w="6350">
            <a:solidFill>
              <a:srgbClr val="2F2F39"/>
            </a:solidFill>
            <a:prstDash val="solid"/>
          </a:ln>
        </p:spPr>
      </p:sp>
      <p:sp>
        <p:nvSpPr>
          <p:cNvPr id="7" name="Shape 5"/>
          <p:cNvSpPr/>
          <p:nvPr/>
        </p:nvSpPr>
        <p:spPr>
          <a:xfrm>
            <a:off x="7096543" y="1779146"/>
            <a:ext cx="702451" cy="247644"/>
          </a:xfrm>
          <a:prstGeom prst="roundRect">
            <a:avLst>
              <a:gd name="adj" fmla="val 50000"/>
            </a:avLst>
          </a:prstGeom>
          <a:solidFill>
            <a:srgbClr val="22C2F4">
              <a:alpha val="14000"/>
            </a:srgbClr>
          </a:solidFill>
          <a:ln/>
        </p:spPr>
      </p:sp>
      <p:sp>
        <p:nvSpPr>
          <p:cNvPr id="8" name="Text 6"/>
          <p:cNvSpPr txBox="1"/>
          <p:nvPr/>
        </p:nvSpPr>
        <p:spPr>
          <a:xfrm>
            <a:off x="7185441" y="1817245"/>
            <a:ext cx="545642"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Conceito</a:t>
            </a:r>
            <a:endParaRPr lang="en-US" sz="900" dirty="0"/>
          </a:p>
        </p:txBody>
      </p:sp>
      <p:sp>
        <p:nvSpPr>
          <p:cNvPr id="9" name="Text 7"/>
          <p:cNvSpPr txBox="1"/>
          <p:nvPr/>
        </p:nvSpPr>
        <p:spPr>
          <a:xfrm>
            <a:off x="7096543" y="2191886"/>
            <a:ext cx="4275261" cy="591428"/>
          </a:xfrm>
          <a:prstGeom prst="rect">
            <a:avLst/>
          </a:prstGeom>
          <a:noFill/>
          <a:ln/>
        </p:spPr>
        <p:txBody>
          <a:bodyPr wrap="square" lIns="0" tIns="0" rIns="0" bIns="0" rtlCol="0" anchor="t"/>
          <a:lstStyle/>
          <a:p>
            <a:pPr algn="l" indent="0" marL="0">
              <a:lnSpc>
                <a:spcPct val="115385"/>
              </a:lnSpc>
              <a:buNone/>
            </a:pPr>
            <a:r>
              <a:rPr lang="en-US" sz="1150" b="1" dirty="0">
                <a:solidFill>
                  <a:srgbClr val="FFFFFF"/>
                </a:solidFill>
                <a:latin typeface="Poppins" pitchFamily="34" charset="0"/>
                <a:ea typeface="Poppins" pitchFamily="34" charset="-122"/>
                <a:cs typeface="Poppins" pitchFamily="34" charset="-120"/>
              </a:rPr>
              <a:t>binaryFile</a:t>
            </a:r>
            <a:pPr algn="l" indent="0" marL="0">
              <a:lnSpc>
                <a:spcPct val="115385"/>
              </a:lnSpc>
              <a:buNone/>
            </a:pPr>
            <a:r>
              <a:rPr lang="en-US" sz="1150" dirty="0">
                <a:solidFill>
                  <a:srgbClr val="FFFFFF"/>
                </a:solidFill>
                <a:latin typeface="Poppins" pitchFamily="34" charset="0"/>
                <a:ea typeface="Poppins" pitchFamily="34" charset="-122"/>
                <a:cs typeface="Poppins" pitchFamily="34" charset="-120"/>
              </a:rPr>
              <a:t> lê o PDF como arquivo; </a:t>
            </a:r>
            <a:pPr algn="l" indent="0" marL="0">
              <a:lnSpc>
                <a:spcPct val="115385"/>
              </a:lnSpc>
              <a:buNone/>
            </a:pPr>
            <a:r>
              <a:rPr lang="en-US" sz="1150" b="1" dirty="0">
                <a:solidFill>
                  <a:srgbClr val="FFFFFF"/>
                </a:solidFill>
                <a:latin typeface="Poppins" pitchFamily="34" charset="0"/>
                <a:ea typeface="Poppins" pitchFamily="34" charset="-122"/>
                <a:cs typeface="Poppins" pitchFamily="34" charset="-120"/>
              </a:rPr>
              <a:t>ai_parse_document</a:t>
            </a:r>
            <a:pPr algn="l" indent="0" marL="0">
              <a:lnSpc>
                <a:spcPct val="115385"/>
              </a:lnSpc>
              <a:buNone/>
            </a:pPr>
            <a:r>
              <a:rPr lang="en-US" sz="1150" dirty="0">
                <a:solidFill>
                  <a:srgbClr val="FFFFFF"/>
                </a:solidFill>
                <a:latin typeface="Poppins" pitchFamily="34" charset="0"/>
                <a:ea typeface="Poppins" pitchFamily="34" charset="-122"/>
                <a:cs typeface="Poppins" pitchFamily="34" charset="-120"/>
              </a:rPr>
              <a:t> é uma IA que devolve os pedaços (título, seção, texto); </a:t>
            </a:r>
            <a:pPr algn="l" indent="0" marL="0">
              <a:lnSpc>
                <a:spcPct val="115385"/>
              </a:lnSpc>
              <a:buNone/>
            </a:pPr>
            <a:r>
              <a:rPr lang="en-US" sz="1150" b="1" dirty="0">
                <a:solidFill>
                  <a:srgbClr val="FFFFFF"/>
                </a:solidFill>
                <a:latin typeface="Poppins" pitchFamily="34" charset="0"/>
                <a:ea typeface="Poppins" pitchFamily="34" charset="-122"/>
                <a:cs typeface="Poppins" pitchFamily="34" charset="-120"/>
              </a:rPr>
              <a:t>variant_explode</a:t>
            </a:r>
            <a:pPr algn="l" indent="0" marL="0">
              <a:lnSpc>
                <a:spcPct val="115385"/>
              </a:lnSpc>
              <a:buNone/>
            </a:pPr>
            <a:r>
              <a:rPr lang="en-US" sz="1150" dirty="0">
                <a:solidFill>
                  <a:srgbClr val="FFFFFF"/>
                </a:solidFill>
                <a:latin typeface="Poppins" pitchFamily="34" charset="0"/>
                <a:ea typeface="Poppins" pitchFamily="34" charset="-122"/>
                <a:cs typeface="Poppins" pitchFamily="34" charset="-120"/>
              </a:rPr>
              <a:t> vira cada pedaço uma linha.</a:t>
            </a:r>
            <a:endParaRPr lang="en-US" sz="1150" dirty="0"/>
          </a:p>
        </p:txBody>
      </p:sp>
      <p:sp>
        <p:nvSpPr>
          <p:cNvPr id="10" name="Shape 8"/>
          <p:cNvSpPr/>
          <p:nvPr/>
        </p:nvSpPr>
        <p:spPr>
          <a:xfrm>
            <a:off x="6874298" y="3119856"/>
            <a:ext cx="4555317" cy="1911005"/>
          </a:xfrm>
          <a:prstGeom prst="roundRect">
            <a:avLst>
              <a:gd name="adj" fmla="val 7975"/>
            </a:avLst>
          </a:prstGeom>
          <a:solidFill>
            <a:srgbClr val="0059DB"/>
          </a:solidFill>
          <a:ln/>
        </p:spPr>
      </p:sp>
      <p:sp>
        <p:nvSpPr>
          <p:cNvPr id="11" name="Shape 9"/>
          <p:cNvSpPr/>
          <p:nvPr/>
        </p:nvSpPr>
        <p:spPr>
          <a:xfrm>
            <a:off x="7096543" y="3316701"/>
            <a:ext cx="1034032" cy="247644"/>
          </a:xfrm>
          <a:prstGeom prst="roundRect">
            <a:avLst>
              <a:gd name="adj" fmla="val 50000"/>
            </a:avLst>
          </a:prstGeom>
          <a:solidFill>
            <a:srgbClr val="FFFFFF">
              <a:alpha val="16000"/>
            </a:srgbClr>
          </a:solidFill>
          <a:ln/>
        </p:spPr>
      </p:sp>
      <p:sp>
        <p:nvSpPr>
          <p:cNvPr id="12" name="Text 10"/>
          <p:cNvSpPr txBox="1"/>
          <p:nvPr/>
        </p:nvSpPr>
        <p:spPr>
          <a:xfrm>
            <a:off x="7185441" y="3354800"/>
            <a:ext cx="890486"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O que aparece</a:t>
            </a:r>
            <a:endParaRPr lang="en-US" sz="900" dirty="0"/>
          </a:p>
        </p:txBody>
      </p:sp>
      <p:sp>
        <p:nvSpPr>
          <p:cNvPr id="13" name="Shape 11"/>
          <p:cNvSpPr/>
          <p:nvPr/>
        </p:nvSpPr>
        <p:spPr>
          <a:xfrm>
            <a:off x="7096543" y="3735790"/>
            <a:ext cx="76198" cy="76198"/>
          </a:xfrm>
          <a:prstGeom prst="roundRect">
            <a:avLst>
              <a:gd name="adj" fmla="val 25000"/>
            </a:avLst>
          </a:prstGeom>
          <a:solidFill>
            <a:srgbClr val="22C2F4"/>
          </a:solidFill>
          <a:ln/>
        </p:spPr>
      </p:sp>
      <p:sp>
        <p:nvSpPr>
          <p:cNvPr id="14" name="Text 12"/>
          <p:cNvSpPr txBox="1"/>
          <p:nvPr/>
        </p:nvSpPr>
        <p:spPr>
          <a:xfrm>
            <a:off x="7287038" y="3653242"/>
            <a:ext cx="4077146"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as cláusulas do contrato da CodeForge, em ~10 segundos</a:t>
            </a:r>
            <a:endParaRPr lang="en-US" sz="1200" dirty="0"/>
          </a:p>
        </p:txBody>
      </p:sp>
      <p:sp>
        <p:nvSpPr>
          <p:cNvPr id="15" name="Shape 13"/>
          <p:cNvSpPr/>
          <p:nvPr/>
        </p:nvSpPr>
        <p:spPr>
          <a:xfrm>
            <a:off x="7096543" y="4223339"/>
            <a:ext cx="76198" cy="76198"/>
          </a:xfrm>
          <a:prstGeom prst="roundRect">
            <a:avLst>
              <a:gd name="adj" fmla="val 25000"/>
            </a:avLst>
          </a:prstGeom>
          <a:solidFill>
            <a:srgbClr val="22C2F4"/>
          </a:solidFill>
          <a:ln/>
        </p:spPr>
      </p:sp>
      <p:sp>
        <p:nvSpPr>
          <p:cNvPr id="16" name="Text 14"/>
          <p:cNvSpPr txBox="1"/>
          <p:nvPr/>
        </p:nvSpPr>
        <p:spPr>
          <a:xfrm>
            <a:off x="7287038" y="4140791"/>
            <a:ext cx="4077146"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CLÁUSULA 6: multa de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0,5% por dia</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teto de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10%</a:t>
            </a:r>
            <a:endParaRPr lang="en-US" sz="1200" dirty="0"/>
          </a:p>
        </p:txBody>
      </p:sp>
      <p:sp>
        <p:nvSpPr>
          <p:cNvPr id="17" name="Shape 15"/>
          <p:cNvSpPr/>
          <p:nvPr/>
        </p:nvSpPr>
        <p:spPr>
          <a:xfrm>
            <a:off x="7096543" y="4505212"/>
            <a:ext cx="76198" cy="76198"/>
          </a:xfrm>
          <a:prstGeom prst="roundRect">
            <a:avLst>
              <a:gd name="adj" fmla="val 25000"/>
            </a:avLst>
          </a:prstGeom>
          <a:solidFill>
            <a:srgbClr val="22C2F4"/>
          </a:solidFill>
          <a:ln/>
        </p:spPr>
      </p:sp>
      <p:sp>
        <p:nvSpPr>
          <p:cNvPr id="18" name="Text 16"/>
          <p:cNvSpPr txBox="1"/>
          <p:nvPr/>
        </p:nvSpPr>
        <p:spPr>
          <a:xfrm>
            <a:off x="7287038" y="4422664"/>
            <a:ext cx="4077146"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quinta: a IA tira esses campos e calcula a multa cobrável,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R$ 1,12 mi</a:t>
            </a:r>
            <a:endParaRPr lang="en-US" sz="1200" dirty="0"/>
          </a:p>
        </p:txBody>
      </p:sp>
      <p:sp>
        <p:nvSpPr>
          <p:cNvPr id="19" name="Shape 17"/>
          <p:cNvSpPr/>
          <p:nvPr/>
        </p:nvSpPr>
        <p:spPr>
          <a:xfrm>
            <a:off x="761981" y="5170557"/>
            <a:ext cx="25399" cy="285743"/>
          </a:xfrm>
          <a:prstGeom prst="rect">
            <a:avLst/>
          </a:prstGeom>
          <a:solidFill>
            <a:srgbClr val="22C2F4"/>
          </a:solidFill>
          <a:ln/>
        </p:spPr>
      </p:sp>
      <p:sp>
        <p:nvSpPr>
          <p:cNvPr id="20" name="Text 18"/>
          <p:cNvSpPr txBox="1"/>
          <p:nvPr/>
        </p:nvSpPr>
        <p:spPr>
          <a:xfrm>
            <a:off x="914377" y="5208656"/>
            <a:ext cx="10935951" cy="209545"/>
          </a:xfrm>
          <a:prstGeom prst="rect">
            <a:avLst/>
          </a:prstGeom>
          <a:noFill/>
          <a:ln/>
        </p:spPr>
        <p:txBody>
          <a:bodyPr wrap="square" lIns="0" tIns="0" rIns="0" bIns="0" rtlCol="0" anchor="t"/>
          <a:lstStyle/>
          <a:p>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Arquivo: </a:t>
            </a:r>
            <a:pPr algn="l" indent="0" marL="0">
              <a:lnSpc>
                <a:spcPct val="106838"/>
              </a:lnSpc>
              <a:buNone/>
            </a:pPr>
            <a:r>
              <a:rPr lang="en-US" sz="1100" b="1" dirty="0">
                <a:solidFill>
                  <a:srgbClr val="FFFFFF"/>
                </a:solidFill>
                <a:latin typeface="Poppins" pitchFamily="34" charset="0"/>
                <a:ea typeface="Poppins" pitchFamily="34" charset="-122"/>
                <a:cs typeface="Poppins" pitchFamily="34" charset="-120"/>
              </a:rPr>
              <a:t>exemplo-07-ler-pdf.sql</a:t>
            </a:r>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 Antes, suba a pasta </a:t>
            </a:r>
            <a:pPr algn="l" indent="0" marL="0">
              <a:lnSpc>
                <a:spcPct val="106838"/>
              </a:lnSpc>
              <a:buNone/>
            </a:pPr>
            <a:r>
              <a:rPr lang="en-US" sz="1100" b="1" dirty="0">
                <a:solidFill>
                  <a:srgbClr val="FFFFFF"/>
                </a:solidFill>
                <a:latin typeface="Poppins" pitchFamily="34" charset="0"/>
                <a:ea typeface="Poppins" pitchFamily="34" charset="-122"/>
                <a:cs typeface="Poppins" pitchFamily="34" charset="-120"/>
              </a:rPr>
              <a:t>documentos/</a:t>
            </a:r>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 do zip para o volume </a:t>
            </a:r>
            <a:pPr algn="l" indent="0" marL="0">
              <a:lnSpc>
                <a:spcPct val="106838"/>
              </a:lnSpc>
              <a:buNone/>
            </a:pPr>
            <a:r>
              <a:rPr lang="en-US" sz="1100" b="1" dirty="0">
                <a:solidFill>
                  <a:srgbClr val="FFFFFF"/>
                </a:solidFill>
                <a:latin typeface="Poppins" pitchFamily="34" charset="0"/>
                <a:ea typeface="Poppins" pitchFamily="34" charset="-122"/>
                <a:cs typeface="Poppins" pitchFamily="34" charset="-120"/>
              </a:rPr>
              <a:t>raw</a:t>
            </a:r>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a:t>
            </a:r>
            <a:endParaRPr lang="en-US" sz="1100" dirty="0"/>
          </a:p>
        </p:txBody>
      </p:sp>
      <p:pic>
        <p:nvPicPr>
          <p:cNvPr id="21"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22" name="Text 19"/>
          <p:cNvSpPr txBox="1"/>
          <p:nvPr/>
        </p:nvSpPr>
        <p:spPr>
          <a:xfrm>
            <a:off x="10940479" y="6387940"/>
            <a:ext cx="508805"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68 / 133</a:t>
            </a:r>
            <a:endParaRPr lang="en-US" sz="10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1 · O QUE DEVE APARECER NA TELA</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Seu número é diferente?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O erro está na query</a:t>
            </a:r>
            <a:endParaRPr lang="en-US" sz="3100" dirty="0"/>
          </a:p>
        </p:txBody>
      </p:sp>
      <p:sp>
        <p:nvSpPr>
          <p:cNvPr id="4" name="Text 2"/>
          <p:cNvSpPr txBox="1"/>
          <p:nvPr/>
        </p:nvSpPr>
        <p:spPr>
          <a:xfrm>
            <a:off x="876278" y="1582301"/>
            <a:ext cx="3934647" cy="171446"/>
          </a:xfrm>
          <a:prstGeom prst="rect">
            <a:avLst/>
          </a:prstGeom>
          <a:noFill/>
          <a:ln/>
        </p:spPr>
        <p:txBody>
          <a:bodyPr wrap="square" lIns="0" tIns="0" rIns="0" bIns="0" rtlCol="0" anchor="t"/>
          <a:lstStyle/>
          <a:p>
            <a:pPr algn="l"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MÉTRICA</a:t>
            </a:r>
            <a:endParaRPr lang="en-US" sz="900" dirty="0"/>
          </a:p>
        </p:txBody>
      </p:sp>
      <p:sp>
        <p:nvSpPr>
          <p:cNvPr id="5" name="Text 3"/>
          <p:cNvSpPr txBox="1"/>
          <p:nvPr/>
        </p:nvSpPr>
        <p:spPr>
          <a:xfrm>
            <a:off x="4888187" y="1582301"/>
            <a:ext cx="6684319" cy="171446"/>
          </a:xfrm>
          <a:prstGeom prst="rect">
            <a:avLst/>
          </a:prstGeom>
          <a:noFill/>
          <a:ln/>
        </p:spPr>
        <p:txBody>
          <a:bodyPr wrap="square" lIns="0" tIns="0" rIns="0" bIns="0" rtlCol="0" anchor="t"/>
          <a:lstStyle/>
          <a:p>
            <a:pPr algn="l"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VALOR</a:t>
            </a:r>
            <a:endParaRPr lang="en-US" sz="900" dirty="0"/>
          </a:p>
        </p:txBody>
      </p:sp>
      <p:sp>
        <p:nvSpPr>
          <p:cNvPr id="6" name="Shape 4"/>
          <p:cNvSpPr/>
          <p:nvPr/>
        </p:nvSpPr>
        <p:spPr>
          <a:xfrm>
            <a:off x="761981" y="1880744"/>
            <a:ext cx="4011909" cy="392996"/>
          </a:xfrm>
          <a:prstGeom prst="rect">
            <a:avLst/>
          </a:prstGeom>
          <a:solidFill>
            <a:srgbClr val="1E1E24"/>
          </a:solidFill>
          <a:ln/>
        </p:spPr>
      </p:sp>
      <p:sp>
        <p:nvSpPr>
          <p:cNvPr id="7" name="Text 5"/>
          <p:cNvSpPr txBox="1"/>
          <p:nvPr/>
        </p:nvSpPr>
        <p:spPr>
          <a:xfrm>
            <a:off x="876278" y="1982341"/>
            <a:ext cx="3934647" cy="189801"/>
          </a:xfrm>
          <a:prstGeom prst="rect">
            <a:avLst/>
          </a:prstGeom>
          <a:noFill/>
          <a:ln/>
        </p:spPr>
        <p:txBody>
          <a:bodyPr wrap="square" lIns="0" tIns="0" rIns="0" bIns="0" rtlCol="0" anchor="t"/>
          <a:lstStyle/>
          <a:p>
            <a:pPr algn="l" indent="0" marL="0">
              <a:lnSpc>
                <a:spcPct val="111111"/>
              </a:lnSpc>
              <a:buNone/>
            </a:pPr>
            <a:r>
              <a:rPr lang="en-US" sz="1150" b="1" dirty="0">
                <a:solidFill>
                  <a:srgbClr val="F5F6FC"/>
                </a:solidFill>
                <a:latin typeface="Poppins" pitchFamily="34" charset="0"/>
                <a:ea typeface="Poppins" pitchFamily="34" charset="-122"/>
                <a:cs typeface="Poppins" pitchFamily="34" charset="-120"/>
              </a:rPr>
              <a:t>Carteira total · em andamento</a:t>
            </a:r>
            <a:endParaRPr lang="en-US" sz="1150" dirty="0"/>
          </a:p>
        </p:txBody>
      </p:sp>
      <p:sp>
        <p:nvSpPr>
          <p:cNvPr id="8" name="Shape 6"/>
          <p:cNvSpPr/>
          <p:nvPr/>
        </p:nvSpPr>
        <p:spPr>
          <a:xfrm>
            <a:off x="4773890" y="1880744"/>
            <a:ext cx="6655824" cy="392996"/>
          </a:xfrm>
          <a:prstGeom prst="rect">
            <a:avLst/>
          </a:prstGeom>
          <a:solidFill>
            <a:srgbClr val="1E1E24"/>
          </a:solidFill>
          <a:ln/>
        </p:spPr>
      </p:sp>
      <p:sp>
        <p:nvSpPr>
          <p:cNvPr id="9" name="Text 7"/>
          <p:cNvSpPr txBox="1"/>
          <p:nvPr/>
        </p:nvSpPr>
        <p:spPr>
          <a:xfrm>
            <a:off x="4888187" y="1982341"/>
            <a:ext cx="6684319" cy="189801"/>
          </a:xfrm>
          <a:prstGeom prst="rect">
            <a:avLst/>
          </a:prstGeom>
          <a:noFill/>
          <a:ln/>
        </p:spPr>
        <p:txBody>
          <a:bodyPr wrap="square" lIns="0" tIns="0" rIns="0" bIns="0" rtlCol="0" anchor="t"/>
          <a:lstStyle/>
          <a:p>
            <a:pPr algn="l" indent="0" marL="0">
              <a:lnSpc>
                <a:spcPct val="111111"/>
              </a:lnSpc>
              <a:buNone/>
            </a:pPr>
            <a:r>
              <a:rPr lang="en-US" sz="1150" dirty="0">
                <a:solidFill>
                  <a:srgbClr val="F5F6FC"/>
                </a:solidFill>
                <a:latin typeface="Poppins" pitchFamily="34" charset="0"/>
                <a:ea typeface="Poppins" pitchFamily="34" charset="-122"/>
                <a:cs typeface="Poppins" pitchFamily="34" charset="-120"/>
              </a:rPr>
              <a:t>R$ 305,2 mi · R$ 208,6 mi (41 projetos)</a:t>
            </a:r>
            <a:endParaRPr lang="en-US" sz="1150" dirty="0"/>
          </a:p>
        </p:txBody>
      </p:sp>
      <p:sp>
        <p:nvSpPr>
          <p:cNvPr id="10" name="Shape 8"/>
          <p:cNvSpPr/>
          <p:nvPr/>
        </p:nvSpPr>
        <p:spPr>
          <a:xfrm>
            <a:off x="761981" y="2324538"/>
            <a:ext cx="4011909" cy="392996"/>
          </a:xfrm>
          <a:prstGeom prst="rect">
            <a:avLst/>
          </a:prstGeom>
          <a:solidFill>
            <a:srgbClr val="1E1E24"/>
          </a:solidFill>
          <a:ln/>
        </p:spPr>
      </p:sp>
      <p:sp>
        <p:nvSpPr>
          <p:cNvPr id="11" name="Text 9"/>
          <p:cNvSpPr txBox="1"/>
          <p:nvPr/>
        </p:nvSpPr>
        <p:spPr>
          <a:xfrm>
            <a:off x="876278" y="2426135"/>
            <a:ext cx="3934647" cy="189801"/>
          </a:xfrm>
          <a:prstGeom prst="rect">
            <a:avLst/>
          </a:prstGeom>
          <a:noFill/>
          <a:ln/>
        </p:spPr>
        <p:txBody>
          <a:bodyPr wrap="square" lIns="0" tIns="0" rIns="0" bIns="0" rtlCol="0" anchor="t"/>
          <a:lstStyle/>
          <a:p>
            <a:pPr algn="l" indent="0" marL="0">
              <a:lnSpc>
                <a:spcPct val="111111"/>
              </a:lnSpc>
              <a:buNone/>
            </a:pPr>
            <a:r>
              <a:rPr lang="en-US" sz="1150" b="1" dirty="0">
                <a:solidFill>
                  <a:srgbClr val="F5F6FC"/>
                </a:solidFill>
                <a:latin typeface="Poppins" pitchFamily="34" charset="0"/>
                <a:ea typeface="Poppins" pitchFamily="34" charset="-122"/>
                <a:cs typeface="Poppins" pitchFamily="34" charset="-120"/>
              </a:rPr>
              <a:t>Custo real total</a:t>
            </a:r>
            <a:endParaRPr lang="en-US" sz="1150" dirty="0"/>
          </a:p>
        </p:txBody>
      </p:sp>
      <p:sp>
        <p:nvSpPr>
          <p:cNvPr id="12" name="Shape 10"/>
          <p:cNvSpPr/>
          <p:nvPr/>
        </p:nvSpPr>
        <p:spPr>
          <a:xfrm>
            <a:off x="4773890" y="2324538"/>
            <a:ext cx="6655824" cy="392996"/>
          </a:xfrm>
          <a:prstGeom prst="rect">
            <a:avLst/>
          </a:prstGeom>
          <a:solidFill>
            <a:srgbClr val="1E1E24"/>
          </a:solidFill>
          <a:ln/>
        </p:spPr>
      </p:sp>
      <p:sp>
        <p:nvSpPr>
          <p:cNvPr id="13" name="Text 11"/>
          <p:cNvSpPr txBox="1"/>
          <p:nvPr/>
        </p:nvSpPr>
        <p:spPr>
          <a:xfrm>
            <a:off x="4888187" y="2426135"/>
            <a:ext cx="6684319" cy="189801"/>
          </a:xfrm>
          <a:prstGeom prst="rect">
            <a:avLst/>
          </a:prstGeom>
          <a:noFill/>
          <a:ln/>
        </p:spPr>
        <p:txBody>
          <a:bodyPr wrap="square" lIns="0" tIns="0" rIns="0" bIns="0" rtlCol="0" anchor="t"/>
          <a:lstStyle/>
          <a:p>
            <a:pPr algn="l" indent="0" marL="0">
              <a:lnSpc>
                <a:spcPct val="111111"/>
              </a:lnSpc>
              <a:buNone/>
            </a:pPr>
            <a:r>
              <a:rPr lang="en-US" sz="1150" dirty="0">
                <a:solidFill>
                  <a:srgbClr val="F5F6FC"/>
                </a:solidFill>
                <a:latin typeface="Poppins" pitchFamily="34" charset="0"/>
                <a:ea typeface="Poppins" pitchFamily="34" charset="-122"/>
                <a:cs typeface="Poppins" pitchFamily="34" charset="-120"/>
              </a:rPr>
              <a:t>R$ 193,35 mi (pessoal: R$ 117,8 mi)</a:t>
            </a:r>
            <a:endParaRPr lang="en-US" sz="1150" dirty="0"/>
          </a:p>
        </p:txBody>
      </p:sp>
      <p:sp>
        <p:nvSpPr>
          <p:cNvPr id="14" name="Shape 12"/>
          <p:cNvSpPr/>
          <p:nvPr/>
        </p:nvSpPr>
        <p:spPr>
          <a:xfrm>
            <a:off x="761981" y="2768332"/>
            <a:ext cx="4011909" cy="392996"/>
          </a:xfrm>
          <a:prstGeom prst="rect">
            <a:avLst/>
          </a:prstGeom>
          <a:solidFill>
            <a:srgbClr val="1E1E24"/>
          </a:solidFill>
          <a:ln/>
        </p:spPr>
      </p:sp>
      <p:sp>
        <p:nvSpPr>
          <p:cNvPr id="15" name="Text 13"/>
          <p:cNvSpPr txBox="1"/>
          <p:nvPr/>
        </p:nvSpPr>
        <p:spPr>
          <a:xfrm>
            <a:off x="876278" y="2869930"/>
            <a:ext cx="3934647" cy="189801"/>
          </a:xfrm>
          <a:prstGeom prst="rect">
            <a:avLst/>
          </a:prstGeom>
          <a:noFill/>
          <a:ln/>
        </p:spPr>
        <p:txBody>
          <a:bodyPr wrap="square" lIns="0" tIns="0" rIns="0" bIns="0" rtlCol="0" anchor="t"/>
          <a:lstStyle/>
          <a:p>
            <a:pPr algn="l" indent="0" marL="0">
              <a:lnSpc>
                <a:spcPct val="111111"/>
              </a:lnSpc>
              <a:buNone/>
            </a:pPr>
            <a:r>
              <a:rPr lang="en-US" sz="1150" b="1" dirty="0">
                <a:solidFill>
                  <a:srgbClr val="F5F6FC"/>
                </a:solidFill>
                <a:latin typeface="Poppins" pitchFamily="34" charset="0"/>
                <a:ea typeface="Poppins" pitchFamily="34" charset="-122"/>
                <a:cs typeface="Poppins" pitchFamily="34" charset="-120"/>
              </a:rPr>
              <a:t>Projetos em atenção · críticos</a:t>
            </a:r>
            <a:endParaRPr lang="en-US" sz="1150" dirty="0"/>
          </a:p>
        </p:txBody>
      </p:sp>
      <p:sp>
        <p:nvSpPr>
          <p:cNvPr id="16" name="Shape 14"/>
          <p:cNvSpPr/>
          <p:nvPr/>
        </p:nvSpPr>
        <p:spPr>
          <a:xfrm>
            <a:off x="4773890" y="2768332"/>
            <a:ext cx="6655824" cy="392996"/>
          </a:xfrm>
          <a:prstGeom prst="rect">
            <a:avLst/>
          </a:prstGeom>
          <a:solidFill>
            <a:srgbClr val="1E1E24"/>
          </a:solidFill>
          <a:ln/>
        </p:spPr>
      </p:sp>
      <p:sp>
        <p:nvSpPr>
          <p:cNvPr id="17" name="Text 15"/>
          <p:cNvSpPr txBox="1"/>
          <p:nvPr/>
        </p:nvSpPr>
        <p:spPr>
          <a:xfrm>
            <a:off x="4888187" y="2869930"/>
            <a:ext cx="6684319" cy="189801"/>
          </a:xfrm>
          <a:prstGeom prst="rect">
            <a:avLst/>
          </a:prstGeom>
          <a:noFill/>
          <a:ln/>
        </p:spPr>
        <p:txBody>
          <a:bodyPr wrap="square" lIns="0" tIns="0" rIns="0" bIns="0" rtlCol="0" anchor="t"/>
          <a:lstStyle/>
          <a:p>
            <a:pPr algn="l" indent="0" marL="0">
              <a:lnSpc>
                <a:spcPct val="111111"/>
              </a:lnSpc>
              <a:buNone/>
            </a:pPr>
            <a:r>
              <a:rPr lang="en-US" sz="1150" dirty="0">
                <a:solidFill>
                  <a:srgbClr val="F5F6FC"/>
                </a:solidFill>
                <a:latin typeface="Poppins" pitchFamily="34" charset="0"/>
                <a:ea typeface="Poppins" pitchFamily="34" charset="-122"/>
                <a:cs typeface="Poppins" pitchFamily="34" charset="-120"/>
              </a:rPr>
              <a:t>10 · 7</a:t>
            </a:r>
            <a:endParaRPr lang="en-US" sz="1150" dirty="0"/>
          </a:p>
        </p:txBody>
      </p:sp>
      <p:sp>
        <p:nvSpPr>
          <p:cNvPr id="18" name="Shape 16"/>
          <p:cNvSpPr/>
          <p:nvPr/>
        </p:nvSpPr>
        <p:spPr>
          <a:xfrm>
            <a:off x="761981" y="3212127"/>
            <a:ext cx="4011909" cy="392996"/>
          </a:xfrm>
          <a:prstGeom prst="rect">
            <a:avLst/>
          </a:prstGeom>
          <a:solidFill>
            <a:srgbClr val="1E1E24"/>
          </a:solidFill>
          <a:ln/>
        </p:spPr>
      </p:sp>
      <p:sp>
        <p:nvSpPr>
          <p:cNvPr id="19" name="Text 17"/>
          <p:cNvSpPr txBox="1"/>
          <p:nvPr/>
        </p:nvSpPr>
        <p:spPr>
          <a:xfrm>
            <a:off x="876278" y="3313724"/>
            <a:ext cx="3934647" cy="189801"/>
          </a:xfrm>
          <a:prstGeom prst="rect">
            <a:avLst/>
          </a:prstGeom>
          <a:noFill/>
          <a:ln/>
        </p:spPr>
        <p:txBody>
          <a:bodyPr wrap="square" lIns="0" tIns="0" rIns="0" bIns="0" rtlCol="0" anchor="t"/>
          <a:lstStyle/>
          <a:p>
            <a:pPr algn="l" indent="0" marL="0">
              <a:lnSpc>
                <a:spcPct val="111111"/>
              </a:lnSpc>
              <a:buNone/>
            </a:pPr>
            <a:r>
              <a:rPr lang="en-US" sz="1150" b="1" dirty="0">
                <a:solidFill>
                  <a:srgbClr val="F5F6FC"/>
                </a:solidFill>
                <a:latin typeface="Poppins" pitchFamily="34" charset="0"/>
                <a:ea typeface="Poppins" pitchFamily="34" charset="-122"/>
                <a:cs typeface="Poppins" pitchFamily="34" charset="-120"/>
              </a:rPr>
              <a:t>Piores SPI</a:t>
            </a:r>
            <a:endParaRPr lang="en-US" sz="1150" dirty="0"/>
          </a:p>
        </p:txBody>
      </p:sp>
      <p:sp>
        <p:nvSpPr>
          <p:cNvPr id="20" name="Shape 18"/>
          <p:cNvSpPr/>
          <p:nvPr/>
        </p:nvSpPr>
        <p:spPr>
          <a:xfrm>
            <a:off x="4773890" y="3212127"/>
            <a:ext cx="6655824" cy="392996"/>
          </a:xfrm>
          <a:prstGeom prst="rect">
            <a:avLst/>
          </a:prstGeom>
          <a:solidFill>
            <a:srgbClr val="1E1E24"/>
          </a:solidFill>
          <a:ln/>
        </p:spPr>
      </p:sp>
      <p:sp>
        <p:nvSpPr>
          <p:cNvPr id="21" name="Text 19"/>
          <p:cNvSpPr txBox="1"/>
          <p:nvPr/>
        </p:nvSpPr>
        <p:spPr>
          <a:xfrm>
            <a:off x="4888187" y="3313724"/>
            <a:ext cx="6684319" cy="189801"/>
          </a:xfrm>
          <a:prstGeom prst="rect">
            <a:avLst/>
          </a:prstGeom>
          <a:noFill/>
          <a:ln/>
        </p:spPr>
        <p:txBody>
          <a:bodyPr wrap="square" lIns="0" tIns="0" rIns="0" bIns="0" rtlCol="0" anchor="t"/>
          <a:lstStyle/>
          <a:p>
            <a:pPr algn="l" indent="0" marL="0">
              <a:lnSpc>
                <a:spcPct val="111111"/>
              </a:lnSpc>
              <a:buNone/>
            </a:pPr>
            <a:r>
              <a:rPr lang="en-US" sz="1150" dirty="0">
                <a:solidFill>
                  <a:srgbClr val="F5F6FC"/>
                </a:solidFill>
                <a:latin typeface="Poppins" pitchFamily="34" charset="0"/>
                <a:ea typeface="Poppins" pitchFamily="34" charset="-122"/>
                <a:cs typeface="Poppins" pitchFamily="34" charset="-120"/>
              </a:rPr>
              <a:t>PRJ-016 0,63 · PRJ-030 0,69 · PRJ-039 0,75 · PRJ-011 0,77</a:t>
            </a:r>
            <a:endParaRPr lang="en-US" sz="1150" dirty="0"/>
          </a:p>
        </p:txBody>
      </p:sp>
      <p:sp>
        <p:nvSpPr>
          <p:cNvPr id="22" name="Shape 20"/>
          <p:cNvSpPr/>
          <p:nvPr/>
        </p:nvSpPr>
        <p:spPr>
          <a:xfrm>
            <a:off x="761981" y="3655921"/>
            <a:ext cx="4011909" cy="392996"/>
          </a:xfrm>
          <a:prstGeom prst="rect">
            <a:avLst/>
          </a:prstGeom>
          <a:solidFill>
            <a:srgbClr val="1E1E24"/>
          </a:solidFill>
          <a:ln/>
        </p:spPr>
      </p:sp>
      <p:sp>
        <p:nvSpPr>
          <p:cNvPr id="23" name="Text 21"/>
          <p:cNvSpPr txBox="1"/>
          <p:nvPr/>
        </p:nvSpPr>
        <p:spPr>
          <a:xfrm>
            <a:off x="876278" y="3757519"/>
            <a:ext cx="3934647" cy="189801"/>
          </a:xfrm>
          <a:prstGeom prst="rect">
            <a:avLst/>
          </a:prstGeom>
          <a:noFill/>
          <a:ln/>
        </p:spPr>
        <p:txBody>
          <a:bodyPr wrap="square" lIns="0" tIns="0" rIns="0" bIns="0" rtlCol="0" anchor="t"/>
          <a:lstStyle/>
          <a:p>
            <a:pPr algn="l" indent="0" marL="0">
              <a:lnSpc>
                <a:spcPct val="111111"/>
              </a:lnSpc>
              <a:buNone/>
            </a:pPr>
            <a:r>
              <a:rPr lang="en-US" sz="1150" b="1" dirty="0">
                <a:solidFill>
                  <a:srgbClr val="F5F6FC"/>
                </a:solidFill>
                <a:latin typeface="Poppins" pitchFamily="34" charset="0"/>
                <a:ea typeface="Poppins" pitchFamily="34" charset="-122"/>
                <a:cs typeface="Poppins" pitchFamily="34" charset="-120"/>
              </a:rPr>
              <a:t>Piores CPI</a:t>
            </a:r>
            <a:endParaRPr lang="en-US" sz="1150" dirty="0"/>
          </a:p>
        </p:txBody>
      </p:sp>
      <p:sp>
        <p:nvSpPr>
          <p:cNvPr id="24" name="Shape 22"/>
          <p:cNvSpPr/>
          <p:nvPr/>
        </p:nvSpPr>
        <p:spPr>
          <a:xfrm>
            <a:off x="4773890" y="3655921"/>
            <a:ext cx="6655824" cy="392996"/>
          </a:xfrm>
          <a:prstGeom prst="rect">
            <a:avLst/>
          </a:prstGeom>
          <a:solidFill>
            <a:srgbClr val="1E1E24"/>
          </a:solidFill>
          <a:ln/>
        </p:spPr>
      </p:sp>
      <p:sp>
        <p:nvSpPr>
          <p:cNvPr id="25" name="Text 23"/>
          <p:cNvSpPr txBox="1"/>
          <p:nvPr/>
        </p:nvSpPr>
        <p:spPr>
          <a:xfrm>
            <a:off x="4888187" y="3757519"/>
            <a:ext cx="6684319" cy="189801"/>
          </a:xfrm>
          <a:prstGeom prst="rect">
            <a:avLst/>
          </a:prstGeom>
          <a:noFill/>
          <a:ln/>
        </p:spPr>
        <p:txBody>
          <a:bodyPr wrap="square" lIns="0" tIns="0" rIns="0" bIns="0" rtlCol="0" anchor="t"/>
          <a:lstStyle/>
          <a:p>
            <a:pPr algn="l" indent="0" marL="0">
              <a:lnSpc>
                <a:spcPct val="111111"/>
              </a:lnSpc>
              <a:buNone/>
            </a:pPr>
            <a:r>
              <a:rPr lang="en-US" sz="1150" dirty="0">
                <a:solidFill>
                  <a:srgbClr val="F5F6FC"/>
                </a:solidFill>
                <a:latin typeface="Poppins" pitchFamily="34" charset="0"/>
                <a:ea typeface="Poppins" pitchFamily="34" charset="-122"/>
                <a:cs typeface="Poppins" pitchFamily="34" charset="-120"/>
              </a:rPr>
              <a:t>PRJ-009 0,77 · PRJ-027 0,79 · PRJ-005 0,81</a:t>
            </a:r>
            <a:endParaRPr lang="en-US" sz="1150" dirty="0"/>
          </a:p>
        </p:txBody>
      </p:sp>
      <p:sp>
        <p:nvSpPr>
          <p:cNvPr id="26" name="Shape 24"/>
          <p:cNvSpPr/>
          <p:nvPr/>
        </p:nvSpPr>
        <p:spPr>
          <a:xfrm>
            <a:off x="761981" y="4099715"/>
            <a:ext cx="4011909" cy="392996"/>
          </a:xfrm>
          <a:prstGeom prst="rect">
            <a:avLst/>
          </a:prstGeom>
          <a:solidFill>
            <a:srgbClr val="1B2A4A"/>
          </a:solidFill>
          <a:ln/>
        </p:spPr>
      </p:sp>
      <p:sp>
        <p:nvSpPr>
          <p:cNvPr id="27" name="Text 25"/>
          <p:cNvSpPr txBox="1"/>
          <p:nvPr/>
        </p:nvSpPr>
        <p:spPr>
          <a:xfrm>
            <a:off x="876278" y="4201313"/>
            <a:ext cx="3934647" cy="189801"/>
          </a:xfrm>
          <a:prstGeom prst="rect">
            <a:avLst/>
          </a:prstGeom>
          <a:noFill/>
          <a:ln/>
        </p:spPr>
        <p:txBody>
          <a:bodyPr wrap="square" lIns="0" tIns="0" rIns="0" bIns="0" rtlCol="0" anchor="t"/>
          <a:lstStyle/>
          <a:p>
            <a:pPr algn="l" indent="0" marL="0">
              <a:lnSpc>
                <a:spcPct val="111111"/>
              </a:lnSpc>
              <a:buNone/>
            </a:pPr>
            <a:r>
              <a:rPr lang="en-US" sz="1150" b="1" dirty="0">
                <a:solidFill>
                  <a:srgbClr val="F5F6FC"/>
                </a:solidFill>
                <a:latin typeface="Poppins" pitchFamily="34" charset="0"/>
                <a:ea typeface="Poppins" pitchFamily="34" charset="-122"/>
                <a:cs typeface="Poppins" pitchFamily="34" charset="-120"/>
              </a:rPr>
              <a:t>Estouro previsto da carteira</a:t>
            </a:r>
            <a:endParaRPr lang="en-US" sz="1150" dirty="0"/>
          </a:p>
        </p:txBody>
      </p:sp>
      <p:sp>
        <p:nvSpPr>
          <p:cNvPr id="28" name="Shape 26"/>
          <p:cNvSpPr/>
          <p:nvPr/>
        </p:nvSpPr>
        <p:spPr>
          <a:xfrm>
            <a:off x="4773890" y="4099715"/>
            <a:ext cx="6655824" cy="392996"/>
          </a:xfrm>
          <a:prstGeom prst="rect">
            <a:avLst/>
          </a:prstGeom>
          <a:solidFill>
            <a:srgbClr val="1B2A4A"/>
          </a:solidFill>
          <a:ln/>
        </p:spPr>
      </p:sp>
      <p:sp>
        <p:nvSpPr>
          <p:cNvPr id="29" name="Text 27"/>
          <p:cNvSpPr txBox="1"/>
          <p:nvPr/>
        </p:nvSpPr>
        <p:spPr>
          <a:xfrm>
            <a:off x="4888187" y="4201313"/>
            <a:ext cx="6684319" cy="189801"/>
          </a:xfrm>
          <a:prstGeom prst="rect">
            <a:avLst/>
          </a:prstGeom>
          <a:noFill/>
          <a:ln/>
        </p:spPr>
        <p:txBody>
          <a:bodyPr wrap="square" lIns="0" tIns="0" rIns="0" bIns="0" rtlCol="0" anchor="t"/>
          <a:lstStyle/>
          <a:p>
            <a:pPr algn="l" indent="0" marL="0">
              <a:lnSpc>
                <a:spcPct val="111111"/>
              </a:lnSpc>
              <a:buNone/>
            </a:pPr>
            <a:r>
              <a:rPr lang="en-US" sz="1150" b="1" dirty="0">
                <a:solidFill>
                  <a:srgbClr val="FFFFFF"/>
                </a:solidFill>
                <a:latin typeface="Poppins" pitchFamily="34" charset="0"/>
                <a:ea typeface="Poppins" pitchFamily="34" charset="-122"/>
                <a:cs typeface="Poppins" pitchFamily="34" charset="-120"/>
              </a:rPr>
              <a:t>R$ 6,47 mi</a:t>
            </a:r>
            <a:pPr algn="l" indent="0" marL="0">
              <a:lnSpc>
                <a:spcPct val="111111"/>
              </a:lnSpc>
              <a:buNone/>
            </a:pPr>
            <a:r>
              <a:rPr lang="en-US" sz="1150" dirty="0">
                <a:solidFill>
                  <a:srgbClr val="F5F6FC"/>
                </a:solidFill>
                <a:latin typeface="Poppins" pitchFamily="34" charset="0"/>
                <a:ea typeface="Poppins" pitchFamily="34" charset="-122"/>
                <a:cs typeface="Poppins" pitchFamily="34" charset="-120"/>
              </a:rPr>
              <a:t> (maior: PRJ-021, R$ 1,78 mi)</a:t>
            </a:r>
            <a:endParaRPr lang="en-US" sz="1150" dirty="0"/>
          </a:p>
        </p:txBody>
      </p:sp>
      <p:sp>
        <p:nvSpPr>
          <p:cNvPr id="30" name="Shape 28"/>
          <p:cNvSpPr/>
          <p:nvPr/>
        </p:nvSpPr>
        <p:spPr>
          <a:xfrm>
            <a:off x="761981" y="4543510"/>
            <a:ext cx="4011909" cy="392996"/>
          </a:xfrm>
          <a:prstGeom prst="rect">
            <a:avLst/>
          </a:prstGeom>
          <a:solidFill>
            <a:srgbClr val="1E1E24"/>
          </a:solidFill>
          <a:ln/>
        </p:spPr>
      </p:sp>
      <p:sp>
        <p:nvSpPr>
          <p:cNvPr id="31" name="Text 29"/>
          <p:cNvSpPr txBox="1"/>
          <p:nvPr/>
        </p:nvSpPr>
        <p:spPr>
          <a:xfrm>
            <a:off x="876278" y="4645107"/>
            <a:ext cx="3934647" cy="189801"/>
          </a:xfrm>
          <a:prstGeom prst="rect">
            <a:avLst/>
          </a:prstGeom>
          <a:noFill/>
          <a:ln/>
        </p:spPr>
        <p:txBody>
          <a:bodyPr wrap="square" lIns="0" tIns="0" rIns="0" bIns="0" rtlCol="0" anchor="t"/>
          <a:lstStyle/>
          <a:p>
            <a:pPr algn="l" indent="0" marL="0">
              <a:lnSpc>
                <a:spcPct val="111111"/>
              </a:lnSpc>
              <a:buNone/>
            </a:pPr>
            <a:r>
              <a:rPr lang="en-US" sz="1150" b="1" dirty="0">
                <a:solidFill>
                  <a:srgbClr val="F5F6FC"/>
                </a:solidFill>
                <a:latin typeface="Poppins" pitchFamily="34" charset="0"/>
                <a:ea typeface="Poppins" pitchFamily="34" charset="-122"/>
                <a:cs typeface="Poppins" pitchFamily="34" charset="-120"/>
              </a:rPr>
              <a:t>Farol verde com SPI &lt; 0,9</a:t>
            </a:r>
            <a:endParaRPr lang="en-US" sz="1150" dirty="0"/>
          </a:p>
        </p:txBody>
      </p:sp>
      <p:sp>
        <p:nvSpPr>
          <p:cNvPr id="32" name="Shape 30"/>
          <p:cNvSpPr/>
          <p:nvPr/>
        </p:nvSpPr>
        <p:spPr>
          <a:xfrm>
            <a:off x="4773890" y="4543510"/>
            <a:ext cx="6655824" cy="392996"/>
          </a:xfrm>
          <a:prstGeom prst="rect">
            <a:avLst/>
          </a:prstGeom>
          <a:solidFill>
            <a:srgbClr val="1E1E24"/>
          </a:solidFill>
          <a:ln/>
        </p:spPr>
      </p:sp>
      <p:sp>
        <p:nvSpPr>
          <p:cNvPr id="33" name="Text 31"/>
          <p:cNvSpPr txBox="1"/>
          <p:nvPr/>
        </p:nvSpPr>
        <p:spPr>
          <a:xfrm>
            <a:off x="4888187" y="4645107"/>
            <a:ext cx="6684319" cy="189801"/>
          </a:xfrm>
          <a:prstGeom prst="rect">
            <a:avLst/>
          </a:prstGeom>
          <a:noFill/>
          <a:ln/>
        </p:spPr>
        <p:txBody>
          <a:bodyPr wrap="square" lIns="0" tIns="0" rIns="0" bIns="0" rtlCol="0" anchor="t"/>
          <a:lstStyle/>
          <a:p>
            <a:pPr algn="l" indent="0" marL="0">
              <a:lnSpc>
                <a:spcPct val="111111"/>
              </a:lnSpc>
              <a:buNone/>
            </a:pPr>
            <a:r>
              <a:rPr lang="en-US" sz="1150" dirty="0">
                <a:solidFill>
                  <a:srgbClr val="F5F6FC"/>
                </a:solidFill>
                <a:latin typeface="Poppins" pitchFamily="34" charset="0"/>
                <a:ea typeface="Poppins" pitchFamily="34" charset="-122"/>
                <a:cs typeface="Poppins" pitchFamily="34" charset="-120"/>
              </a:rPr>
              <a:t>4 melancias: PRJ-012, 028, 034, 042</a:t>
            </a:r>
            <a:endParaRPr lang="en-US" sz="1150" dirty="0"/>
          </a:p>
        </p:txBody>
      </p:sp>
      <p:sp>
        <p:nvSpPr>
          <p:cNvPr id="34" name="Shape 32"/>
          <p:cNvSpPr/>
          <p:nvPr/>
        </p:nvSpPr>
        <p:spPr>
          <a:xfrm>
            <a:off x="761981" y="5063502"/>
            <a:ext cx="25399" cy="285743"/>
          </a:xfrm>
          <a:prstGeom prst="rect">
            <a:avLst/>
          </a:prstGeom>
          <a:solidFill>
            <a:srgbClr val="22C2F4"/>
          </a:solidFill>
          <a:ln/>
        </p:spPr>
      </p:sp>
      <p:sp>
        <p:nvSpPr>
          <p:cNvPr id="35" name="Text 33"/>
          <p:cNvSpPr txBox="1"/>
          <p:nvPr/>
        </p:nvSpPr>
        <p:spPr>
          <a:xfrm>
            <a:off x="914377" y="5101601"/>
            <a:ext cx="10935951" cy="209545"/>
          </a:xfrm>
          <a:prstGeom prst="rect">
            <a:avLst/>
          </a:prstGeom>
          <a:noFill/>
          <a:ln/>
        </p:spPr>
        <p:txBody>
          <a:bodyPr wrap="square" lIns="0" tIns="0" rIns="0" bIns="0" rtlCol="0" anchor="t"/>
          <a:lstStyle/>
          <a:p>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A seed é fixa: todo mundo tem o mesmo dado. Rode o </a:t>
            </a:r>
            <a:pPr algn="l" indent="0" marL="0">
              <a:lnSpc>
                <a:spcPct val="106838"/>
              </a:lnSpc>
              <a:buNone/>
            </a:pPr>
            <a:r>
              <a:rPr lang="en-US" sz="1100" b="1" dirty="0">
                <a:solidFill>
                  <a:srgbClr val="FFFFFF"/>
                </a:solidFill>
                <a:latin typeface="Poppins" pitchFamily="34" charset="0"/>
                <a:ea typeface="Poppins" pitchFamily="34" charset="-122"/>
                <a:cs typeface="Poppins" pitchFamily="34" charset="-120"/>
              </a:rPr>
              <a:t>99-verificacao.sql</a:t>
            </a:r>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 (depois do exemplo 05): </a:t>
            </a:r>
            <a:pPr algn="l" indent="0" marL="0">
              <a:lnSpc>
                <a:spcPct val="106838"/>
              </a:lnSpc>
              <a:buNone/>
            </a:pPr>
            <a:r>
              <a:rPr lang="en-US" sz="1100" b="1" dirty="0">
                <a:solidFill>
                  <a:srgbClr val="FFFFFF"/>
                </a:solidFill>
                <a:latin typeface="Poppins" pitchFamily="34" charset="0"/>
                <a:ea typeface="Poppins" pitchFamily="34" charset="-122"/>
                <a:cs typeface="Poppins" pitchFamily="34" charset="-120"/>
              </a:rPr>
              <a:t>18 de 18 ok</a:t>
            </a:r>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a:t>
            </a:r>
            <a:endParaRPr lang="en-US" sz="1100" dirty="0"/>
          </a:p>
        </p:txBody>
      </p:sp>
      <p:pic>
        <p:nvPicPr>
          <p:cNvPr id="36"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37" name="Text 34"/>
          <p:cNvSpPr txBox="1"/>
          <p:nvPr/>
        </p:nvSpPr>
        <p:spPr>
          <a:xfrm>
            <a:off x="10940876" y="6387940"/>
            <a:ext cx="508392"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69 / 133</a:t>
            </a:r>
            <a:endParaRPr lang="en-US" sz="10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380990"/>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RECURSO DO DATABRICKS · AI/BI DASHBOARD</a:t>
            </a:r>
            <a:endParaRPr lang="en-US" sz="1200" dirty="0"/>
          </a:p>
        </p:txBody>
      </p:sp>
      <p:sp>
        <p:nvSpPr>
          <p:cNvPr id="3" name="Text 1"/>
          <p:cNvSpPr txBox="1"/>
          <p:nvPr/>
        </p:nvSpPr>
        <p:spPr>
          <a:xfrm>
            <a:off x="761981" y="704832"/>
            <a:ext cx="11094443" cy="363132"/>
          </a:xfrm>
          <a:prstGeom prst="rect">
            <a:avLst/>
          </a:prstGeom>
          <a:noFill/>
          <a:ln/>
        </p:spPr>
        <p:txBody>
          <a:bodyPr wrap="square" lIns="0" tIns="0" rIns="0" bIns="0" rtlCol="0" anchor="t"/>
          <a:lstStyle/>
          <a:p>
            <a:pPr algn="l" indent="0" marL="0">
              <a:lnSpc>
                <a:spcPct val="94017"/>
              </a:lnSpc>
              <a:buNone/>
            </a:pPr>
            <a:r>
              <a:rPr lang="en-US" sz="2600" b="1" spc="-26" kern="0" dirty="0">
                <a:solidFill>
                  <a:srgbClr val="F5F6FC"/>
                </a:solidFill>
                <a:latin typeface="Poppins" pitchFamily="34" charset="0"/>
                <a:ea typeface="Poppins" pitchFamily="34" charset="-122"/>
                <a:cs typeface="Poppins" pitchFamily="34" charset="-120"/>
              </a:rPr>
              <a:t>AI/BI Dashboard</a:t>
            </a:r>
            <a:endParaRPr lang="en-US" sz="2600" dirty="0"/>
          </a:p>
        </p:txBody>
      </p:sp>
      <p:pic>
        <p:nvPicPr>
          <p:cNvPr id="4" name="Image 0" descr="preencoded.png">    </p:cNvPr>
          <p:cNvPicPr>
            <a:picLocks noChangeAspect="1"/>
          </p:cNvPicPr>
          <p:nvPr/>
        </p:nvPicPr>
        <p:blipFill>
          <a:blip r:embed="rId2"/>
          <a:srcRect l="7834" r="7834" t="0" b="0"/>
          <a:stretch/>
        </p:blipFill>
        <p:spPr>
          <a:xfrm>
            <a:off x="761981" y="1182261"/>
            <a:ext cx="6455308" cy="4063898"/>
          </a:xfrm>
          <a:prstGeom prst="rect">
            <a:avLst/>
          </a:prstGeom>
        </p:spPr>
      </p:pic>
      <p:sp>
        <p:nvSpPr>
          <p:cNvPr id="5" name="Shape 2"/>
          <p:cNvSpPr/>
          <p:nvPr/>
        </p:nvSpPr>
        <p:spPr>
          <a:xfrm>
            <a:off x="7395085" y="1182261"/>
            <a:ext cx="4034630" cy="4063898"/>
          </a:xfrm>
          <a:prstGeom prst="roundRect">
            <a:avLst>
              <a:gd name="adj" fmla="val 3777"/>
            </a:avLst>
          </a:prstGeom>
          <a:solidFill>
            <a:srgbClr val="0059DB"/>
          </a:solidFill>
          <a:ln/>
        </p:spPr>
      </p:sp>
      <p:sp>
        <p:nvSpPr>
          <p:cNvPr id="6" name="Shape 3"/>
          <p:cNvSpPr/>
          <p:nvPr/>
        </p:nvSpPr>
        <p:spPr>
          <a:xfrm>
            <a:off x="7617329" y="1379106"/>
            <a:ext cx="616034" cy="247644"/>
          </a:xfrm>
          <a:prstGeom prst="roundRect">
            <a:avLst>
              <a:gd name="adj" fmla="val 50000"/>
            </a:avLst>
          </a:prstGeom>
          <a:solidFill>
            <a:srgbClr val="FFFFFF">
              <a:alpha val="16000"/>
            </a:srgbClr>
          </a:solidFill>
          <a:ln/>
        </p:spPr>
      </p:sp>
      <p:sp>
        <p:nvSpPr>
          <p:cNvPr id="7" name="Text 4"/>
          <p:cNvSpPr txBox="1"/>
          <p:nvPr/>
        </p:nvSpPr>
        <p:spPr>
          <a:xfrm>
            <a:off x="7706227" y="1417205"/>
            <a:ext cx="455768"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O que é</a:t>
            </a:r>
            <a:endParaRPr lang="en-US" sz="900" dirty="0"/>
          </a:p>
        </p:txBody>
      </p:sp>
      <p:sp>
        <p:nvSpPr>
          <p:cNvPr id="8" name="Shape 5"/>
          <p:cNvSpPr/>
          <p:nvPr/>
        </p:nvSpPr>
        <p:spPr>
          <a:xfrm>
            <a:off x="7617329" y="1798196"/>
            <a:ext cx="76198" cy="76198"/>
          </a:xfrm>
          <a:prstGeom prst="roundRect">
            <a:avLst>
              <a:gd name="adj" fmla="val 25000"/>
            </a:avLst>
          </a:prstGeom>
          <a:solidFill>
            <a:srgbClr val="22C2F4"/>
          </a:solidFill>
          <a:ln/>
        </p:spPr>
      </p:sp>
      <p:sp>
        <p:nvSpPr>
          <p:cNvPr id="9" name="Text 6"/>
          <p:cNvSpPr txBox="1"/>
          <p:nvPr/>
        </p:nvSpPr>
        <p:spPr>
          <a:xfrm>
            <a:off x="7807824" y="1715648"/>
            <a:ext cx="3535631"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painel publicado sobre tabelas do Unity Catalog</a:t>
            </a:r>
            <a:endParaRPr lang="en-US" sz="1200" dirty="0"/>
          </a:p>
        </p:txBody>
      </p:sp>
      <p:sp>
        <p:nvSpPr>
          <p:cNvPr id="10" name="Shape 7"/>
          <p:cNvSpPr/>
          <p:nvPr/>
        </p:nvSpPr>
        <p:spPr>
          <a:xfrm>
            <a:off x="7617329" y="2285744"/>
            <a:ext cx="76198" cy="76198"/>
          </a:xfrm>
          <a:prstGeom prst="roundRect">
            <a:avLst>
              <a:gd name="adj" fmla="val 25000"/>
            </a:avLst>
          </a:prstGeom>
          <a:solidFill>
            <a:srgbClr val="22C2F4"/>
          </a:solidFill>
          <a:ln/>
        </p:spPr>
      </p:sp>
      <p:sp>
        <p:nvSpPr>
          <p:cNvPr id="11" name="Text 8"/>
          <p:cNvSpPr txBox="1"/>
          <p:nvPr/>
        </p:nvSpPr>
        <p:spPr>
          <a:xfrm>
            <a:off x="7807824" y="2203196"/>
            <a:ext cx="3535631"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filtros, páginas, agenda por e-mail e "Ask Genie" embaixo</a:t>
            </a:r>
            <a:endParaRPr lang="en-US" sz="1200" dirty="0"/>
          </a:p>
        </p:txBody>
      </p:sp>
      <p:sp>
        <p:nvSpPr>
          <p:cNvPr id="12" name="Shape 9"/>
          <p:cNvSpPr/>
          <p:nvPr/>
        </p:nvSpPr>
        <p:spPr>
          <a:xfrm>
            <a:off x="7617329" y="2773293"/>
            <a:ext cx="76198" cy="76198"/>
          </a:xfrm>
          <a:prstGeom prst="roundRect">
            <a:avLst>
              <a:gd name="adj" fmla="val 25000"/>
            </a:avLst>
          </a:prstGeom>
          <a:solidFill>
            <a:srgbClr val="22C2F4"/>
          </a:solidFill>
          <a:ln/>
        </p:spPr>
      </p:sp>
      <p:sp>
        <p:nvSpPr>
          <p:cNvPr id="13" name="Text 10"/>
          <p:cNvSpPr txBox="1"/>
          <p:nvPr/>
        </p:nvSpPr>
        <p:spPr>
          <a:xfrm>
            <a:off x="7807824" y="2690745"/>
            <a:ext cx="3535631"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versionado em JSON, no repositório</a:t>
            </a:r>
            <a:endParaRPr lang="en-US" sz="1200" dirty="0"/>
          </a:p>
        </p:txBody>
      </p:sp>
      <p:sp>
        <p:nvSpPr>
          <p:cNvPr id="14" name="Shape 11"/>
          <p:cNvSpPr/>
          <p:nvPr/>
        </p:nvSpPr>
        <p:spPr>
          <a:xfrm>
            <a:off x="7617329" y="3036117"/>
            <a:ext cx="650958" cy="247644"/>
          </a:xfrm>
          <a:prstGeom prst="roundRect">
            <a:avLst>
              <a:gd name="adj" fmla="val 50000"/>
            </a:avLst>
          </a:prstGeom>
          <a:solidFill>
            <a:srgbClr val="FFFFFF">
              <a:alpha val="16000"/>
            </a:srgbClr>
          </a:solidFill>
          <a:ln/>
        </p:spPr>
      </p:sp>
      <p:sp>
        <p:nvSpPr>
          <p:cNvPr id="15" name="Text 12"/>
          <p:cNvSpPr txBox="1"/>
          <p:nvPr/>
        </p:nvSpPr>
        <p:spPr>
          <a:xfrm>
            <a:off x="7706227" y="3074216"/>
            <a:ext cx="492089"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No Farol</a:t>
            </a:r>
            <a:endParaRPr lang="en-US" sz="900" dirty="0"/>
          </a:p>
        </p:txBody>
      </p:sp>
      <p:sp>
        <p:nvSpPr>
          <p:cNvPr id="16" name="Text 13"/>
          <p:cNvSpPr txBox="1"/>
          <p:nvPr/>
        </p:nvSpPr>
        <p:spPr>
          <a:xfrm>
            <a:off x="7617329" y="3448857"/>
            <a:ext cx="3733746" cy="394285"/>
          </a:xfrm>
          <a:prstGeom prst="rect">
            <a:avLst/>
          </a:prstGeom>
          <a:noFill/>
          <a:ln/>
        </p:spPr>
        <p:txBody>
          <a:bodyPr wrap="square" lIns="0" tIns="0" rIns="0" bIns="0" rtlCol="0" anchor="t"/>
          <a:lstStyle/>
          <a:p>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noite 1 sobre a bronze, noite 2 sobre a gold: </a:t>
            </a:r>
            <a:pPr algn="l" indent="0" marL="0">
              <a:lnSpc>
                <a:spcPct val="115385"/>
              </a:lnSpc>
              <a:buNone/>
            </a:pPr>
            <a:r>
              <a:rPr lang="en-US" sz="1150" b="1" dirty="0">
                <a:solidFill>
                  <a:srgbClr val="FFFFFF"/>
                </a:solidFill>
                <a:latin typeface="Poppins" pitchFamily="34" charset="0"/>
                <a:ea typeface="Poppins" pitchFamily="34" charset="-122"/>
                <a:cs typeface="Poppins" pitchFamily="34" charset="-120"/>
              </a:rPr>
              <a:t>Projeto Farol · Portfólio</a:t>
            </a:r>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 com 3 páginas</a:t>
            </a:r>
            <a:endParaRPr lang="en-US" sz="1150" dirty="0"/>
          </a:p>
        </p:txBody>
      </p:sp>
      <p:pic>
        <p:nvPicPr>
          <p:cNvPr id="17" name="Image 1" descr="preencoded.png">    </p:cNvPr>
          <p:cNvPicPr>
            <a:picLocks noChangeAspect="1"/>
          </p:cNvPicPr>
          <p:nvPr/>
        </p:nvPicPr>
        <p:blipFill>
          <a:blip r:embed="rId3"/>
          <a:stretch>
            <a:fillRect/>
          </a:stretch>
        </p:blipFill>
        <p:spPr>
          <a:xfrm>
            <a:off x="761981" y="6387940"/>
            <a:ext cx="2059928" cy="190495"/>
          </a:xfrm>
          <a:prstGeom prst="rect">
            <a:avLst/>
          </a:prstGeom>
        </p:spPr>
      </p:pic>
      <p:sp>
        <p:nvSpPr>
          <p:cNvPr id="18" name="Text 14"/>
          <p:cNvSpPr txBox="1"/>
          <p:nvPr/>
        </p:nvSpPr>
        <p:spPr>
          <a:xfrm>
            <a:off x="10950500" y="6387940"/>
            <a:ext cx="498383"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70 / 133</a:t>
            </a:r>
            <a:endParaRPr lang="en-US" sz="10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1 · DASHBOARD PASSO A PASSO · 1 DE 2</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Os dados: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2 SQLs prontos</a:t>
            </a:r>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 na aba Data</a:t>
            </a:r>
            <a:endParaRPr lang="en-US" sz="3100" dirty="0"/>
          </a:p>
        </p:txBody>
      </p:sp>
      <p:sp>
        <p:nvSpPr>
          <p:cNvPr id="4" name="Shape 2"/>
          <p:cNvSpPr/>
          <p:nvPr/>
        </p:nvSpPr>
        <p:spPr>
          <a:xfrm>
            <a:off x="761981" y="1582301"/>
            <a:ext cx="3282372" cy="1200715"/>
          </a:xfrm>
          <a:prstGeom prst="roundRect">
            <a:avLst>
              <a:gd name="adj" fmla="val 12692"/>
            </a:avLst>
          </a:prstGeom>
          <a:solidFill>
            <a:srgbClr val="0059DB"/>
          </a:solidFill>
          <a:ln/>
        </p:spPr>
      </p:sp>
      <p:sp>
        <p:nvSpPr>
          <p:cNvPr id="5" name="Shape 3"/>
          <p:cNvSpPr/>
          <p:nvPr/>
        </p:nvSpPr>
        <p:spPr>
          <a:xfrm>
            <a:off x="984225" y="1779146"/>
            <a:ext cx="219268" cy="247644"/>
          </a:xfrm>
          <a:prstGeom prst="roundRect">
            <a:avLst>
              <a:gd name="adj" fmla="val 50000"/>
            </a:avLst>
          </a:prstGeom>
          <a:solidFill>
            <a:srgbClr val="FFFFFF">
              <a:alpha val="16000"/>
            </a:srgbClr>
          </a:solidFill>
          <a:ln/>
        </p:spPr>
      </p:sp>
      <p:sp>
        <p:nvSpPr>
          <p:cNvPr id="6" name="Text 4"/>
          <p:cNvSpPr txBox="1"/>
          <p:nvPr/>
        </p:nvSpPr>
        <p:spPr>
          <a:xfrm>
            <a:off x="1073123" y="1817245"/>
            <a:ext cx="43131"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1</a:t>
            </a:r>
            <a:endParaRPr lang="en-US" sz="900" dirty="0"/>
          </a:p>
        </p:txBody>
      </p:sp>
      <p:sp>
        <p:nvSpPr>
          <p:cNvPr id="7" name="Text 5"/>
          <p:cNvSpPr txBox="1"/>
          <p:nvPr/>
        </p:nvSpPr>
        <p:spPr>
          <a:xfrm>
            <a:off x="984225" y="2191886"/>
            <a:ext cx="2951398" cy="394285"/>
          </a:xfrm>
          <a:prstGeom prst="rect">
            <a:avLst/>
          </a:prstGeom>
          <a:noFill/>
          <a:ln/>
        </p:spPr>
        <p:txBody>
          <a:bodyPr wrap="square" lIns="0" tIns="0" rIns="0" bIns="0" rtlCol="0" anchor="t"/>
          <a:lstStyle/>
          <a:p>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menu </a:t>
            </a:r>
            <a:pPr algn="l" indent="0" marL="0">
              <a:lnSpc>
                <a:spcPct val="115385"/>
              </a:lnSpc>
              <a:buNone/>
            </a:pPr>
            <a:r>
              <a:rPr lang="en-US" sz="1150" b="1" dirty="0">
                <a:solidFill>
                  <a:srgbClr val="FFFFFF"/>
                </a:solidFill>
                <a:latin typeface="Poppins" pitchFamily="34" charset="0"/>
                <a:ea typeface="Poppins" pitchFamily="34" charset="-122"/>
                <a:cs typeface="Poppins" pitchFamily="34" charset="-120"/>
              </a:rPr>
              <a:t>Dashboards</a:t>
            </a:r>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 → </a:t>
            </a:r>
            <a:pPr algn="l" indent="0" marL="0">
              <a:lnSpc>
                <a:spcPct val="115385"/>
              </a:lnSpc>
              <a:buNone/>
            </a:pPr>
            <a:r>
              <a:rPr lang="en-US" sz="1150" b="1" dirty="0">
                <a:solidFill>
                  <a:srgbClr val="FFFFFF"/>
                </a:solidFill>
                <a:latin typeface="Poppins" pitchFamily="34" charset="0"/>
                <a:ea typeface="Poppins" pitchFamily="34" charset="-122"/>
                <a:cs typeface="Poppins" pitchFamily="34" charset="-120"/>
              </a:rPr>
              <a:t>Create dashboard</a:t>
            </a:r>
            <a:endParaRPr lang="en-US" sz="1150" dirty="0"/>
          </a:p>
        </p:txBody>
      </p:sp>
      <p:sp>
        <p:nvSpPr>
          <p:cNvPr id="8" name="Text 6"/>
          <p:cNvSpPr txBox="1"/>
          <p:nvPr/>
        </p:nvSpPr>
        <p:spPr>
          <a:xfrm>
            <a:off x="4133251" y="1992163"/>
            <a:ext cx="241762" cy="380990"/>
          </a:xfrm>
          <a:prstGeom prst="rect">
            <a:avLst/>
          </a:prstGeom>
          <a:noFill/>
          <a:ln/>
        </p:spPr>
        <p:txBody>
          <a:bodyPr wrap="square" lIns="0" tIns="0" rIns="0" bIns="0" rtlCol="0" anchor="t"/>
          <a:lstStyle/>
          <a:p>
            <a:pPr algn="l" indent="0" marL="0">
              <a:lnSpc>
                <a:spcPct val="106838"/>
              </a:lnSpc>
              <a:buNone/>
            </a:pPr>
            <a:r>
              <a:rPr lang="en-US" sz="2000" dirty="0">
                <a:solidFill>
                  <a:srgbClr val="22C2F4"/>
                </a:solidFill>
                <a:latin typeface="Poppins" pitchFamily="34" charset="0"/>
                <a:ea typeface="Poppins" pitchFamily="34" charset="-122"/>
                <a:cs typeface="Poppins" pitchFamily="34" charset="-120"/>
              </a:rPr>
              <a:t>→</a:t>
            </a:r>
            <a:endParaRPr lang="en-US" sz="2000" dirty="0"/>
          </a:p>
        </p:txBody>
      </p:sp>
      <p:sp>
        <p:nvSpPr>
          <p:cNvPr id="9" name="Shape 7"/>
          <p:cNvSpPr/>
          <p:nvPr/>
        </p:nvSpPr>
        <p:spPr>
          <a:xfrm>
            <a:off x="4454612" y="1582301"/>
            <a:ext cx="3282471" cy="1200715"/>
          </a:xfrm>
          <a:prstGeom prst="roundRect">
            <a:avLst>
              <a:gd name="adj" fmla="val 12692"/>
            </a:avLst>
          </a:prstGeom>
          <a:solidFill>
            <a:srgbClr val="0059DB"/>
          </a:solidFill>
          <a:ln/>
        </p:spPr>
      </p:sp>
      <p:sp>
        <p:nvSpPr>
          <p:cNvPr id="10" name="Shape 8"/>
          <p:cNvSpPr/>
          <p:nvPr/>
        </p:nvSpPr>
        <p:spPr>
          <a:xfrm>
            <a:off x="4676857" y="1779146"/>
            <a:ext cx="243477" cy="247644"/>
          </a:xfrm>
          <a:prstGeom prst="roundRect">
            <a:avLst>
              <a:gd name="adj" fmla="val 50000"/>
            </a:avLst>
          </a:prstGeom>
          <a:solidFill>
            <a:srgbClr val="FFFFFF">
              <a:alpha val="16000"/>
            </a:srgbClr>
          </a:solidFill>
          <a:ln/>
        </p:spPr>
      </p:sp>
      <p:sp>
        <p:nvSpPr>
          <p:cNvPr id="11" name="Text 9"/>
          <p:cNvSpPr txBox="1"/>
          <p:nvPr/>
        </p:nvSpPr>
        <p:spPr>
          <a:xfrm>
            <a:off x="4765754" y="1817245"/>
            <a:ext cx="68308"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2</a:t>
            </a:r>
            <a:endParaRPr lang="en-US" sz="900" dirty="0"/>
          </a:p>
        </p:txBody>
      </p:sp>
      <p:sp>
        <p:nvSpPr>
          <p:cNvPr id="12" name="Text 10"/>
          <p:cNvSpPr txBox="1"/>
          <p:nvPr/>
        </p:nvSpPr>
        <p:spPr>
          <a:xfrm>
            <a:off x="4676857" y="2191886"/>
            <a:ext cx="2951501" cy="394285"/>
          </a:xfrm>
          <a:prstGeom prst="rect">
            <a:avLst/>
          </a:prstGeom>
          <a:noFill/>
          <a:ln/>
        </p:spPr>
        <p:txBody>
          <a:bodyPr wrap="square" lIns="0" tIns="0" rIns="0" bIns="0" rtlCol="0" anchor="t"/>
          <a:lstStyle/>
          <a:p>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renomeie: </a:t>
            </a:r>
            <a:pPr algn="l" indent="0" marL="0">
              <a:lnSpc>
                <a:spcPct val="115385"/>
              </a:lnSpc>
              <a:buNone/>
            </a:pPr>
            <a:r>
              <a:rPr lang="en-US" sz="1150" b="1" dirty="0">
                <a:solidFill>
                  <a:srgbClr val="FFFFFF"/>
                </a:solidFill>
                <a:latin typeface="Poppins" pitchFamily="34" charset="0"/>
                <a:ea typeface="Poppins" pitchFamily="34" charset="-122"/>
                <a:cs typeface="Poppins" pitchFamily="34" charset="-120"/>
              </a:rPr>
              <a:t>Projeto Farol · Noite 1 (bronze)</a:t>
            </a:r>
            <a:endParaRPr lang="en-US" sz="1150" dirty="0"/>
          </a:p>
        </p:txBody>
      </p:sp>
      <p:sp>
        <p:nvSpPr>
          <p:cNvPr id="13" name="Text 11"/>
          <p:cNvSpPr txBox="1"/>
          <p:nvPr/>
        </p:nvSpPr>
        <p:spPr>
          <a:xfrm>
            <a:off x="7825981" y="1992163"/>
            <a:ext cx="241762" cy="380990"/>
          </a:xfrm>
          <a:prstGeom prst="rect">
            <a:avLst/>
          </a:prstGeom>
          <a:noFill/>
          <a:ln/>
        </p:spPr>
        <p:txBody>
          <a:bodyPr wrap="square" lIns="0" tIns="0" rIns="0" bIns="0" rtlCol="0" anchor="t"/>
          <a:lstStyle/>
          <a:p>
            <a:pPr algn="l" indent="0" marL="0">
              <a:lnSpc>
                <a:spcPct val="106838"/>
              </a:lnSpc>
              <a:buNone/>
            </a:pPr>
            <a:r>
              <a:rPr lang="en-US" sz="2000" dirty="0">
                <a:solidFill>
                  <a:srgbClr val="22C2F4"/>
                </a:solidFill>
                <a:latin typeface="Poppins" pitchFamily="34" charset="0"/>
                <a:ea typeface="Poppins" pitchFamily="34" charset="-122"/>
                <a:cs typeface="Poppins" pitchFamily="34" charset="-120"/>
              </a:rPr>
              <a:t>→</a:t>
            </a:r>
            <a:endParaRPr lang="en-US" sz="2000" dirty="0"/>
          </a:p>
        </p:txBody>
      </p:sp>
      <p:sp>
        <p:nvSpPr>
          <p:cNvPr id="14" name="Shape 12"/>
          <p:cNvSpPr/>
          <p:nvPr/>
        </p:nvSpPr>
        <p:spPr>
          <a:xfrm>
            <a:off x="8147342" y="1582301"/>
            <a:ext cx="3282372" cy="1200715"/>
          </a:xfrm>
          <a:prstGeom prst="roundRect">
            <a:avLst>
              <a:gd name="adj" fmla="val 12692"/>
            </a:avLst>
          </a:prstGeom>
          <a:solidFill>
            <a:srgbClr val="0059DB"/>
          </a:solidFill>
          <a:ln/>
        </p:spPr>
      </p:sp>
      <p:sp>
        <p:nvSpPr>
          <p:cNvPr id="15" name="Shape 13"/>
          <p:cNvSpPr/>
          <p:nvPr/>
        </p:nvSpPr>
        <p:spPr>
          <a:xfrm>
            <a:off x="8369587" y="1779146"/>
            <a:ext cx="246354" cy="247644"/>
          </a:xfrm>
          <a:prstGeom prst="roundRect">
            <a:avLst>
              <a:gd name="adj" fmla="val 50000"/>
            </a:avLst>
          </a:prstGeom>
          <a:solidFill>
            <a:srgbClr val="FFFFFF">
              <a:alpha val="16000"/>
            </a:srgbClr>
          </a:solidFill>
          <a:ln/>
        </p:spPr>
      </p:sp>
      <p:sp>
        <p:nvSpPr>
          <p:cNvPr id="16" name="Text 14"/>
          <p:cNvSpPr txBox="1"/>
          <p:nvPr/>
        </p:nvSpPr>
        <p:spPr>
          <a:xfrm>
            <a:off x="8458485" y="1817245"/>
            <a:ext cx="71301"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3</a:t>
            </a:r>
            <a:endParaRPr lang="en-US" sz="900" dirty="0"/>
          </a:p>
        </p:txBody>
      </p:sp>
      <p:sp>
        <p:nvSpPr>
          <p:cNvPr id="17" name="Text 15"/>
          <p:cNvSpPr txBox="1"/>
          <p:nvPr/>
        </p:nvSpPr>
        <p:spPr>
          <a:xfrm>
            <a:off x="8369587" y="2191886"/>
            <a:ext cx="2951398" cy="394285"/>
          </a:xfrm>
          <a:prstGeom prst="rect">
            <a:avLst/>
          </a:prstGeom>
          <a:noFill/>
          <a:ln/>
        </p:spPr>
        <p:txBody>
          <a:bodyPr wrap="square" lIns="0" tIns="0" rIns="0" bIns="0" rtlCol="0" anchor="t"/>
          <a:lstStyle/>
          <a:p>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aba </a:t>
            </a:r>
            <a:pPr algn="l" indent="0" marL="0">
              <a:lnSpc>
                <a:spcPct val="115385"/>
              </a:lnSpc>
              <a:buNone/>
            </a:pPr>
            <a:r>
              <a:rPr lang="en-US" sz="1150" b="1" dirty="0">
                <a:solidFill>
                  <a:srgbClr val="FFFFFF"/>
                </a:solidFill>
                <a:latin typeface="Poppins" pitchFamily="34" charset="0"/>
                <a:ea typeface="Poppins" pitchFamily="34" charset="-122"/>
                <a:cs typeface="Poppins" pitchFamily="34" charset="-120"/>
              </a:rPr>
              <a:t>Data</a:t>
            </a:r>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 → </a:t>
            </a:r>
            <a:pPr algn="l" indent="0" marL="0">
              <a:lnSpc>
                <a:spcPct val="115385"/>
              </a:lnSpc>
              <a:buNone/>
            </a:pPr>
            <a:r>
              <a:rPr lang="en-US" sz="1150" b="1" dirty="0">
                <a:solidFill>
                  <a:srgbClr val="FFFFFF"/>
                </a:solidFill>
                <a:latin typeface="Poppins" pitchFamily="34" charset="0"/>
                <a:ea typeface="Poppins" pitchFamily="34" charset="-122"/>
                <a:cs typeface="Poppins" pitchFamily="34" charset="-120"/>
              </a:rPr>
              <a:t>+ Create from SQL</a:t>
            </a:r>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 → cole → </a:t>
            </a:r>
            <a:pPr algn="l" indent="0" marL="0">
              <a:lnSpc>
                <a:spcPct val="115385"/>
              </a:lnSpc>
              <a:buNone/>
            </a:pPr>
            <a:r>
              <a:rPr lang="en-US" sz="1150" b="1" dirty="0">
                <a:solidFill>
                  <a:srgbClr val="FFFFFF"/>
                </a:solidFill>
                <a:latin typeface="Poppins" pitchFamily="34" charset="0"/>
                <a:ea typeface="Poppins" pitchFamily="34" charset="-122"/>
                <a:cs typeface="Poppins" pitchFamily="34" charset="-120"/>
              </a:rPr>
              <a:t>Run</a:t>
            </a:r>
            <a:endParaRPr lang="en-US" sz="1150" dirty="0"/>
          </a:p>
        </p:txBody>
      </p:sp>
      <p:sp>
        <p:nvSpPr>
          <p:cNvPr id="18" name="Text 16"/>
          <p:cNvSpPr txBox="1"/>
          <p:nvPr/>
        </p:nvSpPr>
        <p:spPr>
          <a:xfrm>
            <a:off x="876278" y="2960812"/>
            <a:ext cx="2069270" cy="171446"/>
          </a:xfrm>
          <a:prstGeom prst="rect">
            <a:avLst/>
          </a:prstGeom>
          <a:noFill/>
          <a:ln/>
        </p:spPr>
        <p:txBody>
          <a:bodyPr wrap="square" lIns="0" tIns="0" rIns="0" bIns="0" rtlCol="0" anchor="t"/>
          <a:lstStyle/>
          <a:p>
            <a:pPr algn="l"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DATASET</a:t>
            </a:r>
            <a:endParaRPr lang="en-US" sz="900" dirty="0"/>
          </a:p>
        </p:txBody>
      </p:sp>
      <p:sp>
        <p:nvSpPr>
          <p:cNvPr id="19" name="Text 17"/>
          <p:cNvSpPr txBox="1"/>
          <p:nvPr/>
        </p:nvSpPr>
        <p:spPr>
          <a:xfrm>
            <a:off x="3094555" y="2960812"/>
            <a:ext cx="4795210" cy="171446"/>
          </a:xfrm>
          <a:prstGeom prst="rect">
            <a:avLst/>
          </a:prstGeom>
          <a:noFill/>
          <a:ln/>
        </p:spPr>
        <p:txBody>
          <a:bodyPr wrap="square" lIns="0" tIns="0" rIns="0" bIns="0" rtlCol="0" anchor="t"/>
          <a:lstStyle/>
          <a:p>
            <a:pPr algn="l"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ARQUIVO NO GITHUB (COPIE E COLE)</a:t>
            </a:r>
            <a:endParaRPr lang="en-US" sz="900" dirty="0"/>
          </a:p>
        </p:txBody>
      </p:sp>
      <p:sp>
        <p:nvSpPr>
          <p:cNvPr id="20" name="Text 18"/>
          <p:cNvSpPr txBox="1"/>
          <p:nvPr/>
        </p:nvSpPr>
        <p:spPr>
          <a:xfrm>
            <a:off x="7933928" y="2960812"/>
            <a:ext cx="3516748" cy="171446"/>
          </a:xfrm>
          <a:prstGeom prst="rect">
            <a:avLst/>
          </a:prstGeom>
          <a:noFill/>
          <a:ln/>
        </p:spPr>
        <p:txBody>
          <a:bodyPr wrap="square" lIns="0" tIns="0" rIns="0" bIns="0" rtlCol="0" anchor="t"/>
          <a:lstStyle/>
          <a:p>
            <a:pPr algn="l"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DEVE TRAZER</a:t>
            </a:r>
            <a:endParaRPr lang="en-US" sz="900" dirty="0"/>
          </a:p>
        </p:txBody>
      </p:sp>
      <p:sp>
        <p:nvSpPr>
          <p:cNvPr id="21" name="Shape 19"/>
          <p:cNvSpPr/>
          <p:nvPr/>
        </p:nvSpPr>
        <p:spPr>
          <a:xfrm>
            <a:off x="761981" y="3259254"/>
            <a:ext cx="2218277" cy="384761"/>
          </a:xfrm>
          <a:prstGeom prst="rect">
            <a:avLst/>
          </a:prstGeom>
          <a:solidFill>
            <a:srgbClr val="1E1E24"/>
          </a:solidFill>
          <a:ln/>
        </p:spPr>
      </p:sp>
      <p:sp>
        <p:nvSpPr>
          <p:cNvPr id="22" name="Text 20"/>
          <p:cNvSpPr txBox="1"/>
          <p:nvPr/>
        </p:nvSpPr>
        <p:spPr>
          <a:xfrm>
            <a:off x="876278" y="3360852"/>
            <a:ext cx="2069270" cy="181566"/>
          </a:xfrm>
          <a:prstGeom prst="rect">
            <a:avLst/>
          </a:prstGeom>
          <a:noFill/>
          <a:ln/>
        </p:spPr>
        <p:txBody>
          <a:bodyPr wrap="square" lIns="0" tIns="0" rIns="0" bIns="0" rtlCol="0" anchor="t"/>
          <a:lstStyle/>
          <a:p>
            <a:pPr algn="l" indent="0" marL="0">
              <a:lnSpc>
                <a:spcPct val="111111"/>
              </a:lnSpc>
              <a:buNone/>
            </a:pPr>
            <a:r>
              <a:rPr lang="en-US" sz="1100" b="1" dirty="0">
                <a:solidFill>
                  <a:srgbClr val="F5F6FC"/>
                </a:solidFill>
                <a:latin typeface="Poppins" pitchFamily="34" charset="0"/>
                <a:ea typeface="Poppins" pitchFamily="34" charset="-122"/>
                <a:cs typeface="Poppins" pitchFamily="34" charset="-120"/>
              </a:rPr>
              <a:t>Projetos em andamento</a:t>
            </a:r>
            <a:endParaRPr lang="en-US" sz="1100" dirty="0"/>
          </a:p>
        </p:txBody>
      </p:sp>
      <p:sp>
        <p:nvSpPr>
          <p:cNvPr id="23" name="Shape 21"/>
          <p:cNvSpPr/>
          <p:nvPr/>
        </p:nvSpPr>
        <p:spPr>
          <a:xfrm>
            <a:off x="2980258" y="3259254"/>
            <a:ext cx="4839373" cy="384761"/>
          </a:xfrm>
          <a:prstGeom prst="rect">
            <a:avLst/>
          </a:prstGeom>
          <a:solidFill>
            <a:srgbClr val="1E1E24"/>
          </a:solidFill>
          <a:ln/>
        </p:spPr>
      </p:sp>
      <p:sp>
        <p:nvSpPr>
          <p:cNvPr id="24" name="Text 22"/>
          <p:cNvSpPr txBox="1"/>
          <p:nvPr/>
        </p:nvSpPr>
        <p:spPr>
          <a:xfrm>
            <a:off x="3094555" y="3360852"/>
            <a:ext cx="4795210"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aulas/aula-01-analista/</a:t>
            </a:r>
            <a:pPr algn="l" indent="0" marL="0">
              <a:lnSpc>
                <a:spcPct val="111111"/>
              </a:lnSpc>
              <a:buNone/>
            </a:pPr>
            <a:r>
              <a:rPr lang="en-US" sz="1100" b="1" dirty="0">
                <a:solidFill>
                  <a:srgbClr val="FFFFFF"/>
                </a:solidFill>
                <a:latin typeface="Poppins" pitchFamily="34" charset="0"/>
                <a:ea typeface="Poppins" pitchFamily="34" charset="-122"/>
                <a:cs typeface="Poppins" pitchFamily="34" charset="-120"/>
              </a:rPr>
              <a:t>dashboard-dataset-projetos.sql</a:t>
            </a:r>
            <a:endParaRPr lang="en-US" sz="1100" dirty="0"/>
          </a:p>
        </p:txBody>
      </p:sp>
      <p:sp>
        <p:nvSpPr>
          <p:cNvPr id="25" name="Shape 23"/>
          <p:cNvSpPr/>
          <p:nvPr/>
        </p:nvSpPr>
        <p:spPr>
          <a:xfrm>
            <a:off x="7819631" y="3259254"/>
            <a:ext cx="3610083" cy="384761"/>
          </a:xfrm>
          <a:prstGeom prst="rect">
            <a:avLst/>
          </a:prstGeom>
          <a:solidFill>
            <a:srgbClr val="1E1E24"/>
          </a:solidFill>
          <a:ln/>
        </p:spPr>
      </p:sp>
      <p:sp>
        <p:nvSpPr>
          <p:cNvPr id="26" name="Text 24"/>
          <p:cNvSpPr txBox="1"/>
          <p:nvPr/>
        </p:nvSpPr>
        <p:spPr>
          <a:xfrm>
            <a:off x="7933928" y="3360852"/>
            <a:ext cx="3516748"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41 linhas: SPI, CPI, situação, farol, estouro</a:t>
            </a:r>
            <a:endParaRPr lang="en-US" sz="1100" dirty="0"/>
          </a:p>
        </p:txBody>
      </p:sp>
      <p:sp>
        <p:nvSpPr>
          <p:cNvPr id="27" name="Shape 25"/>
          <p:cNvSpPr/>
          <p:nvPr/>
        </p:nvSpPr>
        <p:spPr>
          <a:xfrm>
            <a:off x="761981" y="3694814"/>
            <a:ext cx="2218277" cy="384761"/>
          </a:xfrm>
          <a:prstGeom prst="rect">
            <a:avLst/>
          </a:prstGeom>
          <a:solidFill>
            <a:srgbClr val="1E1E24"/>
          </a:solidFill>
          <a:ln/>
        </p:spPr>
      </p:sp>
      <p:sp>
        <p:nvSpPr>
          <p:cNvPr id="28" name="Text 26"/>
          <p:cNvSpPr txBox="1"/>
          <p:nvPr/>
        </p:nvSpPr>
        <p:spPr>
          <a:xfrm>
            <a:off x="876278" y="3796411"/>
            <a:ext cx="2069270" cy="181566"/>
          </a:xfrm>
          <a:prstGeom prst="rect">
            <a:avLst/>
          </a:prstGeom>
          <a:noFill/>
          <a:ln/>
        </p:spPr>
        <p:txBody>
          <a:bodyPr wrap="square" lIns="0" tIns="0" rIns="0" bIns="0" rtlCol="0" anchor="t"/>
          <a:lstStyle/>
          <a:p>
            <a:pPr algn="l" indent="0" marL="0">
              <a:lnSpc>
                <a:spcPct val="111111"/>
              </a:lnSpc>
              <a:buNone/>
            </a:pPr>
            <a:r>
              <a:rPr lang="en-US" sz="1100" b="1" dirty="0">
                <a:solidFill>
                  <a:srgbClr val="F5F6FC"/>
                </a:solidFill>
                <a:latin typeface="Poppins" pitchFamily="34" charset="0"/>
                <a:ea typeface="Poppins" pitchFamily="34" charset="-122"/>
                <a:cs typeface="Poppins" pitchFamily="34" charset="-120"/>
              </a:rPr>
              <a:t>Custos por mês</a:t>
            </a:r>
            <a:endParaRPr lang="en-US" sz="1100" dirty="0"/>
          </a:p>
        </p:txBody>
      </p:sp>
      <p:sp>
        <p:nvSpPr>
          <p:cNvPr id="29" name="Shape 27"/>
          <p:cNvSpPr/>
          <p:nvPr/>
        </p:nvSpPr>
        <p:spPr>
          <a:xfrm>
            <a:off x="2980258" y="3694814"/>
            <a:ext cx="4839373" cy="384761"/>
          </a:xfrm>
          <a:prstGeom prst="rect">
            <a:avLst/>
          </a:prstGeom>
          <a:solidFill>
            <a:srgbClr val="1E1E24"/>
          </a:solidFill>
          <a:ln/>
        </p:spPr>
      </p:sp>
      <p:sp>
        <p:nvSpPr>
          <p:cNvPr id="30" name="Text 28"/>
          <p:cNvSpPr txBox="1"/>
          <p:nvPr/>
        </p:nvSpPr>
        <p:spPr>
          <a:xfrm>
            <a:off x="3094555" y="3796411"/>
            <a:ext cx="4795210"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aulas/aula-01-analista/</a:t>
            </a:r>
            <a:pPr algn="l" indent="0" marL="0">
              <a:lnSpc>
                <a:spcPct val="111111"/>
              </a:lnSpc>
              <a:buNone/>
            </a:pPr>
            <a:r>
              <a:rPr lang="en-US" sz="1100" b="1" dirty="0">
                <a:solidFill>
                  <a:srgbClr val="FFFFFF"/>
                </a:solidFill>
                <a:latin typeface="Poppins" pitchFamily="34" charset="0"/>
                <a:ea typeface="Poppins" pitchFamily="34" charset="-122"/>
                <a:cs typeface="Poppins" pitchFamily="34" charset="-120"/>
              </a:rPr>
              <a:t>dashboard-dataset-custos.sql</a:t>
            </a:r>
            <a:endParaRPr lang="en-US" sz="1100" dirty="0"/>
          </a:p>
        </p:txBody>
      </p:sp>
      <p:sp>
        <p:nvSpPr>
          <p:cNvPr id="31" name="Shape 29"/>
          <p:cNvSpPr/>
          <p:nvPr/>
        </p:nvSpPr>
        <p:spPr>
          <a:xfrm>
            <a:off x="7819631" y="3694814"/>
            <a:ext cx="3610083" cy="384761"/>
          </a:xfrm>
          <a:prstGeom prst="rect">
            <a:avLst/>
          </a:prstGeom>
          <a:solidFill>
            <a:srgbClr val="1E1E24"/>
          </a:solidFill>
          <a:ln/>
        </p:spPr>
      </p:sp>
      <p:sp>
        <p:nvSpPr>
          <p:cNvPr id="32" name="Text 30"/>
          <p:cNvSpPr txBox="1"/>
          <p:nvPr/>
        </p:nvSpPr>
        <p:spPr>
          <a:xfrm>
            <a:off x="7933928" y="3796411"/>
            <a:ext cx="3516748"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23.640 lançamentos com mês e categoria</a:t>
            </a:r>
            <a:endParaRPr lang="en-US" sz="1100" dirty="0"/>
          </a:p>
        </p:txBody>
      </p:sp>
      <p:sp>
        <p:nvSpPr>
          <p:cNvPr id="33" name="Shape 31"/>
          <p:cNvSpPr/>
          <p:nvPr/>
        </p:nvSpPr>
        <p:spPr>
          <a:xfrm>
            <a:off x="761981" y="4231971"/>
            <a:ext cx="25399" cy="285743"/>
          </a:xfrm>
          <a:prstGeom prst="rect">
            <a:avLst/>
          </a:prstGeom>
          <a:solidFill>
            <a:srgbClr val="22C2F4"/>
          </a:solidFill>
          <a:ln/>
        </p:spPr>
      </p:sp>
      <p:sp>
        <p:nvSpPr>
          <p:cNvPr id="34" name="Text 32"/>
          <p:cNvSpPr txBox="1"/>
          <p:nvPr/>
        </p:nvSpPr>
        <p:spPr>
          <a:xfrm>
            <a:off x="914377" y="4270070"/>
            <a:ext cx="10935951" cy="209545"/>
          </a:xfrm>
          <a:prstGeom prst="rect">
            <a:avLst/>
          </a:prstGeom>
          <a:noFill/>
          <a:ln/>
        </p:spPr>
        <p:txBody>
          <a:bodyPr wrap="square" lIns="0" tIns="0" rIns="0" bIns="0" rtlCol="0" anchor="t"/>
          <a:lstStyle/>
          <a:p>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O primeiro dataset lê a view do </a:t>
            </a:r>
            <a:pPr algn="l" indent="0" marL="0">
              <a:lnSpc>
                <a:spcPct val="106838"/>
              </a:lnSpc>
              <a:buNone/>
            </a:pPr>
            <a:r>
              <a:rPr lang="en-US" sz="1100" b="1" dirty="0">
                <a:solidFill>
                  <a:srgbClr val="FFFFFF"/>
                </a:solidFill>
                <a:latin typeface="Poppins" pitchFamily="34" charset="0"/>
                <a:ea typeface="Poppins" pitchFamily="34" charset="-122"/>
                <a:cs typeface="Poppins" pitchFamily="34" charset="-120"/>
              </a:rPr>
              <a:t>exemplo 05</a:t>
            </a:r>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 rode o 05 antes. Repare no SQL: CAST, replace e try_to_date em toda coluna. É o preço de ler a bronze.</a:t>
            </a:r>
            <a:endParaRPr lang="en-US" sz="1100" dirty="0"/>
          </a:p>
        </p:txBody>
      </p:sp>
      <p:pic>
        <p:nvPicPr>
          <p:cNvPr id="35"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36" name="Text 33"/>
          <p:cNvSpPr txBox="1"/>
          <p:nvPr/>
        </p:nvSpPr>
        <p:spPr>
          <a:xfrm>
            <a:off x="10987507" y="6387940"/>
            <a:ext cx="459895"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71 / 133</a:t>
            </a:r>
            <a:endParaRPr lang="en-US" sz="10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1 · DASHBOARD PASSO A PASSO · 2 DE 2</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Os gráficos: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Add a visualization</a:t>
            </a:r>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 e um prompt</a:t>
            </a:r>
            <a:endParaRPr lang="en-US" sz="3100" dirty="0"/>
          </a:p>
        </p:txBody>
      </p:sp>
      <p:sp>
        <p:nvSpPr>
          <p:cNvPr id="4" name="Text 2"/>
          <p:cNvSpPr txBox="1"/>
          <p:nvPr/>
        </p:nvSpPr>
        <p:spPr>
          <a:xfrm>
            <a:off x="876278" y="1582301"/>
            <a:ext cx="2378928" cy="171446"/>
          </a:xfrm>
          <a:prstGeom prst="rect">
            <a:avLst/>
          </a:prstGeom>
          <a:noFill/>
          <a:ln/>
        </p:spPr>
        <p:txBody>
          <a:bodyPr wrap="square" lIns="0" tIns="0" rIns="0" bIns="0" rtlCol="0" anchor="t"/>
          <a:lstStyle/>
          <a:p>
            <a:pPr algn="l"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GRÁFICO</a:t>
            </a:r>
            <a:endParaRPr lang="en-US" sz="900" dirty="0"/>
          </a:p>
        </p:txBody>
      </p:sp>
      <p:sp>
        <p:nvSpPr>
          <p:cNvPr id="5" name="Text 3"/>
          <p:cNvSpPr txBox="1"/>
          <p:nvPr/>
        </p:nvSpPr>
        <p:spPr>
          <a:xfrm>
            <a:off x="3392303" y="1582301"/>
            <a:ext cx="8240038" cy="171446"/>
          </a:xfrm>
          <a:prstGeom prst="rect">
            <a:avLst/>
          </a:prstGeom>
          <a:noFill/>
          <a:ln/>
        </p:spPr>
        <p:txBody>
          <a:bodyPr wrap="square" lIns="0" tIns="0" rIns="0" bIns="0" rtlCol="0" anchor="t"/>
          <a:lstStyle/>
          <a:p>
            <a:pPr algn="l"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DIGITE NO QUADRO DO GRÁFICO (ASSISTENTE)</a:t>
            </a:r>
            <a:endParaRPr lang="en-US" sz="900" dirty="0"/>
          </a:p>
        </p:txBody>
      </p:sp>
      <p:sp>
        <p:nvSpPr>
          <p:cNvPr id="6" name="Shape 4"/>
          <p:cNvSpPr/>
          <p:nvPr/>
        </p:nvSpPr>
        <p:spPr>
          <a:xfrm>
            <a:off x="761981" y="1880744"/>
            <a:ext cx="2516025" cy="359957"/>
          </a:xfrm>
          <a:prstGeom prst="rect">
            <a:avLst/>
          </a:prstGeom>
          <a:solidFill>
            <a:srgbClr val="1E1E24"/>
          </a:solidFill>
          <a:ln/>
        </p:spPr>
      </p:sp>
      <p:sp>
        <p:nvSpPr>
          <p:cNvPr id="7" name="Text 5"/>
          <p:cNvSpPr txBox="1"/>
          <p:nvPr/>
        </p:nvSpPr>
        <p:spPr>
          <a:xfrm>
            <a:off x="876278" y="1982341"/>
            <a:ext cx="2378928" cy="156762"/>
          </a:xfrm>
          <a:prstGeom prst="rect">
            <a:avLst/>
          </a:prstGeom>
          <a:noFill/>
          <a:ln/>
        </p:spPr>
        <p:txBody>
          <a:bodyPr wrap="square" lIns="0" tIns="0" rIns="0" bIns="0" rtlCol="0" anchor="t"/>
          <a:lstStyle/>
          <a:p>
            <a:pPr algn="l" indent="0" marL="0">
              <a:lnSpc>
                <a:spcPct val="111111"/>
              </a:lnSpc>
              <a:buNone/>
            </a:pPr>
            <a:r>
              <a:rPr lang="en-US" sz="950" b="1" dirty="0">
                <a:solidFill>
                  <a:srgbClr val="F5F6FC"/>
                </a:solidFill>
                <a:latin typeface="Poppins" pitchFamily="34" charset="0"/>
                <a:ea typeface="Poppins" pitchFamily="34" charset="-122"/>
                <a:cs typeface="Poppins" pitchFamily="34" charset="-120"/>
              </a:rPr>
              <a:t>Carteira</a:t>
            </a:r>
            <a:endParaRPr lang="en-US" sz="950" dirty="0"/>
          </a:p>
        </p:txBody>
      </p:sp>
      <p:sp>
        <p:nvSpPr>
          <p:cNvPr id="8" name="Shape 6"/>
          <p:cNvSpPr/>
          <p:nvPr/>
        </p:nvSpPr>
        <p:spPr>
          <a:xfrm>
            <a:off x="3278006" y="1880744"/>
            <a:ext cx="8151708" cy="359957"/>
          </a:xfrm>
          <a:prstGeom prst="rect">
            <a:avLst/>
          </a:prstGeom>
          <a:solidFill>
            <a:srgbClr val="1E1E24"/>
          </a:solidFill>
          <a:ln/>
        </p:spPr>
      </p:sp>
      <p:sp>
        <p:nvSpPr>
          <p:cNvPr id="9" name="Text 7"/>
          <p:cNvSpPr txBox="1"/>
          <p:nvPr/>
        </p:nvSpPr>
        <p:spPr>
          <a:xfrm>
            <a:off x="3392303" y="1982341"/>
            <a:ext cx="8240038" cy="156762"/>
          </a:xfrm>
          <a:prstGeom prst="rect">
            <a:avLst/>
          </a:prstGeom>
          <a:noFill/>
          <a:ln/>
        </p:spPr>
        <p:txBody>
          <a:bodyPr wrap="square" lIns="0" tIns="0" rIns="0" bIns="0" rtlCol="0" anchor="t"/>
          <a:lstStyle/>
          <a:p>
            <a:pPr algn="l" indent="0" marL="0">
              <a:lnSpc>
                <a:spcPct val="111111"/>
              </a:lnSpc>
              <a:buNone/>
            </a:pPr>
            <a:r>
              <a:rPr lang="en-US" sz="950" dirty="0">
                <a:solidFill>
                  <a:srgbClr val="F5F6FC"/>
                </a:solidFill>
                <a:latin typeface="Poppins" pitchFamily="34" charset="0"/>
                <a:ea typeface="Poppins" pitchFamily="34" charset="-122"/>
                <a:cs typeface="Poppins" pitchFamily="34" charset="-120"/>
              </a:rPr>
              <a:t>Contador com a soma de valor_contrato, em reais, título "Carteira em andamento"</a:t>
            </a:r>
            <a:endParaRPr lang="en-US" sz="950" dirty="0"/>
          </a:p>
        </p:txBody>
      </p:sp>
      <p:sp>
        <p:nvSpPr>
          <p:cNvPr id="10" name="Shape 8"/>
          <p:cNvSpPr/>
          <p:nvPr/>
        </p:nvSpPr>
        <p:spPr>
          <a:xfrm>
            <a:off x="761981" y="2291499"/>
            <a:ext cx="2516025" cy="359957"/>
          </a:xfrm>
          <a:prstGeom prst="rect">
            <a:avLst/>
          </a:prstGeom>
          <a:solidFill>
            <a:srgbClr val="1E1E24"/>
          </a:solidFill>
          <a:ln/>
        </p:spPr>
      </p:sp>
      <p:sp>
        <p:nvSpPr>
          <p:cNvPr id="11" name="Text 9"/>
          <p:cNvSpPr txBox="1"/>
          <p:nvPr/>
        </p:nvSpPr>
        <p:spPr>
          <a:xfrm>
            <a:off x="876278" y="2393096"/>
            <a:ext cx="2378928" cy="156762"/>
          </a:xfrm>
          <a:prstGeom prst="rect">
            <a:avLst/>
          </a:prstGeom>
          <a:noFill/>
          <a:ln/>
        </p:spPr>
        <p:txBody>
          <a:bodyPr wrap="square" lIns="0" tIns="0" rIns="0" bIns="0" rtlCol="0" anchor="t"/>
          <a:lstStyle/>
          <a:p>
            <a:pPr algn="l" indent="0" marL="0">
              <a:lnSpc>
                <a:spcPct val="111111"/>
              </a:lnSpc>
              <a:buNone/>
            </a:pPr>
            <a:r>
              <a:rPr lang="en-US" sz="950" b="1" dirty="0">
                <a:solidFill>
                  <a:srgbClr val="F5F6FC"/>
                </a:solidFill>
                <a:latin typeface="Poppins" pitchFamily="34" charset="0"/>
                <a:ea typeface="Poppins" pitchFamily="34" charset="-122"/>
                <a:cs typeface="Poppins" pitchFamily="34" charset="-120"/>
              </a:rPr>
              <a:t>Em risco · críticos · melancias</a:t>
            </a:r>
            <a:endParaRPr lang="en-US" sz="950" dirty="0"/>
          </a:p>
        </p:txBody>
      </p:sp>
      <p:sp>
        <p:nvSpPr>
          <p:cNvPr id="12" name="Shape 10"/>
          <p:cNvSpPr/>
          <p:nvPr/>
        </p:nvSpPr>
        <p:spPr>
          <a:xfrm>
            <a:off x="3278006" y="2291499"/>
            <a:ext cx="8151708" cy="359957"/>
          </a:xfrm>
          <a:prstGeom prst="rect">
            <a:avLst/>
          </a:prstGeom>
          <a:solidFill>
            <a:srgbClr val="1E1E24"/>
          </a:solidFill>
          <a:ln/>
        </p:spPr>
      </p:sp>
      <p:sp>
        <p:nvSpPr>
          <p:cNvPr id="13" name="Text 11"/>
          <p:cNvSpPr txBox="1"/>
          <p:nvPr/>
        </p:nvSpPr>
        <p:spPr>
          <a:xfrm>
            <a:off x="3392303" y="2393096"/>
            <a:ext cx="8240038" cy="156762"/>
          </a:xfrm>
          <a:prstGeom prst="rect">
            <a:avLst/>
          </a:prstGeom>
          <a:noFill/>
          <a:ln/>
        </p:spPr>
        <p:txBody>
          <a:bodyPr wrap="square" lIns="0" tIns="0" rIns="0" bIns="0" rtlCol="0" anchor="t"/>
          <a:lstStyle/>
          <a:p>
            <a:pPr algn="l" indent="0" marL="0">
              <a:lnSpc>
                <a:spcPct val="111111"/>
              </a:lnSpc>
              <a:buNone/>
            </a:pPr>
            <a:r>
              <a:rPr lang="en-US" sz="950" dirty="0">
                <a:solidFill>
                  <a:srgbClr val="F5F6FC"/>
                </a:solidFill>
                <a:latin typeface="Poppins" pitchFamily="34" charset="0"/>
                <a:ea typeface="Poppins" pitchFamily="34" charset="-122"/>
                <a:cs typeface="Poppins" pitchFamily="34" charset="-120"/>
              </a:rPr>
              <a:t>Contador com a soma de em_risco (depois: critico; depois: melancia)</a:t>
            </a:r>
            <a:endParaRPr lang="en-US" sz="950" dirty="0"/>
          </a:p>
        </p:txBody>
      </p:sp>
      <p:sp>
        <p:nvSpPr>
          <p:cNvPr id="14" name="Shape 12"/>
          <p:cNvSpPr/>
          <p:nvPr/>
        </p:nvSpPr>
        <p:spPr>
          <a:xfrm>
            <a:off x="761981" y="2702254"/>
            <a:ext cx="2516025" cy="359957"/>
          </a:xfrm>
          <a:prstGeom prst="rect">
            <a:avLst/>
          </a:prstGeom>
          <a:solidFill>
            <a:srgbClr val="1E1E24"/>
          </a:solidFill>
          <a:ln/>
        </p:spPr>
      </p:sp>
      <p:sp>
        <p:nvSpPr>
          <p:cNvPr id="15" name="Text 13"/>
          <p:cNvSpPr txBox="1"/>
          <p:nvPr/>
        </p:nvSpPr>
        <p:spPr>
          <a:xfrm>
            <a:off x="876278" y="2803852"/>
            <a:ext cx="2378928" cy="156762"/>
          </a:xfrm>
          <a:prstGeom prst="rect">
            <a:avLst/>
          </a:prstGeom>
          <a:noFill/>
          <a:ln/>
        </p:spPr>
        <p:txBody>
          <a:bodyPr wrap="square" lIns="0" tIns="0" rIns="0" bIns="0" rtlCol="0" anchor="t"/>
          <a:lstStyle/>
          <a:p>
            <a:pPr algn="l" indent="0" marL="0">
              <a:lnSpc>
                <a:spcPct val="111111"/>
              </a:lnSpc>
              <a:buNone/>
            </a:pPr>
            <a:r>
              <a:rPr lang="en-US" sz="950" b="1" dirty="0">
                <a:solidFill>
                  <a:srgbClr val="F5F6FC"/>
                </a:solidFill>
                <a:latin typeface="Poppins" pitchFamily="34" charset="0"/>
                <a:ea typeface="Poppins" pitchFamily="34" charset="-122"/>
                <a:cs typeface="Poppins" pitchFamily="34" charset="-120"/>
              </a:rPr>
              <a:t>SPI por projeto</a:t>
            </a:r>
            <a:endParaRPr lang="en-US" sz="950" dirty="0"/>
          </a:p>
        </p:txBody>
      </p:sp>
      <p:sp>
        <p:nvSpPr>
          <p:cNvPr id="16" name="Shape 14"/>
          <p:cNvSpPr/>
          <p:nvPr/>
        </p:nvSpPr>
        <p:spPr>
          <a:xfrm>
            <a:off x="3278006" y="2702254"/>
            <a:ext cx="8151708" cy="359957"/>
          </a:xfrm>
          <a:prstGeom prst="rect">
            <a:avLst/>
          </a:prstGeom>
          <a:solidFill>
            <a:srgbClr val="1E1E24"/>
          </a:solidFill>
          <a:ln/>
        </p:spPr>
      </p:sp>
      <p:sp>
        <p:nvSpPr>
          <p:cNvPr id="17" name="Text 15"/>
          <p:cNvSpPr txBox="1"/>
          <p:nvPr/>
        </p:nvSpPr>
        <p:spPr>
          <a:xfrm>
            <a:off x="3392303" y="2803852"/>
            <a:ext cx="8240038" cy="156762"/>
          </a:xfrm>
          <a:prstGeom prst="rect">
            <a:avLst/>
          </a:prstGeom>
          <a:noFill/>
          <a:ln/>
        </p:spPr>
        <p:txBody>
          <a:bodyPr wrap="square" lIns="0" tIns="0" rIns="0" bIns="0" rtlCol="0" anchor="t"/>
          <a:lstStyle/>
          <a:p>
            <a:pPr algn="l" indent="0" marL="0">
              <a:lnSpc>
                <a:spcPct val="111111"/>
              </a:lnSpc>
              <a:buNone/>
            </a:pPr>
            <a:r>
              <a:rPr lang="en-US" sz="950" dirty="0">
                <a:solidFill>
                  <a:srgbClr val="F5F6FC"/>
                </a:solidFill>
                <a:latin typeface="Poppins" pitchFamily="34" charset="0"/>
                <a:ea typeface="Poppins" pitchFamily="34" charset="-122"/>
                <a:cs typeface="Poppins" pitchFamily="34" charset="-120"/>
              </a:rPr>
              <a:t>Barras horizontais com o SPI de cada projeto, do menor para o maior, cor pela situacao</a:t>
            </a:r>
            <a:endParaRPr lang="en-US" sz="950" dirty="0"/>
          </a:p>
        </p:txBody>
      </p:sp>
      <p:sp>
        <p:nvSpPr>
          <p:cNvPr id="18" name="Shape 16"/>
          <p:cNvSpPr/>
          <p:nvPr/>
        </p:nvSpPr>
        <p:spPr>
          <a:xfrm>
            <a:off x="761981" y="3113010"/>
            <a:ext cx="2516025" cy="359957"/>
          </a:xfrm>
          <a:prstGeom prst="rect">
            <a:avLst/>
          </a:prstGeom>
          <a:solidFill>
            <a:srgbClr val="1E1E24"/>
          </a:solidFill>
          <a:ln/>
        </p:spPr>
      </p:sp>
      <p:sp>
        <p:nvSpPr>
          <p:cNvPr id="19" name="Text 17"/>
          <p:cNvSpPr txBox="1"/>
          <p:nvPr/>
        </p:nvSpPr>
        <p:spPr>
          <a:xfrm>
            <a:off x="876278" y="3214607"/>
            <a:ext cx="2378928" cy="156762"/>
          </a:xfrm>
          <a:prstGeom prst="rect">
            <a:avLst/>
          </a:prstGeom>
          <a:noFill/>
          <a:ln/>
        </p:spPr>
        <p:txBody>
          <a:bodyPr wrap="square" lIns="0" tIns="0" rIns="0" bIns="0" rtlCol="0" anchor="t"/>
          <a:lstStyle/>
          <a:p>
            <a:pPr algn="l" indent="0" marL="0">
              <a:lnSpc>
                <a:spcPct val="111111"/>
              </a:lnSpc>
              <a:buNone/>
            </a:pPr>
            <a:r>
              <a:rPr lang="en-US" sz="950" b="1" dirty="0">
                <a:solidFill>
                  <a:srgbClr val="F5F6FC"/>
                </a:solidFill>
                <a:latin typeface="Poppins" pitchFamily="34" charset="0"/>
                <a:ea typeface="Poppins" pitchFamily="34" charset="-122"/>
                <a:cs typeface="Poppins" pitchFamily="34" charset="-120"/>
              </a:rPr>
              <a:t>Por ferramenta</a:t>
            </a:r>
            <a:endParaRPr lang="en-US" sz="950" dirty="0"/>
          </a:p>
        </p:txBody>
      </p:sp>
      <p:sp>
        <p:nvSpPr>
          <p:cNvPr id="20" name="Shape 18"/>
          <p:cNvSpPr/>
          <p:nvPr/>
        </p:nvSpPr>
        <p:spPr>
          <a:xfrm>
            <a:off x="3278006" y="3113010"/>
            <a:ext cx="8151708" cy="359957"/>
          </a:xfrm>
          <a:prstGeom prst="rect">
            <a:avLst/>
          </a:prstGeom>
          <a:solidFill>
            <a:srgbClr val="1E1E24"/>
          </a:solidFill>
          <a:ln/>
        </p:spPr>
      </p:sp>
      <p:sp>
        <p:nvSpPr>
          <p:cNvPr id="21" name="Text 19"/>
          <p:cNvSpPr txBox="1"/>
          <p:nvPr/>
        </p:nvSpPr>
        <p:spPr>
          <a:xfrm>
            <a:off x="3392303" y="3214607"/>
            <a:ext cx="8240038" cy="156762"/>
          </a:xfrm>
          <a:prstGeom prst="rect">
            <a:avLst/>
          </a:prstGeom>
          <a:noFill/>
          <a:ln/>
        </p:spPr>
        <p:txBody>
          <a:bodyPr wrap="square" lIns="0" tIns="0" rIns="0" bIns="0" rtlCol="0" anchor="t"/>
          <a:lstStyle/>
          <a:p>
            <a:pPr algn="l" indent="0" marL="0">
              <a:lnSpc>
                <a:spcPct val="111111"/>
              </a:lnSpc>
              <a:buNone/>
            </a:pPr>
            <a:r>
              <a:rPr lang="en-US" sz="950" dirty="0">
                <a:solidFill>
                  <a:srgbClr val="F5F6FC"/>
                </a:solidFill>
                <a:latin typeface="Poppins" pitchFamily="34" charset="0"/>
                <a:ea typeface="Poppins" pitchFamily="34" charset="-122"/>
                <a:cs typeface="Poppins" pitchFamily="34" charset="-120"/>
              </a:rPr>
              <a:t>Barras empilhadas com a quantidade de projetos por ferramenta, cor pela situacao</a:t>
            </a:r>
            <a:endParaRPr lang="en-US" sz="950" dirty="0"/>
          </a:p>
        </p:txBody>
      </p:sp>
      <p:sp>
        <p:nvSpPr>
          <p:cNvPr id="22" name="Shape 20"/>
          <p:cNvSpPr/>
          <p:nvPr/>
        </p:nvSpPr>
        <p:spPr>
          <a:xfrm>
            <a:off x="761981" y="3523765"/>
            <a:ext cx="2516025" cy="359957"/>
          </a:xfrm>
          <a:prstGeom prst="rect">
            <a:avLst/>
          </a:prstGeom>
          <a:solidFill>
            <a:srgbClr val="1E1E24"/>
          </a:solidFill>
          <a:ln/>
        </p:spPr>
      </p:sp>
      <p:sp>
        <p:nvSpPr>
          <p:cNvPr id="23" name="Text 21"/>
          <p:cNvSpPr txBox="1"/>
          <p:nvPr/>
        </p:nvSpPr>
        <p:spPr>
          <a:xfrm>
            <a:off x="876278" y="3625362"/>
            <a:ext cx="2378928" cy="156762"/>
          </a:xfrm>
          <a:prstGeom prst="rect">
            <a:avLst/>
          </a:prstGeom>
          <a:noFill/>
          <a:ln/>
        </p:spPr>
        <p:txBody>
          <a:bodyPr wrap="square" lIns="0" tIns="0" rIns="0" bIns="0" rtlCol="0" anchor="t"/>
          <a:lstStyle/>
          <a:p>
            <a:pPr algn="l" indent="0" marL="0">
              <a:lnSpc>
                <a:spcPct val="111111"/>
              </a:lnSpc>
              <a:buNone/>
            </a:pPr>
            <a:r>
              <a:rPr lang="en-US" sz="950" b="1" dirty="0">
                <a:solidFill>
                  <a:srgbClr val="F5F6FC"/>
                </a:solidFill>
                <a:latin typeface="Poppins" pitchFamily="34" charset="0"/>
                <a:ea typeface="Poppins" pitchFamily="34" charset="-122"/>
                <a:cs typeface="Poppins" pitchFamily="34" charset="-120"/>
              </a:rPr>
              <a:t>Custo por mês</a:t>
            </a:r>
            <a:endParaRPr lang="en-US" sz="950" dirty="0"/>
          </a:p>
        </p:txBody>
      </p:sp>
      <p:sp>
        <p:nvSpPr>
          <p:cNvPr id="24" name="Shape 22"/>
          <p:cNvSpPr/>
          <p:nvPr/>
        </p:nvSpPr>
        <p:spPr>
          <a:xfrm>
            <a:off x="3278006" y="3523765"/>
            <a:ext cx="8151708" cy="359957"/>
          </a:xfrm>
          <a:prstGeom prst="rect">
            <a:avLst/>
          </a:prstGeom>
          <a:solidFill>
            <a:srgbClr val="1E1E24"/>
          </a:solidFill>
          <a:ln/>
        </p:spPr>
      </p:sp>
      <p:sp>
        <p:nvSpPr>
          <p:cNvPr id="25" name="Text 23"/>
          <p:cNvSpPr txBox="1"/>
          <p:nvPr/>
        </p:nvSpPr>
        <p:spPr>
          <a:xfrm>
            <a:off x="3392303" y="3625362"/>
            <a:ext cx="8240038" cy="156762"/>
          </a:xfrm>
          <a:prstGeom prst="rect">
            <a:avLst/>
          </a:prstGeom>
          <a:noFill/>
          <a:ln/>
        </p:spPr>
        <p:txBody>
          <a:bodyPr wrap="square" lIns="0" tIns="0" rIns="0" bIns="0" rtlCol="0" anchor="t"/>
          <a:lstStyle/>
          <a:p>
            <a:pPr algn="l" indent="0" marL="0">
              <a:lnSpc>
                <a:spcPct val="111111"/>
              </a:lnSpc>
              <a:buNone/>
            </a:pPr>
            <a:r>
              <a:rPr lang="en-US" sz="950" dirty="0">
                <a:solidFill>
                  <a:srgbClr val="F5F6FC"/>
                </a:solidFill>
                <a:latin typeface="Poppins" pitchFamily="34" charset="0"/>
                <a:ea typeface="Poppins" pitchFamily="34" charset="-122"/>
                <a:cs typeface="Poppins" pitchFamily="34" charset="-120"/>
              </a:rPr>
              <a:t>Barras empilhadas do custo (soma de valor) por mês, cor pela categoria, dataset Custos por mês</a:t>
            </a:r>
            <a:endParaRPr lang="en-US" sz="950" dirty="0"/>
          </a:p>
        </p:txBody>
      </p:sp>
      <p:sp>
        <p:nvSpPr>
          <p:cNvPr id="26" name="Shape 24"/>
          <p:cNvSpPr/>
          <p:nvPr/>
        </p:nvSpPr>
        <p:spPr>
          <a:xfrm>
            <a:off x="761981" y="3934520"/>
            <a:ext cx="2516025" cy="359957"/>
          </a:xfrm>
          <a:prstGeom prst="rect">
            <a:avLst/>
          </a:prstGeom>
          <a:solidFill>
            <a:srgbClr val="1E1E24"/>
          </a:solidFill>
          <a:ln/>
        </p:spPr>
      </p:sp>
      <p:sp>
        <p:nvSpPr>
          <p:cNvPr id="27" name="Text 25"/>
          <p:cNvSpPr txBox="1"/>
          <p:nvPr/>
        </p:nvSpPr>
        <p:spPr>
          <a:xfrm>
            <a:off x="876278" y="4036118"/>
            <a:ext cx="2378928" cy="156762"/>
          </a:xfrm>
          <a:prstGeom prst="rect">
            <a:avLst/>
          </a:prstGeom>
          <a:noFill/>
          <a:ln/>
        </p:spPr>
        <p:txBody>
          <a:bodyPr wrap="square" lIns="0" tIns="0" rIns="0" bIns="0" rtlCol="0" anchor="t"/>
          <a:lstStyle/>
          <a:p>
            <a:pPr algn="l" indent="0" marL="0">
              <a:lnSpc>
                <a:spcPct val="111111"/>
              </a:lnSpc>
              <a:buNone/>
            </a:pPr>
            <a:r>
              <a:rPr lang="en-US" sz="950" b="1" dirty="0">
                <a:solidFill>
                  <a:srgbClr val="F5F6FC"/>
                </a:solidFill>
                <a:latin typeface="Poppins" pitchFamily="34" charset="0"/>
                <a:ea typeface="Poppins" pitchFamily="34" charset="-122"/>
                <a:cs typeface="Poppins" pitchFamily="34" charset="-120"/>
              </a:rPr>
              <a:t>Tabela</a:t>
            </a:r>
            <a:endParaRPr lang="en-US" sz="950" dirty="0"/>
          </a:p>
        </p:txBody>
      </p:sp>
      <p:sp>
        <p:nvSpPr>
          <p:cNvPr id="28" name="Shape 26"/>
          <p:cNvSpPr/>
          <p:nvPr/>
        </p:nvSpPr>
        <p:spPr>
          <a:xfrm>
            <a:off x="3278006" y="3934520"/>
            <a:ext cx="8151708" cy="359957"/>
          </a:xfrm>
          <a:prstGeom prst="rect">
            <a:avLst/>
          </a:prstGeom>
          <a:solidFill>
            <a:srgbClr val="1E1E24"/>
          </a:solidFill>
          <a:ln/>
        </p:spPr>
      </p:sp>
      <p:sp>
        <p:nvSpPr>
          <p:cNvPr id="29" name="Text 27"/>
          <p:cNvSpPr txBox="1"/>
          <p:nvPr/>
        </p:nvSpPr>
        <p:spPr>
          <a:xfrm>
            <a:off x="3392303" y="4036118"/>
            <a:ext cx="8240038" cy="156762"/>
          </a:xfrm>
          <a:prstGeom prst="rect">
            <a:avLst/>
          </a:prstGeom>
          <a:noFill/>
          <a:ln/>
        </p:spPr>
        <p:txBody>
          <a:bodyPr wrap="square" lIns="0" tIns="0" rIns="0" bIns="0" rtlCol="0" anchor="t"/>
          <a:lstStyle/>
          <a:p>
            <a:pPr algn="l" indent="0" marL="0">
              <a:lnSpc>
                <a:spcPct val="111111"/>
              </a:lnSpc>
              <a:buNone/>
            </a:pPr>
            <a:r>
              <a:rPr lang="en-US" sz="950" dirty="0">
                <a:solidFill>
                  <a:srgbClr val="F5F6FC"/>
                </a:solidFill>
                <a:latin typeface="Poppins" pitchFamily="34" charset="0"/>
                <a:ea typeface="Poppins" pitchFamily="34" charset="-122"/>
                <a:cs typeface="Poppins" pitchFamily="34" charset="-120"/>
              </a:rPr>
              <a:t>Tabela com projeto, cliente, ferramenta, spi, cpi, situacao, farol, estouro_previsto e atraso_projetado_dias</a:t>
            </a:r>
            <a:endParaRPr lang="en-US" sz="950" dirty="0"/>
          </a:p>
        </p:txBody>
      </p:sp>
      <p:sp>
        <p:nvSpPr>
          <p:cNvPr id="30" name="Shape 28"/>
          <p:cNvSpPr/>
          <p:nvPr/>
        </p:nvSpPr>
        <p:spPr>
          <a:xfrm>
            <a:off x="761981" y="4421474"/>
            <a:ext cx="25399" cy="495288"/>
          </a:xfrm>
          <a:prstGeom prst="rect">
            <a:avLst/>
          </a:prstGeom>
          <a:solidFill>
            <a:srgbClr val="22C2F4"/>
          </a:solidFill>
          <a:ln/>
        </p:spPr>
      </p:sp>
      <p:sp>
        <p:nvSpPr>
          <p:cNvPr id="31" name="Text 29"/>
          <p:cNvSpPr txBox="1"/>
          <p:nvPr/>
        </p:nvSpPr>
        <p:spPr>
          <a:xfrm>
            <a:off x="914377" y="4459573"/>
            <a:ext cx="10935951" cy="419090"/>
          </a:xfrm>
          <a:prstGeom prst="rect">
            <a:avLst/>
          </a:prstGeom>
          <a:noFill/>
          <a:ln/>
        </p:spPr>
        <p:txBody>
          <a:bodyPr wrap="square" lIns="0" tIns="0" rIns="0" bIns="0" rtlCol="0" anchor="t"/>
          <a:lstStyle/>
          <a:p>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Confira no topo: </a:t>
            </a:r>
            <a:pPr algn="l" indent="0" marL="0">
              <a:lnSpc>
                <a:spcPct val="106838"/>
              </a:lnSpc>
              <a:buNone/>
            </a:pPr>
            <a:r>
              <a:rPr lang="en-US" sz="1100" b="1" dirty="0">
                <a:solidFill>
                  <a:srgbClr val="FFFFFF"/>
                </a:solidFill>
                <a:latin typeface="Poppins" pitchFamily="34" charset="0"/>
                <a:ea typeface="Poppins" pitchFamily="34" charset="-122"/>
                <a:cs typeface="Poppins" pitchFamily="34" charset="-120"/>
              </a:rPr>
              <a:t>R$ 208,6 mi · 17 em risco · 7 críticos · 4 melancias</a:t>
            </a:r>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 Depois </a:t>
            </a:r>
            <a:pPr algn="l" indent="0" marL="0">
              <a:lnSpc>
                <a:spcPct val="106838"/>
              </a:lnSpc>
              <a:buNone/>
            </a:pPr>
            <a:r>
              <a:rPr lang="en-US" sz="1100" b="1" dirty="0">
                <a:solidFill>
                  <a:srgbClr val="FFFFFF"/>
                </a:solidFill>
                <a:latin typeface="Poppins" pitchFamily="34" charset="0"/>
                <a:ea typeface="Poppins" pitchFamily="34" charset="-122"/>
                <a:cs typeface="Poppins" pitchFamily="34" charset="-120"/>
              </a:rPr>
              <a:t>Publish</a:t>
            </a:r>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 (canto superior direito). Prompts e o jeito "à mão": </a:t>
            </a:r>
            <a:pPr algn="l" indent="0" marL="0">
              <a:lnSpc>
                <a:spcPct val="106838"/>
              </a:lnSpc>
              <a:buNone/>
            </a:pPr>
            <a:r>
              <a:rPr lang="en-US" sz="1100" b="1" dirty="0">
                <a:solidFill>
                  <a:srgbClr val="FFFFFF"/>
                </a:solidFill>
                <a:latin typeface="Poppins" pitchFamily="34" charset="0"/>
                <a:ea typeface="Poppins" pitchFamily="34" charset="-122"/>
                <a:cs typeface="Poppins" pitchFamily="34" charset="-120"/>
              </a:rPr>
              <a:t>passo-a-passo-dashboard-e-genie.md</a:t>
            </a:r>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a:t>
            </a:r>
            <a:endParaRPr lang="en-US" sz="1100" dirty="0"/>
          </a:p>
        </p:txBody>
      </p:sp>
      <p:pic>
        <p:nvPicPr>
          <p:cNvPr id="32"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33" name="Text 30"/>
          <p:cNvSpPr txBox="1"/>
          <p:nvPr/>
        </p:nvSpPr>
        <p:spPr>
          <a:xfrm>
            <a:off x="10958635" y="6387940"/>
            <a:ext cx="489922"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72 / 133</a:t>
            </a:r>
            <a:endParaRPr lang="en-US" sz="10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1 · DASHBOARD · O PROMPT PRONTO</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Um prompt,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o dashboard inteiro</a:t>
            </a:r>
            <a:endParaRPr lang="en-US" sz="3100" dirty="0"/>
          </a:p>
        </p:txBody>
      </p:sp>
      <p:sp>
        <p:nvSpPr>
          <p:cNvPr id="4" name="Shape 2"/>
          <p:cNvSpPr/>
          <p:nvPr/>
        </p:nvSpPr>
        <p:spPr>
          <a:xfrm>
            <a:off x="761981" y="1582301"/>
            <a:ext cx="6286343" cy="2502631"/>
          </a:xfrm>
          <a:prstGeom prst="roundRect">
            <a:avLst>
              <a:gd name="adj" fmla="val 4567"/>
            </a:avLst>
          </a:prstGeom>
          <a:solidFill>
            <a:srgbClr val="0C0C10"/>
          </a:solidFill>
          <a:ln w="6350">
            <a:solidFill>
              <a:srgbClr val="2F2F39"/>
            </a:solidFill>
            <a:prstDash val="solid"/>
          </a:ln>
        </p:spPr>
      </p:sp>
      <p:sp>
        <p:nvSpPr>
          <p:cNvPr id="5" name="Text 3"/>
          <p:cNvSpPr txBox="1"/>
          <p:nvPr/>
        </p:nvSpPr>
        <p:spPr>
          <a:xfrm>
            <a:off x="958826" y="1753747"/>
            <a:ext cx="6134963" cy="2166090"/>
          </a:xfrm>
          <a:prstGeom prst="rect">
            <a:avLst/>
          </a:prstGeom>
          <a:noFill/>
          <a:ln/>
        </p:spPr>
        <p:txBody>
          <a:bodyPr wrap="square" lIns="0" tIns="0" rIns="0" bIns="0" rtlCol="0" anchor="t"/>
          <a:lstStyle/>
          <a:p>
            <a:pPr algn="l" indent="0" marL="0">
              <a:lnSpc>
                <a:spcPct val="115385"/>
              </a:lnSpc>
              <a:buNone/>
            </a:pPr>
            <a:r>
              <a:rPr lang="en-US" sz="1050" dirty="0">
                <a:solidFill>
                  <a:srgbClr val="E6E8F2"/>
                </a:solidFill>
                <a:latin typeface="Courier New" pitchFamily="34" charset="0"/>
                <a:ea typeface="Courier New" pitchFamily="34" charset="-122"/>
                <a:cs typeface="Courier New" pitchFamily="34" charset="-120"/>
              </a:rPr>
              <a:t>Monte um dashboard da carteira de projetos usando os datasets "Projetos em andamento" e "Custos por mês". No topo, 4 contadores: a soma de valor_contrato (título "Carteira em andamento", em reais), a soma de em_risco ("Projetos com SPI ou CPI &lt; 0,9"), a soma de critico ("Projetos críticos (&lt; 0,8)") e a soma de melancia ("Farol verde com SPI &lt; 0,9"). Embaixo, à esquerda, barras horizontais com o SPI de cada projeto, do menor para o maior, cor pela situacao. À direita, barras empilhadas com a quantidade de projetos por ferramenta, cor pela situacao. Depois, barras empilhadas do custo (soma de valor) por mês, cor pela categoria, do dataset "Custos por mês". No fim, uma tabela com projeto, cliente, ferramenta, spi, cpi, situacao, farol, estouro_previsto e atraso_projetado_dias, ordenada por spi.</a:t>
            </a:r>
            <a:endParaRPr lang="en-US" sz="1050" dirty="0"/>
          </a:p>
        </p:txBody>
      </p:sp>
      <p:sp>
        <p:nvSpPr>
          <p:cNvPr id="6" name="Shape 4"/>
          <p:cNvSpPr/>
          <p:nvPr/>
        </p:nvSpPr>
        <p:spPr>
          <a:xfrm>
            <a:off x="7238819" y="1582301"/>
            <a:ext cx="4190895" cy="1397858"/>
          </a:xfrm>
          <a:prstGeom prst="roundRect">
            <a:avLst>
              <a:gd name="adj" fmla="val 10902"/>
            </a:avLst>
          </a:prstGeom>
          <a:solidFill>
            <a:srgbClr val="1E1E24"/>
          </a:solidFill>
          <a:ln w="6350">
            <a:solidFill>
              <a:srgbClr val="2F2F39"/>
            </a:solidFill>
            <a:prstDash val="solid"/>
          </a:ln>
        </p:spPr>
      </p:sp>
      <p:sp>
        <p:nvSpPr>
          <p:cNvPr id="7" name="Shape 5"/>
          <p:cNvSpPr/>
          <p:nvPr/>
        </p:nvSpPr>
        <p:spPr>
          <a:xfrm>
            <a:off x="7461063" y="1779146"/>
            <a:ext cx="491121" cy="247644"/>
          </a:xfrm>
          <a:prstGeom prst="roundRect">
            <a:avLst>
              <a:gd name="adj" fmla="val 50000"/>
            </a:avLst>
          </a:prstGeom>
          <a:solidFill>
            <a:srgbClr val="22C2F4">
              <a:alpha val="14000"/>
            </a:srgbClr>
          </a:solidFill>
          <a:ln/>
        </p:spPr>
      </p:sp>
      <p:sp>
        <p:nvSpPr>
          <p:cNvPr id="8" name="Text 6"/>
          <p:cNvSpPr txBox="1"/>
          <p:nvPr/>
        </p:nvSpPr>
        <p:spPr>
          <a:xfrm>
            <a:off x="7549961" y="1817245"/>
            <a:ext cx="325858"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Onde</a:t>
            </a:r>
            <a:endParaRPr lang="en-US" sz="900" dirty="0"/>
          </a:p>
        </p:txBody>
      </p:sp>
      <p:sp>
        <p:nvSpPr>
          <p:cNvPr id="9" name="Text 7"/>
          <p:cNvSpPr txBox="1"/>
          <p:nvPr/>
        </p:nvSpPr>
        <p:spPr>
          <a:xfrm>
            <a:off x="7461063" y="2191886"/>
            <a:ext cx="3896263" cy="591428"/>
          </a:xfrm>
          <a:prstGeom prst="rect">
            <a:avLst/>
          </a:prstGeom>
          <a:noFill/>
          <a:ln/>
        </p:spPr>
        <p:txBody>
          <a:bodyPr wrap="square" lIns="0" tIns="0" rIns="0" bIns="0" rtlCol="0" anchor="t"/>
          <a:lstStyle/>
          <a:p>
            <a:pPr algn="l" indent="0" marL="0">
              <a:lnSpc>
                <a:spcPct val="115385"/>
              </a:lnSpc>
              <a:buNone/>
            </a:pPr>
            <a:r>
              <a:rPr lang="en-US" sz="1150" dirty="0">
                <a:solidFill>
                  <a:srgbClr val="FFFFFF"/>
                </a:solidFill>
                <a:latin typeface="Poppins" pitchFamily="34" charset="0"/>
                <a:ea typeface="Poppins" pitchFamily="34" charset="-122"/>
                <a:cs typeface="Poppins" pitchFamily="34" charset="-120"/>
              </a:rPr>
              <a:t>Com os 2 datasets criados, no canvas abra o </a:t>
            </a:r>
            <a:pPr algn="l" indent="0" marL="0">
              <a:lnSpc>
                <a:spcPct val="115385"/>
              </a:lnSpc>
              <a:buNone/>
            </a:pPr>
            <a:r>
              <a:rPr lang="en-US" sz="1150" b="1" dirty="0">
                <a:solidFill>
                  <a:srgbClr val="FFFFFF"/>
                </a:solidFill>
                <a:latin typeface="Poppins" pitchFamily="34" charset="0"/>
                <a:ea typeface="Poppins" pitchFamily="34" charset="-122"/>
                <a:cs typeface="Poppins" pitchFamily="34" charset="-120"/>
              </a:rPr>
              <a:t>Assistant</a:t>
            </a:r>
            <a:pPr algn="l" indent="0" marL="0">
              <a:lnSpc>
                <a:spcPct val="115385"/>
              </a:lnSpc>
              <a:buNone/>
            </a:pPr>
            <a:r>
              <a:rPr lang="en-US" sz="1150" dirty="0">
                <a:solidFill>
                  <a:srgbClr val="FFFFFF"/>
                </a:solidFill>
                <a:latin typeface="Poppins" pitchFamily="34" charset="0"/>
                <a:ea typeface="Poppins" pitchFamily="34" charset="-122"/>
                <a:cs typeface="Poppins" pitchFamily="34" charset="-120"/>
              </a:rPr>
              <a:t> e cole. Ele monta os gráficos; você confere e ajusta.</a:t>
            </a:r>
            <a:endParaRPr lang="en-US" sz="1150" dirty="0"/>
          </a:p>
        </p:txBody>
      </p:sp>
      <p:sp>
        <p:nvSpPr>
          <p:cNvPr id="10" name="Shape 8"/>
          <p:cNvSpPr/>
          <p:nvPr/>
        </p:nvSpPr>
        <p:spPr>
          <a:xfrm>
            <a:off x="7238819" y="3119856"/>
            <a:ext cx="4190895" cy="1397858"/>
          </a:xfrm>
          <a:prstGeom prst="roundRect">
            <a:avLst>
              <a:gd name="adj" fmla="val 10902"/>
            </a:avLst>
          </a:prstGeom>
          <a:solidFill>
            <a:srgbClr val="0059DB"/>
          </a:solidFill>
          <a:ln/>
        </p:spPr>
      </p:sp>
      <p:sp>
        <p:nvSpPr>
          <p:cNvPr id="11" name="Shape 9"/>
          <p:cNvSpPr/>
          <p:nvPr/>
        </p:nvSpPr>
        <p:spPr>
          <a:xfrm>
            <a:off x="7461063" y="3316701"/>
            <a:ext cx="608989" cy="247644"/>
          </a:xfrm>
          <a:prstGeom prst="roundRect">
            <a:avLst>
              <a:gd name="adj" fmla="val 50000"/>
            </a:avLst>
          </a:prstGeom>
          <a:solidFill>
            <a:srgbClr val="FFFFFF">
              <a:alpha val="16000"/>
            </a:srgbClr>
          </a:solidFill>
          <a:ln/>
        </p:spPr>
      </p:sp>
      <p:sp>
        <p:nvSpPr>
          <p:cNvPr id="12" name="Text 10"/>
          <p:cNvSpPr txBox="1"/>
          <p:nvPr/>
        </p:nvSpPr>
        <p:spPr>
          <a:xfrm>
            <a:off x="7549961" y="3354800"/>
            <a:ext cx="448442"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Confira</a:t>
            </a:r>
            <a:endParaRPr lang="en-US" sz="900" dirty="0"/>
          </a:p>
        </p:txBody>
      </p:sp>
      <p:sp>
        <p:nvSpPr>
          <p:cNvPr id="13" name="Text 11"/>
          <p:cNvSpPr txBox="1"/>
          <p:nvPr/>
        </p:nvSpPr>
        <p:spPr>
          <a:xfrm>
            <a:off x="7461063" y="3729440"/>
            <a:ext cx="3896263" cy="591428"/>
          </a:xfrm>
          <a:prstGeom prst="rect">
            <a:avLst/>
          </a:prstGeom>
          <a:noFill/>
          <a:ln/>
        </p:spPr>
        <p:txBody>
          <a:bodyPr wrap="square" lIns="0" tIns="0" rIns="0" bIns="0" rtlCol="0" anchor="t"/>
          <a:lstStyle/>
          <a:p>
            <a:pPr algn="l" indent="0" marL="0">
              <a:lnSpc>
                <a:spcPct val="115385"/>
              </a:lnSpc>
              <a:buNone/>
            </a:pPr>
            <a:r>
              <a:rPr lang="en-US" sz="1150" b="1" dirty="0">
                <a:solidFill>
                  <a:srgbClr val="FFFFFF"/>
                </a:solidFill>
                <a:latin typeface="Poppins" pitchFamily="34" charset="0"/>
                <a:ea typeface="Poppins" pitchFamily="34" charset="-122"/>
                <a:cs typeface="Poppins" pitchFamily="34" charset="-120"/>
              </a:rPr>
              <a:t>R$ 208,6 mi · 17 em risco · 7 críticos · 4 melancias</a:t>
            </a:r>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 Se algum gráfico sair torto, peça de novo só ele (prompts do slide anterior).</a:t>
            </a:r>
            <a:endParaRPr lang="en-US" sz="1150" dirty="0"/>
          </a:p>
        </p:txBody>
      </p:sp>
      <p:pic>
        <p:nvPicPr>
          <p:cNvPr id="14"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15" name="Text 12"/>
          <p:cNvSpPr txBox="1"/>
          <p:nvPr/>
        </p:nvSpPr>
        <p:spPr>
          <a:xfrm>
            <a:off x="10956453" y="6387940"/>
            <a:ext cx="492192"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73 / 133</a:t>
            </a:r>
            <a:endParaRPr lang="en-US" sz="10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1 · ENTREGA 6 · DASHBOARD</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Dashboard da bronze,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publicado</a:t>
            </a:r>
            <a:endParaRPr lang="en-US" sz="3100" dirty="0"/>
          </a:p>
        </p:txBody>
      </p:sp>
      <p:pic>
        <p:nvPicPr>
          <p:cNvPr id="4" name="Image 0" descr="preencoded.png">    </p:cNvPr>
          <p:cNvPicPr>
            <a:picLocks noChangeAspect="1"/>
          </p:cNvPicPr>
          <p:nvPr/>
        </p:nvPicPr>
        <p:blipFill>
          <a:blip r:embed="rId2"/>
          <a:srcRect l="13221" r="13221" t="0" b="0"/>
          <a:stretch/>
        </p:blipFill>
        <p:spPr>
          <a:xfrm>
            <a:off x="761981" y="1455304"/>
            <a:ext cx="5257669" cy="4063898"/>
          </a:xfrm>
          <a:prstGeom prst="rect">
            <a:avLst/>
          </a:prstGeom>
        </p:spPr>
      </p:pic>
      <p:pic>
        <p:nvPicPr>
          <p:cNvPr id="5" name="Image 1" descr="preencoded.png">    </p:cNvPr>
          <p:cNvPicPr>
            <a:picLocks noChangeAspect="1"/>
          </p:cNvPicPr>
          <p:nvPr/>
        </p:nvPicPr>
        <p:blipFill>
          <a:blip r:embed="rId3"/>
          <a:srcRect l="13221" r="13221" t="0" b="0"/>
          <a:stretch/>
        </p:blipFill>
        <p:spPr>
          <a:xfrm>
            <a:off x="6172046" y="1455304"/>
            <a:ext cx="5257669" cy="4063898"/>
          </a:xfrm>
          <a:prstGeom prst="rect">
            <a:avLst/>
          </a:prstGeom>
        </p:spPr>
      </p:pic>
      <p:sp>
        <p:nvSpPr>
          <p:cNvPr id="6" name="Text 2"/>
          <p:cNvSpPr txBox="1"/>
          <p:nvPr/>
        </p:nvSpPr>
        <p:spPr>
          <a:xfrm>
            <a:off x="761981" y="5582701"/>
            <a:ext cx="11094443" cy="190495"/>
          </a:xfrm>
          <a:prstGeom prst="rect">
            <a:avLst/>
          </a:prstGeom>
          <a:noFill/>
          <a:ln/>
        </p:spPr>
        <p:txBody>
          <a:bodyPr wrap="square" lIns="0" tIns="0" rIns="0" bIns="0" rtlCol="0" anchor="t"/>
          <a:lstStyle/>
          <a:p>
            <a:pPr algn="l" indent="0" marL="0">
              <a:lnSpc>
                <a:spcPct val="106838"/>
              </a:lnSpc>
              <a:buNone/>
            </a:pPr>
            <a:r>
              <a:rPr lang="en-US" sz="1000" dirty="0">
                <a:solidFill>
                  <a:srgbClr val="A3A6B4"/>
                </a:solidFill>
                <a:latin typeface="Poppins" pitchFamily="34" charset="0"/>
                <a:ea typeface="Poppins" pitchFamily="34" charset="-122"/>
                <a:cs typeface="Poppins" pitchFamily="34" charset="-120"/>
              </a:rPr>
              <a:t>"Projeto Farol · Noite 1 (bronze)": funciona, mas cada gráfico repete o CASE, o replace e a conversão de data. Na noite 2 isso some.</a:t>
            </a:r>
            <a:endParaRPr lang="en-US" sz="1000" dirty="0"/>
          </a:p>
        </p:txBody>
      </p:sp>
      <p:pic>
        <p:nvPicPr>
          <p:cNvPr id="7" name="Image 2" descr="preencoded.png">    </p:cNvPr>
          <p:cNvPicPr>
            <a:picLocks noChangeAspect="1"/>
          </p:cNvPicPr>
          <p:nvPr/>
        </p:nvPicPr>
        <p:blipFill>
          <a:blip r:embed="rId4"/>
          <a:stretch>
            <a:fillRect/>
          </a:stretch>
        </p:blipFill>
        <p:spPr>
          <a:xfrm>
            <a:off x="761981" y="6387940"/>
            <a:ext cx="2059928" cy="190495"/>
          </a:xfrm>
          <a:prstGeom prst="rect">
            <a:avLst/>
          </a:prstGeom>
        </p:spPr>
      </p:pic>
      <p:sp>
        <p:nvSpPr>
          <p:cNvPr id="8" name="Text 3"/>
          <p:cNvSpPr txBox="1"/>
          <p:nvPr/>
        </p:nvSpPr>
        <p:spPr>
          <a:xfrm>
            <a:off x="10949706" y="6387940"/>
            <a:ext cx="499209"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74 / 133</a:t>
            </a:r>
            <a:endParaRPr lang="en-US" sz="10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380990"/>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RECURSO DO DATABRICKS · GENIE</a:t>
            </a:r>
            <a:endParaRPr lang="en-US" sz="1200" dirty="0"/>
          </a:p>
        </p:txBody>
      </p:sp>
      <p:sp>
        <p:nvSpPr>
          <p:cNvPr id="3" name="Text 1"/>
          <p:cNvSpPr txBox="1"/>
          <p:nvPr/>
        </p:nvSpPr>
        <p:spPr>
          <a:xfrm>
            <a:off x="761981" y="704832"/>
            <a:ext cx="11094443" cy="363132"/>
          </a:xfrm>
          <a:prstGeom prst="rect">
            <a:avLst/>
          </a:prstGeom>
          <a:noFill/>
          <a:ln/>
        </p:spPr>
        <p:txBody>
          <a:bodyPr wrap="square" lIns="0" tIns="0" rIns="0" bIns="0" rtlCol="0" anchor="t"/>
          <a:lstStyle/>
          <a:p>
            <a:pPr algn="l" indent="0" marL="0">
              <a:lnSpc>
                <a:spcPct val="94017"/>
              </a:lnSpc>
              <a:buNone/>
            </a:pPr>
            <a:r>
              <a:rPr lang="en-US" sz="2600" b="1" spc="-26" kern="0" dirty="0">
                <a:solidFill>
                  <a:srgbClr val="F5F6FC"/>
                </a:solidFill>
                <a:latin typeface="Poppins" pitchFamily="34" charset="0"/>
                <a:ea typeface="Poppins" pitchFamily="34" charset="-122"/>
                <a:cs typeface="Poppins" pitchFamily="34" charset="-120"/>
              </a:rPr>
              <a:t>Genie Agent: pergunta em português</a:t>
            </a:r>
            <a:endParaRPr lang="en-US" sz="2600" dirty="0"/>
          </a:p>
        </p:txBody>
      </p:sp>
      <p:pic>
        <p:nvPicPr>
          <p:cNvPr id="4" name="Image 0" descr="preencoded.png">    </p:cNvPr>
          <p:cNvPicPr>
            <a:picLocks noChangeAspect="1"/>
          </p:cNvPicPr>
          <p:nvPr/>
        </p:nvPicPr>
        <p:blipFill>
          <a:blip r:embed="rId2"/>
          <a:srcRect l="11015" r="11015" t="0" b="0"/>
          <a:stretch/>
        </p:blipFill>
        <p:spPr>
          <a:xfrm>
            <a:off x="761981" y="1182261"/>
            <a:ext cx="5257669" cy="3555911"/>
          </a:xfrm>
          <a:prstGeom prst="rect">
            <a:avLst/>
          </a:prstGeom>
        </p:spPr>
      </p:pic>
      <p:sp>
        <p:nvSpPr>
          <p:cNvPr id="5" name="Text 2"/>
          <p:cNvSpPr txBox="1"/>
          <p:nvPr/>
        </p:nvSpPr>
        <p:spPr>
          <a:xfrm>
            <a:off x="761981" y="4788971"/>
            <a:ext cx="5467975" cy="190495"/>
          </a:xfrm>
          <a:prstGeom prst="rect">
            <a:avLst/>
          </a:prstGeom>
          <a:noFill/>
          <a:ln/>
        </p:spPr>
        <p:txBody>
          <a:bodyPr wrap="square" lIns="0" tIns="0" rIns="0" bIns="0" rtlCol="0" anchor="t"/>
          <a:lstStyle/>
          <a:p>
            <a:pPr algn="l" indent="0" marL="0">
              <a:lnSpc>
                <a:spcPct val="106838"/>
              </a:lnSpc>
              <a:buNone/>
            </a:pPr>
            <a:r>
              <a:rPr lang="en-US" sz="1000" dirty="0">
                <a:solidFill>
                  <a:srgbClr val="A3A6B4"/>
                </a:solidFill>
                <a:latin typeface="Poppins" pitchFamily="34" charset="0"/>
                <a:ea typeface="Poppins" pitchFamily="34" charset="-122"/>
                <a:cs typeface="Poppins" pitchFamily="34" charset="-120"/>
              </a:rPr>
              <a:t>a tela do dono: as 4 perguntas já sugeridas, modo Agent ligado</a:t>
            </a:r>
            <a:endParaRPr lang="en-US" sz="1000" dirty="0"/>
          </a:p>
        </p:txBody>
      </p:sp>
      <p:pic>
        <p:nvPicPr>
          <p:cNvPr id="6" name="Image 1" descr="preencoded.png">    </p:cNvPr>
          <p:cNvPicPr>
            <a:picLocks noChangeAspect="1"/>
          </p:cNvPicPr>
          <p:nvPr/>
        </p:nvPicPr>
        <p:blipFill>
          <a:blip r:embed="rId3"/>
          <a:srcRect l="10689" r="10689" t="0" b="0"/>
          <a:stretch/>
        </p:blipFill>
        <p:spPr>
          <a:xfrm>
            <a:off x="6172046" y="1182261"/>
            <a:ext cx="5257669" cy="3555911"/>
          </a:xfrm>
          <a:prstGeom prst="rect">
            <a:avLst/>
          </a:prstGeom>
        </p:spPr>
      </p:pic>
      <p:sp>
        <p:nvSpPr>
          <p:cNvPr id="7" name="Text 3"/>
          <p:cNvSpPr txBox="1"/>
          <p:nvPr/>
        </p:nvSpPr>
        <p:spPr>
          <a:xfrm>
            <a:off x="6172046" y="4788971"/>
            <a:ext cx="5467975" cy="190495"/>
          </a:xfrm>
          <a:prstGeom prst="rect">
            <a:avLst/>
          </a:prstGeom>
          <a:noFill/>
          <a:ln/>
        </p:spPr>
        <p:txBody>
          <a:bodyPr wrap="square" lIns="0" tIns="0" rIns="0" bIns="0" rtlCol="0" anchor="t"/>
          <a:lstStyle/>
          <a:p>
            <a:pPr algn="l" indent="0" marL="0">
              <a:lnSpc>
                <a:spcPct val="106838"/>
              </a:lnSpc>
              <a:buNone/>
            </a:pPr>
            <a:r>
              <a:rPr lang="en-US" sz="1000" dirty="0">
                <a:solidFill>
                  <a:srgbClr val="A3A6B4"/>
                </a:solidFill>
                <a:latin typeface="Poppins" pitchFamily="34" charset="0"/>
                <a:ea typeface="Poppins" pitchFamily="34" charset="-122"/>
                <a:cs typeface="Poppins" pitchFamily="34" charset="-120"/>
              </a:rPr>
              <a:t>a curadoria: instruções, SQL de exemplo e benchmark (20/20 na noite 2)</a:t>
            </a:r>
            <a:endParaRPr lang="en-US" sz="1000" dirty="0"/>
          </a:p>
        </p:txBody>
      </p:sp>
      <p:sp>
        <p:nvSpPr>
          <p:cNvPr id="8" name="Shape 4"/>
          <p:cNvSpPr/>
          <p:nvPr/>
        </p:nvSpPr>
        <p:spPr>
          <a:xfrm>
            <a:off x="761981" y="5093763"/>
            <a:ext cx="25399" cy="285743"/>
          </a:xfrm>
          <a:prstGeom prst="rect">
            <a:avLst/>
          </a:prstGeom>
          <a:solidFill>
            <a:srgbClr val="22C2F4"/>
          </a:solidFill>
          <a:ln/>
        </p:spPr>
      </p:sp>
      <p:sp>
        <p:nvSpPr>
          <p:cNvPr id="9" name="Text 5"/>
          <p:cNvSpPr txBox="1"/>
          <p:nvPr/>
        </p:nvSpPr>
        <p:spPr>
          <a:xfrm>
            <a:off x="914377" y="5131862"/>
            <a:ext cx="10935951" cy="209545"/>
          </a:xfrm>
          <a:prstGeom prst="rect">
            <a:avLst/>
          </a:prstGeom>
          <a:noFill/>
          <a:ln/>
        </p:spPr>
        <p:txBody>
          <a:bodyPr wrap="square" lIns="0" tIns="0" rIns="0" bIns="0" rtlCol="0" anchor="t"/>
          <a:lstStyle/>
          <a:p>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Sem curadoria, na bronze, ele erra (noite 1). Com metric view e instruções, acerta (noite 2).</a:t>
            </a:r>
            <a:endParaRPr lang="en-US" sz="1100" dirty="0"/>
          </a:p>
        </p:txBody>
      </p:sp>
      <p:pic>
        <p:nvPicPr>
          <p:cNvPr id="10" name="Image 2" descr="preencoded.png">    </p:cNvPr>
          <p:cNvPicPr>
            <a:picLocks noChangeAspect="1"/>
          </p:cNvPicPr>
          <p:nvPr/>
        </p:nvPicPr>
        <p:blipFill>
          <a:blip r:embed="rId4"/>
          <a:stretch>
            <a:fillRect/>
          </a:stretch>
        </p:blipFill>
        <p:spPr>
          <a:xfrm>
            <a:off x="761981" y="6387940"/>
            <a:ext cx="2059928" cy="190495"/>
          </a:xfrm>
          <a:prstGeom prst="rect">
            <a:avLst/>
          </a:prstGeom>
        </p:spPr>
      </p:pic>
      <p:sp>
        <p:nvSpPr>
          <p:cNvPr id="11" name="Text 6"/>
          <p:cNvSpPr txBox="1"/>
          <p:nvPr/>
        </p:nvSpPr>
        <p:spPr>
          <a:xfrm>
            <a:off x="10950797" y="6387940"/>
            <a:ext cx="498074"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75 / 133</a:t>
            </a:r>
            <a:endParaRPr lang="en-US" sz="10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1 · GENIE PASSO A PASSO</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Criar o Genie e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fazer as 4 perguntas</a:t>
            </a:r>
            <a:endParaRPr lang="en-US" sz="3100" dirty="0"/>
          </a:p>
        </p:txBody>
      </p:sp>
      <p:sp>
        <p:nvSpPr>
          <p:cNvPr id="4" name="Shape 2"/>
          <p:cNvSpPr/>
          <p:nvPr/>
        </p:nvSpPr>
        <p:spPr>
          <a:xfrm>
            <a:off x="761981" y="1582301"/>
            <a:ext cx="5238619" cy="2398553"/>
          </a:xfrm>
          <a:prstGeom prst="roundRect">
            <a:avLst>
              <a:gd name="adj" fmla="val 6354"/>
            </a:avLst>
          </a:prstGeom>
          <a:solidFill>
            <a:srgbClr val="1E1E24"/>
          </a:solidFill>
          <a:ln w="6350">
            <a:solidFill>
              <a:srgbClr val="2F2F39"/>
            </a:solidFill>
            <a:prstDash val="solid"/>
          </a:ln>
        </p:spPr>
      </p:sp>
      <p:sp>
        <p:nvSpPr>
          <p:cNvPr id="5" name="Shape 3"/>
          <p:cNvSpPr/>
          <p:nvPr/>
        </p:nvSpPr>
        <p:spPr>
          <a:xfrm>
            <a:off x="984225" y="1779146"/>
            <a:ext cx="925192" cy="247644"/>
          </a:xfrm>
          <a:prstGeom prst="roundRect">
            <a:avLst>
              <a:gd name="adj" fmla="val 50000"/>
            </a:avLst>
          </a:prstGeom>
          <a:solidFill>
            <a:srgbClr val="22C2F4">
              <a:alpha val="14000"/>
            </a:srgbClr>
          </a:solidFill>
          <a:ln/>
        </p:spPr>
      </p:sp>
      <p:sp>
        <p:nvSpPr>
          <p:cNvPr id="6" name="Text 4"/>
          <p:cNvSpPr txBox="1"/>
          <p:nvPr/>
        </p:nvSpPr>
        <p:spPr>
          <a:xfrm>
            <a:off x="1073123" y="1817245"/>
            <a:ext cx="777292"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Criar (2 min)</a:t>
            </a:r>
            <a:endParaRPr lang="en-US" sz="900" dirty="0"/>
          </a:p>
        </p:txBody>
      </p:sp>
      <p:sp>
        <p:nvSpPr>
          <p:cNvPr id="7" name="Shape 5"/>
          <p:cNvSpPr/>
          <p:nvPr/>
        </p:nvSpPr>
        <p:spPr>
          <a:xfrm>
            <a:off x="984225" y="2198236"/>
            <a:ext cx="76198" cy="76198"/>
          </a:xfrm>
          <a:prstGeom prst="roundRect">
            <a:avLst>
              <a:gd name="adj" fmla="val 25000"/>
            </a:avLst>
          </a:prstGeom>
          <a:solidFill>
            <a:srgbClr val="22C2F4"/>
          </a:solidFill>
          <a:ln/>
        </p:spPr>
      </p:sp>
      <p:sp>
        <p:nvSpPr>
          <p:cNvPr id="8" name="Text 6"/>
          <p:cNvSpPr txBox="1"/>
          <p:nvPr/>
        </p:nvSpPr>
        <p:spPr>
          <a:xfrm>
            <a:off x="1174721" y="2115688"/>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menu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Genie Agents</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 New</a:t>
            </a:r>
            <a:endParaRPr lang="en-US" sz="1200" dirty="0"/>
          </a:p>
        </p:txBody>
      </p:sp>
      <p:sp>
        <p:nvSpPr>
          <p:cNvPr id="9" name="Shape 7"/>
          <p:cNvSpPr/>
          <p:nvPr/>
        </p:nvSpPr>
        <p:spPr>
          <a:xfrm>
            <a:off x="984225" y="2480109"/>
            <a:ext cx="76198" cy="76198"/>
          </a:xfrm>
          <a:prstGeom prst="roundRect">
            <a:avLst>
              <a:gd name="adj" fmla="val 25000"/>
            </a:avLst>
          </a:prstGeom>
          <a:solidFill>
            <a:srgbClr val="22C2F4"/>
          </a:solidFill>
          <a:ln/>
        </p:spPr>
      </p:sp>
      <p:sp>
        <p:nvSpPr>
          <p:cNvPr id="10" name="Text 8"/>
          <p:cNvSpPr txBox="1"/>
          <p:nvPr/>
        </p:nvSpPr>
        <p:spPr>
          <a:xfrm>
            <a:off x="1174721" y="2397561"/>
            <a:ext cx="4787780" cy="617026"/>
          </a:xfrm>
          <a:prstGeom prst="rect">
            <a:avLst/>
          </a:prstGeom>
          <a:noFill/>
          <a:ln/>
        </p:spPr>
        <p:txBody>
          <a:bodyPr wrap="square" lIns="0" tIns="0" rIns="0" bIns="0" rtlCol="0" anchor="t"/>
          <a:lstStyle/>
          <a:p>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lakehouse_vertice → bronze</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marque projetos, status_semanal, excel_tarefas, clickup_tarefas, msproject_tarefas, colaboradores, apontamentos e custos</a:t>
            </a:r>
            <a:endParaRPr lang="en-US" sz="1200" dirty="0"/>
          </a:p>
        </p:txBody>
      </p:sp>
      <p:sp>
        <p:nvSpPr>
          <p:cNvPr id="11" name="Shape 9"/>
          <p:cNvSpPr/>
          <p:nvPr/>
        </p:nvSpPr>
        <p:spPr>
          <a:xfrm>
            <a:off x="984225" y="3173333"/>
            <a:ext cx="76198" cy="76198"/>
          </a:xfrm>
          <a:prstGeom prst="roundRect">
            <a:avLst>
              <a:gd name="adj" fmla="val 25000"/>
            </a:avLst>
          </a:prstGeom>
          <a:solidFill>
            <a:srgbClr val="22C2F4"/>
          </a:solidFill>
          <a:ln/>
        </p:spPr>
      </p:sp>
      <p:sp>
        <p:nvSpPr>
          <p:cNvPr id="12" name="Text 10"/>
          <p:cNvSpPr txBox="1"/>
          <p:nvPr/>
        </p:nvSpPr>
        <p:spPr>
          <a:xfrm>
            <a:off x="1174721" y="3090785"/>
            <a:ext cx="4787780" cy="411351"/>
          </a:xfrm>
          <a:prstGeom prst="rect">
            <a:avLst/>
          </a:prstGeom>
          <a:noFill/>
          <a:ln/>
        </p:spPr>
        <p:txBody>
          <a:bodyPr wrap="square" lIns="0" tIns="0" rIns="0" bIns="0" rtlCol="0" anchor="t"/>
          <a:lstStyle/>
          <a:p>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Create</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 renomeie para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Farol · Noite 1 (bronze, sem curadoria)</a:t>
            </a:r>
            <a:endParaRPr lang="en-US" sz="1200" dirty="0"/>
          </a:p>
        </p:txBody>
      </p:sp>
      <p:sp>
        <p:nvSpPr>
          <p:cNvPr id="13" name="Shape 11"/>
          <p:cNvSpPr/>
          <p:nvPr/>
        </p:nvSpPr>
        <p:spPr>
          <a:xfrm>
            <a:off x="984225" y="3660882"/>
            <a:ext cx="76198" cy="76198"/>
          </a:xfrm>
          <a:prstGeom prst="roundRect">
            <a:avLst>
              <a:gd name="adj" fmla="val 25000"/>
            </a:avLst>
          </a:prstGeom>
          <a:solidFill>
            <a:srgbClr val="22C2F4"/>
          </a:solidFill>
          <a:ln/>
        </p:spPr>
      </p:sp>
      <p:sp>
        <p:nvSpPr>
          <p:cNvPr id="14" name="Text 12"/>
          <p:cNvSpPr txBox="1"/>
          <p:nvPr/>
        </p:nvSpPr>
        <p:spPr>
          <a:xfrm>
            <a:off x="1174721" y="3578334"/>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nenhuma instrução: é de propósito</a:t>
            </a:r>
            <a:endParaRPr lang="en-US" sz="1200" dirty="0"/>
          </a:p>
        </p:txBody>
      </p:sp>
      <p:sp>
        <p:nvSpPr>
          <p:cNvPr id="15" name="Shape 13"/>
          <p:cNvSpPr/>
          <p:nvPr/>
        </p:nvSpPr>
        <p:spPr>
          <a:xfrm>
            <a:off x="6191095" y="1582301"/>
            <a:ext cx="5238619" cy="2565931"/>
          </a:xfrm>
          <a:prstGeom prst="roundRect">
            <a:avLst>
              <a:gd name="adj" fmla="val 5939"/>
            </a:avLst>
          </a:prstGeom>
          <a:solidFill>
            <a:srgbClr val="0059DB"/>
          </a:solidFill>
          <a:ln/>
        </p:spPr>
      </p:sp>
      <p:sp>
        <p:nvSpPr>
          <p:cNvPr id="16" name="Shape 14"/>
          <p:cNvSpPr/>
          <p:nvPr/>
        </p:nvSpPr>
        <p:spPr>
          <a:xfrm>
            <a:off x="6413340" y="1779146"/>
            <a:ext cx="1941464" cy="247644"/>
          </a:xfrm>
          <a:prstGeom prst="roundRect">
            <a:avLst>
              <a:gd name="adj" fmla="val 50000"/>
            </a:avLst>
          </a:prstGeom>
          <a:solidFill>
            <a:srgbClr val="FFFFFF">
              <a:alpha val="16000"/>
            </a:srgbClr>
          </a:solidFill>
          <a:ln/>
        </p:spPr>
      </p:sp>
      <p:sp>
        <p:nvSpPr>
          <p:cNvPr id="17" name="Text 15"/>
          <p:cNvSpPr txBox="1"/>
          <p:nvPr/>
        </p:nvSpPr>
        <p:spPr>
          <a:xfrm>
            <a:off x="6502237" y="1817245"/>
            <a:ext cx="1834215"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Copie e cole, uma de cada vez</a:t>
            </a:r>
            <a:endParaRPr lang="en-US" sz="900" dirty="0"/>
          </a:p>
        </p:txBody>
      </p:sp>
      <p:sp>
        <p:nvSpPr>
          <p:cNvPr id="18" name="Text 16"/>
          <p:cNvSpPr txBox="1"/>
          <p:nvPr/>
        </p:nvSpPr>
        <p:spPr>
          <a:xfrm>
            <a:off x="6413340" y="2153787"/>
            <a:ext cx="4985895" cy="1289018"/>
          </a:xfrm>
          <a:prstGeom prst="rect">
            <a:avLst/>
          </a:prstGeom>
          <a:noFill/>
          <a:ln/>
        </p:spPr>
        <p:txBody>
          <a:bodyPr wrap="square" lIns="0" tIns="0" rIns="0" bIns="0" rtlCol="0" anchor="t"/>
          <a:lstStyle/>
          <a:p>
            <a:pPr algn="l" indent="0" marL="0">
              <a:lnSpc>
                <a:spcPct val="123932"/>
              </a:lnSpc>
              <a:buNone/>
            </a:pPr>
            <a:r>
              <a:rPr lang="en-US" sz="1000" dirty="0">
                <a:solidFill>
                  <a:srgbClr val="E6E8F2"/>
                </a:solidFill>
                <a:latin typeface="Courier New" pitchFamily="34" charset="0"/>
                <a:ea typeface="Courier New" pitchFamily="34" charset="-122"/>
                <a:cs typeface="Courier New" pitchFamily="34" charset="-120"/>
              </a:rPr>
              <a:t>Quais projetos estão atrasados, e de quais clientes?</a:t>
            </a:r>
            <a:endParaRPr lang="en-US" sz="1000" dirty="0"/>
          </a:p>
          <a:p>
            <a:pPr algn="l" indent="0" marL="0">
              <a:lnSpc>
                <a:spcPct val="123932"/>
              </a:lnSpc>
              <a:buNone/>
            </a:pPr>
            <a:endParaRPr lang="en-US" sz="1000" dirty="0"/>
          </a:p>
          <a:p>
            <a:pPr algn="l" indent="0" marL="0">
              <a:lnSpc>
                <a:spcPct val="123932"/>
              </a:lnSpc>
              <a:buNone/>
            </a:pPr>
            <a:r>
              <a:rPr lang="en-US" sz="1000" dirty="0">
                <a:solidFill>
                  <a:srgbClr val="E6E8F2"/>
                </a:solidFill>
                <a:latin typeface="Courier New" pitchFamily="34" charset="0"/>
                <a:ea typeface="Courier New" pitchFamily="34" charset="-122"/>
                <a:cs typeface="Courier New" pitchFamily="34" charset="-120"/>
              </a:rPr>
              <a:t>Quanto esse atraso vai me custar?</a:t>
            </a:r>
            <a:endParaRPr lang="en-US" sz="1000" dirty="0"/>
          </a:p>
          <a:p>
            <a:pPr algn="l" indent="0" marL="0">
              <a:lnSpc>
                <a:spcPct val="123932"/>
              </a:lnSpc>
              <a:buNone/>
            </a:pPr>
            <a:endParaRPr lang="en-US" sz="1000" dirty="0"/>
          </a:p>
          <a:p>
            <a:pPr algn="l" indent="0" marL="0">
              <a:lnSpc>
                <a:spcPct val="123932"/>
              </a:lnSpc>
              <a:buNone/>
            </a:pPr>
            <a:r>
              <a:rPr lang="en-US" sz="1000" dirty="0">
                <a:solidFill>
                  <a:srgbClr val="E6E8F2"/>
                </a:solidFill>
                <a:latin typeface="Courier New" pitchFamily="34" charset="0"/>
                <a:ea typeface="Courier New" pitchFamily="34" charset="-122"/>
                <a:cs typeface="Courier New" pitchFamily="34" charset="-120"/>
              </a:rPr>
              <a:t>Tenho gente parada enquanto outro projeto pede gente?</a:t>
            </a:r>
            <a:endParaRPr lang="en-US" sz="1000" dirty="0"/>
          </a:p>
          <a:p>
            <a:pPr algn="l" indent="0" marL="0">
              <a:lnSpc>
                <a:spcPct val="123932"/>
              </a:lnSpc>
              <a:buNone/>
            </a:pPr>
            <a:endParaRPr lang="en-US" sz="1000" dirty="0"/>
          </a:p>
          <a:p>
            <a:pPr algn="l" indent="0" marL="0">
              <a:lnSpc>
                <a:spcPct val="123932"/>
              </a:lnSpc>
              <a:buNone/>
            </a:pPr>
            <a:r>
              <a:rPr lang="en-US" sz="1000" dirty="0">
                <a:solidFill>
                  <a:srgbClr val="E6E8F2"/>
                </a:solidFill>
                <a:latin typeface="Courier New" pitchFamily="34" charset="0"/>
                <a:ea typeface="Courier New" pitchFamily="34" charset="-122"/>
                <a:cs typeface="Courier New" pitchFamily="34" charset="-120"/>
              </a:rPr>
              <a:t>O que vai dar errado no próximo mês?</a:t>
            </a:r>
            <a:endParaRPr lang="en-US" sz="1000" dirty="0"/>
          </a:p>
        </p:txBody>
      </p:sp>
      <p:sp>
        <p:nvSpPr>
          <p:cNvPr id="19" name="Text 17"/>
          <p:cNvSpPr txBox="1"/>
          <p:nvPr/>
        </p:nvSpPr>
        <p:spPr>
          <a:xfrm>
            <a:off x="6413340" y="3557102"/>
            <a:ext cx="4985895" cy="394285"/>
          </a:xfrm>
          <a:prstGeom prst="rect">
            <a:avLst/>
          </a:prstGeom>
          <a:noFill/>
          <a:ln/>
        </p:spPr>
        <p:txBody>
          <a:bodyPr wrap="square" lIns="0" tIns="0" rIns="0" bIns="0" rtlCol="0" anchor="t"/>
          <a:lstStyle/>
          <a:p>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Abra </a:t>
            </a:r>
            <a:pPr algn="l" indent="0" marL="0">
              <a:lnSpc>
                <a:spcPct val="115385"/>
              </a:lnSpc>
              <a:buNone/>
            </a:pPr>
            <a:r>
              <a:rPr lang="en-US" sz="1150" b="1" dirty="0">
                <a:solidFill>
                  <a:srgbClr val="FFFFFF"/>
                </a:solidFill>
                <a:latin typeface="Poppins" pitchFamily="34" charset="0"/>
                <a:ea typeface="Poppins" pitchFamily="34" charset="-122"/>
                <a:cs typeface="Poppins" pitchFamily="34" charset="-120"/>
              </a:rPr>
              <a:t>Show code</a:t>
            </a:r>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 em cada resposta e compare com os exemplos 05 e 06.</a:t>
            </a:r>
            <a:endParaRPr lang="en-US" sz="1150" dirty="0"/>
          </a:p>
        </p:txBody>
      </p:sp>
      <p:pic>
        <p:nvPicPr>
          <p:cNvPr id="20"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21" name="Text 18"/>
          <p:cNvSpPr txBox="1"/>
          <p:nvPr/>
        </p:nvSpPr>
        <p:spPr>
          <a:xfrm>
            <a:off x="10950400" y="6387940"/>
            <a:ext cx="498486"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76 / 133</a:t>
            </a:r>
            <a:endParaRPr lang="en-US" sz="10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1 · ENTREGA 6 · GENIE SEM CURADORIA</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O Genie na bronze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erra as 4 perguntas</a:t>
            </a:r>
            <a:endParaRPr lang="en-US" sz="3100" dirty="0"/>
          </a:p>
        </p:txBody>
      </p:sp>
      <p:pic>
        <p:nvPicPr>
          <p:cNvPr id="4" name="Image 0" descr="preencoded.png">    </p:cNvPr>
          <p:cNvPicPr>
            <a:picLocks noChangeAspect="1"/>
          </p:cNvPicPr>
          <p:nvPr/>
        </p:nvPicPr>
        <p:blipFill>
          <a:blip r:embed="rId2"/>
          <a:srcRect l="15727" r="15727" t="0" b="0"/>
          <a:stretch/>
        </p:blipFill>
        <p:spPr>
          <a:xfrm>
            <a:off x="761981" y="1455304"/>
            <a:ext cx="5238619" cy="4063898"/>
          </a:xfrm>
          <a:prstGeom prst="rect">
            <a:avLst/>
          </a:prstGeom>
        </p:spPr>
      </p:pic>
      <p:sp>
        <p:nvSpPr>
          <p:cNvPr id="5" name="Shape 2"/>
          <p:cNvSpPr/>
          <p:nvPr/>
        </p:nvSpPr>
        <p:spPr>
          <a:xfrm>
            <a:off x="6191095" y="1455304"/>
            <a:ext cx="5238619" cy="2634886"/>
          </a:xfrm>
          <a:prstGeom prst="roundRect">
            <a:avLst>
              <a:gd name="adj" fmla="val 5784"/>
            </a:avLst>
          </a:prstGeom>
          <a:solidFill>
            <a:srgbClr val="1E1E24"/>
          </a:solidFill>
          <a:ln w="6350">
            <a:solidFill>
              <a:srgbClr val="2F2F39"/>
            </a:solidFill>
            <a:prstDash val="solid"/>
          </a:ln>
        </p:spPr>
      </p:sp>
      <p:sp>
        <p:nvSpPr>
          <p:cNvPr id="6" name="Shape 3"/>
          <p:cNvSpPr/>
          <p:nvPr/>
        </p:nvSpPr>
        <p:spPr>
          <a:xfrm>
            <a:off x="6413340" y="1652149"/>
            <a:ext cx="884811" cy="247644"/>
          </a:xfrm>
          <a:prstGeom prst="roundRect">
            <a:avLst>
              <a:gd name="adj" fmla="val 50000"/>
            </a:avLst>
          </a:prstGeom>
          <a:solidFill>
            <a:srgbClr val="22C2F4">
              <a:alpha val="14000"/>
            </a:srgbClr>
          </a:solidFill>
          <a:ln/>
        </p:spPr>
      </p:sp>
      <p:sp>
        <p:nvSpPr>
          <p:cNvPr id="7" name="Text 4"/>
          <p:cNvSpPr txBox="1"/>
          <p:nvPr/>
        </p:nvSpPr>
        <p:spPr>
          <a:xfrm>
            <a:off x="6502237" y="1690248"/>
            <a:ext cx="735296"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Por que erra</a:t>
            </a:r>
            <a:endParaRPr lang="en-US" sz="900" dirty="0"/>
          </a:p>
        </p:txBody>
      </p:sp>
      <p:sp>
        <p:nvSpPr>
          <p:cNvPr id="8" name="Shape 5"/>
          <p:cNvSpPr/>
          <p:nvPr/>
        </p:nvSpPr>
        <p:spPr>
          <a:xfrm>
            <a:off x="6413340" y="2071239"/>
            <a:ext cx="76198" cy="76198"/>
          </a:xfrm>
          <a:prstGeom prst="roundRect">
            <a:avLst>
              <a:gd name="adj" fmla="val 25000"/>
            </a:avLst>
          </a:prstGeom>
          <a:solidFill>
            <a:srgbClr val="22C2F4"/>
          </a:solidFill>
          <a:ln/>
        </p:spPr>
      </p:sp>
      <p:sp>
        <p:nvSpPr>
          <p:cNvPr id="9" name="Text 6"/>
          <p:cNvSpPr txBox="1"/>
          <p:nvPr/>
        </p:nvSpPr>
        <p:spPr>
          <a:xfrm>
            <a:off x="6603835" y="1988691"/>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não sabe que hoje é 16/10/2026</a:t>
            </a:r>
            <a:endParaRPr lang="en-US" sz="1200" dirty="0"/>
          </a:p>
        </p:txBody>
      </p:sp>
      <p:sp>
        <p:nvSpPr>
          <p:cNvPr id="10" name="Shape 7"/>
          <p:cNvSpPr/>
          <p:nvPr/>
        </p:nvSpPr>
        <p:spPr>
          <a:xfrm>
            <a:off x="6413340" y="2353112"/>
            <a:ext cx="76198" cy="76198"/>
          </a:xfrm>
          <a:prstGeom prst="roundRect">
            <a:avLst>
              <a:gd name="adj" fmla="val 25000"/>
            </a:avLst>
          </a:prstGeom>
          <a:solidFill>
            <a:srgbClr val="22C2F4"/>
          </a:solidFill>
          <a:ln/>
        </p:spPr>
      </p:sp>
      <p:sp>
        <p:nvSpPr>
          <p:cNvPr id="11" name="Text 8"/>
          <p:cNvSpPr txBox="1"/>
          <p:nvPr/>
        </p:nvSpPr>
        <p:spPr>
          <a:xfrm>
            <a:off x="6603835" y="2270564"/>
            <a:ext cx="4787780"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soma a linha de TOTAL do Excel e as tarefas-resumo do Project</a:t>
            </a:r>
            <a:endParaRPr lang="en-US" sz="1200" dirty="0"/>
          </a:p>
        </p:txBody>
      </p:sp>
      <p:sp>
        <p:nvSpPr>
          <p:cNvPr id="12" name="Shape 9"/>
          <p:cNvSpPr/>
          <p:nvPr/>
        </p:nvSpPr>
        <p:spPr>
          <a:xfrm>
            <a:off x="6413340" y="2840661"/>
            <a:ext cx="76198" cy="76198"/>
          </a:xfrm>
          <a:prstGeom prst="roundRect">
            <a:avLst>
              <a:gd name="adj" fmla="val 25000"/>
            </a:avLst>
          </a:prstGeom>
          <a:solidFill>
            <a:srgbClr val="22C2F4"/>
          </a:solidFill>
          <a:ln/>
        </p:spPr>
      </p:sp>
      <p:sp>
        <p:nvSpPr>
          <p:cNvPr id="13" name="Text 10"/>
          <p:cNvSpPr txBox="1"/>
          <p:nvPr/>
        </p:nvSpPr>
        <p:spPr>
          <a:xfrm>
            <a:off x="6603835" y="2758113"/>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vê 4 CodeForges diferentes</a:t>
            </a:r>
            <a:endParaRPr lang="en-US" sz="1200" dirty="0"/>
          </a:p>
        </p:txBody>
      </p:sp>
      <p:sp>
        <p:nvSpPr>
          <p:cNvPr id="14" name="Shape 11"/>
          <p:cNvSpPr/>
          <p:nvPr/>
        </p:nvSpPr>
        <p:spPr>
          <a:xfrm>
            <a:off x="6413340" y="3122534"/>
            <a:ext cx="76198" cy="76198"/>
          </a:xfrm>
          <a:prstGeom prst="roundRect">
            <a:avLst>
              <a:gd name="adj" fmla="val 25000"/>
            </a:avLst>
          </a:prstGeom>
          <a:solidFill>
            <a:srgbClr val="22C2F4"/>
          </a:solidFill>
          <a:ln/>
        </p:spPr>
      </p:sp>
      <p:sp>
        <p:nvSpPr>
          <p:cNvPr id="15" name="Text 12"/>
          <p:cNvSpPr txBox="1"/>
          <p:nvPr/>
        </p:nvSpPr>
        <p:spPr>
          <a:xfrm>
            <a:off x="6603835" y="3039986"/>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responde com confiança: "nenhum atraso custa nada"</a:t>
            </a:r>
            <a:endParaRPr lang="en-US" sz="1200" dirty="0"/>
          </a:p>
        </p:txBody>
      </p:sp>
      <p:sp>
        <p:nvSpPr>
          <p:cNvPr id="16" name="Shape 13"/>
          <p:cNvSpPr/>
          <p:nvPr/>
        </p:nvSpPr>
        <p:spPr>
          <a:xfrm>
            <a:off x="6413340" y="3398058"/>
            <a:ext cx="25399" cy="495288"/>
          </a:xfrm>
          <a:prstGeom prst="rect">
            <a:avLst/>
          </a:prstGeom>
          <a:solidFill>
            <a:srgbClr val="22C2F4"/>
          </a:solidFill>
          <a:ln/>
        </p:spPr>
      </p:sp>
      <p:sp>
        <p:nvSpPr>
          <p:cNvPr id="17" name="Text 14"/>
          <p:cNvSpPr txBox="1"/>
          <p:nvPr/>
        </p:nvSpPr>
        <p:spPr>
          <a:xfrm>
            <a:off x="6565736" y="3436157"/>
            <a:ext cx="4827403" cy="419090"/>
          </a:xfrm>
          <a:prstGeom prst="rect">
            <a:avLst/>
          </a:prstGeom>
          <a:noFill/>
          <a:ln/>
        </p:spPr>
        <p:txBody>
          <a:bodyPr wrap="square" lIns="0" tIns="0" rIns="0" bIns="0" rtlCol="0" anchor="t"/>
          <a:lstStyle/>
          <a:p>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O modelo de IA é o mesmo da noite 2. O que muda é o que está embaixo dele.</a:t>
            </a:r>
            <a:endParaRPr lang="en-US" sz="1100" dirty="0"/>
          </a:p>
        </p:txBody>
      </p:sp>
      <p:pic>
        <p:nvPicPr>
          <p:cNvPr id="18" name="Image 1" descr="preencoded.png">    </p:cNvPr>
          <p:cNvPicPr>
            <a:picLocks noChangeAspect="1"/>
          </p:cNvPicPr>
          <p:nvPr/>
        </p:nvPicPr>
        <p:blipFill>
          <a:blip r:embed="rId3"/>
          <a:stretch>
            <a:fillRect/>
          </a:stretch>
        </p:blipFill>
        <p:spPr>
          <a:xfrm>
            <a:off x="761981" y="6387940"/>
            <a:ext cx="2059928" cy="190495"/>
          </a:xfrm>
          <a:prstGeom prst="rect">
            <a:avLst/>
          </a:prstGeom>
        </p:spPr>
      </p:pic>
      <p:sp>
        <p:nvSpPr>
          <p:cNvPr id="19" name="Text 15"/>
          <p:cNvSpPr txBox="1"/>
          <p:nvPr/>
        </p:nvSpPr>
        <p:spPr>
          <a:xfrm>
            <a:off x="10960818" y="6387940"/>
            <a:ext cx="487652"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77 / 133</a:t>
            </a:r>
            <a:endParaRPr lang="en-US" sz="10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1 · SE DER ERRADO</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Sintoma, causa,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o que fazer</a:t>
            </a:r>
            <a:endParaRPr lang="en-US" sz="3100" dirty="0"/>
          </a:p>
        </p:txBody>
      </p:sp>
      <p:sp>
        <p:nvSpPr>
          <p:cNvPr id="4" name="Text 2"/>
          <p:cNvSpPr txBox="1"/>
          <p:nvPr/>
        </p:nvSpPr>
        <p:spPr>
          <a:xfrm>
            <a:off x="876278" y="1582301"/>
            <a:ext cx="3336794" cy="171446"/>
          </a:xfrm>
          <a:prstGeom prst="rect">
            <a:avLst/>
          </a:prstGeom>
          <a:noFill/>
          <a:ln/>
        </p:spPr>
        <p:txBody>
          <a:bodyPr wrap="square" lIns="0" tIns="0" rIns="0" bIns="0" rtlCol="0" anchor="t"/>
          <a:lstStyle/>
          <a:p>
            <a:pPr algn="l"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SINTOMA</a:t>
            </a:r>
            <a:endParaRPr lang="en-US" sz="900" dirty="0"/>
          </a:p>
        </p:txBody>
      </p:sp>
      <p:sp>
        <p:nvSpPr>
          <p:cNvPr id="5" name="Text 3"/>
          <p:cNvSpPr txBox="1"/>
          <p:nvPr/>
        </p:nvSpPr>
        <p:spPr>
          <a:xfrm>
            <a:off x="4313328" y="1582301"/>
            <a:ext cx="7282173" cy="171446"/>
          </a:xfrm>
          <a:prstGeom prst="rect">
            <a:avLst/>
          </a:prstGeom>
          <a:noFill/>
          <a:ln/>
        </p:spPr>
        <p:txBody>
          <a:bodyPr wrap="square" lIns="0" tIns="0" rIns="0" bIns="0" rtlCol="0" anchor="t"/>
          <a:lstStyle/>
          <a:p>
            <a:pPr algn="l"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O QUE FAZER</a:t>
            </a:r>
            <a:endParaRPr lang="en-US" sz="900" dirty="0"/>
          </a:p>
        </p:txBody>
      </p:sp>
      <p:sp>
        <p:nvSpPr>
          <p:cNvPr id="6" name="Shape 4"/>
          <p:cNvSpPr/>
          <p:nvPr/>
        </p:nvSpPr>
        <p:spPr>
          <a:xfrm>
            <a:off x="761981" y="1880744"/>
            <a:ext cx="3437050" cy="368291"/>
          </a:xfrm>
          <a:prstGeom prst="rect">
            <a:avLst/>
          </a:prstGeom>
          <a:solidFill>
            <a:srgbClr val="1E1E24"/>
          </a:solidFill>
          <a:ln/>
        </p:spPr>
      </p:sp>
      <p:sp>
        <p:nvSpPr>
          <p:cNvPr id="7" name="Text 5"/>
          <p:cNvSpPr txBox="1"/>
          <p:nvPr/>
        </p:nvSpPr>
        <p:spPr>
          <a:xfrm>
            <a:off x="876278" y="1982341"/>
            <a:ext cx="3336794" cy="165096"/>
          </a:xfrm>
          <a:prstGeom prst="rect">
            <a:avLst/>
          </a:prstGeom>
          <a:noFill/>
          <a:ln/>
        </p:spPr>
        <p:txBody>
          <a:bodyPr wrap="square" lIns="0" tIns="0" rIns="0" bIns="0" rtlCol="0" anchor="t"/>
          <a:lstStyle/>
          <a:p>
            <a:pPr algn="l" indent="0" marL="0">
              <a:lnSpc>
                <a:spcPct val="111111"/>
              </a:lnSpc>
              <a:buNone/>
            </a:pPr>
            <a:r>
              <a:rPr lang="en-US" sz="1000" b="1" dirty="0">
                <a:solidFill>
                  <a:srgbClr val="F5F6FC"/>
                </a:solidFill>
                <a:latin typeface="Poppins" pitchFamily="34" charset="0"/>
                <a:ea typeface="Poppins" pitchFamily="34" charset="-122"/>
                <a:cs typeface="Poppins" pitchFamily="34" charset="-120"/>
              </a:rPr>
              <a:t>"Create a catalog" dá erro</a:t>
            </a:r>
            <a:endParaRPr lang="en-US" sz="1000" dirty="0"/>
          </a:p>
        </p:txBody>
      </p:sp>
      <p:sp>
        <p:nvSpPr>
          <p:cNvPr id="8" name="Shape 6"/>
          <p:cNvSpPr/>
          <p:nvPr/>
        </p:nvSpPr>
        <p:spPr>
          <a:xfrm>
            <a:off x="4199031" y="1880744"/>
            <a:ext cx="7230683" cy="368291"/>
          </a:xfrm>
          <a:prstGeom prst="rect">
            <a:avLst/>
          </a:prstGeom>
          <a:solidFill>
            <a:srgbClr val="1E1E24"/>
          </a:solidFill>
          <a:ln/>
        </p:spPr>
      </p:sp>
      <p:sp>
        <p:nvSpPr>
          <p:cNvPr id="9" name="Text 7"/>
          <p:cNvSpPr txBox="1"/>
          <p:nvPr/>
        </p:nvSpPr>
        <p:spPr>
          <a:xfrm>
            <a:off x="4313328" y="1982341"/>
            <a:ext cx="7282173" cy="165096"/>
          </a:xfrm>
          <a:prstGeom prst="rect">
            <a:avLst/>
          </a:prstGeom>
          <a:noFill/>
          <a:ln/>
        </p:spPr>
        <p:txBody>
          <a:bodyPr wrap="square" lIns="0" tIns="0" rIns="0" bIns="0" rtlCol="0" anchor="t"/>
          <a:lstStyle/>
          <a:p>
            <a:pPr algn="l" indent="0" marL="0">
              <a:lnSpc>
                <a:spcPct val="111111"/>
              </a:lnSpc>
              <a:buNone/>
            </a:pPr>
            <a:r>
              <a:rPr lang="en-US" sz="1000" dirty="0">
                <a:solidFill>
                  <a:srgbClr val="F5F6FC"/>
                </a:solidFill>
                <a:latin typeface="Poppins" pitchFamily="34" charset="0"/>
                <a:ea typeface="Poppins" pitchFamily="34" charset="-122"/>
                <a:cs typeface="Poppins" pitchFamily="34" charset="-120"/>
              </a:rPr>
              <a:t>rode o </a:t>
            </a:r>
            <a:pPr algn="l" indent="0" marL="0">
              <a:lnSpc>
                <a:spcPct val="111111"/>
              </a:lnSpc>
              <a:buNone/>
            </a:pPr>
            <a:r>
              <a:rPr lang="en-US" sz="1000" b="1" dirty="0">
                <a:solidFill>
                  <a:srgbClr val="FFFFFF"/>
                </a:solidFill>
                <a:latin typeface="Poppins" pitchFamily="34" charset="0"/>
                <a:ea typeface="Poppins" pitchFamily="34" charset="-122"/>
                <a:cs typeface="Poppins" pitchFamily="34" charset="-120"/>
              </a:rPr>
              <a:t>00-setup-catalogo.sql</a:t>
            </a:r>
            <a:pPr algn="l" indent="0" marL="0">
              <a:lnSpc>
                <a:spcPct val="111111"/>
              </a:lnSpc>
              <a:buNone/>
            </a:pPr>
            <a:r>
              <a:rPr lang="en-US" sz="1000" dirty="0">
                <a:solidFill>
                  <a:srgbClr val="F5F6FC"/>
                </a:solidFill>
                <a:latin typeface="Poppins" pitchFamily="34" charset="0"/>
                <a:ea typeface="Poppins" pitchFamily="34" charset="-122"/>
                <a:cs typeface="Poppins" pitchFamily="34" charset="-120"/>
              </a:rPr>
              <a:t> no SQL Editor</a:t>
            </a:r>
            <a:endParaRPr lang="en-US" sz="1000" dirty="0"/>
          </a:p>
        </p:txBody>
      </p:sp>
      <p:sp>
        <p:nvSpPr>
          <p:cNvPr id="10" name="Shape 8"/>
          <p:cNvSpPr/>
          <p:nvPr/>
        </p:nvSpPr>
        <p:spPr>
          <a:xfrm>
            <a:off x="761981" y="2299833"/>
            <a:ext cx="3437050" cy="368291"/>
          </a:xfrm>
          <a:prstGeom prst="rect">
            <a:avLst/>
          </a:prstGeom>
          <a:solidFill>
            <a:srgbClr val="1E1E24"/>
          </a:solidFill>
          <a:ln/>
        </p:spPr>
      </p:sp>
      <p:sp>
        <p:nvSpPr>
          <p:cNvPr id="11" name="Text 9"/>
          <p:cNvSpPr txBox="1"/>
          <p:nvPr/>
        </p:nvSpPr>
        <p:spPr>
          <a:xfrm>
            <a:off x="876278" y="2401431"/>
            <a:ext cx="3336794" cy="165096"/>
          </a:xfrm>
          <a:prstGeom prst="rect">
            <a:avLst/>
          </a:prstGeom>
          <a:noFill/>
          <a:ln/>
        </p:spPr>
        <p:txBody>
          <a:bodyPr wrap="square" lIns="0" tIns="0" rIns="0" bIns="0" rtlCol="0" anchor="t"/>
          <a:lstStyle/>
          <a:p>
            <a:pPr algn="l" indent="0" marL="0">
              <a:lnSpc>
                <a:spcPct val="111111"/>
              </a:lnSpc>
              <a:buNone/>
            </a:pPr>
            <a:r>
              <a:rPr lang="en-US" sz="1000" b="1" dirty="0">
                <a:solidFill>
                  <a:srgbClr val="FFFFFF"/>
                </a:solidFill>
                <a:latin typeface="Poppins" pitchFamily="34" charset="0"/>
                <a:ea typeface="Poppins" pitchFamily="34" charset="-122"/>
                <a:cs typeface="Poppins" pitchFamily="34" charset="-120"/>
              </a:rPr>
              <a:t>PERMISSION_DENIED</a:t>
            </a:r>
            <a:pPr algn="l" indent="0" marL="0">
              <a:lnSpc>
                <a:spcPct val="111111"/>
              </a:lnSpc>
              <a:buNone/>
            </a:pPr>
            <a:r>
              <a:rPr lang="en-US" sz="1000" b="1" dirty="0">
                <a:solidFill>
                  <a:srgbClr val="F5F6FC"/>
                </a:solidFill>
                <a:latin typeface="Poppins" pitchFamily="34" charset="0"/>
                <a:ea typeface="Poppins" pitchFamily="34" charset="-122"/>
                <a:cs typeface="Poppins" pitchFamily="34" charset="-120"/>
              </a:rPr>
              <a:t> ao criar catálogo</a:t>
            </a:r>
            <a:endParaRPr lang="en-US" sz="1000" dirty="0"/>
          </a:p>
        </p:txBody>
      </p:sp>
      <p:sp>
        <p:nvSpPr>
          <p:cNvPr id="12" name="Shape 10"/>
          <p:cNvSpPr/>
          <p:nvPr/>
        </p:nvSpPr>
        <p:spPr>
          <a:xfrm>
            <a:off x="4199031" y="2299833"/>
            <a:ext cx="7230683" cy="368291"/>
          </a:xfrm>
          <a:prstGeom prst="rect">
            <a:avLst/>
          </a:prstGeom>
          <a:solidFill>
            <a:srgbClr val="1E1E24"/>
          </a:solidFill>
          <a:ln/>
        </p:spPr>
      </p:sp>
      <p:sp>
        <p:nvSpPr>
          <p:cNvPr id="13" name="Text 11"/>
          <p:cNvSpPr txBox="1"/>
          <p:nvPr/>
        </p:nvSpPr>
        <p:spPr>
          <a:xfrm>
            <a:off x="4313328" y="2401431"/>
            <a:ext cx="7282173" cy="165096"/>
          </a:xfrm>
          <a:prstGeom prst="rect">
            <a:avLst/>
          </a:prstGeom>
          <a:noFill/>
          <a:ln/>
        </p:spPr>
        <p:txBody>
          <a:bodyPr wrap="square" lIns="0" tIns="0" rIns="0" bIns="0" rtlCol="0" anchor="t"/>
          <a:lstStyle/>
          <a:p>
            <a:pPr algn="l" indent="0" marL="0">
              <a:lnSpc>
                <a:spcPct val="111111"/>
              </a:lnSpc>
              <a:buNone/>
            </a:pPr>
            <a:r>
              <a:rPr lang="en-US" sz="1000" dirty="0">
                <a:solidFill>
                  <a:srgbClr val="F5F6FC"/>
                </a:solidFill>
                <a:latin typeface="Poppins" pitchFamily="34" charset="0"/>
                <a:ea typeface="Poppins" pitchFamily="34" charset="-122"/>
                <a:cs typeface="Poppins" pitchFamily="34" charset="-120"/>
              </a:rPr>
              <a:t>o workspace não é seu: use a sua conta Free Edition</a:t>
            </a:r>
            <a:endParaRPr lang="en-US" sz="1000" dirty="0"/>
          </a:p>
        </p:txBody>
      </p:sp>
      <p:sp>
        <p:nvSpPr>
          <p:cNvPr id="14" name="Shape 12"/>
          <p:cNvSpPr/>
          <p:nvPr/>
        </p:nvSpPr>
        <p:spPr>
          <a:xfrm>
            <a:off x="761981" y="2718923"/>
            <a:ext cx="3437050" cy="368291"/>
          </a:xfrm>
          <a:prstGeom prst="rect">
            <a:avLst/>
          </a:prstGeom>
          <a:solidFill>
            <a:srgbClr val="1E1E24"/>
          </a:solidFill>
          <a:ln/>
        </p:spPr>
      </p:sp>
      <p:sp>
        <p:nvSpPr>
          <p:cNvPr id="15" name="Text 13"/>
          <p:cNvSpPr txBox="1"/>
          <p:nvPr/>
        </p:nvSpPr>
        <p:spPr>
          <a:xfrm>
            <a:off x="876278" y="2820520"/>
            <a:ext cx="3336794" cy="165096"/>
          </a:xfrm>
          <a:prstGeom prst="rect">
            <a:avLst/>
          </a:prstGeom>
          <a:noFill/>
          <a:ln/>
        </p:spPr>
        <p:txBody>
          <a:bodyPr wrap="square" lIns="0" tIns="0" rIns="0" bIns="0" rtlCol="0" anchor="t"/>
          <a:lstStyle/>
          <a:p>
            <a:pPr algn="l" indent="0" marL="0">
              <a:lnSpc>
                <a:spcPct val="111111"/>
              </a:lnSpc>
              <a:buNone/>
            </a:pPr>
            <a:r>
              <a:rPr lang="en-US" sz="1000" b="1" dirty="0">
                <a:solidFill>
                  <a:srgbClr val="FFFFFF"/>
                </a:solidFill>
                <a:latin typeface="Poppins" pitchFamily="34" charset="0"/>
                <a:ea typeface="Poppins" pitchFamily="34" charset="-122"/>
                <a:cs typeface="Poppins" pitchFamily="34" charset="-120"/>
              </a:rPr>
              <a:t>PATH_NOT_FOUND</a:t>
            </a:r>
            <a:pPr algn="l" indent="0" marL="0">
              <a:lnSpc>
                <a:spcPct val="111111"/>
              </a:lnSpc>
              <a:buNone/>
            </a:pPr>
            <a:r>
              <a:rPr lang="en-US" sz="1000" b="1" dirty="0">
                <a:solidFill>
                  <a:srgbClr val="F5F6FC"/>
                </a:solidFill>
                <a:latin typeface="Poppins" pitchFamily="34" charset="0"/>
                <a:ea typeface="Poppins" pitchFamily="34" charset="-122"/>
                <a:cs typeface="Poppins" pitchFamily="34" charset="-120"/>
              </a:rPr>
              <a:t> ou tabela com 0 linhas</a:t>
            </a:r>
            <a:endParaRPr lang="en-US" sz="1000" dirty="0"/>
          </a:p>
        </p:txBody>
      </p:sp>
      <p:sp>
        <p:nvSpPr>
          <p:cNvPr id="16" name="Shape 14"/>
          <p:cNvSpPr/>
          <p:nvPr/>
        </p:nvSpPr>
        <p:spPr>
          <a:xfrm>
            <a:off x="4199031" y="2718923"/>
            <a:ext cx="7230683" cy="368291"/>
          </a:xfrm>
          <a:prstGeom prst="rect">
            <a:avLst/>
          </a:prstGeom>
          <a:solidFill>
            <a:srgbClr val="1E1E24"/>
          </a:solidFill>
          <a:ln/>
        </p:spPr>
      </p:sp>
      <p:sp>
        <p:nvSpPr>
          <p:cNvPr id="17" name="Text 15"/>
          <p:cNvSpPr txBox="1"/>
          <p:nvPr/>
        </p:nvSpPr>
        <p:spPr>
          <a:xfrm>
            <a:off x="4313328" y="2820520"/>
            <a:ext cx="7282173" cy="165096"/>
          </a:xfrm>
          <a:prstGeom prst="rect">
            <a:avLst/>
          </a:prstGeom>
          <a:noFill/>
          <a:ln/>
        </p:spPr>
        <p:txBody>
          <a:bodyPr wrap="square" lIns="0" tIns="0" rIns="0" bIns="0" rtlCol="0" anchor="t"/>
          <a:lstStyle/>
          <a:p>
            <a:pPr algn="l" indent="0" marL="0">
              <a:lnSpc>
                <a:spcPct val="111111"/>
              </a:lnSpc>
              <a:buNone/>
            </a:pPr>
            <a:r>
              <a:rPr lang="en-US" sz="1000" dirty="0">
                <a:solidFill>
                  <a:srgbClr val="F5F6FC"/>
                </a:solidFill>
                <a:latin typeface="Poppins" pitchFamily="34" charset="0"/>
                <a:ea typeface="Poppins" pitchFamily="34" charset="-122"/>
                <a:cs typeface="Poppins" pitchFamily="34" charset="-120"/>
              </a:rPr>
              <a:t>arquivo na pasta errada: confira </a:t>
            </a:r>
            <a:pPr algn="l" indent="0" marL="0">
              <a:lnSpc>
                <a:spcPct val="111111"/>
              </a:lnSpc>
              <a:buNone/>
            </a:pPr>
            <a:r>
              <a:rPr lang="en-US" sz="1000" b="1" dirty="0">
                <a:solidFill>
                  <a:srgbClr val="FFFFFF"/>
                </a:solidFill>
                <a:latin typeface="Poppins" pitchFamily="34" charset="0"/>
                <a:ea typeface="Poppins" pitchFamily="34" charset="-122"/>
                <a:cs typeface="Poppins" pitchFamily="34" charset="-120"/>
              </a:rPr>
              <a:t>/Volumes/lakehouse_vertice/bronze/raw/pmo/projetos.csv</a:t>
            </a:r>
            <a:endParaRPr lang="en-US" sz="1000" dirty="0"/>
          </a:p>
        </p:txBody>
      </p:sp>
      <p:sp>
        <p:nvSpPr>
          <p:cNvPr id="18" name="Shape 16"/>
          <p:cNvSpPr/>
          <p:nvPr/>
        </p:nvSpPr>
        <p:spPr>
          <a:xfrm>
            <a:off x="761981" y="3138012"/>
            <a:ext cx="3437050" cy="368291"/>
          </a:xfrm>
          <a:prstGeom prst="rect">
            <a:avLst/>
          </a:prstGeom>
          <a:solidFill>
            <a:srgbClr val="1E1E24"/>
          </a:solidFill>
          <a:ln/>
        </p:spPr>
      </p:sp>
      <p:sp>
        <p:nvSpPr>
          <p:cNvPr id="19" name="Text 17"/>
          <p:cNvSpPr txBox="1"/>
          <p:nvPr/>
        </p:nvSpPr>
        <p:spPr>
          <a:xfrm>
            <a:off x="876278" y="3239610"/>
            <a:ext cx="3336794" cy="165096"/>
          </a:xfrm>
          <a:prstGeom prst="rect">
            <a:avLst/>
          </a:prstGeom>
          <a:noFill/>
          <a:ln/>
        </p:spPr>
        <p:txBody>
          <a:bodyPr wrap="square" lIns="0" tIns="0" rIns="0" bIns="0" rtlCol="0" anchor="t"/>
          <a:lstStyle/>
          <a:p>
            <a:pPr algn="l" indent="0" marL="0">
              <a:lnSpc>
                <a:spcPct val="111111"/>
              </a:lnSpc>
              <a:buNone/>
            </a:pPr>
            <a:r>
              <a:rPr lang="en-US" sz="1000" b="1" dirty="0">
                <a:solidFill>
                  <a:srgbClr val="FFFFFF"/>
                </a:solidFill>
                <a:latin typeface="Poppins" pitchFamily="34" charset="0"/>
                <a:ea typeface="Poppins" pitchFamily="34" charset="-122"/>
                <a:cs typeface="Poppins" pitchFamily="34" charset="-120"/>
              </a:rPr>
              <a:t>CAST_INVALID_INPUT</a:t>
            </a:r>
            <a:pPr algn="l" indent="0" marL="0">
              <a:lnSpc>
                <a:spcPct val="111111"/>
              </a:lnSpc>
              <a:buNone/>
            </a:pPr>
            <a:r>
              <a:rPr lang="en-US" sz="1000" b="1" dirty="0">
                <a:solidFill>
                  <a:srgbClr val="F5F6FC"/>
                </a:solidFill>
                <a:latin typeface="Poppins" pitchFamily="34" charset="0"/>
                <a:ea typeface="Poppins" pitchFamily="34" charset="-122"/>
                <a:cs typeface="Poppins" pitchFamily="34" charset="-120"/>
              </a:rPr>
              <a:t> no exemplo 04</a:t>
            </a:r>
            <a:endParaRPr lang="en-US" sz="1000" dirty="0"/>
          </a:p>
        </p:txBody>
      </p:sp>
      <p:sp>
        <p:nvSpPr>
          <p:cNvPr id="20" name="Shape 18"/>
          <p:cNvSpPr/>
          <p:nvPr/>
        </p:nvSpPr>
        <p:spPr>
          <a:xfrm>
            <a:off x="4199031" y="3138012"/>
            <a:ext cx="7230683" cy="368291"/>
          </a:xfrm>
          <a:prstGeom prst="rect">
            <a:avLst/>
          </a:prstGeom>
          <a:solidFill>
            <a:srgbClr val="1E1E24"/>
          </a:solidFill>
          <a:ln/>
        </p:spPr>
      </p:sp>
      <p:sp>
        <p:nvSpPr>
          <p:cNvPr id="21" name="Text 19"/>
          <p:cNvSpPr txBox="1"/>
          <p:nvPr/>
        </p:nvSpPr>
        <p:spPr>
          <a:xfrm>
            <a:off x="4313328" y="3239610"/>
            <a:ext cx="7282173" cy="165096"/>
          </a:xfrm>
          <a:prstGeom prst="rect">
            <a:avLst/>
          </a:prstGeom>
          <a:noFill/>
          <a:ln/>
        </p:spPr>
        <p:txBody>
          <a:bodyPr wrap="square" lIns="0" tIns="0" rIns="0" bIns="0" rtlCol="0" anchor="t"/>
          <a:lstStyle/>
          <a:p>
            <a:pPr algn="l" indent="0" marL="0">
              <a:lnSpc>
                <a:spcPct val="111111"/>
              </a:lnSpc>
              <a:buNone/>
            </a:pPr>
            <a:r>
              <a:rPr lang="en-US" sz="1000" b="1" dirty="0">
                <a:solidFill>
                  <a:srgbClr val="FFFFFF"/>
                </a:solidFill>
                <a:latin typeface="Poppins" pitchFamily="34" charset="0"/>
                <a:ea typeface="Poppins" pitchFamily="34" charset="-122"/>
                <a:cs typeface="Poppins" pitchFamily="34" charset="-120"/>
              </a:rPr>
              <a:t>é de propósito</a:t>
            </a:r>
            <a:pPr algn="l" indent="0" marL="0">
              <a:lnSpc>
                <a:spcPct val="111111"/>
              </a:lnSpc>
              <a:buNone/>
            </a:pPr>
            <a:r>
              <a:rPr lang="en-US" sz="1000" dirty="0">
                <a:solidFill>
                  <a:srgbClr val="F5F6FC"/>
                </a:solidFill>
                <a:latin typeface="Poppins" pitchFamily="34" charset="0"/>
                <a:ea typeface="Poppins" pitchFamily="34" charset="-122"/>
                <a:cs typeface="Poppins" pitchFamily="34" charset="-120"/>
              </a:rPr>
              <a:t>: é a vírgula decimal, o ponto da aula</a:t>
            </a:r>
            <a:endParaRPr lang="en-US" sz="1000" dirty="0"/>
          </a:p>
        </p:txBody>
      </p:sp>
      <p:sp>
        <p:nvSpPr>
          <p:cNvPr id="22" name="Shape 20"/>
          <p:cNvSpPr/>
          <p:nvPr/>
        </p:nvSpPr>
        <p:spPr>
          <a:xfrm>
            <a:off x="761981" y="3557102"/>
            <a:ext cx="3437050" cy="368291"/>
          </a:xfrm>
          <a:prstGeom prst="rect">
            <a:avLst/>
          </a:prstGeom>
          <a:solidFill>
            <a:srgbClr val="1E1E24"/>
          </a:solidFill>
          <a:ln/>
        </p:spPr>
      </p:sp>
      <p:sp>
        <p:nvSpPr>
          <p:cNvPr id="23" name="Text 21"/>
          <p:cNvSpPr txBox="1"/>
          <p:nvPr/>
        </p:nvSpPr>
        <p:spPr>
          <a:xfrm>
            <a:off x="876278" y="3658699"/>
            <a:ext cx="3336794" cy="165096"/>
          </a:xfrm>
          <a:prstGeom prst="rect">
            <a:avLst/>
          </a:prstGeom>
          <a:noFill/>
          <a:ln/>
        </p:spPr>
        <p:txBody>
          <a:bodyPr wrap="square" lIns="0" tIns="0" rIns="0" bIns="0" rtlCol="0" anchor="t"/>
          <a:lstStyle/>
          <a:p>
            <a:pPr algn="l" indent="0" marL="0">
              <a:lnSpc>
                <a:spcPct val="111111"/>
              </a:lnSpc>
              <a:buNone/>
            </a:pPr>
            <a:r>
              <a:rPr lang="en-US" sz="1000" b="1" dirty="0">
                <a:solidFill>
                  <a:srgbClr val="FFFFFF"/>
                </a:solidFill>
                <a:latin typeface="Poppins" pitchFamily="34" charset="0"/>
                <a:ea typeface="Poppins" pitchFamily="34" charset="-122"/>
                <a:cs typeface="Poppins" pitchFamily="34" charset="-120"/>
              </a:rPr>
              <a:t>rascunho_tarefas</a:t>
            </a:r>
            <a:pPr algn="l" indent="0" marL="0">
              <a:lnSpc>
                <a:spcPct val="111111"/>
              </a:lnSpc>
              <a:buNone/>
            </a:pPr>
            <a:r>
              <a:rPr lang="en-US" sz="1000" b="1" dirty="0">
                <a:solidFill>
                  <a:srgbClr val="F5F6FC"/>
                </a:solidFill>
                <a:latin typeface="Poppins" pitchFamily="34" charset="0"/>
                <a:ea typeface="Poppins" pitchFamily="34" charset="-122"/>
                <a:cs typeface="Poppins" pitchFamily="34" charset="-120"/>
              </a:rPr>
              <a:t> não existe</a:t>
            </a:r>
            <a:endParaRPr lang="en-US" sz="1000" dirty="0"/>
          </a:p>
        </p:txBody>
      </p:sp>
      <p:sp>
        <p:nvSpPr>
          <p:cNvPr id="24" name="Shape 22"/>
          <p:cNvSpPr/>
          <p:nvPr/>
        </p:nvSpPr>
        <p:spPr>
          <a:xfrm>
            <a:off x="4199031" y="3557102"/>
            <a:ext cx="7230683" cy="368291"/>
          </a:xfrm>
          <a:prstGeom prst="rect">
            <a:avLst/>
          </a:prstGeom>
          <a:solidFill>
            <a:srgbClr val="1E1E24"/>
          </a:solidFill>
          <a:ln/>
        </p:spPr>
      </p:sp>
      <p:sp>
        <p:nvSpPr>
          <p:cNvPr id="25" name="Text 23"/>
          <p:cNvSpPr txBox="1"/>
          <p:nvPr/>
        </p:nvSpPr>
        <p:spPr>
          <a:xfrm>
            <a:off x="4313328" y="3658699"/>
            <a:ext cx="7282173" cy="165096"/>
          </a:xfrm>
          <a:prstGeom prst="rect">
            <a:avLst/>
          </a:prstGeom>
          <a:noFill/>
          <a:ln/>
        </p:spPr>
        <p:txBody>
          <a:bodyPr wrap="square" lIns="0" tIns="0" rIns="0" bIns="0" rtlCol="0" anchor="t"/>
          <a:lstStyle/>
          <a:p>
            <a:pPr algn="l" indent="0" marL="0">
              <a:lnSpc>
                <a:spcPct val="111111"/>
              </a:lnSpc>
              <a:buNone/>
            </a:pPr>
            <a:r>
              <a:rPr lang="en-US" sz="1000" dirty="0">
                <a:solidFill>
                  <a:srgbClr val="F5F6FC"/>
                </a:solidFill>
                <a:latin typeface="Poppins" pitchFamily="34" charset="0"/>
                <a:ea typeface="Poppins" pitchFamily="34" charset="-122"/>
                <a:cs typeface="Poppins" pitchFamily="34" charset="-120"/>
              </a:rPr>
              <a:t>rode o exemplo 05 inteiro antes do 06 e da verificação</a:t>
            </a:r>
            <a:endParaRPr lang="en-US" sz="1000" dirty="0"/>
          </a:p>
        </p:txBody>
      </p:sp>
      <p:sp>
        <p:nvSpPr>
          <p:cNvPr id="26" name="Shape 24"/>
          <p:cNvSpPr/>
          <p:nvPr/>
        </p:nvSpPr>
        <p:spPr>
          <a:xfrm>
            <a:off x="761981" y="3976191"/>
            <a:ext cx="3437050" cy="368291"/>
          </a:xfrm>
          <a:prstGeom prst="rect">
            <a:avLst/>
          </a:prstGeom>
          <a:solidFill>
            <a:srgbClr val="1E1E24"/>
          </a:solidFill>
          <a:ln/>
        </p:spPr>
      </p:sp>
      <p:sp>
        <p:nvSpPr>
          <p:cNvPr id="27" name="Text 25"/>
          <p:cNvSpPr txBox="1"/>
          <p:nvPr/>
        </p:nvSpPr>
        <p:spPr>
          <a:xfrm>
            <a:off x="876278" y="4077789"/>
            <a:ext cx="3336794" cy="165096"/>
          </a:xfrm>
          <a:prstGeom prst="rect">
            <a:avLst/>
          </a:prstGeom>
          <a:noFill/>
          <a:ln/>
        </p:spPr>
        <p:txBody>
          <a:bodyPr wrap="square" lIns="0" tIns="0" rIns="0" bIns="0" rtlCol="0" anchor="t"/>
          <a:lstStyle/>
          <a:p>
            <a:pPr algn="l" indent="0" marL="0">
              <a:lnSpc>
                <a:spcPct val="111111"/>
              </a:lnSpc>
              <a:buNone/>
            </a:pPr>
            <a:r>
              <a:rPr lang="en-US" sz="1000" b="1" dirty="0">
                <a:solidFill>
                  <a:srgbClr val="F5F6FC"/>
                </a:solidFill>
                <a:latin typeface="Poppins" pitchFamily="34" charset="0"/>
                <a:ea typeface="Poppins" pitchFamily="34" charset="-122"/>
                <a:cs typeface="Poppins" pitchFamily="34" charset="-120"/>
              </a:rPr>
              <a:t>SPI/CPI diferentes</a:t>
            </a:r>
            <a:endParaRPr lang="en-US" sz="1000" dirty="0"/>
          </a:p>
        </p:txBody>
      </p:sp>
      <p:sp>
        <p:nvSpPr>
          <p:cNvPr id="28" name="Shape 26"/>
          <p:cNvSpPr/>
          <p:nvPr/>
        </p:nvSpPr>
        <p:spPr>
          <a:xfrm>
            <a:off x="4199031" y="3976191"/>
            <a:ext cx="7230683" cy="368291"/>
          </a:xfrm>
          <a:prstGeom prst="rect">
            <a:avLst/>
          </a:prstGeom>
          <a:solidFill>
            <a:srgbClr val="1E1E24"/>
          </a:solidFill>
          <a:ln/>
        </p:spPr>
      </p:sp>
      <p:sp>
        <p:nvSpPr>
          <p:cNvPr id="29" name="Text 27"/>
          <p:cNvSpPr txBox="1"/>
          <p:nvPr/>
        </p:nvSpPr>
        <p:spPr>
          <a:xfrm>
            <a:off x="4313328" y="4077789"/>
            <a:ext cx="7282173" cy="165096"/>
          </a:xfrm>
          <a:prstGeom prst="rect">
            <a:avLst/>
          </a:prstGeom>
          <a:noFill/>
          <a:ln/>
        </p:spPr>
        <p:txBody>
          <a:bodyPr wrap="square" lIns="0" tIns="0" rIns="0" bIns="0" rtlCol="0" anchor="t"/>
          <a:lstStyle/>
          <a:p>
            <a:pPr algn="l" indent="0" marL="0">
              <a:lnSpc>
                <a:spcPct val="111111"/>
              </a:lnSpc>
              <a:buNone/>
            </a:pPr>
            <a:r>
              <a:rPr lang="en-US" sz="1000" dirty="0">
                <a:solidFill>
                  <a:srgbClr val="F5F6FC"/>
                </a:solidFill>
                <a:latin typeface="Poppins" pitchFamily="34" charset="0"/>
                <a:ea typeface="Poppins" pitchFamily="34" charset="-122"/>
                <a:cs typeface="Poppins" pitchFamily="34" charset="-120"/>
              </a:rPr>
              <a:t>use </a:t>
            </a:r>
            <a:pPr algn="l" indent="0" marL="0">
              <a:lnSpc>
                <a:spcPct val="111111"/>
              </a:lnSpc>
              <a:buNone/>
            </a:pPr>
            <a:r>
              <a:rPr lang="en-US" sz="1000" b="1" dirty="0">
                <a:solidFill>
                  <a:srgbClr val="FFFFFF"/>
                </a:solidFill>
                <a:latin typeface="Poppins" pitchFamily="34" charset="0"/>
                <a:ea typeface="Poppins" pitchFamily="34" charset="-122"/>
                <a:cs typeface="Poppins" pitchFamily="34" charset="-120"/>
              </a:rPr>
              <a:t>DATE'2026-10-16'</a:t>
            </a:r>
            <a:pPr algn="l" indent="0" marL="0">
              <a:lnSpc>
                <a:spcPct val="111111"/>
              </a:lnSpc>
              <a:buNone/>
            </a:pPr>
            <a:r>
              <a:rPr lang="en-US" sz="1000" dirty="0">
                <a:solidFill>
                  <a:srgbClr val="F5F6FC"/>
                </a:solidFill>
                <a:latin typeface="Poppins" pitchFamily="34" charset="0"/>
                <a:ea typeface="Poppins" pitchFamily="34" charset="-122"/>
                <a:cs typeface="Poppins" pitchFamily="34" charset="-120"/>
              </a:rPr>
              <a:t>, nunca </a:t>
            </a:r>
            <a:pPr algn="l" indent="0" marL="0">
              <a:lnSpc>
                <a:spcPct val="111111"/>
              </a:lnSpc>
              <a:buNone/>
            </a:pPr>
            <a:r>
              <a:rPr lang="en-US" sz="1000" b="1" dirty="0">
                <a:solidFill>
                  <a:srgbClr val="FFFFFF"/>
                </a:solidFill>
                <a:latin typeface="Poppins" pitchFamily="34" charset="0"/>
                <a:ea typeface="Poppins" pitchFamily="34" charset="-122"/>
                <a:cs typeface="Poppins" pitchFamily="34" charset="-120"/>
              </a:rPr>
              <a:t>current_date()</a:t>
            </a:r>
            <a:endParaRPr lang="en-US" sz="1000" dirty="0"/>
          </a:p>
        </p:txBody>
      </p:sp>
      <p:sp>
        <p:nvSpPr>
          <p:cNvPr id="30" name="Shape 28"/>
          <p:cNvSpPr/>
          <p:nvPr/>
        </p:nvSpPr>
        <p:spPr>
          <a:xfrm>
            <a:off x="761981" y="4395281"/>
            <a:ext cx="3437050" cy="368291"/>
          </a:xfrm>
          <a:prstGeom prst="rect">
            <a:avLst/>
          </a:prstGeom>
          <a:solidFill>
            <a:srgbClr val="1E1E24"/>
          </a:solidFill>
          <a:ln/>
        </p:spPr>
      </p:sp>
      <p:sp>
        <p:nvSpPr>
          <p:cNvPr id="31" name="Text 29"/>
          <p:cNvSpPr txBox="1"/>
          <p:nvPr/>
        </p:nvSpPr>
        <p:spPr>
          <a:xfrm>
            <a:off x="876278" y="4496878"/>
            <a:ext cx="3336794" cy="165096"/>
          </a:xfrm>
          <a:prstGeom prst="rect">
            <a:avLst/>
          </a:prstGeom>
          <a:noFill/>
          <a:ln/>
        </p:spPr>
        <p:txBody>
          <a:bodyPr wrap="square" lIns="0" tIns="0" rIns="0" bIns="0" rtlCol="0" anchor="t"/>
          <a:lstStyle/>
          <a:p>
            <a:pPr algn="l" indent="0" marL="0">
              <a:lnSpc>
                <a:spcPct val="111111"/>
              </a:lnSpc>
              <a:buNone/>
            </a:pPr>
            <a:r>
              <a:rPr lang="en-US" sz="1000" b="1" dirty="0">
                <a:solidFill>
                  <a:srgbClr val="F5F6FC"/>
                </a:solidFill>
                <a:latin typeface="Poppins" pitchFamily="34" charset="0"/>
                <a:ea typeface="Poppins" pitchFamily="34" charset="-122"/>
                <a:cs typeface="Poppins" pitchFamily="34" charset="-120"/>
              </a:rPr>
              <a:t>primeiro comando ou dashboard demora</a:t>
            </a:r>
            <a:endParaRPr lang="en-US" sz="1000" dirty="0"/>
          </a:p>
        </p:txBody>
      </p:sp>
      <p:sp>
        <p:nvSpPr>
          <p:cNvPr id="32" name="Shape 30"/>
          <p:cNvSpPr/>
          <p:nvPr/>
        </p:nvSpPr>
        <p:spPr>
          <a:xfrm>
            <a:off x="4199031" y="4395281"/>
            <a:ext cx="7230683" cy="368291"/>
          </a:xfrm>
          <a:prstGeom prst="rect">
            <a:avLst/>
          </a:prstGeom>
          <a:solidFill>
            <a:srgbClr val="1E1E24"/>
          </a:solidFill>
          <a:ln/>
        </p:spPr>
      </p:sp>
      <p:sp>
        <p:nvSpPr>
          <p:cNvPr id="33" name="Text 31"/>
          <p:cNvSpPr txBox="1"/>
          <p:nvPr/>
        </p:nvSpPr>
        <p:spPr>
          <a:xfrm>
            <a:off x="4313328" y="4496878"/>
            <a:ext cx="7282173" cy="165096"/>
          </a:xfrm>
          <a:prstGeom prst="rect">
            <a:avLst/>
          </a:prstGeom>
          <a:noFill/>
          <a:ln/>
        </p:spPr>
        <p:txBody>
          <a:bodyPr wrap="square" lIns="0" tIns="0" rIns="0" bIns="0" rtlCol="0" anchor="t"/>
          <a:lstStyle/>
          <a:p>
            <a:pPr algn="l" indent="0" marL="0">
              <a:lnSpc>
                <a:spcPct val="111111"/>
              </a:lnSpc>
              <a:buNone/>
            </a:pPr>
            <a:r>
              <a:rPr lang="en-US" sz="1000" dirty="0">
                <a:solidFill>
                  <a:srgbClr val="F5F6FC"/>
                </a:solidFill>
                <a:latin typeface="Poppins" pitchFamily="34" charset="0"/>
                <a:ea typeface="Poppins" pitchFamily="34" charset="-122"/>
                <a:cs typeface="Poppins" pitchFamily="34" charset="-120"/>
              </a:rPr>
              <a:t>o serverless está ligando: espere uns 10 segundos</a:t>
            </a:r>
            <a:endParaRPr lang="en-US" sz="1000" dirty="0"/>
          </a:p>
        </p:txBody>
      </p:sp>
      <p:sp>
        <p:nvSpPr>
          <p:cNvPr id="34" name="Shape 32"/>
          <p:cNvSpPr/>
          <p:nvPr/>
        </p:nvSpPr>
        <p:spPr>
          <a:xfrm>
            <a:off x="761981" y="4814370"/>
            <a:ext cx="3437050" cy="368291"/>
          </a:xfrm>
          <a:prstGeom prst="rect">
            <a:avLst/>
          </a:prstGeom>
          <a:solidFill>
            <a:srgbClr val="1E1E24"/>
          </a:solidFill>
          <a:ln/>
        </p:spPr>
      </p:sp>
      <p:sp>
        <p:nvSpPr>
          <p:cNvPr id="35" name="Text 33"/>
          <p:cNvSpPr txBox="1"/>
          <p:nvPr/>
        </p:nvSpPr>
        <p:spPr>
          <a:xfrm>
            <a:off x="876278" y="4915968"/>
            <a:ext cx="3336794" cy="165096"/>
          </a:xfrm>
          <a:prstGeom prst="rect">
            <a:avLst/>
          </a:prstGeom>
          <a:noFill/>
          <a:ln/>
        </p:spPr>
        <p:txBody>
          <a:bodyPr wrap="square" lIns="0" tIns="0" rIns="0" bIns="0" rtlCol="0" anchor="t"/>
          <a:lstStyle/>
          <a:p>
            <a:pPr algn="l" indent="0" marL="0">
              <a:lnSpc>
                <a:spcPct val="111111"/>
              </a:lnSpc>
              <a:buNone/>
            </a:pPr>
            <a:r>
              <a:rPr lang="en-US" sz="1000" b="1" dirty="0">
                <a:solidFill>
                  <a:srgbClr val="F5F6FC"/>
                </a:solidFill>
                <a:latin typeface="Poppins" pitchFamily="34" charset="0"/>
                <a:ea typeface="Poppins" pitchFamily="34" charset="-122"/>
                <a:cs typeface="Poppins" pitchFamily="34" charset="-120"/>
              </a:rPr>
              <a:t>o Genie respondeu diferente do roteiro</a:t>
            </a:r>
            <a:endParaRPr lang="en-US" sz="1000" dirty="0"/>
          </a:p>
        </p:txBody>
      </p:sp>
      <p:sp>
        <p:nvSpPr>
          <p:cNvPr id="36" name="Shape 34"/>
          <p:cNvSpPr/>
          <p:nvPr/>
        </p:nvSpPr>
        <p:spPr>
          <a:xfrm>
            <a:off x="4199031" y="4814370"/>
            <a:ext cx="7230683" cy="368291"/>
          </a:xfrm>
          <a:prstGeom prst="rect">
            <a:avLst/>
          </a:prstGeom>
          <a:solidFill>
            <a:srgbClr val="1E1E24"/>
          </a:solidFill>
          <a:ln/>
        </p:spPr>
      </p:sp>
      <p:sp>
        <p:nvSpPr>
          <p:cNvPr id="37" name="Text 35"/>
          <p:cNvSpPr txBox="1"/>
          <p:nvPr/>
        </p:nvSpPr>
        <p:spPr>
          <a:xfrm>
            <a:off x="4313328" y="4915968"/>
            <a:ext cx="7282173" cy="165096"/>
          </a:xfrm>
          <a:prstGeom prst="rect">
            <a:avLst/>
          </a:prstGeom>
          <a:noFill/>
          <a:ln/>
        </p:spPr>
        <p:txBody>
          <a:bodyPr wrap="square" lIns="0" tIns="0" rIns="0" bIns="0" rtlCol="0" anchor="t"/>
          <a:lstStyle/>
          <a:p>
            <a:pPr algn="l" indent="0" marL="0">
              <a:lnSpc>
                <a:spcPct val="111111"/>
              </a:lnSpc>
              <a:buNone/>
            </a:pPr>
            <a:r>
              <a:rPr lang="en-US" sz="1000" dirty="0">
                <a:solidFill>
                  <a:srgbClr val="F5F6FC"/>
                </a:solidFill>
                <a:latin typeface="Poppins" pitchFamily="34" charset="0"/>
                <a:ea typeface="Poppins" pitchFamily="34" charset="-122"/>
                <a:cs typeface="Poppins" pitchFamily="34" charset="-120"/>
              </a:rPr>
              <a:t>normal, ele varia. Pergunte "qual a regra de crítico?" e veja que ele não sabe</a:t>
            </a:r>
            <a:endParaRPr lang="en-US" sz="1000" dirty="0"/>
          </a:p>
        </p:txBody>
      </p:sp>
      <p:pic>
        <p:nvPicPr>
          <p:cNvPr id="38"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39" name="Text 36"/>
          <p:cNvSpPr txBox="1"/>
          <p:nvPr/>
        </p:nvSpPr>
        <p:spPr>
          <a:xfrm>
            <a:off x="10950897" y="6387940"/>
            <a:ext cx="497970"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78 / 133</a:t>
            </a:r>
            <a:endParaRPr lang="en-US" sz="10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180315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A FRASE DO PRIMEIRO DIA</a:t>
            </a:r>
            <a:endParaRPr lang="en-US" sz="1200" dirty="0"/>
          </a:p>
        </p:txBody>
      </p:sp>
      <p:sp>
        <p:nvSpPr>
          <p:cNvPr id="3" name="Text 1"/>
          <p:cNvSpPr txBox="1"/>
          <p:nvPr/>
        </p:nvSpPr>
        <p:spPr>
          <a:xfrm>
            <a:off x="761981" y="2126998"/>
            <a:ext cx="11094443" cy="1708504"/>
          </a:xfrm>
          <a:prstGeom prst="rect">
            <a:avLst/>
          </a:prstGeom>
          <a:noFill/>
          <a:ln/>
        </p:spPr>
        <p:txBody>
          <a:bodyPr wrap="square" lIns="0" tIns="0" rIns="0" bIns="0" rtlCol="0" anchor="t"/>
          <a:lstStyle/>
          <a:p>
            <a:pPr algn="l" indent="0" marL="0">
              <a:lnSpc>
                <a:spcPct val="98291"/>
              </a:lnSpc>
              <a:buNone/>
            </a:pPr>
            <a:r>
              <a:rPr lang="en-US" sz="3900" b="1" spc="-39" kern="0" dirty="0">
                <a:solidFill>
                  <a:srgbClr val="F5F6FC"/>
                </a:solidFill>
                <a:latin typeface="Poppins" pitchFamily="34" charset="0"/>
                <a:ea typeface="Poppins" pitchFamily="34" charset="-122"/>
                <a:cs typeface="Poppins" pitchFamily="34" charset="-120"/>
              </a:rPr>
              <a:t>"São </a:t>
            </a:r>
            <a:pPr algn="l" indent="0" marL="0">
              <a:lnSpc>
                <a:spcPct val="98291"/>
              </a:lnSpc>
              <a:buNone/>
            </a:pPr>
            <a:r>
              <a:rPr lang="en-US" sz="3900" b="1" spc="-39" kern="0" dirty="0">
                <a:solidFill>
                  <a:srgbClr val="22C2F4"/>
                </a:solidFill>
                <a:latin typeface="Poppins" pitchFamily="34" charset="0"/>
                <a:ea typeface="Poppins" pitchFamily="34" charset="-122"/>
                <a:cs typeface="Poppins" pitchFamily="34" charset="-120"/>
              </a:rPr>
              <a:t>17 projetos</a:t>
            </a:r>
            <a:pPr algn="l" indent="0" marL="0">
              <a:lnSpc>
                <a:spcPct val="98291"/>
              </a:lnSpc>
              <a:buNone/>
            </a:pPr>
            <a:r>
              <a:rPr lang="en-US" sz="3900" b="1" spc="-39" kern="0" dirty="0">
                <a:solidFill>
                  <a:srgbClr val="F5F6FC"/>
                </a:solidFill>
                <a:latin typeface="Poppins" pitchFamily="34" charset="0"/>
                <a:ea typeface="Poppins" pitchFamily="34" charset="-122"/>
                <a:cs typeface="Poppins" pitchFamily="34" charset="-120"/>
              </a:rPr>
              <a:t> em risco, espalhados em três ferramentas. Quatro deles estão com farol verde."</a:t>
            </a:r>
            <a:endParaRPr lang="en-US" sz="3900" dirty="0"/>
          </a:p>
        </p:txBody>
      </p:sp>
      <p:sp>
        <p:nvSpPr>
          <p:cNvPr id="4" name="Text 2"/>
          <p:cNvSpPr txBox="1"/>
          <p:nvPr/>
        </p:nvSpPr>
        <p:spPr>
          <a:xfrm>
            <a:off x="761981" y="4279991"/>
            <a:ext cx="11094443" cy="647684"/>
          </a:xfrm>
          <a:prstGeom prst="rect">
            <a:avLst/>
          </a:prstGeom>
          <a:noFill/>
          <a:ln/>
        </p:spPr>
        <p:txBody>
          <a:bodyPr wrap="square" lIns="0" tIns="0" rIns="0" bIns="0" rtlCol="0" anchor="t"/>
          <a:lstStyle/>
          <a:p>
            <a:pPr algn="l" indent="0" marL="0">
              <a:lnSpc>
                <a:spcPct val="106838"/>
              </a:lnSpc>
              <a:buNone/>
            </a:pPr>
            <a:r>
              <a:rPr lang="en-US" sz="1700" dirty="0">
                <a:solidFill>
                  <a:srgbClr val="A3A6B4"/>
                </a:solidFill>
                <a:latin typeface="Poppins" pitchFamily="34" charset="0"/>
                <a:ea typeface="Poppins" pitchFamily="34" charset="-122"/>
                <a:cs typeface="Poppins" pitchFamily="34" charset="-120"/>
              </a:rPr>
              <a:t>É o que você responde ao dono no fim da noite 1. Na noite 4, a frase vem com o quanto custa, a causa e a decisão.</a:t>
            </a:r>
            <a:endParaRPr lang="en-US" sz="1700" dirty="0"/>
          </a:p>
        </p:txBody>
      </p:sp>
      <p:pic>
        <p:nvPicPr>
          <p:cNvPr id="5"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6" name="Text 3"/>
          <p:cNvSpPr txBox="1"/>
          <p:nvPr/>
        </p:nvSpPr>
        <p:spPr>
          <a:xfrm>
            <a:off x="10951293" y="6387940"/>
            <a:ext cx="497558"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79 / 133</a:t>
            </a:r>
            <a:endParaRPr lang="en-US" sz="10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2007244"/>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2 · TERÇA, 20/10 · ENGENHEIRO DE DADOS</a:t>
            </a:r>
            <a:endParaRPr lang="en-US" sz="1200" dirty="0"/>
          </a:p>
        </p:txBody>
      </p:sp>
      <p:sp>
        <p:nvSpPr>
          <p:cNvPr id="3" name="Text 1"/>
          <p:cNvSpPr txBox="1"/>
          <p:nvPr/>
        </p:nvSpPr>
        <p:spPr>
          <a:xfrm>
            <a:off x="761981" y="2331086"/>
            <a:ext cx="11094443" cy="1554322"/>
          </a:xfrm>
          <a:prstGeom prst="rect">
            <a:avLst/>
          </a:prstGeom>
          <a:noFill/>
          <a:ln/>
        </p:spPr>
        <p:txBody>
          <a:bodyPr wrap="square" lIns="0" tIns="0" rIns="0" bIns="0" rtlCol="0" anchor="t"/>
          <a:lstStyle/>
          <a:p>
            <a:pPr algn="l" indent="0" marL="0">
              <a:lnSpc>
                <a:spcPct val="87179"/>
              </a:lnSpc>
              <a:buNone/>
            </a:pPr>
            <a:r>
              <a:rPr lang="en-US" sz="6000" b="1" spc="-120" kern="0" dirty="0">
                <a:solidFill>
                  <a:srgbClr val="F5F6FC"/>
                </a:solidFill>
                <a:latin typeface="Poppins" pitchFamily="34" charset="0"/>
                <a:ea typeface="Poppins" pitchFamily="34" charset="-122"/>
                <a:cs typeface="Poppins" pitchFamily="34" charset="-120"/>
              </a:rPr>
              <a:t>Integrar</a:t>
            </a:r>
            <a:endParaRPr lang="en-US" sz="6000" dirty="0"/>
          </a:p>
          <a:p>
            <a:pPr algn="l" indent="0" marL="0">
              <a:lnSpc>
                <a:spcPct val="87179"/>
              </a:lnSpc>
              <a:buNone/>
            </a:pPr>
            <a:r>
              <a:rPr lang="en-US" sz="6000" b="1" spc="-120" kern="0" dirty="0">
                <a:solidFill>
                  <a:srgbClr val="22C2F4"/>
                </a:solidFill>
                <a:latin typeface="Poppins" pitchFamily="34" charset="0"/>
                <a:ea typeface="Poppins" pitchFamily="34" charset="-122"/>
                <a:cs typeface="Poppins" pitchFamily="34" charset="-120"/>
              </a:rPr>
              <a:t>uma vez, para sempre</a:t>
            </a:r>
            <a:endParaRPr lang="en-US" sz="6000" dirty="0"/>
          </a:p>
        </p:txBody>
      </p:sp>
      <p:sp>
        <p:nvSpPr>
          <p:cNvPr id="4" name="Text 2"/>
          <p:cNvSpPr txBox="1"/>
          <p:nvPr/>
        </p:nvSpPr>
        <p:spPr>
          <a:xfrm>
            <a:off x="761981" y="4075904"/>
            <a:ext cx="11094443" cy="647684"/>
          </a:xfrm>
          <a:prstGeom prst="rect">
            <a:avLst/>
          </a:prstGeom>
          <a:noFill/>
          <a:ln/>
        </p:spPr>
        <p:txBody>
          <a:bodyPr wrap="square" lIns="0" tIns="0" rIns="0" bIns="0" rtlCol="0" anchor="t"/>
          <a:lstStyle/>
          <a:p>
            <a:pPr algn="l" indent="0" marL="0">
              <a:lnSpc>
                <a:spcPct val="106838"/>
              </a:lnSpc>
              <a:buNone/>
            </a:pPr>
            <a:r>
              <a:rPr lang="en-US" sz="1700" dirty="0">
                <a:solidFill>
                  <a:srgbClr val="A3A6B4"/>
                </a:solidFill>
                <a:latin typeface="Poppins" pitchFamily="34" charset="0"/>
                <a:ea typeface="Poppins" pitchFamily="34" charset="-122"/>
                <a:cs typeface="Poppins" pitchFamily="34" charset="-120"/>
              </a:rPr>
              <a:t>Seis prompts no Claude Code viram um projeto de verdade: pipeline, testes, IA nos textos, métrica governada, dashboard e Genie, tudo em código.</a:t>
            </a:r>
            <a:endParaRPr lang="en-US" sz="1700" dirty="0"/>
          </a:p>
        </p:txBody>
      </p:sp>
      <p:pic>
        <p:nvPicPr>
          <p:cNvPr id="5" name="Image 0" descr="preencoded.png">    </p:cNvPr>
          <p:cNvPicPr>
            <a:picLocks noChangeAspect="1"/>
          </p:cNvPicPr>
          <p:nvPr/>
        </p:nvPicPr>
        <p:blipFill>
          <a:blip r:embed="rId2"/>
          <a:stretch>
            <a:fillRect/>
          </a:stretch>
        </p:blipFill>
        <p:spPr>
          <a:xfrm>
            <a:off x="761981" y="6299043"/>
            <a:ext cx="3021135" cy="279393"/>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380990"/>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RECURSO DO DATABRICKS · WORKSPACE</a:t>
            </a:r>
            <a:endParaRPr lang="en-US" sz="1200" dirty="0"/>
          </a:p>
        </p:txBody>
      </p:sp>
      <p:sp>
        <p:nvSpPr>
          <p:cNvPr id="3" name="Text 1"/>
          <p:cNvSpPr txBox="1"/>
          <p:nvPr/>
        </p:nvSpPr>
        <p:spPr>
          <a:xfrm>
            <a:off x="761981" y="704832"/>
            <a:ext cx="11094443" cy="363132"/>
          </a:xfrm>
          <a:prstGeom prst="rect">
            <a:avLst/>
          </a:prstGeom>
          <a:noFill/>
          <a:ln/>
        </p:spPr>
        <p:txBody>
          <a:bodyPr wrap="square" lIns="0" tIns="0" rIns="0" bIns="0" rtlCol="0" anchor="t"/>
          <a:lstStyle/>
          <a:p>
            <a:pPr algn="l" indent="0" marL="0">
              <a:lnSpc>
                <a:spcPct val="94017"/>
              </a:lnSpc>
              <a:buNone/>
            </a:pPr>
            <a:r>
              <a:rPr lang="en-US" sz="2600" b="1" spc="-26" kern="0" dirty="0">
                <a:solidFill>
                  <a:srgbClr val="F5F6FC"/>
                </a:solidFill>
                <a:latin typeface="Poppins" pitchFamily="34" charset="0"/>
                <a:ea typeface="Poppins" pitchFamily="34" charset="-122"/>
                <a:cs typeface="Poppins" pitchFamily="34" charset="-120"/>
              </a:rPr>
              <a:t>Workspace e bundle</a:t>
            </a:r>
            <a:endParaRPr lang="en-US" sz="2600" dirty="0"/>
          </a:p>
        </p:txBody>
      </p:sp>
      <p:pic>
        <p:nvPicPr>
          <p:cNvPr id="4" name="Image 0" descr="preencoded.png">    </p:cNvPr>
          <p:cNvPicPr>
            <a:picLocks noChangeAspect="1"/>
          </p:cNvPicPr>
          <p:nvPr/>
        </p:nvPicPr>
        <p:blipFill>
          <a:blip r:embed="rId2"/>
          <a:srcRect l="10085" r="10085" t="0" b="0"/>
          <a:stretch/>
        </p:blipFill>
        <p:spPr>
          <a:xfrm>
            <a:off x="761981" y="1182261"/>
            <a:ext cx="6455308" cy="4063898"/>
          </a:xfrm>
          <a:prstGeom prst="rect">
            <a:avLst/>
          </a:prstGeom>
        </p:spPr>
      </p:pic>
      <p:sp>
        <p:nvSpPr>
          <p:cNvPr id="5" name="Shape 2"/>
          <p:cNvSpPr/>
          <p:nvPr/>
        </p:nvSpPr>
        <p:spPr>
          <a:xfrm>
            <a:off x="7395085" y="1182261"/>
            <a:ext cx="4034630" cy="4063898"/>
          </a:xfrm>
          <a:prstGeom prst="roundRect">
            <a:avLst>
              <a:gd name="adj" fmla="val 3777"/>
            </a:avLst>
          </a:prstGeom>
          <a:solidFill>
            <a:srgbClr val="0059DB"/>
          </a:solidFill>
          <a:ln/>
        </p:spPr>
      </p:sp>
      <p:sp>
        <p:nvSpPr>
          <p:cNvPr id="6" name="Shape 3"/>
          <p:cNvSpPr/>
          <p:nvPr/>
        </p:nvSpPr>
        <p:spPr>
          <a:xfrm>
            <a:off x="7617329" y="1379106"/>
            <a:ext cx="616034" cy="247644"/>
          </a:xfrm>
          <a:prstGeom prst="roundRect">
            <a:avLst>
              <a:gd name="adj" fmla="val 50000"/>
            </a:avLst>
          </a:prstGeom>
          <a:solidFill>
            <a:srgbClr val="FFFFFF">
              <a:alpha val="16000"/>
            </a:srgbClr>
          </a:solidFill>
          <a:ln/>
        </p:spPr>
      </p:sp>
      <p:sp>
        <p:nvSpPr>
          <p:cNvPr id="7" name="Text 4"/>
          <p:cNvSpPr txBox="1"/>
          <p:nvPr/>
        </p:nvSpPr>
        <p:spPr>
          <a:xfrm>
            <a:off x="7706227" y="1417205"/>
            <a:ext cx="455768"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O que é</a:t>
            </a:r>
            <a:endParaRPr lang="en-US" sz="900" dirty="0"/>
          </a:p>
        </p:txBody>
      </p:sp>
      <p:sp>
        <p:nvSpPr>
          <p:cNvPr id="8" name="Shape 5"/>
          <p:cNvSpPr/>
          <p:nvPr/>
        </p:nvSpPr>
        <p:spPr>
          <a:xfrm>
            <a:off x="7617329" y="1798196"/>
            <a:ext cx="76198" cy="76198"/>
          </a:xfrm>
          <a:prstGeom prst="roundRect">
            <a:avLst>
              <a:gd name="adj" fmla="val 25000"/>
            </a:avLst>
          </a:prstGeom>
          <a:solidFill>
            <a:srgbClr val="22C2F4"/>
          </a:solidFill>
          <a:ln/>
        </p:spPr>
      </p:sp>
      <p:sp>
        <p:nvSpPr>
          <p:cNvPr id="9" name="Text 6"/>
          <p:cNvSpPr txBox="1"/>
          <p:nvPr/>
        </p:nvSpPr>
        <p:spPr>
          <a:xfrm>
            <a:off x="7807824" y="1715648"/>
            <a:ext cx="3535631"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o "disco" do Databricks: pastas, notebooks, arquivos SQL, dashboards</a:t>
            </a:r>
            <a:endParaRPr lang="en-US" sz="1200" dirty="0"/>
          </a:p>
        </p:txBody>
      </p:sp>
      <p:sp>
        <p:nvSpPr>
          <p:cNvPr id="10" name="Shape 7"/>
          <p:cNvSpPr/>
          <p:nvPr/>
        </p:nvSpPr>
        <p:spPr>
          <a:xfrm>
            <a:off x="7617329" y="2285744"/>
            <a:ext cx="76198" cy="76198"/>
          </a:xfrm>
          <a:prstGeom prst="roundRect">
            <a:avLst>
              <a:gd name="adj" fmla="val 25000"/>
            </a:avLst>
          </a:prstGeom>
          <a:solidFill>
            <a:srgbClr val="22C2F4"/>
          </a:solidFill>
          <a:ln/>
        </p:spPr>
      </p:sp>
      <p:sp>
        <p:nvSpPr>
          <p:cNvPr id="11" name="Text 8"/>
          <p:cNvSpPr txBox="1"/>
          <p:nvPr/>
        </p:nvSpPr>
        <p:spPr>
          <a:xfrm>
            <a:off x="7807824" y="2203196"/>
            <a:ext cx="3535631"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o </a:t>
            </a:r>
            <a:pPr algn="l" indent="0" marL="0">
              <a:lnSpc>
                <a:spcPct val="115385"/>
              </a:lnSpc>
              <a:buNone/>
            </a:pPr>
            <a:r>
              <a:rPr lang="en-US" sz="1200" dirty="0">
                <a:solidFill>
                  <a:srgbClr val="E6E8F2"/>
                </a:solidFill>
                <a:latin typeface="Courier New" pitchFamily="34" charset="0"/>
                <a:ea typeface="Courier New" pitchFamily="34" charset="-122"/>
                <a:cs typeface="Courier New" pitchFamily="34" charset="-120"/>
              </a:rPr>
              <a:t>bundle deploy</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copia o repositório para </a:t>
            </a:r>
            <a:pPr algn="l" indent="0" marL="0">
              <a:lnSpc>
                <a:spcPct val="115385"/>
              </a:lnSpc>
              <a:buNone/>
            </a:pPr>
            <a:r>
              <a:rPr lang="en-US" sz="1200" dirty="0">
                <a:solidFill>
                  <a:srgbClr val="E6E8F2"/>
                </a:solidFill>
                <a:latin typeface="Courier New" pitchFamily="34" charset="0"/>
                <a:ea typeface="Courier New" pitchFamily="34" charset="-122"/>
                <a:cs typeface="Courier New" pitchFamily="34" charset="-120"/>
              </a:rPr>
              <a:t>.bundle/vertice/dev/files</a:t>
            </a:r>
            <a:endParaRPr lang="en-US" sz="1200" dirty="0"/>
          </a:p>
        </p:txBody>
      </p:sp>
      <p:sp>
        <p:nvSpPr>
          <p:cNvPr id="12" name="Shape 9"/>
          <p:cNvSpPr/>
          <p:nvPr/>
        </p:nvSpPr>
        <p:spPr>
          <a:xfrm>
            <a:off x="7617329" y="2773293"/>
            <a:ext cx="76198" cy="76198"/>
          </a:xfrm>
          <a:prstGeom prst="roundRect">
            <a:avLst>
              <a:gd name="adj" fmla="val 25000"/>
            </a:avLst>
          </a:prstGeom>
          <a:solidFill>
            <a:srgbClr val="22C2F4"/>
          </a:solidFill>
          <a:ln/>
        </p:spPr>
      </p:sp>
      <p:sp>
        <p:nvSpPr>
          <p:cNvPr id="13" name="Text 10"/>
          <p:cNvSpPr txBox="1"/>
          <p:nvPr/>
        </p:nvSpPr>
        <p:spPr>
          <a:xfrm>
            <a:off x="7807824" y="2690745"/>
            <a:ext cx="3535631"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o código vem do Git, nunca é editado aqui</a:t>
            </a:r>
            <a:endParaRPr lang="en-US" sz="1200" dirty="0"/>
          </a:p>
        </p:txBody>
      </p:sp>
      <p:sp>
        <p:nvSpPr>
          <p:cNvPr id="14" name="Shape 11"/>
          <p:cNvSpPr/>
          <p:nvPr/>
        </p:nvSpPr>
        <p:spPr>
          <a:xfrm>
            <a:off x="7617329" y="3036117"/>
            <a:ext cx="650958" cy="247644"/>
          </a:xfrm>
          <a:prstGeom prst="roundRect">
            <a:avLst>
              <a:gd name="adj" fmla="val 50000"/>
            </a:avLst>
          </a:prstGeom>
          <a:solidFill>
            <a:srgbClr val="FFFFFF">
              <a:alpha val="16000"/>
            </a:srgbClr>
          </a:solidFill>
          <a:ln/>
        </p:spPr>
      </p:sp>
      <p:sp>
        <p:nvSpPr>
          <p:cNvPr id="15" name="Text 12"/>
          <p:cNvSpPr txBox="1"/>
          <p:nvPr/>
        </p:nvSpPr>
        <p:spPr>
          <a:xfrm>
            <a:off x="7706227" y="3074216"/>
            <a:ext cx="492089"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No Farol</a:t>
            </a:r>
            <a:endParaRPr lang="en-US" sz="900" dirty="0"/>
          </a:p>
        </p:txBody>
      </p:sp>
      <p:sp>
        <p:nvSpPr>
          <p:cNvPr id="16" name="Text 13"/>
          <p:cNvSpPr txBox="1"/>
          <p:nvPr/>
        </p:nvSpPr>
        <p:spPr>
          <a:xfrm>
            <a:off x="7617329" y="3448857"/>
            <a:ext cx="3733746" cy="394285"/>
          </a:xfrm>
          <a:prstGeom prst="rect">
            <a:avLst/>
          </a:prstGeom>
          <a:noFill/>
          <a:ln/>
        </p:spPr>
        <p:txBody>
          <a:bodyPr wrap="square" lIns="0" tIns="0" rIns="0" bIns="0" rtlCol="0" anchor="t"/>
          <a:lstStyle/>
          <a:p>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noite 2 em diante: </a:t>
            </a:r>
            <a:pPr algn="l" indent="0" marL="0">
              <a:lnSpc>
                <a:spcPct val="115385"/>
              </a:lnSpc>
              <a:buNone/>
            </a:pPr>
            <a:r>
              <a:rPr lang="en-US" sz="1150" dirty="0">
                <a:solidFill>
                  <a:srgbClr val="DBE6FF"/>
                </a:solidFill>
                <a:latin typeface="Courier New" pitchFamily="34" charset="0"/>
                <a:ea typeface="Courier New" pitchFamily="34" charset="-122"/>
                <a:cs typeface="Courier New" pitchFamily="34" charset="-120"/>
              </a:rPr>
              <a:t>src/silver</a:t>
            </a:r>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 </a:t>
            </a:r>
            <a:pPr algn="l" indent="0" marL="0">
              <a:lnSpc>
                <a:spcPct val="115385"/>
              </a:lnSpc>
              <a:buNone/>
            </a:pPr>
            <a:r>
              <a:rPr lang="en-US" sz="1150" dirty="0">
                <a:solidFill>
                  <a:srgbClr val="DBE6FF"/>
                </a:solidFill>
                <a:latin typeface="Courier New" pitchFamily="34" charset="0"/>
                <a:ea typeface="Courier New" pitchFamily="34" charset="-122"/>
                <a:cs typeface="Courier New" pitchFamily="34" charset="-120"/>
              </a:rPr>
              <a:t>gold</a:t>
            </a:r>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 </a:t>
            </a:r>
            <a:pPr algn="l" indent="0" marL="0">
              <a:lnSpc>
                <a:spcPct val="115385"/>
              </a:lnSpc>
              <a:buNone/>
            </a:pPr>
            <a:r>
              <a:rPr lang="en-US" sz="1150" dirty="0">
                <a:solidFill>
                  <a:srgbClr val="DBE6FF"/>
                </a:solidFill>
                <a:latin typeface="Courier New" pitchFamily="34" charset="0"/>
                <a:ea typeface="Courier New" pitchFamily="34" charset="-122"/>
                <a:cs typeface="Courier New" pitchFamily="34" charset="-120"/>
              </a:rPr>
              <a:t>ia</a:t>
            </a:r>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 </a:t>
            </a:r>
            <a:pPr algn="l" indent="0" marL="0">
              <a:lnSpc>
                <a:spcPct val="115385"/>
              </a:lnSpc>
              <a:buNone/>
            </a:pPr>
            <a:r>
              <a:rPr lang="en-US" sz="1150" dirty="0">
                <a:solidFill>
                  <a:srgbClr val="DBE6FF"/>
                </a:solidFill>
                <a:latin typeface="Courier New" pitchFamily="34" charset="0"/>
                <a:ea typeface="Courier New" pitchFamily="34" charset="-122"/>
                <a:cs typeface="Courier New" pitchFamily="34" charset="-120"/>
              </a:rPr>
              <a:t>metricas</a:t>
            </a:r>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 </a:t>
            </a:r>
            <a:pPr algn="l" indent="0" marL="0">
              <a:lnSpc>
                <a:spcPct val="115385"/>
              </a:lnSpc>
              <a:buNone/>
            </a:pPr>
            <a:r>
              <a:rPr lang="en-US" sz="1150" dirty="0">
                <a:solidFill>
                  <a:srgbClr val="DBE6FF"/>
                </a:solidFill>
                <a:latin typeface="Courier New" pitchFamily="34" charset="0"/>
                <a:ea typeface="Courier New" pitchFamily="34" charset="-122"/>
                <a:cs typeface="Courier New" pitchFamily="34" charset="-120"/>
              </a:rPr>
              <a:t>ml</a:t>
            </a:r>
            <a:endParaRPr lang="en-US" sz="1150" dirty="0"/>
          </a:p>
        </p:txBody>
      </p:sp>
      <p:pic>
        <p:nvPicPr>
          <p:cNvPr id="17" name="Image 1" descr="preencoded.png">    </p:cNvPr>
          <p:cNvPicPr>
            <a:picLocks noChangeAspect="1"/>
          </p:cNvPicPr>
          <p:nvPr/>
        </p:nvPicPr>
        <p:blipFill>
          <a:blip r:embed="rId3"/>
          <a:stretch>
            <a:fillRect/>
          </a:stretch>
        </p:blipFill>
        <p:spPr>
          <a:xfrm>
            <a:off x="761981" y="6387940"/>
            <a:ext cx="2059928" cy="190495"/>
          </a:xfrm>
          <a:prstGeom prst="rect">
            <a:avLst/>
          </a:prstGeom>
        </p:spPr>
      </p:pic>
      <p:sp>
        <p:nvSpPr>
          <p:cNvPr id="18" name="Text 14"/>
          <p:cNvSpPr txBox="1"/>
          <p:nvPr/>
        </p:nvSpPr>
        <p:spPr>
          <a:xfrm>
            <a:off x="10977586" y="6387940"/>
            <a:ext cx="470214"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81 / 133</a:t>
            </a:r>
            <a:endParaRPr lang="en-US" sz="10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2 · COMO RODAR</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Claude Code + o bundle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vertice</a:t>
            </a:r>
            <a:endParaRPr lang="en-US" sz="3100" dirty="0"/>
          </a:p>
        </p:txBody>
      </p:sp>
      <p:sp>
        <p:nvSpPr>
          <p:cNvPr id="4" name="Shape 2"/>
          <p:cNvSpPr/>
          <p:nvPr/>
        </p:nvSpPr>
        <p:spPr>
          <a:xfrm>
            <a:off x="761981" y="1582301"/>
            <a:ext cx="5238619" cy="2811591"/>
          </a:xfrm>
          <a:prstGeom prst="roundRect">
            <a:avLst>
              <a:gd name="adj" fmla="val 5420"/>
            </a:avLst>
          </a:prstGeom>
          <a:solidFill>
            <a:srgbClr val="1E1E24"/>
          </a:solidFill>
          <a:ln w="6350">
            <a:solidFill>
              <a:srgbClr val="2F2F39"/>
            </a:solidFill>
            <a:prstDash val="solid"/>
          </a:ln>
        </p:spPr>
      </p:sp>
      <p:sp>
        <p:nvSpPr>
          <p:cNvPr id="5" name="Shape 3"/>
          <p:cNvSpPr/>
          <p:nvPr/>
        </p:nvSpPr>
        <p:spPr>
          <a:xfrm>
            <a:off x="984225" y="1779146"/>
            <a:ext cx="676159" cy="247644"/>
          </a:xfrm>
          <a:prstGeom prst="roundRect">
            <a:avLst>
              <a:gd name="adj" fmla="val 50000"/>
            </a:avLst>
          </a:prstGeom>
          <a:solidFill>
            <a:srgbClr val="22C2F4">
              <a:alpha val="14000"/>
            </a:srgbClr>
          </a:solidFill>
          <a:ln/>
        </p:spPr>
      </p:sp>
      <p:sp>
        <p:nvSpPr>
          <p:cNvPr id="6" name="Text 4"/>
          <p:cNvSpPr txBox="1"/>
          <p:nvPr/>
        </p:nvSpPr>
        <p:spPr>
          <a:xfrm>
            <a:off x="1073123" y="1817245"/>
            <a:ext cx="518298"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Uma vez</a:t>
            </a:r>
            <a:endParaRPr lang="en-US" sz="900" dirty="0"/>
          </a:p>
        </p:txBody>
      </p:sp>
      <p:sp>
        <p:nvSpPr>
          <p:cNvPr id="7" name="Shape 5"/>
          <p:cNvSpPr/>
          <p:nvPr/>
        </p:nvSpPr>
        <p:spPr>
          <a:xfrm>
            <a:off x="984225" y="2198236"/>
            <a:ext cx="76198" cy="76198"/>
          </a:xfrm>
          <a:prstGeom prst="roundRect">
            <a:avLst>
              <a:gd name="adj" fmla="val 25000"/>
            </a:avLst>
          </a:prstGeom>
          <a:solidFill>
            <a:srgbClr val="22C2F4"/>
          </a:solidFill>
          <a:ln/>
        </p:spPr>
      </p:sp>
      <p:sp>
        <p:nvSpPr>
          <p:cNvPr id="8" name="Text 6"/>
          <p:cNvSpPr txBox="1"/>
          <p:nvPr/>
        </p:nvSpPr>
        <p:spPr>
          <a:xfrm>
            <a:off x="1174721" y="2115688"/>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instalar a CLI do Databricks e o Claude Code</a:t>
            </a:r>
            <a:endParaRPr lang="en-US" sz="1200" dirty="0"/>
          </a:p>
        </p:txBody>
      </p:sp>
      <p:sp>
        <p:nvSpPr>
          <p:cNvPr id="9" name="Shape 7"/>
          <p:cNvSpPr/>
          <p:nvPr/>
        </p:nvSpPr>
        <p:spPr>
          <a:xfrm>
            <a:off x="984225" y="2480109"/>
            <a:ext cx="76198" cy="76198"/>
          </a:xfrm>
          <a:prstGeom prst="roundRect">
            <a:avLst>
              <a:gd name="adj" fmla="val 25000"/>
            </a:avLst>
          </a:prstGeom>
          <a:solidFill>
            <a:srgbClr val="22C2F4"/>
          </a:solidFill>
          <a:ln/>
        </p:spPr>
      </p:sp>
      <p:sp>
        <p:nvSpPr>
          <p:cNvPr id="10" name="Text 8"/>
          <p:cNvSpPr txBox="1"/>
          <p:nvPr/>
        </p:nvSpPr>
        <p:spPr>
          <a:xfrm>
            <a:off x="1174721" y="2397561"/>
            <a:ext cx="4787780" cy="205675"/>
          </a:xfrm>
          <a:prstGeom prst="rect">
            <a:avLst/>
          </a:prstGeom>
          <a:noFill/>
          <a:ln/>
        </p:spPr>
        <p:txBody>
          <a:bodyPr wrap="square" lIns="0" tIns="0" rIns="0" bIns="0" rtlCol="0" anchor="t"/>
          <a:lstStyle/>
          <a:p>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databricks auth login</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no seu workspace</a:t>
            </a:r>
            <a:endParaRPr lang="en-US" sz="1200" dirty="0"/>
          </a:p>
        </p:txBody>
      </p:sp>
      <p:sp>
        <p:nvSpPr>
          <p:cNvPr id="11" name="Shape 9"/>
          <p:cNvSpPr/>
          <p:nvPr/>
        </p:nvSpPr>
        <p:spPr>
          <a:xfrm>
            <a:off x="984225" y="2761983"/>
            <a:ext cx="76198" cy="76198"/>
          </a:xfrm>
          <a:prstGeom prst="roundRect">
            <a:avLst>
              <a:gd name="adj" fmla="val 25000"/>
            </a:avLst>
          </a:prstGeom>
          <a:solidFill>
            <a:srgbClr val="22C2F4"/>
          </a:solidFill>
          <a:ln/>
        </p:spPr>
      </p:sp>
      <p:sp>
        <p:nvSpPr>
          <p:cNvPr id="12" name="Text 10"/>
          <p:cNvSpPr txBox="1"/>
          <p:nvPr/>
        </p:nvSpPr>
        <p:spPr>
          <a:xfrm>
            <a:off x="1174721" y="2679435"/>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abrir o Claude Code na pasta da noite 2</a:t>
            </a:r>
            <a:endParaRPr lang="en-US" sz="1200" dirty="0"/>
          </a:p>
        </p:txBody>
      </p:sp>
      <p:sp>
        <p:nvSpPr>
          <p:cNvPr id="13" name="Shape 11"/>
          <p:cNvSpPr/>
          <p:nvPr/>
        </p:nvSpPr>
        <p:spPr>
          <a:xfrm>
            <a:off x="984225" y="3037506"/>
            <a:ext cx="1053578" cy="247644"/>
          </a:xfrm>
          <a:prstGeom prst="roundRect">
            <a:avLst>
              <a:gd name="adj" fmla="val 50000"/>
            </a:avLst>
          </a:prstGeom>
          <a:solidFill>
            <a:srgbClr val="22C2F4">
              <a:alpha val="14000"/>
            </a:srgbClr>
          </a:solidFill>
          <a:ln/>
        </p:spPr>
      </p:sp>
      <p:sp>
        <p:nvSpPr>
          <p:cNvPr id="14" name="Text 12"/>
          <p:cNvSpPr txBox="1"/>
          <p:nvPr/>
        </p:nvSpPr>
        <p:spPr>
          <a:xfrm>
            <a:off x="1073123" y="3075605"/>
            <a:ext cx="910813"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A cada prompt</a:t>
            </a:r>
            <a:endParaRPr lang="en-US" sz="900" dirty="0"/>
          </a:p>
        </p:txBody>
      </p:sp>
      <p:sp>
        <p:nvSpPr>
          <p:cNvPr id="15" name="Shape 13"/>
          <p:cNvSpPr/>
          <p:nvPr/>
        </p:nvSpPr>
        <p:spPr>
          <a:xfrm>
            <a:off x="984225" y="3412147"/>
            <a:ext cx="4794130" cy="711182"/>
          </a:xfrm>
          <a:prstGeom prst="roundRect">
            <a:avLst>
              <a:gd name="adj" fmla="val 16071"/>
            </a:avLst>
          </a:prstGeom>
          <a:solidFill>
            <a:srgbClr val="0C0C10"/>
          </a:solidFill>
          <a:ln w="6350">
            <a:solidFill>
              <a:srgbClr val="2F2F39"/>
            </a:solidFill>
            <a:prstDash val="solid"/>
          </a:ln>
        </p:spPr>
      </p:sp>
      <p:sp>
        <p:nvSpPr>
          <p:cNvPr id="16" name="Text 14"/>
          <p:cNvSpPr txBox="1"/>
          <p:nvPr/>
        </p:nvSpPr>
        <p:spPr>
          <a:xfrm>
            <a:off x="1181070" y="3583592"/>
            <a:ext cx="4583061" cy="374641"/>
          </a:xfrm>
          <a:prstGeom prst="rect">
            <a:avLst/>
          </a:prstGeom>
          <a:noFill/>
          <a:ln/>
        </p:spPr>
        <p:txBody>
          <a:bodyPr wrap="square" lIns="0" tIns="0" rIns="0" bIns="0" rtlCol="0" anchor="t"/>
          <a:lstStyle/>
          <a:p>
            <a:pPr algn="l" indent="0" marL="0">
              <a:lnSpc>
                <a:spcPct val="123932"/>
              </a:lnSpc>
              <a:buNone/>
            </a:pPr>
            <a:r>
              <a:rPr lang="en-US" sz="1000" dirty="0">
                <a:solidFill>
                  <a:srgbClr val="E6E8F2"/>
                </a:solidFill>
                <a:latin typeface="Courier New" pitchFamily="34" charset="0"/>
                <a:ea typeface="Courier New" pitchFamily="34" charset="-122"/>
                <a:cs typeface="Courier New" pitchFamily="34" charset="-120"/>
              </a:rPr>
              <a:t>databricks bundle deploy --profile SEU-PERFIL</a:t>
            </a:r>
            <a:endParaRPr lang="en-US" sz="1000" dirty="0"/>
          </a:p>
          <a:p>
            <a:pPr algn="l" indent="0" marL="0">
              <a:lnSpc>
                <a:spcPct val="123932"/>
              </a:lnSpc>
              <a:buNone/>
            </a:pPr>
            <a:r>
              <a:rPr lang="en-US" sz="1000" dirty="0">
                <a:solidFill>
                  <a:srgbClr val="E6E8F2"/>
                </a:solidFill>
                <a:latin typeface="Courier New" pitchFamily="34" charset="0"/>
                <a:ea typeface="Courier New" pitchFamily="34" charset="-122"/>
                <a:cs typeface="Courier New" pitchFamily="34" charset="-120"/>
              </a:rPr>
              <a:t>databricks bundle run vertice_farol --profile SEU-PERFIL</a:t>
            </a:r>
            <a:endParaRPr lang="en-US" sz="1000" dirty="0"/>
          </a:p>
        </p:txBody>
      </p:sp>
      <p:sp>
        <p:nvSpPr>
          <p:cNvPr id="17" name="Text 15"/>
          <p:cNvSpPr txBox="1"/>
          <p:nvPr/>
        </p:nvSpPr>
        <p:spPr>
          <a:xfrm>
            <a:off x="6305392" y="1582301"/>
            <a:ext cx="965089" cy="171446"/>
          </a:xfrm>
          <a:prstGeom prst="rect">
            <a:avLst/>
          </a:prstGeom>
          <a:noFill/>
          <a:ln/>
        </p:spPr>
        <p:txBody>
          <a:bodyPr wrap="square" lIns="0" tIns="0" rIns="0" bIns="0" rtlCol="0" anchor="t"/>
          <a:lstStyle/>
          <a:p>
            <a:pPr algn="l"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PROMPT</a:t>
            </a:r>
            <a:endParaRPr lang="en-US" sz="900" dirty="0"/>
          </a:p>
        </p:txBody>
      </p:sp>
      <p:sp>
        <p:nvSpPr>
          <p:cNvPr id="18" name="Text 16"/>
          <p:cNvSpPr txBox="1"/>
          <p:nvPr/>
        </p:nvSpPr>
        <p:spPr>
          <a:xfrm>
            <a:off x="7461956" y="1582301"/>
            <a:ext cx="4007599" cy="171446"/>
          </a:xfrm>
          <a:prstGeom prst="rect">
            <a:avLst/>
          </a:prstGeom>
          <a:noFill/>
          <a:ln/>
        </p:spPr>
        <p:txBody>
          <a:bodyPr wrap="square" lIns="0" tIns="0" rIns="0" bIns="0" rtlCol="0" anchor="t"/>
          <a:lstStyle/>
          <a:p>
            <a:pPr algn="l"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O QUE NASCE</a:t>
            </a:r>
            <a:endParaRPr lang="en-US" sz="900" dirty="0"/>
          </a:p>
        </p:txBody>
      </p:sp>
      <p:sp>
        <p:nvSpPr>
          <p:cNvPr id="19" name="Shape 17"/>
          <p:cNvSpPr/>
          <p:nvPr/>
        </p:nvSpPr>
        <p:spPr>
          <a:xfrm>
            <a:off x="6191095" y="1880744"/>
            <a:ext cx="1156564" cy="376526"/>
          </a:xfrm>
          <a:prstGeom prst="rect">
            <a:avLst/>
          </a:prstGeom>
          <a:solidFill>
            <a:srgbClr val="1E1E24"/>
          </a:solidFill>
          <a:ln/>
        </p:spPr>
      </p:sp>
      <p:sp>
        <p:nvSpPr>
          <p:cNvPr id="20" name="Text 18"/>
          <p:cNvSpPr txBox="1"/>
          <p:nvPr/>
        </p:nvSpPr>
        <p:spPr>
          <a:xfrm>
            <a:off x="6305392" y="1982341"/>
            <a:ext cx="965089" cy="173331"/>
          </a:xfrm>
          <a:prstGeom prst="rect">
            <a:avLst/>
          </a:prstGeom>
          <a:noFill/>
          <a:ln/>
        </p:spPr>
        <p:txBody>
          <a:bodyPr wrap="square" lIns="0" tIns="0" rIns="0" bIns="0" rtlCol="0" anchor="t"/>
          <a:lstStyle/>
          <a:p>
            <a:pPr algn="l" indent="0" marL="0">
              <a:lnSpc>
                <a:spcPct val="111111"/>
              </a:lnSpc>
              <a:buNone/>
            </a:pPr>
            <a:r>
              <a:rPr lang="en-US" sz="1050" b="1" dirty="0">
                <a:solidFill>
                  <a:srgbClr val="F5F6FC"/>
                </a:solidFill>
                <a:latin typeface="Poppins" pitchFamily="34" charset="0"/>
                <a:ea typeface="Poppins" pitchFamily="34" charset="-122"/>
                <a:cs typeface="Poppins" pitchFamily="34" charset="-120"/>
              </a:rPr>
              <a:t>1</a:t>
            </a:r>
            <a:endParaRPr lang="en-US" sz="1050" dirty="0"/>
          </a:p>
        </p:txBody>
      </p:sp>
      <p:sp>
        <p:nvSpPr>
          <p:cNvPr id="21" name="Shape 19"/>
          <p:cNvSpPr/>
          <p:nvPr/>
        </p:nvSpPr>
        <p:spPr>
          <a:xfrm>
            <a:off x="7347659" y="1880744"/>
            <a:ext cx="4082055" cy="376526"/>
          </a:xfrm>
          <a:prstGeom prst="rect">
            <a:avLst/>
          </a:prstGeom>
          <a:solidFill>
            <a:srgbClr val="1E1E24"/>
          </a:solidFill>
          <a:ln/>
        </p:spPr>
      </p:sp>
      <p:sp>
        <p:nvSpPr>
          <p:cNvPr id="22" name="Text 20"/>
          <p:cNvSpPr txBox="1"/>
          <p:nvPr/>
        </p:nvSpPr>
        <p:spPr>
          <a:xfrm>
            <a:off x="7461956" y="1982341"/>
            <a:ext cx="4007599" cy="173331"/>
          </a:xfrm>
          <a:prstGeom prst="rect">
            <a:avLst/>
          </a:prstGeom>
          <a:noFill/>
          <a:ln/>
        </p:spPr>
        <p:txBody>
          <a:bodyPr wrap="square" lIns="0" tIns="0" rIns="0" bIns="0" rtlCol="0" anchor="t"/>
          <a:lstStyle/>
          <a:p>
            <a:pPr algn="l" indent="0" marL="0">
              <a:lnSpc>
                <a:spcPct val="111111"/>
              </a:lnSpc>
              <a:buNone/>
            </a:pPr>
            <a:r>
              <a:rPr lang="en-US" sz="1050" dirty="0">
                <a:solidFill>
                  <a:srgbClr val="F5F6FC"/>
                </a:solidFill>
                <a:latin typeface="Poppins" pitchFamily="34" charset="0"/>
                <a:ea typeface="Poppins" pitchFamily="34" charset="-122"/>
                <a:cs typeface="Poppins" pitchFamily="34" charset="-120"/>
              </a:rPr>
              <a:t>bundle + conferência da bronze</a:t>
            </a:r>
            <a:endParaRPr lang="en-US" sz="1050" dirty="0"/>
          </a:p>
        </p:txBody>
      </p:sp>
      <p:sp>
        <p:nvSpPr>
          <p:cNvPr id="23" name="Shape 21"/>
          <p:cNvSpPr/>
          <p:nvPr/>
        </p:nvSpPr>
        <p:spPr>
          <a:xfrm>
            <a:off x="6191095" y="2308068"/>
            <a:ext cx="1156564" cy="376526"/>
          </a:xfrm>
          <a:prstGeom prst="rect">
            <a:avLst/>
          </a:prstGeom>
          <a:solidFill>
            <a:srgbClr val="1E1E24"/>
          </a:solidFill>
          <a:ln/>
        </p:spPr>
      </p:sp>
      <p:sp>
        <p:nvSpPr>
          <p:cNvPr id="24" name="Text 22"/>
          <p:cNvSpPr txBox="1"/>
          <p:nvPr/>
        </p:nvSpPr>
        <p:spPr>
          <a:xfrm>
            <a:off x="6305392" y="2409666"/>
            <a:ext cx="965089" cy="173331"/>
          </a:xfrm>
          <a:prstGeom prst="rect">
            <a:avLst/>
          </a:prstGeom>
          <a:noFill/>
          <a:ln/>
        </p:spPr>
        <p:txBody>
          <a:bodyPr wrap="square" lIns="0" tIns="0" rIns="0" bIns="0" rtlCol="0" anchor="t"/>
          <a:lstStyle/>
          <a:p>
            <a:pPr algn="l" indent="0" marL="0">
              <a:lnSpc>
                <a:spcPct val="111111"/>
              </a:lnSpc>
              <a:buNone/>
            </a:pPr>
            <a:r>
              <a:rPr lang="en-US" sz="1050" b="1" dirty="0">
                <a:solidFill>
                  <a:srgbClr val="F5F6FC"/>
                </a:solidFill>
                <a:latin typeface="Poppins" pitchFamily="34" charset="0"/>
                <a:ea typeface="Poppins" pitchFamily="34" charset="-122"/>
                <a:cs typeface="Poppins" pitchFamily="34" charset="-120"/>
              </a:rPr>
              <a:t>2</a:t>
            </a:r>
            <a:endParaRPr lang="en-US" sz="1050" dirty="0"/>
          </a:p>
        </p:txBody>
      </p:sp>
      <p:sp>
        <p:nvSpPr>
          <p:cNvPr id="25" name="Shape 23"/>
          <p:cNvSpPr/>
          <p:nvPr/>
        </p:nvSpPr>
        <p:spPr>
          <a:xfrm>
            <a:off x="7347659" y="2308068"/>
            <a:ext cx="4082055" cy="376526"/>
          </a:xfrm>
          <a:prstGeom prst="rect">
            <a:avLst/>
          </a:prstGeom>
          <a:solidFill>
            <a:srgbClr val="1E1E24"/>
          </a:solidFill>
          <a:ln/>
        </p:spPr>
      </p:sp>
      <p:sp>
        <p:nvSpPr>
          <p:cNvPr id="26" name="Text 24"/>
          <p:cNvSpPr txBox="1"/>
          <p:nvPr/>
        </p:nvSpPr>
        <p:spPr>
          <a:xfrm>
            <a:off x="7461956" y="2409666"/>
            <a:ext cx="4007599" cy="173331"/>
          </a:xfrm>
          <a:prstGeom prst="rect">
            <a:avLst/>
          </a:prstGeom>
          <a:noFill/>
          <a:ln/>
        </p:spPr>
        <p:txBody>
          <a:bodyPr wrap="square" lIns="0" tIns="0" rIns="0" bIns="0" rtlCol="0" anchor="t"/>
          <a:lstStyle/>
          <a:p>
            <a:pPr algn="l" indent="0" marL="0">
              <a:lnSpc>
                <a:spcPct val="111111"/>
              </a:lnSpc>
              <a:buNone/>
            </a:pPr>
            <a:r>
              <a:rPr lang="en-US" sz="1050" dirty="0">
                <a:solidFill>
                  <a:srgbClr val="F5F6FC"/>
                </a:solidFill>
                <a:latin typeface="Poppins" pitchFamily="34" charset="0"/>
                <a:ea typeface="Poppins" pitchFamily="34" charset="-122"/>
                <a:cs typeface="Poppins" pitchFamily="34" charset="-120"/>
              </a:rPr>
              <a:t>silver: as 3 ferramentas viram uma</a:t>
            </a:r>
            <a:endParaRPr lang="en-US" sz="1050" dirty="0"/>
          </a:p>
        </p:txBody>
      </p:sp>
      <p:sp>
        <p:nvSpPr>
          <p:cNvPr id="27" name="Shape 25"/>
          <p:cNvSpPr/>
          <p:nvPr/>
        </p:nvSpPr>
        <p:spPr>
          <a:xfrm>
            <a:off x="6191095" y="2735393"/>
            <a:ext cx="1156564" cy="376526"/>
          </a:xfrm>
          <a:prstGeom prst="rect">
            <a:avLst/>
          </a:prstGeom>
          <a:solidFill>
            <a:srgbClr val="1E1E24"/>
          </a:solidFill>
          <a:ln/>
        </p:spPr>
      </p:sp>
      <p:sp>
        <p:nvSpPr>
          <p:cNvPr id="28" name="Text 26"/>
          <p:cNvSpPr txBox="1"/>
          <p:nvPr/>
        </p:nvSpPr>
        <p:spPr>
          <a:xfrm>
            <a:off x="6305392" y="2836990"/>
            <a:ext cx="965089" cy="173331"/>
          </a:xfrm>
          <a:prstGeom prst="rect">
            <a:avLst/>
          </a:prstGeom>
          <a:noFill/>
          <a:ln/>
        </p:spPr>
        <p:txBody>
          <a:bodyPr wrap="square" lIns="0" tIns="0" rIns="0" bIns="0" rtlCol="0" anchor="t"/>
          <a:lstStyle/>
          <a:p>
            <a:pPr algn="l" indent="0" marL="0">
              <a:lnSpc>
                <a:spcPct val="111111"/>
              </a:lnSpc>
              <a:buNone/>
            </a:pPr>
            <a:r>
              <a:rPr lang="en-US" sz="1050" b="1" dirty="0">
                <a:solidFill>
                  <a:srgbClr val="F5F6FC"/>
                </a:solidFill>
                <a:latin typeface="Poppins" pitchFamily="34" charset="0"/>
                <a:ea typeface="Poppins" pitchFamily="34" charset="-122"/>
                <a:cs typeface="Poppins" pitchFamily="34" charset="-120"/>
              </a:rPr>
              <a:t>3</a:t>
            </a:r>
            <a:endParaRPr lang="en-US" sz="1050" dirty="0"/>
          </a:p>
        </p:txBody>
      </p:sp>
      <p:sp>
        <p:nvSpPr>
          <p:cNvPr id="29" name="Shape 27"/>
          <p:cNvSpPr/>
          <p:nvPr/>
        </p:nvSpPr>
        <p:spPr>
          <a:xfrm>
            <a:off x="7347659" y="2735393"/>
            <a:ext cx="4082055" cy="376526"/>
          </a:xfrm>
          <a:prstGeom prst="rect">
            <a:avLst/>
          </a:prstGeom>
          <a:solidFill>
            <a:srgbClr val="1E1E24"/>
          </a:solidFill>
          <a:ln/>
        </p:spPr>
      </p:sp>
      <p:sp>
        <p:nvSpPr>
          <p:cNvPr id="30" name="Text 28"/>
          <p:cNvSpPr txBox="1"/>
          <p:nvPr/>
        </p:nvSpPr>
        <p:spPr>
          <a:xfrm>
            <a:off x="7461956" y="2836990"/>
            <a:ext cx="4007599" cy="173331"/>
          </a:xfrm>
          <a:prstGeom prst="rect">
            <a:avLst/>
          </a:prstGeom>
          <a:noFill/>
          <a:ln/>
        </p:spPr>
        <p:txBody>
          <a:bodyPr wrap="square" lIns="0" tIns="0" rIns="0" bIns="0" rtlCol="0" anchor="t"/>
          <a:lstStyle/>
          <a:p>
            <a:pPr algn="l" indent="0" marL="0">
              <a:lnSpc>
                <a:spcPct val="111111"/>
              </a:lnSpc>
              <a:buNone/>
            </a:pPr>
            <a:r>
              <a:rPr lang="en-US" sz="1050" dirty="0">
                <a:solidFill>
                  <a:srgbClr val="F5F6FC"/>
                </a:solidFill>
                <a:latin typeface="Poppins" pitchFamily="34" charset="0"/>
                <a:ea typeface="Poppins" pitchFamily="34" charset="-122"/>
                <a:cs typeface="Poppins" pitchFamily="34" charset="-120"/>
              </a:rPr>
              <a:t>gold + testes de qualidade</a:t>
            </a:r>
            <a:endParaRPr lang="en-US" sz="1050" dirty="0"/>
          </a:p>
        </p:txBody>
      </p:sp>
      <p:sp>
        <p:nvSpPr>
          <p:cNvPr id="31" name="Shape 29"/>
          <p:cNvSpPr/>
          <p:nvPr/>
        </p:nvSpPr>
        <p:spPr>
          <a:xfrm>
            <a:off x="6191095" y="3162717"/>
            <a:ext cx="1156564" cy="376526"/>
          </a:xfrm>
          <a:prstGeom prst="rect">
            <a:avLst/>
          </a:prstGeom>
          <a:solidFill>
            <a:srgbClr val="1E1E24"/>
          </a:solidFill>
          <a:ln/>
        </p:spPr>
      </p:sp>
      <p:sp>
        <p:nvSpPr>
          <p:cNvPr id="32" name="Text 30"/>
          <p:cNvSpPr txBox="1"/>
          <p:nvPr/>
        </p:nvSpPr>
        <p:spPr>
          <a:xfrm>
            <a:off x="6305392" y="3264314"/>
            <a:ext cx="965089" cy="173331"/>
          </a:xfrm>
          <a:prstGeom prst="rect">
            <a:avLst/>
          </a:prstGeom>
          <a:noFill/>
          <a:ln/>
        </p:spPr>
        <p:txBody>
          <a:bodyPr wrap="square" lIns="0" tIns="0" rIns="0" bIns="0" rtlCol="0" anchor="t"/>
          <a:lstStyle/>
          <a:p>
            <a:pPr algn="l" indent="0" marL="0">
              <a:lnSpc>
                <a:spcPct val="111111"/>
              </a:lnSpc>
              <a:buNone/>
            </a:pPr>
            <a:r>
              <a:rPr lang="en-US" sz="1050" b="1" dirty="0">
                <a:solidFill>
                  <a:srgbClr val="F5F6FC"/>
                </a:solidFill>
                <a:latin typeface="Poppins" pitchFamily="34" charset="0"/>
                <a:ea typeface="Poppins" pitchFamily="34" charset="-122"/>
                <a:cs typeface="Poppins" pitchFamily="34" charset="-120"/>
              </a:rPr>
              <a:t>4</a:t>
            </a:r>
            <a:endParaRPr lang="en-US" sz="1050" dirty="0"/>
          </a:p>
        </p:txBody>
      </p:sp>
      <p:sp>
        <p:nvSpPr>
          <p:cNvPr id="33" name="Shape 31"/>
          <p:cNvSpPr/>
          <p:nvPr/>
        </p:nvSpPr>
        <p:spPr>
          <a:xfrm>
            <a:off x="7347659" y="3162717"/>
            <a:ext cx="4082055" cy="376526"/>
          </a:xfrm>
          <a:prstGeom prst="rect">
            <a:avLst/>
          </a:prstGeom>
          <a:solidFill>
            <a:srgbClr val="1E1E24"/>
          </a:solidFill>
          <a:ln/>
        </p:spPr>
      </p:sp>
      <p:sp>
        <p:nvSpPr>
          <p:cNvPr id="34" name="Text 32"/>
          <p:cNvSpPr txBox="1"/>
          <p:nvPr/>
        </p:nvSpPr>
        <p:spPr>
          <a:xfrm>
            <a:off x="7461956" y="3264314"/>
            <a:ext cx="4007599" cy="173331"/>
          </a:xfrm>
          <a:prstGeom prst="rect">
            <a:avLst/>
          </a:prstGeom>
          <a:noFill/>
          <a:ln/>
        </p:spPr>
        <p:txBody>
          <a:bodyPr wrap="square" lIns="0" tIns="0" rIns="0" bIns="0" rtlCol="0" anchor="t"/>
          <a:lstStyle/>
          <a:p>
            <a:pPr algn="l" indent="0" marL="0">
              <a:lnSpc>
                <a:spcPct val="111111"/>
              </a:lnSpc>
              <a:buNone/>
            </a:pPr>
            <a:r>
              <a:rPr lang="en-US" sz="1050" dirty="0">
                <a:solidFill>
                  <a:srgbClr val="F5F6FC"/>
                </a:solidFill>
                <a:latin typeface="Poppins" pitchFamily="34" charset="0"/>
                <a:ea typeface="Poppins" pitchFamily="34" charset="-122"/>
                <a:cs typeface="Poppins" pitchFamily="34" charset="-120"/>
              </a:rPr>
              <a:t>IA no status semanal</a:t>
            </a:r>
            <a:endParaRPr lang="en-US" sz="1050" dirty="0"/>
          </a:p>
        </p:txBody>
      </p:sp>
      <p:sp>
        <p:nvSpPr>
          <p:cNvPr id="35" name="Shape 33"/>
          <p:cNvSpPr/>
          <p:nvPr/>
        </p:nvSpPr>
        <p:spPr>
          <a:xfrm>
            <a:off x="6191095" y="3590041"/>
            <a:ext cx="1156564" cy="376526"/>
          </a:xfrm>
          <a:prstGeom prst="rect">
            <a:avLst/>
          </a:prstGeom>
          <a:solidFill>
            <a:srgbClr val="1E1E24"/>
          </a:solidFill>
          <a:ln/>
        </p:spPr>
      </p:sp>
      <p:sp>
        <p:nvSpPr>
          <p:cNvPr id="36" name="Text 34"/>
          <p:cNvSpPr txBox="1"/>
          <p:nvPr/>
        </p:nvSpPr>
        <p:spPr>
          <a:xfrm>
            <a:off x="6305392" y="3691639"/>
            <a:ext cx="965089" cy="173331"/>
          </a:xfrm>
          <a:prstGeom prst="rect">
            <a:avLst/>
          </a:prstGeom>
          <a:noFill/>
          <a:ln/>
        </p:spPr>
        <p:txBody>
          <a:bodyPr wrap="square" lIns="0" tIns="0" rIns="0" bIns="0" rtlCol="0" anchor="t"/>
          <a:lstStyle/>
          <a:p>
            <a:pPr algn="l" indent="0" marL="0">
              <a:lnSpc>
                <a:spcPct val="111111"/>
              </a:lnSpc>
              <a:buNone/>
            </a:pPr>
            <a:r>
              <a:rPr lang="en-US" sz="1050" b="1" dirty="0">
                <a:solidFill>
                  <a:srgbClr val="F5F6FC"/>
                </a:solidFill>
                <a:latin typeface="Poppins" pitchFamily="34" charset="0"/>
                <a:ea typeface="Poppins" pitchFamily="34" charset="-122"/>
                <a:cs typeface="Poppins" pitchFamily="34" charset="-120"/>
              </a:rPr>
              <a:t>5</a:t>
            </a:r>
            <a:endParaRPr lang="en-US" sz="1050" dirty="0"/>
          </a:p>
        </p:txBody>
      </p:sp>
      <p:sp>
        <p:nvSpPr>
          <p:cNvPr id="37" name="Shape 35"/>
          <p:cNvSpPr/>
          <p:nvPr/>
        </p:nvSpPr>
        <p:spPr>
          <a:xfrm>
            <a:off x="7347659" y="3590041"/>
            <a:ext cx="4082055" cy="376526"/>
          </a:xfrm>
          <a:prstGeom prst="rect">
            <a:avLst/>
          </a:prstGeom>
          <a:solidFill>
            <a:srgbClr val="1E1E24"/>
          </a:solidFill>
          <a:ln/>
        </p:spPr>
      </p:sp>
      <p:sp>
        <p:nvSpPr>
          <p:cNvPr id="38" name="Text 36"/>
          <p:cNvSpPr txBox="1"/>
          <p:nvPr/>
        </p:nvSpPr>
        <p:spPr>
          <a:xfrm>
            <a:off x="7461956" y="3691639"/>
            <a:ext cx="4007599" cy="173331"/>
          </a:xfrm>
          <a:prstGeom prst="rect">
            <a:avLst/>
          </a:prstGeom>
          <a:noFill/>
          <a:ln/>
        </p:spPr>
        <p:txBody>
          <a:bodyPr wrap="square" lIns="0" tIns="0" rIns="0" bIns="0" rtlCol="0" anchor="t"/>
          <a:lstStyle/>
          <a:p>
            <a:pPr algn="l" indent="0" marL="0">
              <a:lnSpc>
                <a:spcPct val="111111"/>
              </a:lnSpc>
              <a:buNone/>
            </a:pPr>
            <a:r>
              <a:rPr lang="en-US" sz="1050" dirty="0">
                <a:solidFill>
                  <a:srgbClr val="F5F6FC"/>
                </a:solidFill>
                <a:latin typeface="Poppins" pitchFamily="34" charset="0"/>
                <a:ea typeface="Poppins" pitchFamily="34" charset="-122"/>
                <a:cs typeface="Poppins" pitchFamily="34" charset="-120"/>
              </a:rPr>
              <a:t>a métrica governada (mv_projetos)</a:t>
            </a:r>
            <a:endParaRPr lang="en-US" sz="1050" dirty="0"/>
          </a:p>
        </p:txBody>
      </p:sp>
      <p:sp>
        <p:nvSpPr>
          <p:cNvPr id="39" name="Shape 37"/>
          <p:cNvSpPr/>
          <p:nvPr/>
        </p:nvSpPr>
        <p:spPr>
          <a:xfrm>
            <a:off x="6191095" y="4017366"/>
            <a:ext cx="1156564" cy="376526"/>
          </a:xfrm>
          <a:prstGeom prst="rect">
            <a:avLst/>
          </a:prstGeom>
          <a:solidFill>
            <a:srgbClr val="1E1E24"/>
          </a:solidFill>
          <a:ln/>
        </p:spPr>
      </p:sp>
      <p:sp>
        <p:nvSpPr>
          <p:cNvPr id="40" name="Text 38"/>
          <p:cNvSpPr txBox="1"/>
          <p:nvPr/>
        </p:nvSpPr>
        <p:spPr>
          <a:xfrm>
            <a:off x="6305392" y="4118963"/>
            <a:ext cx="965089" cy="173331"/>
          </a:xfrm>
          <a:prstGeom prst="rect">
            <a:avLst/>
          </a:prstGeom>
          <a:noFill/>
          <a:ln/>
        </p:spPr>
        <p:txBody>
          <a:bodyPr wrap="square" lIns="0" tIns="0" rIns="0" bIns="0" rtlCol="0" anchor="t"/>
          <a:lstStyle/>
          <a:p>
            <a:pPr algn="l" indent="0" marL="0">
              <a:lnSpc>
                <a:spcPct val="111111"/>
              </a:lnSpc>
              <a:buNone/>
            </a:pPr>
            <a:r>
              <a:rPr lang="en-US" sz="1050" b="1" dirty="0">
                <a:solidFill>
                  <a:srgbClr val="F5F6FC"/>
                </a:solidFill>
                <a:latin typeface="Poppins" pitchFamily="34" charset="0"/>
                <a:ea typeface="Poppins" pitchFamily="34" charset="-122"/>
                <a:cs typeface="Poppins" pitchFamily="34" charset="-120"/>
              </a:rPr>
              <a:t>6</a:t>
            </a:r>
            <a:endParaRPr lang="en-US" sz="1050" dirty="0"/>
          </a:p>
        </p:txBody>
      </p:sp>
      <p:sp>
        <p:nvSpPr>
          <p:cNvPr id="41" name="Shape 39"/>
          <p:cNvSpPr/>
          <p:nvPr/>
        </p:nvSpPr>
        <p:spPr>
          <a:xfrm>
            <a:off x="7347659" y="4017366"/>
            <a:ext cx="4082055" cy="376526"/>
          </a:xfrm>
          <a:prstGeom prst="rect">
            <a:avLst/>
          </a:prstGeom>
          <a:solidFill>
            <a:srgbClr val="1E1E24"/>
          </a:solidFill>
          <a:ln/>
        </p:spPr>
      </p:sp>
      <p:sp>
        <p:nvSpPr>
          <p:cNvPr id="42" name="Text 40"/>
          <p:cNvSpPr txBox="1"/>
          <p:nvPr/>
        </p:nvSpPr>
        <p:spPr>
          <a:xfrm>
            <a:off x="7461956" y="4118963"/>
            <a:ext cx="4007599" cy="173331"/>
          </a:xfrm>
          <a:prstGeom prst="rect">
            <a:avLst/>
          </a:prstGeom>
          <a:noFill/>
          <a:ln/>
        </p:spPr>
        <p:txBody>
          <a:bodyPr wrap="square" lIns="0" tIns="0" rIns="0" bIns="0" rtlCol="0" anchor="t"/>
          <a:lstStyle/>
          <a:p>
            <a:pPr algn="l" indent="0" marL="0">
              <a:lnSpc>
                <a:spcPct val="111111"/>
              </a:lnSpc>
              <a:buNone/>
            </a:pPr>
            <a:r>
              <a:rPr lang="en-US" sz="1050" dirty="0">
                <a:solidFill>
                  <a:srgbClr val="F5F6FC"/>
                </a:solidFill>
                <a:latin typeface="Poppins" pitchFamily="34" charset="0"/>
                <a:ea typeface="Poppins" pitchFamily="34" charset="-122"/>
                <a:cs typeface="Poppins" pitchFamily="34" charset="-120"/>
              </a:rPr>
              <a:t>dashboard e Genie como código</a:t>
            </a:r>
            <a:endParaRPr lang="en-US" sz="1050" dirty="0"/>
          </a:p>
        </p:txBody>
      </p:sp>
      <p:pic>
        <p:nvPicPr>
          <p:cNvPr id="43"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44" name="Text 41"/>
          <p:cNvSpPr txBox="1"/>
          <p:nvPr/>
        </p:nvSpPr>
        <p:spPr>
          <a:xfrm>
            <a:off x="10948714" y="6387940"/>
            <a:ext cx="500240"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82 / 133</a:t>
            </a:r>
            <a:endParaRPr lang="en-US" sz="10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380990"/>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RECURSO DO DATABRICKS · JOBS</a:t>
            </a:r>
            <a:endParaRPr lang="en-US" sz="1200" dirty="0"/>
          </a:p>
        </p:txBody>
      </p:sp>
      <p:sp>
        <p:nvSpPr>
          <p:cNvPr id="3" name="Text 1"/>
          <p:cNvSpPr txBox="1"/>
          <p:nvPr/>
        </p:nvSpPr>
        <p:spPr>
          <a:xfrm>
            <a:off x="761981" y="704832"/>
            <a:ext cx="11094443" cy="363132"/>
          </a:xfrm>
          <a:prstGeom prst="rect">
            <a:avLst/>
          </a:prstGeom>
          <a:noFill/>
          <a:ln/>
        </p:spPr>
        <p:txBody>
          <a:bodyPr wrap="square" lIns="0" tIns="0" rIns="0" bIns="0" rtlCol="0" anchor="t"/>
          <a:lstStyle/>
          <a:p>
            <a:pPr algn="l" indent="0" marL="0">
              <a:lnSpc>
                <a:spcPct val="94017"/>
              </a:lnSpc>
              <a:buNone/>
            </a:pPr>
            <a:r>
              <a:rPr lang="en-US" sz="2600" b="1" spc="-26" kern="0" dirty="0">
                <a:solidFill>
                  <a:srgbClr val="F5F6FC"/>
                </a:solidFill>
                <a:latin typeface="Poppins" pitchFamily="34" charset="0"/>
                <a:ea typeface="Poppins" pitchFamily="34" charset="-122"/>
                <a:cs typeface="Poppins" pitchFamily="34" charset="-120"/>
              </a:rPr>
              <a:t>Jobs &amp; Pipelines</a:t>
            </a:r>
            <a:endParaRPr lang="en-US" sz="2600" dirty="0"/>
          </a:p>
        </p:txBody>
      </p:sp>
      <p:pic>
        <p:nvPicPr>
          <p:cNvPr id="4" name="Image 0" descr="preencoded.png">    </p:cNvPr>
          <p:cNvPicPr>
            <a:picLocks noChangeAspect="1"/>
          </p:cNvPicPr>
          <p:nvPr/>
        </p:nvPicPr>
        <p:blipFill>
          <a:blip r:embed="rId2"/>
          <a:srcRect l="10085" r="10085" t="0" b="0"/>
          <a:stretch/>
        </p:blipFill>
        <p:spPr>
          <a:xfrm>
            <a:off x="761981" y="1182261"/>
            <a:ext cx="6455308" cy="4063898"/>
          </a:xfrm>
          <a:prstGeom prst="rect">
            <a:avLst/>
          </a:prstGeom>
        </p:spPr>
      </p:pic>
      <p:sp>
        <p:nvSpPr>
          <p:cNvPr id="5" name="Shape 2"/>
          <p:cNvSpPr/>
          <p:nvPr/>
        </p:nvSpPr>
        <p:spPr>
          <a:xfrm>
            <a:off x="7395085" y="1182261"/>
            <a:ext cx="4034630" cy="4063898"/>
          </a:xfrm>
          <a:prstGeom prst="roundRect">
            <a:avLst>
              <a:gd name="adj" fmla="val 3777"/>
            </a:avLst>
          </a:prstGeom>
          <a:solidFill>
            <a:srgbClr val="0059DB"/>
          </a:solidFill>
          <a:ln/>
        </p:spPr>
      </p:sp>
      <p:sp>
        <p:nvSpPr>
          <p:cNvPr id="6" name="Shape 3"/>
          <p:cNvSpPr/>
          <p:nvPr/>
        </p:nvSpPr>
        <p:spPr>
          <a:xfrm>
            <a:off x="7617329" y="1379106"/>
            <a:ext cx="616034" cy="247644"/>
          </a:xfrm>
          <a:prstGeom prst="roundRect">
            <a:avLst>
              <a:gd name="adj" fmla="val 50000"/>
            </a:avLst>
          </a:prstGeom>
          <a:solidFill>
            <a:srgbClr val="FFFFFF">
              <a:alpha val="16000"/>
            </a:srgbClr>
          </a:solidFill>
          <a:ln/>
        </p:spPr>
      </p:sp>
      <p:sp>
        <p:nvSpPr>
          <p:cNvPr id="7" name="Text 4"/>
          <p:cNvSpPr txBox="1"/>
          <p:nvPr/>
        </p:nvSpPr>
        <p:spPr>
          <a:xfrm>
            <a:off x="7706227" y="1417205"/>
            <a:ext cx="455768"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O que é</a:t>
            </a:r>
            <a:endParaRPr lang="en-US" sz="900" dirty="0"/>
          </a:p>
        </p:txBody>
      </p:sp>
      <p:sp>
        <p:nvSpPr>
          <p:cNvPr id="8" name="Shape 5"/>
          <p:cNvSpPr/>
          <p:nvPr/>
        </p:nvSpPr>
        <p:spPr>
          <a:xfrm>
            <a:off x="7617329" y="1798196"/>
            <a:ext cx="76198" cy="76198"/>
          </a:xfrm>
          <a:prstGeom prst="roundRect">
            <a:avLst>
              <a:gd name="adj" fmla="val 25000"/>
            </a:avLst>
          </a:prstGeom>
          <a:solidFill>
            <a:srgbClr val="22C2F4"/>
          </a:solidFill>
          <a:ln/>
        </p:spPr>
      </p:sp>
      <p:sp>
        <p:nvSpPr>
          <p:cNvPr id="9" name="Text 6"/>
          <p:cNvSpPr txBox="1"/>
          <p:nvPr/>
        </p:nvSpPr>
        <p:spPr>
          <a:xfrm>
            <a:off x="7807824" y="1715648"/>
            <a:ext cx="3535631"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a lista de tudo que roda sozinho, com agenda e as últimas execuções</a:t>
            </a:r>
            <a:endParaRPr lang="en-US" sz="1200" dirty="0"/>
          </a:p>
        </p:txBody>
      </p:sp>
      <p:sp>
        <p:nvSpPr>
          <p:cNvPr id="10" name="Shape 7"/>
          <p:cNvSpPr/>
          <p:nvPr/>
        </p:nvSpPr>
        <p:spPr>
          <a:xfrm>
            <a:off x="7617329" y="2285744"/>
            <a:ext cx="76198" cy="76198"/>
          </a:xfrm>
          <a:prstGeom prst="roundRect">
            <a:avLst>
              <a:gd name="adj" fmla="val 25000"/>
            </a:avLst>
          </a:prstGeom>
          <a:solidFill>
            <a:srgbClr val="22C2F4"/>
          </a:solidFill>
          <a:ln/>
        </p:spPr>
      </p:sp>
      <p:sp>
        <p:nvSpPr>
          <p:cNvPr id="11" name="Text 8"/>
          <p:cNvSpPr txBox="1"/>
          <p:nvPr/>
        </p:nvSpPr>
        <p:spPr>
          <a:xfrm>
            <a:off x="7807824" y="2203196"/>
            <a:ext cx="3535631"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vermelho e verde lado a lado: o histórico conta a história</a:t>
            </a:r>
            <a:endParaRPr lang="en-US" sz="1200" dirty="0"/>
          </a:p>
        </p:txBody>
      </p:sp>
      <p:sp>
        <p:nvSpPr>
          <p:cNvPr id="12" name="Shape 9"/>
          <p:cNvSpPr/>
          <p:nvPr/>
        </p:nvSpPr>
        <p:spPr>
          <a:xfrm>
            <a:off x="7617329" y="2754244"/>
            <a:ext cx="650958" cy="247644"/>
          </a:xfrm>
          <a:prstGeom prst="roundRect">
            <a:avLst>
              <a:gd name="adj" fmla="val 50000"/>
            </a:avLst>
          </a:prstGeom>
          <a:solidFill>
            <a:srgbClr val="FFFFFF">
              <a:alpha val="16000"/>
            </a:srgbClr>
          </a:solidFill>
          <a:ln/>
        </p:spPr>
      </p:sp>
      <p:sp>
        <p:nvSpPr>
          <p:cNvPr id="13" name="Text 10"/>
          <p:cNvSpPr txBox="1"/>
          <p:nvPr/>
        </p:nvSpPr>
        <p:spPr>
          <a:xfrm>
            <a:off x="7706227" y="2792343"/>
            <a:ext cx="492089"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No Farol</a:t>
            </a:r>
            <a:endParaRPr lang="en-US" sz="900" dirty="0"/>
          </a:p>
        </p:txBody>
      </p:sp>
      <p:sp>
        <p:nvSpPr>
          <p:cNvPr id="14" name="Text 11"/>
          <p:cNvSpPr txBox="1"/>
          <p:nvPr/>
        </p:nvSpPr>
        <p:spPr>
          <a:xfrm>
            <a:off x="7617329" y="3166983"/>
            <a:ext cx="3733746" cy="591428"/>
          </a:xfrm>
          <a:prstGeom prst="rect">
            <a:avLst/>
          </a:prstGeom>
          <a:noFill/>
          <a:ln/>
        </p:spPr>
        <p:txBody>
          <a:bodyPr wrap="square" lIns="0" tIns="0" rIns="0" bIns="0" rtlCol="0" anchor="t"/>
          <a:lstStyle/>
          <a:p>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o job </a:t>
            </a:r>
            <a:pPr algn="l" indent="0" marL="0">
              <a:lnSpc>
                <a:spcPct val="115385"/>
              </a:lnSpc>
              <a:buNone/>
            </a:pPr>
            <a:r>
              <a:rPr lang="en-US" sz="1150" dirty="0">
                <a:solidFill>
                  <a:srgbClr val="DBE6FF"/>
                </a:solidFill>
                <a:latin typeface="Courier New" pitchFamily="34" charset="0"/>
                <a:ea typeface="Courier New" pitchFamily="34" charset="-122"/>
                <a:cs typeface="Courier New" pitchFamily="34" charset="-120"/>
              </a:rPr>
              <a:t>vertice_farol</a:t>
            </a:r>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 (agendado, pausado no ensaio) e o pipeline. Os ✕ são os ensaios com erro, corrigidos no código</a:t>
            </a:r>
            <a:endParaRPr lang="en-US" sz="1150" dirty="0"/>
          </a:p>
        </p:txBody>
      </p:sp>
      <p:pic>
        <p:nvPicPr>
          <p:cNvPr id="15" name="Image 1" descr="preencoded.png">    </p:cNvPr>
          <p:cNvPicPr>
            <a:picLocks noChangeAspect="1"/>
          </p:cNvPicPr>
          <p:nvPr/>
        </p:nvPicPr>
        <p:blipFill>
          <a:blip r:embed="rId3"/>
          <a:stretch>
            <a:fillRect/>
          </a:stretch>
        </p:blipFill>
        <p:spPr>
          <a:xfrm>
            <a:off x="761981" y="6387940"/>
            <a:ext cx="2059928" cy="190495"/>
          </a:xfrm>
          <a:prstGeom prst="rect">
            <a:avLst/>
          </a:prstGeom>
        </p:spPr>
      </p:pic>
      <p:sp>
        <p:nvSpPr>
          <p:cNvPr id="16" name="Text 12"/>
          <p:cNvSpPr txBox="1"/>
          <p:nvPr/>
        </p:nvSpPr>
        <p:spPr>
          <a:xfrm>
            <a:off x="10946531" y="6387940"/>
            <a:ext cx="502511"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83 / 133</a:t>
            </a:r>
            <a:endParaRPr lang="en-US" sz="10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2 · O JOB VERTICE_FAROL</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A ordem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não é sugestão</a:t>
            </a:r>
            <a:endParaRPr lang="en-US" sz="3100" dirty="0"/>
          </a:p>
        </p:txBody>
      </p:sp>
      <p:sp>
        <p:nvSpPr>
          <p:cNvPr id="4" name="Shape 2"/>
          <p:cNvSpPr/>
          <p:nvPr/>
        </p:nvSpPr>
        <p:spPr>
          <a:xfrm>
            <a:off x="761981" y="1582301"/>
            <a:ext cx="10667733" cy="4177005"/>
          </a:xfrm>
          <a:prstGeom prst="roundRect">
            <a:avLst>
              <a:gd name="adj" fmla="val 3344"/>
            </a:avLst>
          </a:prstGeom>
          <a:solidFill>
            <a:srgbClr val="101016"/>
          </a:solidFill>
          <a:ln w="6350">
            <a:solidFill>
              <a:srgbClr val="2F2F39"/>
            </a:solidFill>
            <a:prstDash val="solid"/>
          </a:ln>
        </p:spPr>
      </p:sp>
      <p:pic>
        <p:nvPicPr>
          <p:cNvPr id="5" name="Image 0" descr="preencoded.png">    </p:cNvPr>
          <p:cNvPicPr>
            <a:picLocks noChangeAspect="1"/>
          </p:cNvPicPr>
          <p:nvPr/>
        </p:nvPicPr>
        <p:blipFill>
          <a:blip r:embed="rId2"/>
          <a:stretch>
            <a:fillRect/>
          </a:stretch>
        </p:blipFill>
        <p:spPr>
          <a:xfrm>
            <a:off x="908027" y="1728347"/>
            <a:ext cx="10375641" cy="3884912"/>
          </a:xfrm>
          <a:prstGeom prst="rect">
            <a:avLst/>
          </a:prstGeom>
        </p:spPr>
      </p:pic>
      <p:sp>
        <p:nvSpPr>
          <p:cNvPr id="6" name="Shape 3"/>
          <p:cNvSpPr/>
          <p:nvPr/>
        </p:nvSpPr>
        <p:spPr>
          <a:xfrm>
            <a:off x="761981" y="5873603"/>
            <a:ext cx="25399" cy="285743"/>
          </a:xfrm>
          <a:prstGeom prst="rect">
            <a:avLst/>
          </a:prstGeom>
          <a:solidFill>
            <a:srgbClr val="22C2F4"/>
          </a:solidFill>
          <a:ln/>
        </p:spPr>
      </p:sp>
      <p:sp>
        <p:nvSpPr>
          <p:cNvPr id="7" name="Text 4"/>
          <p:cNvSpPr txBox="1"/>
          <p:nvPr/>
        </p:nvSpPr>
        <p:spPr>
          <a:xfrm>
            <a:off x="914377" y="5911702"/>
            <a:ext cx="10935951" cy="209545"/>
          </a:xfrm>
          <a:prstGeom prst="rect">
            <a:avLst/>
          </a:prstGeom>
          <a:noFill/>
          <a:ln/>
        </p:spPr>
        <p:txBody>
          <a:bodyPr wrap="square" lIns="0" tIns="0" rIns="0" bIns="0" rtlCol="0" anchor="t"/>
          <a:lstStyle/>
          <a:p>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5 tarefas na noite 2; a noite 3 pendura as 3 do modelo no mesmo job (em azul). Se a conferência falha, nada roda.</a:t>
            </a:r>
            <a:endParaRPr lang="en-US" sz="1100" dirty="0"/>
          </a:p>
        </p:txBody>
      </p:sp>
      <p:pic>
        <p:nvPicPr>
          <p:cNvPr id="8" name="Image 1" descr="preencoded.png">    </p:cNvPr>
          <p:cNvPicPr>
            <a:picLocks noChangeAspect="1"/>
          </p:cNvPicPr>
          <p:nvPr/>
        </p:nvPicPr>
        <p:blipFill>
          <a:blip r:embed="rId3"/>
          <a:stretch>
            <a:fillRect/>
          </a:stretch>
        </p:blipFill>
        <p:spPr>
          <a:xfrm>
            <a:off x="761981" y="6387940"/>
            <a:ext cx="2059928" cy="190495"/>
          </a:xfrm>
          <a:prstGeom prst="rect">
            <a:avLst/>
          </a:prstGeom>
        </p:spPr>
      </p:pic>
      <p:sp>
        <p:nvSpPr>
          <p:cNvPr id="9" name="Text 5"/>
          <p:cNvSpPr txBox="1"/>
          <p:nvPr/>
        </p:nvSpPr>
        <p:spPr>
          <a:xfrm>
            <a:off x="10939884" y="6387940"/>
            <a:ext cx="509424"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84 / 133</a:t>
            </a:r>
            <a:endParaRPr lang="en-US" sz="10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2 · O JOB NO WORKSPACE</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8 tarefas verdes,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5 minutos</a:t>
            </a:r>
            <a:endParaRPr lang="en-US" sz="3100" dirty="0"/>
          </a:p>
        </p:txBody>
      </p:sp>
      <p:pic>
        <p:nvPicPr>
          <p:cNvPr id="4" name="Image 0" descr="preencoded.png">    </p:cNvPr>
          <p:cNvPicPr>
            <a:picLocks noChangeAspect="1"/>
          </p:cNvPicPr>
          <p:nvPr/>
        </p:nvPicPr>
        <p:blipFill>
          <a:blip r:embed="rId2"/>
          <a:stretch>
            <a:fillRect/>
          </a:stretch>
        </p:blipFill>
        <p:spPr>
          <a:xfrm>
            <a:off x="761981" y="1485976"/>
            <a:ext cx="10667733" cy="1782491"/>
          </a:xfrm>
          <a:prstGeom prst="rect">
            <a:avLst/>
          </a:prstGeom>
        </p:spPr>
      </p:pic>
      <p:sp>
        <p:nvSpPr>
          <p:cNvPr id="5" name="Shape 2"/>
          <p:cNvSpPr/>
          <p:nvPr/>
        </p:nvSpPr>
        <p:spPr>
          <a:xfrm>
            <a:off x="761981" y="3464235"/>
            <a:ext cx="2533587" cy="1200715"/>
          </a:xfrm>
          <a:prstGeom prst="roundRect">
            <a:avLst>
              <a:gd name="adj" fmla="val 12692"/>
            </a:avLst>
          </a:prstGeom>
          <a:solidFill>
            <a:srgbClr val="1E1E24"/>
          </a:solidFill>
          <a:ln w="6350">
            <a:solidFill>
              <a:srgbClr val="2F2F39"/>
            </a:solidFill>
            <a:prstDash val="solid"/>
          </a:ln>
        </p:spPr>
      </p:sp>
      <p:sp>
        <p:nvSpPr>
          <p:cNvPr id="6" name="Shape 3"/>
          <p:cNvSpPr/>
          <p:nvPr/>
        </p:nvSpPr>
        <p:spPr>
          <a:xfrm>
            <a:off x="984225" y="3661080"/>
            <a:ext cx="875385" cy="247644"/>
          </a:xfrm>
          <a:prstGeom prst="roundRect">
            <a:avLst>
              <a:gd name="adj" fmla="val 50000"/>
            </a:avLst>
          </a:prstGeom>
          <a:solidFill>
            <a:srgbClr val="22C2F4">
              <a:alpha val="14000"/>
            </a:srgbClr>
          </a:solidFill>
          <a:ln/>
        </p:spPr>
      </p:sp>
      <p:sp>
        <p:nvSpPr>
          <p:cNvPr id="7" name="Text 4"/>
          <p:cNvSpPr txBox="1"/>
          <p:nvPr/>
        </p:nvSpPr>
        <p:spPr>
          <a:xfrm>
            <a:off x="1073123" y="3699179"/>
            <a:ext cx="725493"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conferência</a:t>
            </a:r>
            <a:endParaRPr lang="en-US" sz="900" dirty="0"/>
          </a:p>
        </p:txBody>
      </p:sp>
      <p:sp>
        <p:nvSpPr>
          <p:cNvPr id="8" name="Text 5"/>
          <p:cNvSpPr txBox="1"/>
          <p:nvPr/>
        </p:nvSpPr>
        <p:spPr>
          <a:xfrm>
            <a:off x="984225" y="4073820"/>
            <a:ext cx="2172662" cy="394285"/>
          </a:xfrm>
          <a:prstGeom prst="rect">
            <a:avLst/>
          </a:prstGeom>
          <a:noFill/>
          <a:ln/>
        </p:spPr>
        <p:txBody>
          <a:bodyPr wrap="square" lIns="0" tIns="0" rIns="0" bIns="0" rtlCol="0" anchor="t"/>
          <a:lstStyle/>
          <a:p>
            <a:pPr algn="l" indent="0" marL="0">
              <a:lnSpc>
                <a:spcPct val="115385"/>
              </a:lnSpc>
              <a:buNone/>
            </a:pPr>
            <a:r>
              <a:rPr lang="en-US" sz="1150" dirty="0">
                <a:solidFill>
                  <a:srgbClr val="A3A6B4"/>
                </a:solidFill>
                <a:latin typeface="Poppins" pitchFamily="34" charset="0"/>
                <a:ea typeface="Poppins" pitchFamily="34" charset="-122"/>
                <a:cs typeface="Poppins" pitchFamily="34" charset="-120"/>
              </a:rPr>
              <a:t>6 s · as 9 tabelas da bronze, contadas</a:t>
            </a:r>
            <a:endParaRPr lang="en-US" sz="1150" dirty="0"/>
          </a:p>
        </p:txBody>
      </p:sp>
      <p:sp>
        <p:nvSpPr>
          <p:cNvPr id="9" name="Shape 6"/>
          <p:cNvSpPr/>
          <p:nvPr/>
        </p:nvSpPr>
        <p:spPr>
          <a:xfrm>
            <a:off x="3473363" y="3464235"/>
            <a:ext cx="2533587" cy="1200715"/>
          </a:xfrm>
          <a:prstGeom prst="roundRect">
            <a:avLst>
              <a:gd name="adj" fmla="val 12692"/>
            </a:avLst>
          </a:prstGeom>
          <a:solidFill>
            <a:srgbClr val="1E1E24"/>
          </a:solidFill>
          <a:ln w="6350">
            <a:solidFill>
              <a:srgbClr val="2F2F39"/>
            </a:solidFill>
            <a:prstDash val="solid"/>
          </a:ln>
        </p:spPr>
      </p:sp>
      <p:sp>
        <p:nvSpPr>
          <p:cNvPr id="10" name="Shape 7"/>
          <p:cNvSpPr/>
          <p:nvPr/>
        </p:nvSpPr>
        <p:spPr>
          <a:xfrm>
            <a:off x="3695608" y="3661080"/>
            <a:ext cx="780832" cy="247644"/>
          </a:xfrm>
          <a:prstGeom prst="roundRect">
            <a:avLst>
              <a:gd name="adj" fmla="val 50000"/>
            </a:avLst>
          </a:prstGeom>
          <a:solidFill>
            <a:srgbClr val="22C2F4">
              <a:alpha val="14000"/>
            </a:srgbClr>
          </a:solidFill>
          <a:ln/>
        </p:spPr>
      </p:sp>
      <p:sp>
        <p:nvSpPr>
          <p:cNvPr id="11" name="Text 8"/>
          <p:cNvSpPr txBox="1"/>
          <p:nvPr/>
        </p:nvSpPr>
        <p:spPr>
          <a:xfrm>
            <a:off x="3784505" y="3699179"/>
            <a:ext cx="627158"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medalhão</a:t>
            </a:r>
            <a:endParaRPr lang="en-US" sz="900" dirty="0"/>
          </a:p>
        </p:txBody>
      </p:sp>
      <p:sp>
        <p:nvSpPr>
          <p:cNvPr id="12" name="Text 9"/>
          <p:cNvSpPr txBox="1"/>
          <p:nvPr/>
        </p:nvSpPr>
        <p:spPr>
          <a:xfrm>
            <a:off x="3695608" y="4073820"/>
            <a:ext cx="2172662" cy="394285"/>
          </a:xfrm>
          <a:prstGeom prst="rect">
            <a:avLst/>
          </a:prstGeom>
          <a:noFill/>
          <a:ln/>
        </p:spPr>
        <p:txBody>
          <a:bodyPr wrap="square" lIns="0" tIns="0" rIns="0" bIns="0" rtlCol="0" anchor="t"/>
          <a:lstStyle/>
          <a:p>
            <a:pPr algn="l" indent="0" marL="0">
              <a:lnSpc>
                <a:spcPct val="115385"/>
              </a:lnSpc>
              <a:buNone/>
            </a:pPr>
            <a:r>
              <a:rPr lang="en-US" sz="1150" dirty="0">
                <a:solidFill>
                  <a:srgbClr val="A3A6B4"/>
                </a:solidFill>
                <a:latin typeface="Poppins" pitchFamily="34" charset="0"/>
                <a:ea typeface="Poppins" pitchFamily="34" charset="-122"/>
                <a:cs typeface="Poppins" pitchFamily="34" charset="-120"/>
              </a:rPr>
              <a:t>2 min · silver + gold no pipeline</a:t>
            </a:r>
            <a:endParaRPr lang="en-US" sz="1150" dirty="0"/>
          </a:p>
        </p:txBody>
      </p:sp>
      <p:sp>
        <p:nvSpPr>
          <p:cNvPr id="13" name="Shape 10"/>
          <p:cNvSpPr/>
          <p:nvPr/>
        </p:nvSpPr>
        <p:spPr>
          <a:xfrm>
            <a:off x="6184745" y="3464235"/>
            <a:ext cx="2533587" cy="1200715"/>
          </a:xfrm>
          <a:prstGeom prst="roundRect">
            <a:avLst>
              <a:gd name="adj" fmla="val 12692"/>
            </a:avLst>
          </a:prstGeom>
          <a:solidFill>
            <a:srgbClr val="1E1E24"/>
          </a:solidFill>
          <a:ln w="6350">
            <a:solidFill>
              <a:srgbClr val="2F2F39"/>
            </a:solidFill>
            <a:prstDash val="solid"/>
          </a:ln>
        </p:spPr>
      </p:sp>
      <p:sp>
        <p:nvSpPr>
          <p:cNvPr id="14" name="Shape 11"/>
          <p:cNvSpPr/>
          <p:nvPr/>
        </p:nvSpPr>
        <p:spPr>
          <a:xfrm>
            <a:off x="6406990" y="3661080"/>
            <a:ext cx="1367597" cy="247644"/>
          </a:xfrm>
          <a:prstGeom prst="roundRect">
            <a:avLst>
              <a:gd name="adj" fmla="val 50000"/>
            </a:avLst>
          </a:prstGeom>
          <a:solidFill>
            <a:srgbClr val="22C2F4">
              <a:alpha val="14000"/>
            </a:srgbClr>
          </a:solidFill>
          <a:ln/>
        </p:spPr>
      </p:sp>
      <p:sp>
        <p:nvSpPr>
          <p:cNvPr id="15" name="Text 12"/>
          <p:cNvSpPr txBox="1"/>
          <p:nvPr/>
        </p:nvSpPr>
        <p:spPr>
          <a:xfrm>
            <a:off x="6495888" y="3699179"/>
            <a:ext cx="1237394"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IA + testes + métrica</a:t>
            </a:r>
            <a:endParaRPr lang="en-US" sz="900" dirty="0"/>
          </a:p>
        </p:txBody>
      </p:sp>
      <p:sp>
        <p:nvSpPr>
          <p:cNvPr id="16" name="Text 13"/>
          <p:cNvSpPr txBox="1"/>
          <p:nvPr/>
        </p:nvSpPr>
        <p:spPr>
          <a:xfrm>
            <a:off x="6406990" y="4073820"/>
            <a:ext cx="2172662" cy="394285"/>
          </a:xfrm>
          <a:prstGeom prst="rect">
            <a:avLst/>
          </a:prstGeom>
          <a:noFill/>
          <a:ln/>
        </p:spPr>
        <p:txBody>
          <a:bodyPr wrap="square" lIns="0" tIns="0" rIns="0" bIns="0" rtlCol="0" anchor="t"/>
          <a:lstStyle/>
          <a:p>
            <a:pPr algn="l" indent="0" marL="0">
              <a:lnSpc>
                <a:spcPct val="115385"/>
              </a:lnSpc>
              <a:buNone/>
            </a:pPr>
            <a:r>
              <a:rPr lang="en-US" sz="1150" dirty="0">
                <a:solidFill>
                  <a:srgbClr val="A3A6B4"/>
                </a:solidFill>
                <a:latin typeface="Poppins" pitchFamily="34" charset="0"/>
                <a:ea typeface="Poppins" pitchFamily="34" charset="-122"/>
                <a:cs typeface="Poppins" pitchFamily="34" charset="-120"/>
              </a:rPr>
              <a:t>~30 s · só status novo vai para a IA</a:t>
            </a:r>
            <a:endParaRPr lang="en-US" sz="1150" dirty="0"/>
          </a:p>
        </p:txBody>
      </p:sp>
      <p:sp>
        <p:nvSpPr>
          <p:cNvPr id="17" name="Shape 14"/>
          <p:cNvSpPr/>
          <p:nvPr/>
        </p:nvSpPr>
        <p:spPr>
          <a:xfrm>
            <a:off x="8896128" y="3464235"/>
            <a:ext cx="2533587" cy="1200715"/>
          </a:xfrm>
          <a:prstGeom prst="roundRect">
            <a:avLst>
              <a:gd name="adj" fmla="val 12692"/>
            </a:avLst>
          </a:prstGeom>
          <a:solidFill>
            <a:srgbClr val="1E1E24"/>
          </a:solidFill>
          <a:ln w="6350">
            <a:solidFill>
              <a:srgbClr val="2F2F39"/>
            </a:solidFill>
            <a:prstDash val="solid"/>
          </a:ln>
        </p:spPr>
      </p:sp>
      <p:sp>
        <p:nvSpPr>
          <p:cNvPr id="18" name="Shape 15"/>
          <p:cNvSpPr/>
          <p:nvPr/>
        </p:nvSpPr>
        <p:spPr>
          <a:xfrm>
            <a:off x="9118372" y="3661080"/>
            <a:ext cx="1746306" cy="247644"/>
          </a:xfrm>
          <a:prstGeom prst="roundRect">
            <a:avLst>
              <a:gd name="adj" fmla="val 50000"/>
            </a:avLst>
          </a:prstGeom>
          <a:solidFill>
            <a:srgbClr val="22C2F4">
              <a:alpha val="14000"/>
            </a:srgbClr>
          </a:solidFill>
          <a:ln/>
        </p:spPr>
      </p:sp>
      <p:sp>
        <p:nvSpPr>
          <p:cNvPr id="19" name="Text 16"/>
          <p:cNvSpPr txBox="1"/>
          <p:nvPr/>
        </p:nvSpPr>
        <p:spPr>
          <a:xfrm>
            <a:off x="9207270" y="3699179"/>
            <a:ext cx="1631250"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features → modelo → score</a:t>
            </a:r>
            <a:endParaRPr lang="en-US" sz="900" dirty="0"/>
          </a:p>
        </p:txBody>
      </p:sp>
      <p:sp>
        <p:nvSpPr>
          <p:cNvPr id="20" name="Text 17"/>
          <p:cNvSpPr txBox="1"/>
          <p:nvPr/>
        </p:nvSpPr>
        <p:spPr>
          <a:xfrm>
            <a:off x="9118372" y="4073820"/>
            <a:ext cx="2172662" cy="197143"/>
          </a:xfrm>
          <a:prstGeom prst="rect">
            <a:avLst/>
          </a:prstGeom>
          <a:noFill/>
          <a:ln/>
        </p:spPr>
        <p:txBody>
          <a:bodyPr wrap="square" lIns="0" tIns="0" rIns="0" bIns="0" rtlCol="0" anchor="t"/>
          <a:lstStyle/>
          <a:p>
            <a:pPr algn="l" indent="0" marL="0">
              <a:lnSpc>
                <a:spcPct val="115385"/>
              </a:lnSpc>
              <a:buNone/>
            </a:pPr>
            <a:r>
              <a:rPr lang="en-US" sz="1150" dirty="0">
                <a:solidFill>
                  <a:srgbClr val="A3A6B4"/>
                </a:solidFill>
                <a:latin typeface="Poppins" pitchFamily="34" charset="0"/>
                <a:ea typeface="Poppins" pitchFamily="34" charset="-122"/>
                <a:cs typeface="Poppins" pitchFamily="34" charset="-120"/>
              </a:rPr>
              <a:t>~2,5 min · noite 3</a:t>
            </a:r>
            <a:endParaRPr lang="en-US" sz="1150" dirty="0"/>
          </a:p>
        </p:txBody>
      </p:sp>
      <p:pic>
        <p:nvPicPr>
          <p:cNvPr id="21" name="Image 1" descr="preencoded.png">    </p:cNvPr>
          <p:cNvPicPr>
            <a:picLocks noChangeAspect="1"/>
          </p:cNvPicPr>
          <p:nvPr/>
        </p:nvPicPr>
        <p:blipFill>
          <a:blip r:embed="rId3"/>
          <a:stretch>
            <a:fillRect/>
          </a:stretch>
        </p:blipFill>
        <p:spPr>
          <a:xfrm>
            <a:off x="761981" y="6387940"/>
            <a:ext cx="2059928" cy="190495"/>
          </a:xfrm>
          <a:prstGeom prst="rect">
            <a:avLst/>
          </a:prstGeom>
        </p:spPr>
      </p:pic>
      <p:sp>
        <p:nvSpPr>
          <p:cNvPr id="22" name="Text 18"/>
          <p:cNvSpPr txBox="1"/>
          <p:nvPr/>
        </p:nvSpPr>
        <p:spPr>
          <a:xfrm>
            <a:off x="10940876" y="6387940"/>
            <a:ext cx="508392"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85 / 133</a:t>
            </a:r>
            <a:endParaRPr lang="en-US" sz="10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380990"/>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RECURSO DO DATABRICKS · LAKEFLOW</a:t>
            </a:r>
            <a:endParaRPr lang="en-US" sz="1200" dirty="0"/>
          </a:p>
        </p:txBody>
      </p:sp>
      <p:sp>
        <p:nvSpPr>
          <p:cNvPr id="3" name="Text 1"/>
          <p:cNvSpPr txBox="1"/>
          <p:nvPr/>
        </p:nvSpPr>
        <p:spPr>
          <a:xfrm>
            <a:off x="761981" y="704832"/>
            <a:ext cx="11094443" cy="363132"/>
          </a:xfrm>
          <a:prstGeom prst="rect">
            <a:avLst/>
          </a:prstGeom>
          <a:noFill/>
          <a:ln/>
        </p:spPr>
        <p:txBody>
          <a:bodyPr wrap="square" lIns="0" tIns="0" rIns="0" bIns="0" rtlCol="0" anchor="t"/>
          <a:lstStyle/>
          <a:p>
            <a:pPr algn="l" indent="0" marL="0">
              <a:lnSpc>
                <a:spcPct val="94017"/>
              </a:lnSpc>
              <a:buNone/>
            </a:pPr>
            <a:r>
              <a:rPr lang="en-US" sz="2600" b="1" spc="-26" kern="0" dirty="0">
                <a:solidFill>
                  <a:srgbClr val="F5F6FC"/>
                </a:solidFill>
                <a:latin typeface="Poppins" pitchFamily="34" charset="0"/>
                <a:ea typeface="Poppins" pitchFamily="34" charset="-122"/>
                <a:cs typeface="Poppins" pitchFamily="34" charset="-120"/>
              </a:rPr>
              <a:t>Lakeflow pipeline</a:t>
            </a:r>
            <a:endParaRPr lang="en-US" sz="2600" dirty="0"/>
          </a:p>
        </p:txBody>
      </p:sp>
      <p:pic>
        <p:nvPicPr>
          <p:cNvPr id="4" name="Image 0" descr="preencoded.png">    </p:cNvPr>
          <p:cNvPicPr>
            <a:picLocks noChangeAspect="1"/>
          </p:cNvPicPr>
          <p:nvPr/>
        </p:nvPicPr>
        <p:blipFill>
          <a:blip r:embed="rId2"/>
          <a:stretch>
            <a:fillRect/>
          </a:stretch>
        </p:blipFill>
        <p:spPr>
          <a:xfrm>
            <a:off x="761981" y="1820118"/>
            <a:ext cx="6455308" cy="2788185"/>
          </a:xfrm>
          <a:prstGeom prst="rect">
            <a:avLst/>
          </a:prstGeom>
        </p:spPr>
      </p:pic>
      <p:sp>
        <p:nvSpPr>
          <p:cNvPr id="5" name="Shape 2"/>
          <p:cNvSpPr/>
          <p:nvPr/>
        </p:nvSpPr>
        <p:spPr>
          <a:xfrm>
            <a:off x="7395085" y="1182261"/>
            <a:ext cx="4034630" cy="4063898"/>
          </a:xfrm>
          <a:prstGeom prst="roundRect">
            <a:avLst>
              <a:gd name="adj" fmla="val 3777"/>
            </a:avLst>
          </a:prstGeom>
          <a:solidFill>
            <a:srgbClr val="0059DB"/>
          </a:solidFill>
          <a:ln/>
        </p:spPr>
      </p:sp>
      <p:sp>
        <p:nvSpPr>
          <p:cNvPr id="6" name="Shape 3"/>
          <p:cNvSpPr/>
          <p:nvPr/>
        </p:nvSpPr>
        <p:spPr>
          <a:xfrm>
            <a:off x="7617329" y="1379106"/>
            <a:ext cx="616034" cy="247644"/>
          </a:xfrm>
          <a:prstGeom prst="roundRect">
            <a:avLst>
              <a:gd name="adj" fmla="val 50000"/>
            </a:avLst>
          </a:prstGeom>
          <a:solidFill>
            <a:srgbClr val="FFFFFF">
              <a:alpha val="16000"/>
            </a:srgbClr>
          </a:solidFill>
          <a:ln/>
        </p:spPr>
      </p:sp>
      <p:sp>
        <p:nvSpPr>
          <p:cNvPr id="7" name="Text 4"/>
          <p:cNvSpPr txBox="1"/>
          <p:nvPr/>
        </p:nvSpPr>
        <p:spPr>
          <a:xfrm>
            <a:off x="7706227" y="1417205"/>
            <a:ext cx="455768"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O que é</a:t>
            </a:r>
            <a:endParaRPr lang="en-US" sz="900" dirty="0"/>
          </a:p>
        </p:txBody>
      </p:sp>
      <p:sp>
        <p:nvSpPr>
          <p:cNvPr id="8" name="Shape 5"/>
          <p:cNvSpPr/>
          <p:nvPr/>
        </p:nvSpPr>
        <p:spPr>
          <a:xfrm>
            <a:off x="7617329" y="1798196"/>
            <a:ext cx="76198" cy="76198"/>
          </a:xfrm>
          <a:prstGeom prst="roundRect">
            <a:avLst>
              <a:gd name="adj" fmla="val 25000"/>
            </a:avLst>
          </a:prstGeom>
          <a:solidFill>
            <a:srgbClr val="22C2F4"/>
          </a:solidFill>
          <a:ln/>
        </p:spPr>
      </p:sp>
      <p:sp>
        <p:nvSpPr>
          <p:cNvPr id="9" name="Text 6"/>
          <p:cNvSpPr txBox="1"/>
          <p:nvPr/>
        </p:nvSpPr>
        <p:spPr>
          <a:xfrm>
            <a:off x="7807824" y="1715648"/>
            <a:ext cx="3535631"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você escreve o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o quê</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(SQL de cada tabela), o Databricks resolve o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quando</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e a ordem</a:t>
            </a:r>
            <a:endParaRPr lang="en-US" sz="1200" dirty="0"/>
          </a:p>
        </p:txBody>
      </p:sp>
      <p:sp>
        <p:nvSpPr>
          <p:cNvPr id="10" name="Shape 7"/>
          <p:cNvSpPr/>
          <p:nvPr/>
        </p:nvSpPr>
        <p:spPr>
          <a:xfrm>
            <a:off x="7617329" y="2285744"/>
            <a:ext cx="76198" cy="76198"/>
          </a:xfrm>
          <a:prstGeom prst="roundRect">
            <a:avLst>
              <a:gd name="adj" fmla="val 25000"/>
            </a:avLst>
          </a:prstGeom>
          <a:solidFill>
            <a:srgbClr val="22C2F4"/>
          </a:solidFill>
          <a:ln/>
        </p:spPr>
      </p:sp>
      <p:sp>
        <p:nvSpPr>
          <p:cNvPr id="11" name="Text 8"/>
          <p:cNvSpPr txBox="1"/>
          <p:nvPr/>
        </p:nvSpPr>
        <p:spPr>
          <a:xfrm>
            <a:off x="7807824" y="2203196"/>
            <a:ext cx="3535631"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desenha o grafo sozinho, a partir dos </a:t>
            </a:r>
            <a:pPr algn="l" indent="0" marL="0">
              <a:lnSpc>
                <a:spcPct val="115385"/>
              </a:lnSpc>
              <a:buNone/>
            </a:pPr>
            <a:r>
              <a:rPr lang="en-US" sz="1200" dirty="0">
                <a:solidFill>
                  <a:srgbClr val="E6E8F2"/>
                </a:solidFill>
                <a:latin typeface="Courier New" pitchFamily="34" charset="0"/>
                <a:ea typeface="Courier New" pitchFamily="34" charset="-122"/>
                <a:cs typeface="Courier New" pitchFamily="34" charset="-120"/>
              </a:rPr>
              <a:t>FROM</a:t>
            </a:r>
            <a:endParaRPr lang="en-US" sz="1200" dirty="0"/>
          </a:p>
        </p:txBody>
      </p:sp>
      <p:sp>
        <p:nvSpPr>
          <p:cNvPr id="12" name="Shape 9"/>
          <p:cNvSpPr/>
          <p:nvPr/>
        </p:nvSpPr>
        <p:spPr>
          <a:xfrm>
            <a:off x="7617329" y="2567618"/>
            <a:ext cx="76198" cy="76198"/>
          </a:xfrm>
          <a:prstGeom prst="roundRect">
            <a:avLst>
              <a:gd name="adj" fmla="val 25000"/>
            </a:avLst>
          </a:prstGeom>
          <a:solidFill>
            <a:srgbClr val="22C2F4"/>
          </a:solidFill>
          <a:ln/>
        </p:spPr>
      </p:sp>
      <p:sp>
        <p:nvSpPr>
          <p:cNvPr id="13" name="Text 10"/>
          <p:cNvSpPr txBox="1"/>
          <p:nvPr/>
        </p:nvSpPr>
        <p:spPr>
          <a:xfrm>
            <a:off x="7807824" y="2485070"/>
            <a:ext cx="3535631"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expectativas de qualidade em cada tabela</a:t>
            </a:r>
            <a:endParaRPr lang="en-US" sz="1200" dirty="0"/>
          </a:p>
        </p:txBody>
      </p:sp>
      <p:sp>
        <p:nvSpPr>
          <p:cNvPr id="14" name="Shape 11"/>
          <p:cNvSpPr/>
          <p:nvPr/>
        </p:nvSpPr>
        <p:spPr>
          <a:xfrm>
            <a:off x="7617329" y="2830442"/>
            <a:ext cx="650958" cy="247644"/>
          </a:xfrm>
          <a:prstGeom prst="roundRect">
            <a:avLst>
              <a:gd name="adj" fmla="val 50000"/>
            </a:avLst>
          </a:prstGeom>
          <a:solidFill>
            <a:srgbClr val="FFFFFF">
              <a:alpha val="16000"/>
            </a:srgbClr>
          </a:solidFill>
          <a:ln/>
        </p:spPr>
      </p:sp>
      <p:sp>
        <p:nvSpPr>
          <p:cNvPr id="15" name="Text 12"/>
          <p:cNvSpPr txBox="1"/>
          <p:nvPr/>
        </p:nvSpPr>
        <p:spPr>
          <a:xfrm>
            <a:off x="7706227" y="2868541"/>
            <a:ext cx="492089"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No Farol</a:t>
            </a:r>
            <a:endParaRPr lang="en-US" sz="900" dirty="0"/>
          </a:p>
        </p:txBody>
      </p:sp>
      <p:sp>
        <p:nvSpPr>
          <p:cNvPr id="16" name="Text 13"/>
          <p:cNvSpPr txBox="1"/>
          <p:nvPr/>
        </p:nvSpPr>
        <p:spPr>
          <a:xfrm>
            <a:off x="7617329" y="3243181"/>
            <a:ext cx="3733746" cy="394285"/>
          </a:xfrm>
          <a:prstGeom prst="rect">
            <a:avLst/>
          </a:prstGeom>
          <a:noFill/>
          <a:ln/>
        </p:spPr>
        <p:txBody>
          <a:bodyPr wrap="square" lIns="0" tIns="0" rIns="0" bIns="0" rtlCol="0" anchor="t"/>
          <a:lstStyle/>
          <a:p>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noite 2: </a:t>
            </a:r>
            <a:pPr algn="l" indent="0" marL="0">
              <a:lnSpc>
                <a:spcPct val="115385"/>
              </a:lnSpc>
              <a:buNone/>
            </a:pPr>
            <a:r>
              <a:rPr lang="en-US" sz="1150" dirty="0">
                <a:solidFill>
                  <a:srgbClr val="DBE6FF"/>
                </a:solidFill>
                <a:latin typeface="Courier New" pitchFamily="34" charset="0"/>
                <a:ea typeface="Courier New" pitchFamily="34" charset="-122"/>
                <a:cs typeface="Courier New" pitchFamily="34" charset="-120"/>
              </a:rPr>
              <a:t>vertice_medalhao</a:t>
            </a:r>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 as 3 ferramentas desaguando em </a:t>
            </a:r>
            <a:pPr algn="l" indent="0" marL="0">
              <a:lnSpc>
                <a:spcPct val="115385"/>
              </a:lnSpc>
              <a:buNone/>
            </a:pPr>
            <a:r>
              <a:rPr lang="en-US" sz="1150" dirty="0">
                <a:solidFill>
                  <a:srgbClr val="DBE6FF"/>
                </a:solidFill>
                <a:latin typeface="Courier New" pitchFamily="34" charset="0"/>
                <a:ea typeface="Courier New" pitchFamily="34" charset="-122"/>
                <a:cs typeface="Courier New" pitchFamily="34" charset="-120"/>
              </a:rPr>
              <a:t>silver.tarefas</a:t>
            </a:r>
            <a:endParaRPr lang="en-US" sz="1150" dirty="0"/>
          </a:p>
        </p:txBody>
      </p:sp>
      <p:pic>
        <p:nvPicPr>
          <p:cNvPr id="17" name="Image 1" descr="preencoded.png">    </p:cNvPr>
          <p:cNvPicPr>
            <a:picLocks noChangeAspect="1"/>
          </p:cNvPicPr>
          <p:nvPr/>
        </p:nvPicPr>
        <p:blipFill>
          <a:blip r:embed="rId3"/>
          <a:stretch>
            <a:fillRect/>
          </a:stretch>
        </p:blipFill>
        <p:spPr>
          <a:xfrm>
            <a:off x="761981" y="6387940"/>
            <a:ext cx="2059928" cy="190495"/>
          </a:xfrm>
          <a:prstGeom prst="rect">
            <a:avLst/>
          </a:prstGeom>
        </p:spPr>
      </p:pic>
      <p:sp>
        <p:nvSpPr>
          <p:cNvPr id="18" name="Text 14"/>
          <p:cNvSpPr txBox="1"/>
          <p:nvPr/>
        </p:nvSpPr>
        <p:spPr>
          <a:xfrm>
            <a:off x="10940479" y="6387940"/>
            <a:ext cx="508805"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86 / 133</a:t>
            </a:r>
            <a:endParaRPr lang="en-US" sz="10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2 · O PIPELINE VERTICE_MEDALHAO</a:t>
            </a:r>
            <a:endParaRPr lang="en-US" sz="1200" dirty="0"/>
          </a:p>
        </p:txBody>
      </p:sp>
      <p:sp>
        <p:nvSpPr>
          <p:cNvPr id="3" name="Text 1"/>
          <p:cNvSpPr txBox="1"/>
          <p:nvPr/>
        </p:nvSpPr>
        <p:spPr>
          <a:xfrm>
            <a:off x="761981" y="895328"/>
            <a:ext cx="11094443" cy="86596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Você declara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o que cada tabela é</a:t>
            </a:r>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 o Lakeflow acha a ordem</a:t>
            </a:r>
            <a:endParaRPr lang="en-US" sz="3100" dirty="0"/>
          </a:p>
        </p:txBody>
      </p:sp>
      <p:sp>
        <p:nvSpPr>
          <p:cNvPr id="4" name="Shape 2"/>
          <p:cNvSpPr/>
          <p:nvPr/>
        </p:nvSpPr>
        <p:spPr>
          <a:xfrm>
            <a:off x="761981" y="2015281"/>
            <a:ext cx="10667733" cy="4144065"/>
          </a:xfrm>
          <a:prstGeom prst="roundRect">
            <a:avLst>
              <a:gd name="adj" fmla="val 3371"/>
            </a:avLst>
          </a:prstGeom>
          <a:solidFill>
            <a:srgbClr val="101016"/>
          </a:solidFill>
          <a:ln w="6350">
            <a:solidFill>
              <a:srgbClr val="2F2F39"/>
            </a:solidFill>
            <a:prstDash val="solid"/>
          </a:ln>
        </p:spPr>
      </p:sp>
      <p:pic>
        <p:nvPicPr>
          <p:cNvPr id="5" name="Image 0" descr="preencoded.png">    </p:cNvPr>
          <p:cNvPicPr>
            <a:picLocks noChangeAspect="1"/>
          </p:cNvPicPr>
          <p:nvPr/>
        </p:nvPicPr>
        <p:blipFill>
          <a:blip r:embed="rId2"/>
          <a:stretch>
            <a:fillRect/>
          </a:stretch>
        </p:blipFill>
        <p:spPr>
          <a:xfrm>
            <a:off x="908027" y="2161327"/>
            <a:ext cx="10375641" cy="3851972"/>
          </a:xfrm>
          <a:prstGeom prst="rect">
            <a:avLst/>
          </a:prstGeom>
        </p:spPr>
      </p:pic>
      <p:pic>
        <p:nvPicPr>
          <p:cNvPr id="6" name="Image 1" descr="preencoded.png">    </p:cNvPr>
          <p:cNvPicPr>
            <a:picLocks noChangeAspect="1"/>
          </p:cNvPicPr>
          <p:nvPr/>
        </p:nvPicPr>
        <p:blipFill>
          <a:blip r:embed="rId3"/>
          <a:stretch>
            <a:fillRect/>
          </a:stretch>
        </p:blipFill>
        <p:spPr>
          <a:xfrm>
            <a:off x="761981" y="6387940"/>
            <a:ext cx="2059928" cy="190495"/>
          </a:xfrm>
          <a:prstGeom prst="rect">
            <a:avLst/>
          </a:prstGeom>
        </p:spPr>
      </p:pic>
      <p:sp>
        <p:nvSpPr>
          <p:cNvPr id="7" name="Text 3"/>
          <p:cNvSpPr txBox="1"/>
          <p:nvPr/>
        </p:nvSpPr>
        <p:spPr>
          <a:xfrm>
            <a:off x="10950897" y="6387940"/>
            <a:ext cx="497970"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87 / 133</a:t>
            </a:r>
            <a:endParaRPr lang="en-US" sz="10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2 · O PIPELINE NO WORKSPACE</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O grafo que o Lakeflow desenha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sozinho</a:t>
            </a:r>
            <a:endParaRPr lang="en-US" sz="3100" dirty="0"/>
          </a:p>
        </p:txBody>
      </p:sp>
      <p:pic>
        <p:nvPicPr>
          <p:cNvPr id="4" name="Image 0" descr="preencoded.png">    </p:cNvPr>
          <p:cNvPicPr>
            <a:picLocks noChangeAspect="1"/>
          </p:cNvPicPr>
          <p:nvPr/>
        </p:nvPicPr>
        <p:blipFill>
          <a:blip r:embed="rId2"/>
          <a:stretch>
            <a:fillRect/>
          </a:stretch>
        </p:blipFill>
        <p:spPr>
          <a:xfrm>
            <a:off x="803349" y="1455304"/>
            <a:ext cx="10584996" cy="4571886"/>
          </a:xfrm>
          <a:prstGeom prst="rect">
            <a:avLst/>
          </a:prstGeom>
        </p:spPr>
      </p:pic>
      <p:pic>
        <p:nvPicPr>
          <p:cNvPr id="5" name="Image 1" descr="preencoded.png">    </p:cNvPr>
          <p:cNvPicPr>
            <a:picLocks noChangeAspect="1"/>
          </p:cNvPicPr>
          <p:nvPr/>
        </p:nvPicPr>
        <p:blipFill>
          <a:blip r:embed="rId3"/>
          <a:stretch>
            <a:fillRect/>
          </a:stretch>
        </p:blipFill>
        <p:spPr>
          <a:xfrm>
            <a:off x="761981" y="6387940"/>
            <a:ext cx="2059928" cy="190495"/>
          </a:xfrm>
          <a:prstGeom prst="rect">
            <a:avLst/>
          </a:prstGeom>
        </p:spPr>
      </p:pic>
      <p:sp>
        <p:nvSpPr>
          <p:cNvPr id="6" name="Text 2"/>
          <p:cNvSpPr txBox="1"/>
          <p:nvPr/>
        </p:nvSpPr>
        <p:spPr>
          <a:xfrm>
            <a:off x="10940975" y="6387940"/>
            <a:ext cx="508289"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88 / 133</a:t>
            </a:r>
            <a:endParaRPr lang="en-US" sz="10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2 · SILVER</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7 tabelas limpas: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a sujeira resolvida uma vez</a:t>
            </a:r>
            <a:endParaRPr lang="en-US" sz="3100" dirty="0"/>
          </a:p>
        </p:txBody>
      </p:sp>
      <p:sp>
        <p:nvSpPr>
          <p:cNvPr id="4" name="Text 2"/>
          <p:cNvSpPr txBox="1"/>
          <p:nvPr/>
        </p:nvSpPr>
        <p:spPr>
          <a:xfrm>
            <a:off x="876278" y="1582301"/>
            <a:ext cx="1541583" cy="171446"/>
          </a:xfrm>
          <a:prstGeom prst="rect">
            <a:avLst/>
          </a:prstGeom>
          <a:noFill/>
          <a:ln/>
        </p:spPr>
        <p:txBody>
          <a:bodyPr wrap="square" lIns="0" tIns="0" rIns="0" bIns="0" rtlCol="0" anchor="t"/>
          <a:lstStyle/>
          <a:p>
            <a:pPr algn="l"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SILVER</a:t>
            </a:r>
            <a:endParaRPr lang="en-US" sz="900" dirty="0"/>
          </a:p>
        </p:txBody>
      </p:sp>
      <p:sp>
        <p:nvSpPr>
          <p:cNvPr id="5" name="Text 3"/>
          <p:cNvSpPr txBox="1"/>
          <p:nvPr/>
        </p:nvSpPr>
        <p:spPr>
          <a:xfrm>
            <a:off x="2587163" y="1582301"/>
            <a:ext cx="474857" cy="171446"/>
          </a:xfrm>
          <a:prstGeom prst="rect">
            <a:avLst/>
          </a:prstGeom>
          <a:noFill/>
          <a:ln/>
        </p:spPr>
        <p:txBody>
          <a:bodyPr wrap="square" lIns="0" tIns="0" rIns="0" bIns="0" rtlCol="0" anchor="t"/>
          <a:lstStyle/>
          <a:p>
            <a:pPr algn="r"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LINHAS</a:t>
            </a:r>
            <a:endParaRPr lang="en-US" sz="900" dirty="0"/>
          </a:p>
        </p:txBody>
      </p:sp>
      <p:sp>
        <p:nvSpPr>
          <p:cNvPr id="6" name="Text 4"/>
          <p:cNvSpPr txBox="1"/>
          <p:nvPr/>
        </p:nvSpPr>
        <p:spPr>
          <a:xfrm>
            <a:off x="3272351" y="1582301"/>
            <a:ext cx="8364789" cy="171446"/>
          </a:xfrm>
          <a:prstGeom prst="rect">
            <a:avLst/>
          </a:prstGeom>
          <a:noFill/>
          <a:ln/>
        </p:spPr>
        <p:txBody>
          <a:bodyPr wrap="square" lIns="0" tIns="0" rIns="0" bIns="0" rtlCol="0" anchor="t"/>
          <a:lstStyle/>
          <a:p>
            <a:pPr algn="l"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O QUE A LIMPEZA FEZ</a:t>
            </a:r>
            <a:endParaRPr lang="en-US" sz="900" dirty="0"/>
          </a:p>
        </p:txBody>
      </p:sp>
      <p:sp>
        <p:nvSpPr>
          <p:cNvPr id="7" name="Shape 5"/>
          <p:cNvSpPr/>
          <p:nvPr/>
        </p:nvSpPr>
        <p:spPr>
          <a:xfrm>
            <a:off x="761981" y="1880744"/>
            <a:ext cx="1710885" cy="549857"/>
          </a:xfrm>
          <a:prstGeom prst="rect">
            <a:avLst/>
          </a:prstGeom>
          <a:solidFill>
            <a:srgbClr val="1B2A4A"/>
          </a:solidFill>
          <a:ln/>
        </p:spPr>
      </p:sp>
      <p:sp>
        <p:nvSpPr>
          <p:cNvPr id="8" name="Text 6"/>
          <p:cNvSpPr txBox="1"/>
          <p:nvPr/>
        </p:nvSpPr>
        <p:spPr>
          <a:xfrm>
            <a:off x="876278" y="1982341"/>
            <a:ext cx="1541583" cy="346662"/>
          </a:xfrm>
          <a:prstGeom prst="rect">
            <a:avLst/>
          </a:prstGeom>
          <a:noFill/>
          <a:ln/>
        </p:spPr>
        <p:txBody>
          <a:bodyPr wrap="square" lIns="0" tIns="0" rIns="0" bIns="0" rtlCol="0" anchor="t"/>
          <a:lstStyle/>
          <a:p>
            <a:pPr algn="l" indent="0" marL="0">
              <a:lnSpc>
                <a:spcPct val="111111"/>
              </a:lnSpc>
              <a:buNone/>
            </a:pPr>
            <a:r>
              <a:rPr lang="en-US" sz="1050" b="1" dirty="0">
                <a:solidFill>
                  <a:srgbClr val="F5F6FC"/>
                </a:solidFill>
                <a:latin typeface="Poppins" pitchFamily="34" charset="0"/>
                <a:ea typeface="Poppins" pitchFamily="34" charset="-122"/>
                <a:cs typeface="Poppins" pitchFamily="34" charset="-120"/>
              </a:rPr>
              <a:t>tarefas</a:t>
            </a:r>
            <a:endParaRPr lang="en-US" sz="1050" dirty="0"/>
          </a:p>
        </p:txBody>
      </p:sp>
      <p:sp>
        <p:nvSpPr>
          <p:cNvPr id="9" name="Shape 7"/>
          <p:cNvSpPr/>
          <p:nvPr/>
        </p:nvSpPr>
        <p:spPr>
          <a:xfrm>
            <a:off x="2472866" y="1880744"/>
            <a:ext cx="685188" cy="549857"/>
          </a:xfrm>
          <a:prstGeom prst="rect">
            <a:avLst/>
          </a:prstGeom>
          <a:solidFill>
            <a:srgbClr val="1B2A4A"/>
          </a:solidFill>
          <a:ln/>
        </p:spPr>
      </p:sp>
      <p:sp>
        <p:nvSpPr>
          <p:cNvPr id="10" name="Text 8"/>
          <p:cNvSpPr txBox="1"/>
          <p:nvPr/>
        </p:nvSpPr>
        <p:spPr>
          <a:xfrm>
            <a:off x="2587163" y="1982341"/>
            <a:ext cx="474857" cy="346662"/>
          </a:xfrm>
          <a:prstGeom prst="rect">
            <a:avLst/>
          </a:prstGeom>
          <a:noFill/>
          <a:ln/>
        </p:spPr>
        <p:txBody>
          <a:bodyPr wrap="square" lIns="0" tIns="0" rIns="0" bIns="0" rtlCol="0" anchor="t"/>
          <a:lstStyle/>
          <a:p>
            <a:pPr algn="r" indent="0" marL="0">
              <a:lnSpc>
                <a:spcPct val="111111"/>
              </a:lnSpc>
              <a:buNone/>
            </a:pPr>
            <a:r>
              <a:rPr lang="en-US" sz="1050" dirty="0">
                <a:solidFill>
                  <a:srgbClr val="F5F6FC"/>
                </a:solidFill>
                <a:latin typeface="Poppins" pitchFamily="34" charset="0"/>
                <a:ea typeface="Poppins" pitchFamily="34" charset="-122"/>
                <a:cs typeface="Poppins" pitchFamily="34" charset="-120"/>
              </a:rPr>
              <a:t>4.917</a:t>
            </a:r>
            <a:endParaRPr lang="en-US" sz="1050" dirty="0"/>
          </a:p>
        </p:txBody>
      </p:sp>
      <p:sp>
        <p:nvSpPr>
          <p:cNvPr id="11" name="Shape 9"/>
          <p:cNvSpPr/>
          <p:nvPr/>
        </p:nvSpPr>
        <p:spPr>
          <a:xfrm>
            <a:off x="3158054" y="1880744"/>
            <a:ext cx="8271660" cy="549857"/>
          </a:xfrm>
          <a:prstGeom prst="rect">
            <a:avLst/>
          </a:prstGeom>
          <a:solidFill>
            <a:srgbClr val="1B2A4A"/>
          </a:solidFill>
          <a:ln/>
        </p:spPr>
      </p:sp>
      <p:sp>
        <p:nvSpPr>
          <p:cNvPr id="12" name="Text 10"/>
          <p:cNvSpPr txBox="1"/>
          <p:nvPr/>
        </p:nvSpPr>
        <p:spPr>
          <a:xfrm>
            <a:off x="3272351" y="1982341"/>
            <a:ext cx="8364789" cy="346662"/>
          </a:xfrm>
          <a:prstGeom prst="rect">
            <a:avLst/>
          </a:prstGeom>
          <a:noFill/>
          <a:ln/>
        </p:spPr>
        <p:txBody>
          <a:bodyPr wrap="square" lIns="0" tIns="0" rIns="0" bIns="0" rtlCol="0" anchor="t"/>
          <a:lstStyle/>
          <a:p>
            <a:pPr algn="l" indent="0" marL="0">
              <a:lnSpc>
                <a:spcPct val="111111"/>
              </a:lnSpc>
              <a:buNone/>
            </a:pPr>
            <a:r>
              <a:rPr lang="en-US" sz="1050" b="1" dirty="0">
                <a:solidFill>
                  <a:srgbClr val="FFFFFF"/>
                </a:solidFill>
                <a:latin typeface="Poppins" pitchFamily="34" charset="0"/>
                <a:ea typeface="Poppins" pitchFamily="34" charset="-122"/>
                <a:cs typeface="Poppins" pitchFamily="34" charset="-120"/>
              </a:rPr>
              <a:t>as 3 ferramentas viram uma</a:t>
            </a:r>
            <a:pPr algn="l" indent="0" marL="0">
              <a:lnSpc>
                <a:spcPct val="111111"/>
              </a:lnSpc>
              <a:buNone/>
            </a:pPr>
            <a:r>
              <a:rPr lang="en-US" sz="1050" dirty="0">
                <a:solidFill>
                  <a:srgbClr val="F5F6FC"/>
                </a:solidFill>
                <a:latin typeface="Poppins" pitchFamily="34" charset="0"/>
                <a:ea typeface="Poppins" pitchFamily="34" charset="-122"/>
                <a:cs typeface="Poppins" pitchFamily="34" charset="-120"/>
              </a:rPr>
              <a:t>: sem linha de TOTAL, sem tarefa-resumo, data de série e milissegundo convertidas (Excel 1.643 · ClickUp 2.119 · Project 1.155)</a:t>
            </a:r>
            <a:endParaRPr lang="en-US" sz="1050" dirty="0"/>
          </a:p>
        </p:txBody>
      </p:sp>
      <p:sp>
        <p:nvSpPr>
          <p:cNvPr id="13" name="Shape 11"/>
          <p:cNvSpPr/>
          <p:nvPr/>
        </p:nvSpPr>
        <p:spPr>
          <a:xfrm>
            <a:off x="761981" y="2481399"/>
            <a:ext cx="1710885" cy="376526"/>
          </a:xfrm>
          <a:prstGeom prst="rect">
            <a:avLst/>
          </a:prstGeom>
          <a:solidFill>
            <a:srgbClr val="1E1E24"/>
          </a:solidFill>
          <a:ln/>
        </p:spPr>
      </p:sp>
      <p:sp>
        <p:nvSpPr>
          <p:cNvPr id="14" name="Text 12"/>
          <p:cNvSpPr txBox="1"/>
          <p:nvPr/>
        </p:nvSpPr>
        <p:spPr>
          <a:xfrm>
            <a:off x="876278" y="2582996"/>
            <a:ext cx="1541583" cy="173331"/>
          </a:xfrm>
          <a:prstGeom prst="rect">
            <a:avLst/>
          </a:prstGeom>
          <a:noFill/>
          <a:ln/>
        </p:spPr>
        <p:txBody>
          <a:bodyPr wrap="square" lIns="0" tIns="0" rIns="0" bIns="0" rtlCol="0" anchor="t"/>
          <a:lstStyle/>
          <a:p>
            <a:pPr algn="l" indent="0" marL="0">
              <a:lnSpc>
                <a:spcPct val="111111"/>
              </a:lnSpc>
              <a:buNone/>
            </a:pPr>
            <a:r>
              <a:rPr lang="en-US" sz="1050" b="1" dirty="0">
                <a:solidFill>
                  <a:srgbClr val="F5F6FC"/>
                </a:solidFill>
                <a:latin typeface="Poppins" pitchFamily="34" charset="0"/>
                <a:ea typeface="Poppins" pitchFamily="34" charset="-122"/>
                <a:cs typeface="Poppins" pitchFamily="34" charset="-120"/>
              </a:rPr>
              <a:t>projetos</a:t>
            </a:r>
            <a:endParaRPr lang="en-US" sz="1050" dirty="0"/>
          </a:p>
        </p:txBody>
      </p:sp>
      <p:sp>
        <p:nvSpPr>
          <p:cNvPr id="15" name="Shape 13"/>
          <p:cNvSpPr/>
          <p:nvPr/>
        </p:nvSpPr>
        <p:spPr>
          <a:xfrm>
            <a:off x="2472866" y="2481399"/>
            <a:ext cx="685188" cy="376526"/>
          </a:xfrm>
          <a:prstGeom prst="rect">
            <a:avLst/>
          </a:prstGeom>
          <a:solidFill>
            <a:srgbClr val="1E1E24"/>
          </a:solidFill>
          <a:ln/>
        </p:spPr>
      </p:sp>
      <p:sp>
        <p:nvSpPr>
          <p:cNvPr id="16" name="Text 14"/>
          <p:cNvSpPr txBox="1"/>
          <p:nvPr/>
        </p:nvSpPr>
        <p:spPr>
          <a:xfrm>
            <a:off x="2587163" y="2582996"/>
            <a:ext cx="474857" cy="173331"/>
          </a:xfrm>
          <a:prstGeom prst="rect">
            <a:avLst/>
          </a:prstGeom>
          <a:noFill/>
          <a:ln/>
        </p:spPr>
        <p:txBody>
          <a:bodyPr wrap="square" lIns="0" tIns="0" rIns="0" bIns="0" rtlCol="0" anchor="t"/>
          <a:lstStyle/>
          <a:p>
            <a:pPr algn="r" indent="0" marL="0">
              <a:lnSpc>
                <a:spcPct val="111111"/>
              </a:lnSpc>
              <a:buNone/>
            </a:pPr>
            <a:r>
              <a:rPr lang="en-US" sz="1050" dirty="0">
                <a:solidFill>
                  <a:srgbClr val="F5F6FC"/>
                </a:solidFill>
                <a:latin typeface="Poppins" pitchFamily="34" charset="0"/>
                <a:ea typeface="Poppins" pitchFamily="34" charset="-122"/>
                <a:cs typeface="Poppins" pitchFamily="34" charset="-120"/>
              </a:rPr>
              <a:t>60</a:t>
            </a:r>
            <a:endParaRPr lang="en-US" sz="1050" dirty="0"/>
          </a:p>
        </p:txBody>
      </p:sp>
      <p:sp>
        <p:nvSpPr>
          <p:cNvPr id="17" name="Shape 15"/>
          <p:cNvSpPr/>
          <p:nvPr/>
        </p:nvSpPr>
        <p:spPr>
          <a:xfrm>
            <a:off x="3158054" y="2481399"/>
            <a:ext cx="8271660" cy="376526"/>
          </a:xfrm>
          <a:prstGeom prst="rect">
            <a:avLst/>
          </a:prstGeom>
          <a:solidFill>
            <a:srgbClr val="1E1E24"/>
          </a:solidFill>
          <a:ln/>
        </p:spPr>
      </p:sp>
      <p:sp>
        <p:nvSpPr>
          <p:cNvPr id="18" name="Text 16"/>
          <p:cNvSpPr txBox="1"/>
          <p:nvPr/>
        </p:nvSpPr>
        <p:spPr>
          <a:xfrm>
            <a:off x="3272351" y="2582996"/>
            <a:ext cx="8364789" cy="173331"/>
          </a:xfrm>
          <a:prstGeom prst="rect">
            <a:avLst/>
          </a:prstGeom>
          <a:noFill/>
          <a:ln/>
        </p:spPr>
        <p:txBody>
          <a:bodyPr wrap="square" lIns="0" tIns="0" rIns="0" bIns="0" rtlCol="0" anchor="t"/>
          <a:lstStyle/>
          <a:p>
            <a:pPr algn="l" indent="0" marL="0">
              <a:lnSpc>
                <a:spcPct val="111111"/>
              </a:lnSpc>
              <a:buNone/>
            </a:pPr>
            <a:r>
              <a:rPr lang="en-US" sz="1050" dirty="0">
                <a:solidFill>
                  <a:srgbClr val="F5F6FC"/>
                </a:solidFill>
                <a:latin typeface="Poppins" pitchFamily="34" charset="0"/>
                <a:ea typeface="Poppins" pitchFamily="34" charset="-122"/>
                <a:cs typeface="Poppins" pitchFamily="34" charset="-120"/>
              </a:rPr>
              <a:t>data em 2 formatos unificada; ferramenta de 8 jeitos vira excel, clickup ou msproject</a:t>
            </a:r>
            <a:endParaRPr lang="en-US" sz="1050" dirty="0"/>
          </a:p>
        </p:txBody>
      </p:sp>
      <p:sp>
        <p:nvSpPr>
          <p:cNvPr id="19" name="Shape 17"/>
          <p:cNvSpPr/>
          <p:nvPr/>
        </p:nvSpPr>
        <p:spPr>
          <a:xfrm>
            <a:off x="761981" y="2908723"/>
            <a:ext cx="1710885" cy="376526"/>
          </a:xfrm>
          <a:prstGeom prst="rect">
            <a:avLst/>
          </a:prstGeom>
          <a:solidFill>
            <a:srgbClr val="1E1E24"/>
          </a:solidFill>
          <a:ln/>
        </p:spPr>
      </p:sp>
      <p:sp>
        <p:nvSpPr>
          <p:cNvPr id="20" name="Text 18"/>
          <p:cNvSpPr txBox="1"/>
          <p:nvPr/>
        </p:nvSpPr>
        <p:spPr>
          <a:xfrm>
            <a:off x="876278" y="3010321"/>
            <a:ext cx="1541583" cy="173331"/>
          </a:xfrm>
          <a:prstGeom prst="rect">
            <a:avLst/>
          </a:prstGeom>
          <a:noFill/>
          <a:ln/>
        </p:spPr>
        <p:txBody>
          <a:bodyPr wrap="square" lIns="0" tIns="0" rIns="0" bIns="0" rtlCol="0" anchor="t"/>
          <a:lstStyle/>
          <a:p>
            <a:pPr algn="l" indent="0" marL="0">
              <a:lnSpc>
                <a:spcPct val="111111"/>
              </a:lnSpc>
              <a:buNone/>
            </a:pPr>
            <a:r>
              <a:rPr lang="en-US" sz="1050" b="1" dirty="0">
                <a:solidFill>
                  <a:srgbClr val="F5F6FC"/>
                </a:solidFill>
                <a:latin typeface="Poppins" pitchFamily="34" charset="0"/>
                <a:ea typeface="Poppins" pitchFamily="34" charset="-122"/>
                <a:cs typeface="Poppins" pitchFamily="34" charset="-120"/>
              </a:rPr>
              <a:t>status_semanal</a:t>
            </a:r>
            <a:endParaRPr lang="en-US" sz="1050" dirty="0"/>
          </a:p>
        </p:txBody>
      </p:sp>
      <p:sp>
        <p:nvSpPr>
          <p:cNvPr id="21" name="Shape 19"/>
          <p:cNvSpPr/>
          <p:nvPr/>
        </p:nvSpPr>
        <p:spPr>
          <a:xfrm>
            <a:off x="2472866" y="2908723"/>
            <a:ext cx="685188" cy="376526"/>
          </a:xfrm>
          <a:prstGeom prst="rect">
            <a:avLst/>
          </a:prstGeom>
          <a:solidFill>
            <a:srgbClr val="1E1E24"/>
          </a:solidFill>
          <a:ln/>
        </p:spPr>
      </p:sp>
      <p:sp>
        <p:nvSpPr>
          <p:cNvPr id="22" name="Text 20"/>
          <p:cNvSpPr txBox="1"/>
          <p:nvPr/>
        </p:nvSpPr>
        <p:spPr>
          <a:xfrm>
            <a:off x="2587163" y="3010321"/>
            <a:ext cx="474857" cy="173331"/>
          </a:xfrm>
          <a:prstGeom prst="rect">
            <a:avLst/>
          </a:prstGeom>
          <a:noFill/>
          <a:ln/>
        </p:spPr>
        <p:txBody>
          <a:bodyPr wrap="square" lIns="0" tIns="0" rIns="0" bIns="0" rtlCol="0" anchor="t"/>
          <a:lstStyle/>
          <a:p>
            <a:pPr algn="r" indent="0" marL="0">
              <a:lnSpc>
                <a:spcPct val="111111"/>
              </a:lnSpc>
              <a:buNone/>
            </a:pPr>
            <a:r>
              <a:rPr lang="en-US" sz="1050" dirty="0">
                <a:solidFill>
                  <a:srgbClr val="F5F6FC"/>
                </a:solidFill>
                <a:latin typeface="Poppins" pitchFamily="34" charset="0"/>
                <a:ea typeface="Poppins" pitchFamily="34" charset="-122"/>
                <a:cs typeface="Poppins" pitchFamily="34" charset="-120"/>
              </a:rPr>
              <a:t>3.911</a:t>
            </a:r>
            <a:endParaRPr lang="en-US" sz="1050" dirty="0"/>
          </a:p>
        </p:txBody>
      </p:sp>
      <p:sp>
        <p:nvSpPr>
          <p:cNvPr id="23" name="Shape 21"/>
          <p:cNvSpPr/>
          <p:nvPr/>
        </p:nvSpPr>
        <p:spPr>
          <a:xfrm>
            <a:off x="3158054" y="2908723"/>
            <a:ext cx="8271660" cy="376526"/>
          </a:xfrm>
          <a:prstGeom prst="rect">
            <a:avLst/>
          </a:prstGeom>
          <a:solidFill>
            <a:srgbClr val="1E1E24"/>
          </a:solidFill>
          <a:ln/>
        </p:spPr>
      </p:sp>
      <p:sp>
        <p:nvSpPr>
          <p:cNvPr id="24" name="Text 22"/>
          <p:cNvSpPr txBox="1"/>
          <p:nvPr/>
        </p:nvSpPr>
        <p:spPr>
          <a:xfrm>
            <a:off x="3272351" y="3010321"/>
            <a:ext cx="8364789" cy="173331"/>
          </a:xfrm>
          <a:prstGeom prst="rect">
            <a:avLst/>
          </a:prstGeom>
          <a:noFill/>
          <a:ln/>
        </p:spPr>
        <p:txBody>
          <a:bodyPr wrap="square" lIns="0" tIns="0" rIns="0" bIns="0" rtlCol="0" anchor="t"/>
          <a:lstStyle/>
          <a:p>
            <a:pPr algn="l" indent="0" marL="0">
              <a:lnSpc>
                <a:spcPct val="111111"/>
              </a:lnSpc>
              <a:buNone/>
            </a:pPr>
            <a:r>
              <a:rPr lang="en-US" sz="1050" dirty="0">
                <a:solidFill>
                  <a:srgbClr val="F5F6FC"/>
                </a:solidFill>
                <a:latin typeface="Poppins" pitchFamily="34" charset="0"/>
                <a:ea typeface="Poppins" pitchFamily="34" charset="-122"/>
                <a:cs typeface="Poppins" pitchFamily="34" charset="-120"/>
              </a:rPr>
              <a:t>farol em minúsculas; status vazio sinalizado</a:t>
            </a:r>
            <a:endParaRPr lang="en-US" sz="1050" dirty="0"/>
          </a:p>
        </p:txBody>
      </p:sp>
      <p:sp>
        <p:nvSpPr>
          <p:cNvPr id="25" name="Shape 23"/>
          <p:cNvSpPr/>
          <p:nvPr/>
        </p:nvSpPr>
        <p:spPr>
          <a:xfrm>
            <a:off x="761981" y="3336048"/>
            <a:ext cx="1710885" cy="376526"/>
          </a:xfrm>
          <a:prstGeom prst="rect">
            <a:avLst/>
          </a:prstGeom>
          <a:solidFill>
            <a:srgbClr val="1E1E24"/>
          </a:solidFill>
          <a:ln/>
        </p:spPr>
      </p:sp>
      <p:sp>
        <p:nvSpPr>
          <p:cNvPr id="26" name="Text 24"/>
          <p:cNvSpPr txBox="1"/>
          <p:nvPr/>
        </p:nvSpPr>
        <p:spPr>
          <a:xfrm>
            <a:off x="876278" y="3437645"/>
            <a:ext cx="1541583" cy="173331"/>
          </a:xfrm>
          <a:prstGeom prst="rect">
            <a:avLst/>
          </a:prstGeom>
          <a:noFill/>
          <a:ln/>
        </p:spPr>
        <p:txBody>
          <a:bodyPr wrap="square" lIns="0" tIns="0" rIns="0" bIns="0" rtlCol="0" anchor="t"/>
          <a:lstStyle/>
          <a:p>
            <a:pPr algn="l" indent="0" marL="0">
              <a:lnSpc>
                <a:spcPct val="111111"/>
              </a:lnSpc>
              <a:buNone/>
            </a:pPr>
            <a:r>
              <a:rPr lang="en-US" sz="1050" b="1" dirty="0">
                <a:solidFill>
                  <a:srgbClr val="F5F6FC"/>
                </a:solidFill>
                <a:latin typeface="Poppins" pitchFamily="34" charset="0"/>
                <a:ea typeface="Poppins" pitchFamily="34" charset="-122"/>
                <a:cs typeface="Poppins" pitchFamily="34" charset="-120"/>
              </a:rPr>
              <a:t>custos</a:t>
            </a:r>
            <a:endParaRPr lang="en-US" sz="1050" dirty="0"/>
          </a:p>
        </p:txBody>
      </p:sp>
      <p:sp>
        <p:nvSpPr>
          <p:cNvPr id="27" name="Shape 25"/>
          <p:cNvSpPr/>
          <p:nvPr/>
        </p:nvSpPr>
        <p:spPr>
          <a:xfrm>
            <a:off x="2472866" y="3336048"/>
            <a:ext cx="685188" cy="376526"/>
          </a:xfrm>
          <a:prstGeom prst="rect">
            <a:avLst/>
          </a:prstGeom>
          <a:solidFill>
            <a:srgbClr val="1E1E24"/>
          </a:solidFill>
          <a:ln/>
        </p:spPr>
      </p:sp>
      <p:sp>
        <p:nvSpPr>
          <p:cNvPr id="28" name="Text 26"/>
          <p:cNvSpPr txBox="1"/>
          <p:nvPr/>
        </p:nvSpPr>
        <p:spPr>
          <a:xfrm>
            <a:off x="2587163" y="3437645"/>
            <a:ext cx="474857" cy="173331"/>
          </a:xfrm>
          <a:prstGeom prst="rect">
            <a:avLst/>
          </a:prstGeom>
          <a:noFill/>
          <a:ln/>
        </p:spPr>
        <p:txBody>
          <a:bodyPr wrap="square" lIns="0" tIns="0" rIns="0" bIns="0" rtlCol="0" anchor="t"/>
          <a:lstStyle/>
          <a:p>
            <a:pPr algn="r" indent="0" marL="0">
              <a:lnSpc>
                <a:spcPct val="111111"/>
              </a:lnSpc>
              <a:buNone/>
            </a:pPr>
            <a:r>
              <a:rPr lang="en-US" sz="1050" dirty="0">
                <a:solidFill>
                  <a:srgbClr val="F5F6FC"/>
                </a:solidFill>
                <a:latin typeface="Poppins" pitchFamily="34" charset="0"/>
                <a:ea typeface="Poppins" pitchFamily="34" charset="-122"/>
                <a:cs typeface="Poppins" pitchFamily="34" charset="-120"/>
              </a:rPr>
              <a:t>23.640</a:t>
            </a:r>
            <a:endParaRPr lang="en-US" sz="1050" dirty="0"/>
          </a:p>
        </p:txBody>
      </p:sp>
      <p:sp>
        <p:nvSpPr>
          <p:cNvPr id="29" name="Shape 27"/>
          <p:cNvSpPr/>
          <p:nvPr/>
        </p:nvSpPr>
        <p:spPr>
          <a:xfrm>
            <a:off x="3158054" y="3336048"/>
            <a:ext cx="8271660" cy="376526"/>
          </a:xfrm>
          <a:prstGeom prst="rect">
            <a:avLst/>
          </a:prstGeom>
          <a:solidFill>
            <a:srgbClr val="1E1E24"/>
          </a:solidFill>
          <a:ln/>
        </p:spPr>
      </p:sp>
      <p:sp>
        <p:nvSpPr>
          <p:cNvPr id="30" name="Text 28"/>
          <p:cNvSpPr txBox="1"/>
          <p:nvPr/>
        </p:nvSpPr>
        <p:spPr>
          <a:xfrm>
            <a:off x="3272351" y="3437645"/>
            <a:ext cx="8364789" cy="173331"/>
          </a:xfrm>
          <a:prstGeom prst="rect">
            <a:avLst/>
          </a:prstGeom>
          <a:noFill/>
          <a:ln/>
        </p:spPr>
        <p:txBody>
          <a:bodyPr wrap="square" lIns="0" tIns="0" rIns="0" bIns="0" rtlCol="0" anchor="t"/>
          <a:lstStyle/>
          <a:p>
            <a:pPr algn="l" indent="0" marL="0">
              <a:lnSpc>
                <a:spcPct val="111111"/>
              </a:lnSpc>
              <a:buNone/>
            </a:pPr>
            <a:r>
              <a:rPr lang="en-US" sz="1050" dirty="0">
                <a:solidFill>
                  <a:srgbClr val="F5F6FC"/>
                </a:solidFill>
                <a:latin typeface="Poppins" pitchFamily="34" charset="0"/>
                <a:ea typeface="Poppins" pitchFamily="34" charset="-122"/>
                <a:cs typeface="Poppins" pitchFamily="34" charset="-120"/>
              </a:rPr>
              <a:t>vírgula decimal recuperada: os 671 lançamentos voltam (R$ 193,35 mi)</a:t>
            </a:r>
            <a:endParaRPr lang="en-US" sz="1050" dirty="0"/>
          </a:p>
        </p:txBody>
      </p:sp>
      <p:sp>
        <p:nvSpPr>
          <p:cNvPr id="31" name="Shape 29"/>
          <p:cNvSpPr/>
          <p:nvPr/>
        </p:nvSpPr>
        <p:spPr>
          <a:xfrm>
            <a:off x="761981" y="3763372"/>
            <a:ext cx="1710885" cy="376526"/>
          </a:xfrm>
          <a:prstGeom prst="rect">
            <a:avLst/>
          </a:prstGeom>
          <a:solidFill>
            <a:srgbClr val="1E1E24"/>
          </a:solidFill>
          <a:ln/>
        </p:spPr>
      </p:sp>
      <p:sp>
        <p:nvSpPr>
          <p:cNvPr id="32" name="Text 30"/>
          <p:cNvSpPr txBox="1"/>
          <p:nvPr/>
        </p:nvSpPr>
        <p:spPr>
          <a:xfrm>
            <a:off x="876278" y="3864970"/>
            <a:ext cx="1541583" cy="173331"/>
          </a:xfrm>
          <a:prstGeom prst="rect">
            <a:avLst/>
          </a:prstGeom>
          <a:noFill/>
          <a:ln/>
        </p:spPr>
        <p:txBody>
          <a:bodyPr wrap="square" lIns="0" tIns="0" rIns="0" bIns="0" rtlCol="0" anchor="t"/>
          <a:lstStyle/>
          <a:p>
            <a:pPr algn="l" indent="0" marL="0">
              <a:lnSpc>
                <a:spcPct val="111111"/>
              </a:lnSpc>
              <a:buNone/>
            </a:pPr>
            <a:r>
              <a:rPr lang="en-US" sz="1050" b="1" dirty="0">
                <a:solidFill>
                  <a:srgbClr val="F5F6FC"/>
                </a:solidFill>
                <a:latin typeface="Poppins" pitchFamily="34" charset="0"/>
                <a:ea typeface="Poppins" pitchFamily="34" charset="-122"/>
                <a:cs typeface="Poppins" pitchFamily="34" charset="-120"/>
              </a:rPr>
              <a:t>colaboradores</a:t>
            </a:r>
            <a:endParaRPr lang="en-US" sz="1050" dirty="0"/>
          </a:p>
        </p:txBody>
      </p:sp>
      <p:sp>
        <p:nvSpPr>
          <p:cNvPr id="33" name="Shape 31"/>
          <p:cNvSpPr/>
          <p:nvPr/>
        </p:nvSpPr>
        <p:spPr>
          <a:xfrm>
            <a:off x="2472866" y="3763372"/>
            <a:ext cx="685188" cy="376526"/>
          </a:xfrm>
          <a:prstGeom prst="rect">
            <a:avLst/>
          </a:prstGeom>
          <a:solidFill>
            <a:srgbClr val="1E1E24"/>
          </a:solidFill>
          <a:ln/>
        </p:spPr>
      </p:sp>
      <p:sp>
        <p:nvSpPr>
          <p:cNvPr id="34" name="Text 32"/>
          <p:cNvSpPr txBox="1"/>
          <p:nvPr/>
        </p:nvSpPr>
        <p:spPr>
          <a:xfrm>
            <a:off x="2587163" y="3864970"/>
            <a:ext cx="474857" cy="173331"/>
          </a:xfrm>
          <a:prstGeom prst="rect">
            <a:avLst/>
          </a:prstGeom>
          <a:noFill/>
          <a:ln/>
        </p:spPr>
        <p:txBody>
          <a:bodyPr wrap="square" lIns="0" tIns="0" rIns="0" bIns="0" rtlCol="0" anchor="t"/>
          <a:lstStyle/>
          <a:p>
            <a:pPr algn="r" indent="0" marL="0">
              <a:lnSpc>
                <a:spcPct val="111111"/>
              </a:lnSpc>
              <a:buNone/>
            </a:pPr>
            <a:r>
              <a:rPr lang="en-US" sz="1050" dirty="0">
                <a:solidFill>
                  <a:srgbClr val="F5F6FC"/>
                </a:solidFill>
                <a:latin typeface="Poppins" pitchFamily="34" charset="0"/>
                <a:ea typeface="Poppins" pitchFamily="34" charset="-122"/>
                <a:cs typeface="Poppins" pitchFamily="34" charset="-120"/>
              </a:rPr>
              <a:t>520</a:t>
            </a:r>
            <a:endParaRPr lang="en-US" sz="1050" dirty="0"/>
          </a:p>
        </p:txBody>
      </p:sp>
      <p:sp>
        <p:nvSpPr>
          <p:cNvPr id="35" name="Shape 33"/>
          <p:cNvSpPr/>
          <p:nvPr/>
        </p:nvSpPr>
        <p:spPr>
          <a:xfrm>
            <a:off x="3158054" y="3763372"/>
            <a:ext cx="8271660" cy="376526"/>
          </a:xfrm>
          <a:prstGeom prst="rect">
            <a:avLst/>
          </a:prstGeom>
          <a:solidFill>
            <a:srgbClr val="1E1E24"/>
          </a:solidFill>
          <a:ln/>
        </p:spPr>
      </p:sp>
      <p:sp>
        <p:nvSpPr>
          <p:cNvPr id="36" name="Text 34"/>
          <p:cNvSpPr txBox="1"/>
          <p:nvPr/>
        </p:nvSpPr>
        <p:spPr>
          <a:xfrm>
            <a:off x="3272351" y="3864970"/>
            <a:ext cx="8364789" cy="173331"/>
          </a:xfrm>
          <a:prstGeom prst="rect">
            <a:avLst/>
          </a:prstGeom>
          <a:noFill/>
          <a:ln/>
        </p:spPr>
        <p:txBody>
          <a:bodyPr wrap="square" lIns="0" tIns="0" rIns="0" bIns="0" rtlCol="0" anchor="t"/>
          <a:lstStyle/>
          <a:p>
            <a:pPr algn="l" indent="0" marL="0">
              <a:lnSpc>
                <a:spcPct val="111111"/>
              </a:lnSpc>
              <a:buNone/>
            </a:pPr>
            <a:r>
              <a:rPr lang="en-US" sz="1050" dirty="0">
                <a:solidFill>
                  <a:srgbClr val="F5F6FC"/>
                </a:solidFill>
                <a:latin typeface="Poppins" pitchFamily="34" charset="0"/>
                <a:ea typeface="Poppins" pitchFamily="34" charset="-122"/>
                <a:cs typeface="Poppins" pitchFamily="34" charset="-120"/>
              </a:rPr>
              <a:t>3 duplicatas do RH removidas</a:t>
            </a:r>
            <a:endParaRPr lang="en-US" sz="1050" dirty="0"/>
          </a:p>
        </p:txBody>
      </p:sp>
      <p:sp>
        <p:nvSpPr>
          <p:cNvPr id="37" name="Shape 35"/>
          <p:cNvSpPr/>
          <p:nvPr/>
        </p:nvSpPr>
        <p:spPr>
          <a:xfrm>
            <a:off x="761981" y="4190697"/>
            <a:ext cx="1710885" cy="376526"/>
          </a:xfrm>
          <a:prstGeom prst="rect">
            <a:avLst/>
          </a:prstGeom>
          <a:solidFill>
            <a:srgbClr val="1E1E24"/>
          </a:solidFill>
          <a:ln/>
        </p:spPr>
      </p:sp>
      <p:sp>
        <p:nvSpPr>
          <p:cNvPr id="38" name="Text 36"/>
          <p:cNvSpPr txBox="1"/>
          <p:nvPr/>
        </p:nvSpPr>
        <p:spPr>
          <a:xfrm>
            <a:off x="876278" y="4292294"/>
            <a:ext cx="1541583" cy="173331"/>
          </a:xfrm>
          <a:prstGeom prst="rect">
            <a:avLst/>
          </a:prstGeom>
          <a:noFill/>
          <a:ln/>
        </p:spPr>
        <p:txBody>
          <a:bodyPr wrap="square" lIns="0" tIns="0" rIns="0" bIns="0" rtlCol="0" anchor="t"/>
          <a:lstStyle/>
          <a:p>
            <a:pPr algn="l" indent="0" marL="0">
              <a:lnSpc>
                <a:spcPct val="111111"/>
              </a:lnSpc>
              <a:buNone/>
            </a:pPr>
            <a:r>
              <a:rPr lang="en-US" sz="1050" b="1" dirty="0">
                <a:solidFill>
                  <a:srgbClr val="F5F6FC"/>
                </a:solidFill>
                <a:latin typeface="Poppins" pitchFamily="34" charset="0"/>
                <a:ea typeface="Poppins" pitchFamily="34" charset="-122"/>
                <a:cs typeface="Poppins" pitchFamily="34" charset="-120"/>
              </a:rPr>
              <a:t>apontamentos</a:t>
            </a:r>
            <a:endParaRPr lang="en-US" sz="1050" dirty="0"/>
          </a:p>
        </p:txBody>
      </p:sp>
      <p:sp>
        <p:nvSpPr>
          <p:cNvPr id="39" name="Shape 37"/>
          <p:cNvSpPr/>
          <p:nvPr/>
        </p:nvSpPr>
        <p:spPr>
          <a:xfrm>
            <a:off x="2472866" y="4190697"/>
            <a:ext cx="685188" cy="376526"/>
          </a:xfrm>
          <a:prstGeom prst="rect">
            <a:avLst/>
          </a:prstGeom>
          <a:solidFill>
            <a:srgbClr val="1E1E24"/>
          </a:solidFill>
          <a:ln/>
        </p:spPr>
      </p:sp>
      <p:sp>
        <p:nvSpPr>
          <p:cNvPr id="40" name="Text 38"/>
          <p:cNvSpPr txBox="1"/>
          <p:nvPr/>
        </p:nvSpPr>
        <p:spPr>
          <a:xfrm>
            <a:off x="2587163" y="4292294"/>
            <a:ext cx="474857" cy="173331"/>
          </a:xfrm>
          <a:prstGeom prst="rect">
            <a:avLst/>
          </a:prstGeom>
          <a:noFill/>
          <a:ln/>
        </p:spPr>
        <p:txBody>
          <a:bodyPr wrap="square" lIns="0" tIns="0" rIns="0" bIns="0" rtlCol="0" anchor="t"/>
          <a:lstStyle/>
          <a:p>
            <a:pPr algn="r" indent="0" marL="0">
              <a:lnSpc>
                <a:spcPct val="111111"/>
              </a:lnSpc>
              <a:buNone/>
            </a:pPr>
            <a:r>
              <a:rPr lang="en-US" sz="1050" dirty="0">
                <a:solidFill>
                  <a:srgbClr val="F5F6FC"/>
                </a:solidFill>
                <a:latin typeface="Poppins" pitchFamily="34" charset="0"/>
                <a:ea typeface="Poppins" pitchFamily="34" charset="-122"/>
                <a:cs typeface="Poppins" pitchFamily="34" charset="-120"/>
              </a:rPr>
              <a:t>30.883</a:t>
            </a:r>
            <a:endParaRPr lang="en-US" sz="1050" dirty="0"/>
          </a:p>
        </p:txBody>
      </p:sp>
      <p:sp>
        <p:nvSpPr>
          <p:cNvPr id="41" name="Shape 39"/>
          <p:cNvSpPr/>
          <p:nvPr/>
        </p:nvSpPr>
        <p:spPr>
          <a:xfrm>
            <a:off x="3158054" y="4190697"/>
            <a:ext cx="8271660" cy="376526"/>
          </a:xfrm>
          <a:prstGeom prst="rect">
            <a:avLst/>
          </a:prstGeom>
          <a:solidFill>
            <a:srgbClr val="1E1E24"/>
          </a:solidFill>
          <a:ln/>
        </p:spPr>
      </p:sp>
      <p:sp>
        <p:nvSpPr>
          <p:cNvPr id="42" name="Text 40"/>
          <p:cNvSpPr txBox="1"/>
          <p:nvPr/>
        </p:nvSpPr>
        <p:spPr>
          <a:xfrm>
            <a:off x="3272351" y="4292294"/>
            <a:ext cx="8364789" cy="173331"/>
          </a:xfrm>
          <a:prstGeom prst="rect">
            <a:avLst/>
          </a:prstGeom>
          <a:noFill/>
          <a:ln/>
        </p:spPr>
        <p:txBody>
          <a:bodyPr wrap="square" lIns="0" tIns="0" rIns="0" bIns="0" rtlCol="0" anchor="t"/>
          <a:lstStyle/>
          <a:p>
            <a:pPr algn="l" indent="0" marL="0">
              <a:lnSpc>
                <a:spcPct val="111111"/>
              </a:lnSpc>
              <a:buNone/>
            </a:pPr>
            <a:r>
              <a:rPr lang="en-US" sz="1050" dirty="0">
                <a:solidFill>
                  <a:srgbClr val="F5F6FC"/>
                </a:solidFill>
                <a:latin typeface="Poppins" pitchFamily="34" charset="0"/>
                <a:ea typeface="Poppins" pitchFamily="34" charset="-122"/>
                <a:cs typeface="Poppins" pitchFamily="34" charset="-120"/>
              </a:rPr>
              <a:t>semana alinhada à sexta do status; hora extra sinalizada</a:t>
            </a:r>
            <a:endParaRPr lang="en-US" sz="1050" dirty="0"/>
          </a:p>
        </p:txBody>
      </p:sp>
      <p:sp>
        <p:nvSpPr>
          <p:cNvPr id="43" name="Shape 41"/>
          <p:cNvSpPr/>
          <p:nvPr/>
        </p:nvSpPr>
        <p:spPr>
          <a:xfrm>
            <a:off x="761981" y="4618021"/>
            <a:ext cx="1710885" cy="376526"/>
          </a:xfrm>
          <a:prstGeom prst="rect">
            <a:avLst/>
          </a:prstGeom>
          <a:solidFill>
            <a:srgbClr val="1E1E24"/>
          </a:solidFill>
          <a:ln/>
        </p:spPr>
      </p:sp>
      <p:sp>
        <p:nvSpPr>
          <p:cNvPr id="44" name="Text 42"/>
          <p:cNvSpPr txBox="1"/>
          <p:nvPr/>
        </p:nvSpPr>
        <p:spPr>
          <a:xfrm>
            <a:off x="876278" y="4719619"/>
            <a:ext cx="1541583" cy="173331"/>
          </a:xfrm>
          <a:prstGeom prst="rect">
            <a:avLst/>
          </a:prstGeom>
          <a:noFill/>
          <a:ln/>
        </p:spPr>
        <p:txBody>
          <a:bodyPr wrap="square" lIns="0" tIns="0" rIns="0" bIns="0" rtlCol="0" anchor="t"/>
          <a:lstStyle/>
          <a:p>
            <a:pPr algn="l" indent="0" marL="0">
              <a:lnSpc>
                <a:spcPct val="111111"/>
              </a:lnSpc>
              <a:buNone/>
            </a:pPr>
            <a:r>
              <a:rPr lang="en-US" sz="1050" b="1" dirty="0">
                <a:solidFill>
                  <a:srgbClr val="F5F6FC"/>
                </a:solidFill>
                <a:latin typeface="Poppins" pitchFamily="34" charset="0"/>
                <a:ea typeface="Poppins" pitchFamily="34" charset="-122"/>
                <a:cs typeface="Poppins" pitchFamily="34" charset="-120"/>
              </a:rPr>
              <a:t>entregas_fornecedor</a:t>
            </a:r>
            <a:endParaRPr lang="en-US" sz="1050" dirty="0"/>
          </a:p>
        </p:txBody>
      </p:sp>
      <p:sp>
        <p:nvSpPr>
          <p:cNvPr id="45" name="Shape 43"/>
          <p:cNvSpPr/>
          <p:nvPr/>
        </p:nvSpPr>
        <p:spPr>
          <a:xfrm>
            <a:off x="2472866" y="4618021"/>
            <a:ext cx="685188" cy="376526"/>
          </a:xfrm>
          <a:prstGeom prst="rect">
            <a:avLst/>
          </a:prstGeom>
          <a:solidFill>
            <a:srgbClr val="1E1E24"/>
          </a:solidFill>
          <a:ln/>
        </p:spPr>
      </p:sp>
      <p:sp>
        <p:nvSpPr>
          <p:cNvPr id="46" name="Text 44"/>
          <p:cNvSpPr txBox="1"/>
          <p:nvPr/>
        </p:nvSpPr>
        <p:spPr>
          <a:xfrm>
            <a:off x="2587163" y="4719619"/>
            <a:ext cx="474857" cy="173331"/>
          </a:xfrm>
          <a:prstGeom prst="rect">
            <a:avLst/>
          </a:prstGeom>
          <a:noFill/>
          <a:ln/>
        </p:spPr>
        <p:txBody>
          <a:bodyPr wrap="square" lIns="0" tIns="0" rIns="0" bIns="0" rtlCol="0" anchor="t"/>
          <a:lstStyle/>
          <a:p>
            <a:pPr algn="r" indent="0" marL="0">
              <a:lnSpc>
                <a:spcPct val="111111"/>
              </a:lnSpc>
              <a:buNone/>
            </a:pPr>
            <a:r>
              <a:rPr lang="en-US" sz="1050" dirty="0">
                <a:solidFill>
                  <a:srgbClr val="F5F6FC"/>
                </a:solidFill>
                <a:latin typeface="Poppins" pitchFamily="34" charset="0"/>
                <a:ea typeface="Poppins" pitchFamily="34" charset="-122"/>
                <a:cs typeface="Poppins" pitchFamily="34" charset="-120"/>
              </a:rPr>
              <a:t>640</a:t>
            </a:r>
            <a:endParaRPr lang="en-US" sz="1050" dirty="0"/>
          </a:p>
        </p:txBody>
      </p:sp>
      <p:sp>
        <p:nvSpPr>
          <p:cNvPr id="47" name="Shape 45"/>
          <p:cNvSpPr/>
          <p:nvPr/>
        </p:nvSpPr>
        <p:spPr>
          <a:xfrm>
            <a:off x="3158054" y="4618021"/>
            <a:ext cx="8271660" cy="376526"/>
          </a:xfrm>
          <a:prstGeom prst="rect">
            <a:avLst/>
          </a:prstGeom>
          <a:solidFill>
            <a:srgbClr val="1E1E24"/>
          </a:solidFill>
          <a:ln/>
        </p:spPr>
      </p:sp>
      <p:sp>
        <p:nvSpPr>
          <p:cNvPr id="48" name="Text 46"/>
          <p:cNvSpPr txBox="1"/>
          <p:nvPr/>
        </p:nvSpPr>
        <p:spPr>
          <a:xfrm>
            <a:off x="3272351" y="4719619"/>
            <a:ext cx="8364789" cy="173331"/>
          </a:xfrm>
          <a:prstGeom prst="rect">
            <a:avLst/>
          </a:prstGeom>
          <a:noFill/>
          <a:ln/>
        </p:spPr>
        <p:txBody>
          <a:bodyPr wrap="square" lIns="0" tIns="0" rIns="0" bIns="0" rtlCol="0" anchor="t"/>
          <a:lstStyle/>
          <a:p>
            <a:pPr algn="l" indent="0" marL="0">
              <a:lnSpc>
                <a:spcPct val="111111"/>
              </a:lnSpc>
              <a:buNone/>
            </a:pPr>
            <a:r>
              <a:rPr lang="en-US" sz="1050" dirty="0">
                <a:solidFill>
                  <a:srgbClr val="F5F6FC"/>
                </a:solidFill>
                <a:latin typeface="Poppins" pitchFamily="34" charset="0"/>
                <a:ea typeface="Poppins" pitchFamily="34" charset="-122"/>
                <a:cs typeface="Poppins" pitchFamily="34" charset="-120"/>
              </a:rPr>
              <a:t>CodeForge de 4 jeitos vira 1; atraso calculado</a:t>
            </a:r>
            <a:endParaRPr lang="en-US" sz="1050" dirty="0"/>
          </a:p>
        </p:txBody>
      </p:sp>
      <p:pic>
        <p:nvPicPr>
          <p:cNvPr id="49"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50" name="Text 47"/>
          <p:cNvSpPr txBox="1"/>
          <p:nvPr/>
        </p:nvSpPr>
        <p:spPr>
          <a:xfrm>
            <a:off x="10941372" y="6387940"/>
            <a:ext cx="507876"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89 / 133</a:t>
            </a:r>
            <a:endParaRPr lang="en-US" sz="10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2 · SILVER.TAREFAS</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Excel, ClickUp e Project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na mesma tabela</a:t>
            </a:r>
            <a:endParaRPr lang="en-US" sz="3100" dirty="0"/>
          </a:p>
        </p:txBody>
      </p:sp>
      <p:pic>
        <p:nvPicPr>
          <p:cNvPr id="4" name="Image 0" descr="preencoded.png">    </p:cNvPr>
          <p:cNvPicPr>
            <a:picLocks noChangeAspect="1"/>
          </p:cNvPicPr>
          <p:nvPr/>
        </p:nvPicPr>
        <p:blipFill>
          <a:blip r:embed="rId2"/>
          <a:srcRect l="0" r="0" t="0" b="46458"/>
          <a:stretch/>
        </p:blipFill>
        <p:spPr>
          <a:xfrm>
            <a:off x="761981" y="1455304"/>
            <a:ext cx="10667733" cy="4317892"/>
          </a:xfrm>
          <a:prstGeom prst="rect">
            <a:avLst/>
          </a:prstGeom>
        </p:spPr>
      </p:pic>
      <p:sp>
        <p:nvSpPr>
          <p:cNvPr id="5" name="Text 2"/>
          <p:cNvSpPr txBox="1"/>
          <p:nvPr/>
        </p:nvSpPr>
        <p:spPr>
          <a:xfrm>
            <a:off x="761981" y="5836695"/>
            <a:ext cx="11094443" cy="190495"/>
          </a:xfrm>
          <a:prstGeom prst="rect">
            <a:avLst/>
          </a:prstGeom>
          <a:noFill/>
          <a:ln/>
        </p:spPr>
        <p:txBody>
          <a:bodyPr wrap="square" lIns="0" tIns="0" rIns="0" bIns="0" rtlCol="0" anchor="t"/>
          <a:lstStyle/>
          <a:p>
            <a:pPr algn="l" indent="0" marL="0">
              <a:lnSpc>
                <a:spcPct val="106838"/>
              </a:lnSpc>
              <a:buNone/>
            </a:pPr>
            <a:r>
              <a:rPr lang="en-US" sz="1000" dirty="0">
                <a:solidFill>
                  <a:srgbClr val="A3A6B4"/>
                </a:solidFill>
                <a:latin typeface="Poppins" pitchFamily="34" charset="0"/>
                <a:ea typeface="Poppins" pitchFamily="34" charset="-122"/>
                <a:cs typeface="Poppins" pitchFamily="34" charset="-120"/>
              </a:rPr>
              <a:t>Mesmas colunas, mesmo tipo, mesma régua, não importa de onde veio. É aqui que o "juntar à mão" da noite 1 vira código testado.</a:t>
            </a:r>
            <a:endParaRPr lang="en-US" sz="1000" dirty="0"/>
          </a:p>
        </p:txBody>
      </p:sp>
      <p:pic>
        <p:nvPicPr>
          <p:cNvPr id="6" name="Image 1" descr="preencoded.png">    </p:cNvPr>
          <p:cNvPicPr>
            <a:picLocks noChangeAspect="1"/>
          </p:cNvPicPr>
          <p:nvPr/>
        </p:nvPicPr>
        <p:blipFill>
          <a:blip r:embed="rId3"/>
          <a:stretch>
            <a:fillRect/>
          </a:stretch>
        </p:blipFill>
        <p:spPr>
          <a:xfrm>
            <a:off x="761981" y="6387940"/>
            <a:ext cx="2059928" cy="190495"/>
          </a:xfrm>
          <a:prstGeom prst="rect">
            <a:avLst/>
          </a:prstGeom>
        </p:spPr>
      </p:pic>
      <p:sp>
        <p:nvSpPr>
          <p:cNvPr id="7" name="Text 3"/>
          <p:cNvSpPr txBox="1"/>
          <p:nvPr/>
        </p:nvSpPr>
        <p:spPr>
          <a:xfrm>
            <a:off x="10940975" y="6387940"/>
            <a:ext cx="508289"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90 / 133</a:t>
            </a:r>
            <a:endParaRPr lang="en-US" sz="10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380990"/>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RECURSO DO DATABRICKS · LINEAGE</a:t>
            </a:r>
            <a:endParaRPr lang="en-US" sz="1200" dirty="0"/>
          </a:p>
        </p:txBody>
      </p:sp>
      <p:sp>
        <p:nvSpPr>
          <p:cNvPr id="3" name="Text 1"/>
          <p:cNvSpPr txBox="1"/>
          <p:nvPr/>
        </p:nvSpPr>
        <p:spPr>
          <a:xfrm>
            <a:off x="761981" y="704832"/>
            <a:ext cx="11094443" cy="363132"/>
          </a:xfrm>
          <a:prstGeom prst="rect">
            <a:avLst/>
          </a:prstGeom>
          <a:noFill/>
          <a:ln/>
        </p:spPr>
        <p:txBody>
          <a:bodyPr wrap="square" lIns="0" tIns="0" rIns="0" bIns="0" rtlCol="0" anchor="t"/>
          <a:lstStyle/>
          <a:p>
            <a:pPr algn="l" indent="0" marL="0">
              <a:lnSpc>
                <a:spcPct val="94017"/>
              </a:lnSpc>
              <a:buNone/>
            </a:pPr>
            <a:r>
              <a:rPr lang="en-US" sz="2600" b="1" spc="-26" kern="0" dirty="0">
                <a:solidFill>
                  <a:srgbClr val="F5F6FC"/>
                </a:solidFill>
                <a:latin typeface="Poppins" pitchFamily="34" charset="0"/>
                <a:ea typeface="Poppins" pitchFamily="34" charset="-122"/>
                <a:cs typeface="Poppins" pitchFamily="34" charset="-120"/>
              </a:rPr>
              <a:t>Lineage: de onde veio, para onde vai</a:t>
            </a:r>
            <a:endParaRPr lang="en-US" sz="2600" dirty="0"/>
          </a:p>
        </p:txBody>
      </p:sp>
      <p:pic>
        <p:nvPicPr>
          <p:cNvPr id="4" name="Image 0" descr="preencoded.png">    </p:cNvPr>
          <p:cNvPicPr>
            <a:picLocks noChangeAspect="1"/>
          </p:cNvPicPr>
          <p:nvPr/>
        </p:nvPicPr>
        <p:blipFill>
          <a:blip r:embed="rId2"/>
          <a:srcRect l="14698" r="14698" t="0" b="0"/>
          <a:stretch/>
        </p:blipFill>
        <p:spPr>
          <a:xfrm>
            <a:off x="761981" y="1182261"/>
            <a:ext cx="5257669" cy="3555911"/>
          </a:xfrm>
          <a:prstGeom prst="rect">
            <a:avLst/>
          </a:prstGeom>
        </p:spPr>
      </p:pic>
      <p:sp>
        <p:nvSpPr>
          <p:cNvPr id="5" name="Text 2"/>
          <p:cNvSpPr txBox="1"/>
          <p:nvPr/>
        </p:nvSpPr>
        <p:spPr>
          <a:xfrm>
            <a:off x="761981" y="4788971"/>
            <a:ext cx="5467975" cy="380990"/>
          </a:xfrm>
          <a:prstGeom prst="rect">
            <a:avLst/>
          </a:prstGeom>
          <a:noFill/>
          <a:ln/>
        </p:spPr>
        <p:txBody>
          <a:bodyPr wrap="square" lIns="0" tIns="0" rIns="0" bIns="0" rtlCol="0" anchor="t"/>
          <a:lstStyle/>
          <a:p>
            <a:pPr algn="l" indent="0" marL="0">
              <a:lnSpc>
                <a:spcPct val="106838"/>
              </a:lnSpc>
              <a:buNone/>
            </a:pPr>
            <a:r>
              <a:rPr lang="en-US" sz="1000" dirty="0">
                <a:solidFill>
                  <a:srgbClr val="A3A6B4"/>
                </a:solidFill>
                <a:latin typeface="Poppins" pitchFamily="34" charset="0"/>
                <a:ea typeface="Poppins" pitchFamily="34" charset="-122"/>
                <a:cs typeface="Poppins" pitchFamily="34" charset="-120"/>
              </a:rPr>
              <a:t>em lista: quem lê </a:t>
            </a:r>
            <a:pPr algn="l" indent="0" marL="0">
              <a:lnSpc>
                <a:spcPct val="106838"/>
              </a:lnSpc>
              <a:buNone/>
            </a:pPr>
            <a:r>
              <a:rPr lang="en-US" sz="1000" dirty="0">
                <a:solidFill>
                  <a:srgbClr val="A3A6B4"/>
                </a:solidFill>
                <a:latin typeface="Courier New" pitchFamily="34" charset="0"/>
                <a:ea typeface="Courier New" pitchFamily="34" charset="-122"/>
                <a:cs typeface="Courier New" pitchFamily="34" charset="-120"/>
              </a:rPr>
              <a:t>projeto_situacao_atual</a:t>
            </a:r>
            <a:pPr algn="l" indent="0" marL="0">
              <a:lnSpc>
                <a:spcPct val="106838"/>
              </a:lnSpc>
              <a:buNone/>
            </a:pPr>
            <a:r>
              <a:rPr lang="en-US" sz="1000" dirty="0">
                <a:solidFill>
                  <a:srgbClr val="A3A6B4"/>
                </a:solidFill>
                <a:latin typeface="Poppins" pitchFamily="34" charset="0"/>
                <a:ea typeface="Poppins" pitchFamily="34" charset="-122"/>
                <a:cs typeface="Poppins" pitchFamily="34" charset="-120"/>
              </a:rPr>
              <a:t> (Genie, dashboard, metric view, job) e de onde ela vem</a:t>
            </a:r>
            <a:endParaRPr lang="en-US" sz="1000" dirty="0"/>
          </a:p>
        </p:txBody>
      </p:sp>
      <p:pic>
        <p:nvPicPr>
          <p:cNvPr id="6" name="Image 1" descr="preencoded.png">    </p:cNvPr>
          <p:cNvPicPr>
            <a:picLocks noChangeAspect="1"/>
          </p:cNvPicPr>
          <p:nvPr/>
        </p:nvPicPr>
        <p:blipFill>
          <a:blip r:embed="rId3"/>
          <a:srcRect l="9246" r="9246" t="0" b="0"/>
          <a:stretch/>
        </p:blipFill>
        <p:spPr>
          <a:xfrm>
            <a:off x="6172046" y="1182261"/>
            <a:ext cx="5257669" cy="3555911"/>
          </a:xfrm>
          <a:prstGeom prst="rect">
            <a:avLst/>
          </a:prstGeom>
        </p:spPr>
      </p:pic>
      <p:sp>
        <p:nvSpPr>
          <p:cNvPr id="7" name="Text 3"/>
          <p:cNvSpPr txBox="1"/>
          <p:nvPr/>
        </p:nvSpPr>
        <p:spPr>
          <a:xfrm>
            <a:off x="6172046" y="4788971"/>
            <a:ext cx="5467975" cy="190495"/>
          </a:xfrm>
          <a:prstGeom prst="rect">
            <a:avLst/>
          </a:prstGeom>
          <a:noFill/>
          <a:ln/>
        </p:spPr>
        <p:txBody>
          <a:bodyPr wrap="square" lIns="0" tIns="0" rIns="0" bIns="0" rtlCol="0" anchor="t"/>
          <a:lstStyle/>
          <a:p>
            <a:pPr algn="l" indent="0" marL="0">
              <a:lnSpc>
                <a:spcPct val="106838"/>
              </a:lnSpc>
              <a:buNone/>
            </a:pPr>
            <a:r>
              <a:rPr lang="en-US" sz="1000" dirty="0">
                <a:solidFill>
                  <a:srgbClr val="A3A6B4"/>
                </a:solidFill>
                <a:latin typeface="Poppins" pitchFamily="34" charset="0"/>
                <a:ea typeface="Poppins" pitchFamily="34" charset="-122"/>
                <a:cs typeface="Poppins" pitchFamily="34" charset="-120"/>
              </a:rPr>
              <a:t>em grafo: silver → gold → metric view e as features do ml, coluna a coluna</a:t>
            </a:r>
            <a:endParaRPr lang="en-US" sz="1000" dirty="0"/>
          </a:p>
        </p:txBody>
      </p:sp>
      <p:sp>
        <p:nvSpPr>
          <p:cNvPr id="8" name="Shape 4"/>
          <p:cNvSpPr/>
          <p:nvPr/>
        </p:nvSpPr>
        <p:spPr>
          <a:xfrm>
            <a:off x="761981" y="5284259"/>
            <a:ext cx="25399" cy="285743"/>
          </a:xfrm>
          <a:prstGeom prst="rect">
            <a:avLst/>
          </a:prstGeom>
          <a:solidFill>
            <a:srgbClr val="22C2F4"/>
          </a:solidFill>
          <a:ln/>
        </p:spPr>
      </p:sp>
      <p:sp>
        <p:nvSpPr>
          <p:cNvPr id="9" name="Text 5"/>
          <p:cNvSpPr txBox="1"/>
          <p:nvPr/>
        </p:nvSpPr>
        <p:spPr>
          <a:xfrm>
            <a:off x="914377" y="5322358"/>
            <a:ext cx="10935951" cy="209545"/>
          </a:xfrm>
          <a:prstGeom prst="rect">
            <a:avLst/>
          </a:prstGeom>
          <a:noFill/>
          <a:ln/>
        </p:spPr>
        <p:txBody>
          <a:bodyPr wrap="square" lIns="0" tIns="0" rIns="0" bIns="0" rtlCol="0" anchor="t"/>
          <a:lstStyle/>
          <a:p>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Ninguém desenhou isto. O Unity Catalog anota sozinho cada leitura e cada escrita.</a:t>
            </a:r>
            <a:endParaRPr lang="en-US" sz="1100" dirty="0"/>
          </a:p>
        </p:txBody>
      </p:sp>
      <p:pic>
        <p:nvPicPr>
          <p:cNvPr id="10" name="Image 2" descr="preencoded.png">    </p:cNvPr>
          <p:cNvPicPr>
            <a:picLocks noChangeAspect="1"/>
          </p:cNvPicPr>
          <p:nvPr/>
        </p:nvPicPr>
        <p:blipFill>
          <a:blip r:embed="rId4"/>
          <a:stretch>
            <a:fillRect/>
          </a:stretch>
        </p:blipFill>
        <p:spPr>
          <a:xfrm>
            <a:off x="761981" y="6387940"/>
            <a:ext cx="2059928" cy="190495"/>
          </a:xfrm>
          <a:prstGeom prst="rect">
            <a:avLst/>
          </a:prstGeom>
        </p:spPr>
      </p:pic>
      <p:sp>
        <p:nvSpPr>
          <p:cNvPr id="11" name="Text 6"/>
          <p:cNvSpPr txBox="1"/>
          <p:nvPr/>
        </p:nvSpPr>
        <p:spPr>
          <a:xfrm>
            <a:off x="10977983" y="6387940"/>
            <a:ext cx="469801"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91 / 133</a:t>
            </a:r>
            <a:endParaRPr lang="en-US" sz="10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2 · A GOLD NO CATÁLOGO</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7 objetos,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uma pergunta cada</a:t>
            </a:r>
            <a:endParaRPr lang="en-US" sz="3100" dirty="0"/>
          </a:p>
        </p:txBody>
      </p:sp>
      <p:pic>
        <p:nvPicPr>
          <p:cNvPr id="4" name="Image 0" descr="preencoded.png">    </p:cNvPr>
          <p:cNvPicPr>
            <a:picLocks noChangeAspect="1"/>
          </p:cNvPicPr>
          <p:nvPr/>
        </p:nvPicPr>
        <p:blipFill>
          <a:blip r:embed="rId2"/>
          <a:stretch>
            <a:fillRect/>
          </a:stretch>
        </p:blipFill>
        <p:spPr>
          <a:xfrm>
            <a:off x="761981" y="2080043"/>
            <a:ext cx="6286343" cy="2814421"/>
          </a:xfrm>
          <a:prstGeom prst="rect">
            <a:avLst/>
          </a:prstGeom>
        </p:spPr>
      </p:pic>
      <p:sp>
        <p:nvSpPr>
          <p:cNvPr id="5" name="Shape 2"/>
          <p:cNvSpPr/>
          <p:nvPr/>
        </p:nvSpPr>
        <p:spPr>
          <a:xfrm>
            <a:off x="7238819" y="1455304"/>
            <a:ext cx="4190895" cy="2944640"/>
          </a:xfrm>
          <a:prstGeom prst="roundRect">
            <a:avLst>
              <a:gd name="adj" fmla="val 5175"/>
            </a:avLst>
          </a:prstGeom>
          <a:solidFill>
            <a:srgbClr val="1E1E24"/>
          </a:solidFill>
          <a:ln w="6350">
            <a:solidFill>
              <a:srgbClr val="2F2F39"/>
            </a:solidFill>
            <a:prstDash val="solid"/>
          </a:ln>
        </p:spPr>
      </p:sp>
      <p:sp>
        <p:nvSpPr>
          <p:cNvPr id="6" name="Shape 3"/>
          <p:cNvSpPr/>
          <p:nvPr/>
        </p:nvSpPr>
        <p:spPr>
          <a:xfrm>
            <a:off x="7461063" y="1652149"/>
            <a:ext cx="1336146" cy="247644"/>
          </a:xfrm>
          <a:prstGeom prst="roundRect">
            <a:avLst>
              <a:gd name="adj" fmla="val 50000"/>
            </a:avLst>
          </a:prstGeom>
          <a:solidFill>
            <a:srgbClr val="22C2F4">
              <a:alpha val="14000"/>
            </a:srgbClr>
          </a:solidFill>
          <a:ln/>
        </p:spPr>
      </p:sp>
      <p:sp>
        <p:nvSpPr>
          <p:cNvPr id="7" name="Text 4"/>
          <p:cNvSpPr txBox="1"/>
          <p:nvPr/>
        </p:nvSpPr>
        <p:spPr>
          <a:xfrm>
            <a:off x="7549961" y="1690248"/>
            <a:ext cx="1204684"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Quem cria cada um</a:t>
            </a:r>
            <a:endParaRPr lang="en-US" sz="900" dirty="0"/>
          </a:p>
        </p:txBody>
      </p:sp>
      <p:sp>
        <p:nvSpPr>
          <p:cNvPr id="8" name="Shape 5"/>
          <p:cNvSpPr/>
          <p:nvPr/>
        </p:nvSpPr>
        <p:spPr>
          <a:xfrm>
            <a:off x="7461063" y="2071239"/>
            <a:ext cx="76198" cy="76198"/>
          </a:xfrm>
          <a:prstGeom prst="roundRect">
            <a:avLst>
              <a:gd name="adj" fmla="val 25000"/>
            </a:avLst>
          </a:prstGeom>
          <a:solidFill>
            <a:srgbClr val="22C2F4"/>
          </a:solidFill>
          <a:ln/>
        </p:spPr>
      </p:sp>
      <p:sp>
        <p:nvSpPr>
          <p:cNvPr id="9" name="Text 6"/>
          <p:cNvSpPr txBox="1"/>
          <p:nvPr/>
        </p:nvSpPr>
        <p:spPr>
          <a:xfrm>
            <a:off x="7651559" y="1988691"/>
            <a:ext cx="3698148" cy="1028377"/>
          </a:xfrm>
          <a:prstGeom prst="rect">
            <a:avLst/>
          </a:prstGeom>
          <a:noFill/>
          <a:ln/>
        </p:spPr>
        <p:txBody>
          <a:bodyPr wrap="square" lIns="0" tIns="0" rIns="0" bIns="0" rtlCol="0" anchor="t"/>
          <a:lstStyle/>
          <a:p>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noite 2</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projeto_situacao_atual, fato_projeto_semana, utilizacao_pessoa_semana (pipeline), status_estruturado (IA), mv_projetos (métrica)</a:t>
            </a:r>
            <a:endParaRPr lang="en-US" sz="1200" dirty="0"/>
          </a:p>
        </p:txBody>
      </p:sp>
      <p:sp>
        <p:nvSpPr>
          <p:cNvPr id="10" name="Shape 7"/>
          <p:cNvSpPr/>
          <p:nvPr/>
        </p:nvSpPr>
        <p:spPr>
          <a:xfrm>
            <a:off x="7461063" y="3175814"/>
            <a:ext cx="76198" cy="76198"/>
          </a:xfrm>
          <a:prstGeom prst="roundRect">
            <a:avLst>
              <a:gd name="adj" fmla="val 25000"/>
            </a:avLst>
          </a:prstGeom>
          <a:solidFill>
            <a:srgbClr val="22C2F4"/>
          </a:solidFill>
          <a:ln/>
        </p:spPr>
      </p:sp>
      <p:sp>
        <p:nvSpPr>
          <p:cNvPr id="11" name="Text 8"/>
          <p:cNvSpPr txBox="1"/>
          <p:nvPr/>
        </p:nvSpPr>
        <p:spPr>
          <a:xfrm>
            <a:off x="7651559" y="3093266"/>
            <a:ext cx="3698148" cy="205675"/>
          </a:xfrm>
          <a:prstGeom prst="rect">
            <a:avLst/>
          </a:prstGeom>
          <a:noFill/>
          <a:ln/>
        </p:spPr>
        <p:txBody>
          <a:bodyPr wrap="square" lIns="0" tIns="0" rIns="0" bIns="0" rtlCol="0" anchor="t"/>
          <a:lstStyle/>
          <a:p>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noite 3</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score_estouro_30d (o modelo)</a:t>
            </a:r>
            <a:endParaRPr lang="en-US" sz="1200" dirty="0"/>
          </a:p>
        </p:txBody>
      </p:sp>
      <p:sp>
        <p:nvSpPr>
          <p:cNvPr id="12" name="Shape 9"/>
          <p:cNvSpPr/>
          <p:nvPr/>
        </p:nvSpPr>
        <p:spPr>
          <a:xfrm>
            <a:off x="7461063" y="3457687"/>
            <a:ext cx="76198" cy="76198"/>
          </a:xfrm>
          <a:prstGeom prst="roundRect">
            <a:avLst>
              <a:gd name="adj" fmla="val 25000"/>
            </a:avLst>
          </a:prstGeom>
          <a:solidFill>
            <a:srgbClr val="22C2F4"/>
          </a:solidFill>
          <a:ln/>
        </p:spPr>
      </p:sp>
      <p:sp>
        <p:nvSpPr>
          <p:cNvPr id="13" name="Text 10"/>
          <p:cNvSpPr txBox="1"/>
          <p:nvPr/>
        </p:nvSpPr>
        <p:spPr>
          <a:xfrm>
            <a:off x="7651559" y="3375139"/>
            <a:ext cx="3698148" cy="205675"/>
          </a:xfrm>
          <a:prstGeom prst="rect">
            <a:avLst/>
          </a:prstGeom>
          <a:noFill/>
          <a:ln/>
        </p:spPr>
        <p:txBody>
          <a:bodyPr wrap="square" lIns="0" tIns="0" rIns="0" bIns="0" rtlCol="0" anchor="t"/>
          <a:lstStyle/>
          <a:p>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noite 4</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contratos (IA nos PDFs)</a:t>
            </a:r>
            <a:endParaRPr lang="en-US" sz="1200" dirty="0"/>
          </a:p>
        </p:txBody>
      </p:sp>
      <p:sp>
        <p:nvSpPr>
          <p:cNvPr id="14" name="Shape 11"/>
          <p:cNvSpPr/>
          <p:nvPr/>
        </p:nvSpPr>
        <p:spPr>
          <a:xfrm>
            <a:off x="7461063" y="3707811"/>
            <a:ext cx="25399" cy="495288"/>
          </a:xfrm>
          <a:prstGeom prst="rect">
            <a:avLst/>
          </a:prstGeom>
          <a:solidFill>
            <a:srgbClr val="22C2F4"/>
          </a:solidFill>
          <a:ln/>
        </p:spPr>
      </p:sp>
      <p:sp>
        <p:nvSpPr>
          <p:cNvPr id="15" name="Text 12"/>
          <p:cNvSpPr txBox="1"/>
          <p:nvPr/>
        </p:nvSpPr>
        <p:spPr>
          <a:xfrm>
            <a:off x="7613460" y="3745910"/>
            <a:ext cx="3737771" cy="419090"/>
          </a:xfrm>
          <a:prstGeom prst="rect">
            <a:avLst/>
          </a:prstGeom>
          <a:noFill/>
          <a:ln/>
        </p:spPr>
        <p:txBody>
          <a:bodyPr wrap="square" lIns="0" tIns="0" rIns="0" bIns="0" rtlCol="0" anchor="t"/>
          <a:lstStyle/>
          <a:p>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Toda tabela tem COMMENT: é o que o Genie lê para entender o que cada coluna quer dizer.</a:t>
            </a:r>
            <a:endParaRPr lang="en-US" sz="1100" dirty="0"/>
          </a:p>
        </p:txBody>
      </p:sp>
      <p:pic>
        <p:nvPicPr>
          <p:cNvPr id="16" name="Image 1" descr="preencoded.png">    </p:cNvPr>
          <p:cNvPicPr>
            <a:picLocks noChangeAspect="1"/>
          </p:cNvPicPr>
          <p:nvPr/>
        </p:nvPicPr>
        <p:blipFill>
          <a:blip r:embed="rId3"/>
          <a:stretch>
            <a:fillRect/>
          </a:stretch>
        </p:blipFill>
        <p:spPr>
          <a:xfrm>
            <a:off x="761981" y="6387940"/>
            <a:ext cx="2059928" cy="190495"/>
          </a:xfrm>
          <a:prstGeom prst="rect">
            <a:avLst/>
          </a:prstGeom>
        </p:spPr>
      </p:pic>
      <p:sp>
        <p:nvSpPr>
          <p:cNvPr id="17" name="Text 13"/>
          <p:cNvSpPr txBox="1"/>
          <p:nvPr/>
        </p:nvSpPr>
        <p:spPr>
          <a:xfrm>
            <a:off x="10949111" y="6387940"/>
            <a:ext cx="499828"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92 / 133</a:t>
            </a:r>
            <a:endParaRPr lang="en-US" sz="10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GOLD · 1 DE 5 · GOLD.PROJETO_SITUACAO_ATUAL</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A fotografia de hoje: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perguntas 1 e 2</a:t>
            </a:r>
            <a:endParaRPr lang="en-US" sz="3100" dirty="0"/>
          </a:p>
        </p:txBody>
      </p:sp>
      <p:sp>
        <p:nvSpPr>
          <p:cNvPr id="4" name="Shape 2"/>
          <p:cNvSpPr/>
          <p:nvPr/>
        </p:nvSpPr>
        <p:spPr>
          <a:xfrm>
            <a:off x="761981" y="1582301"/>
            <a:ext cx="5238619" cy="2845622"/>
          </a:xfrm>
          <a:prstGeom prst="roundRect">
            <a:avLst>
              <a:gd name="adj" fmla="val 5355"/>
            </a:avLst>
          </a:prstGeom>
          <a:solidFill>
            <a:srgbClr val="1E1E24"/>
          </a:solidFill>
          <a:ln w="6350">
            <a:solidFill>
              <a:srgbClr val="2F2F39"/>
            </a:solidFill>
            <a:prstDash val="solid"/>
          </a:ln>
        </p:spPr>
      </p:sp>
      <p:sp>
        <p:nvSpPr>
          <p:cNvPr id="5" name="Shape 3"/>
          <p:cNvSpPr/>
          <p:nvPr/>
        </p:nvSpPr>
        <p:spPr>
          <a:xfrm>
            <a:off x="984225" y="1779146"/>
            <a:ext cx="1726363" cy="247644"/>
          </a:xfrm>
          <a:prstGeom prst="roundRect">
            <a:avLst>
              <a:gd name="adj" fmla="val 50000"/>
            </a:avLst>
          </a:prstGeom>
          <a:solidFill>
            <a:srgbClr val="22C2F4">
              <a:alpha val="14000"/>
            </a:srgbClr>
          </a:solidFill>
          <a:ln/>
        </p:spPr>
      </p:sp>
      <p:sp>
        <p:nvSpPr>
          <p:cNvPr id="6" name="Text 4"/>
          <p:cNvSpPr txBox="1"/>
          <p:nvPr/>
        </p:nvSpPr>
        <p:spPr>
          <a:xfrm>
            <a:off x="1073123" y="1817245"/>
            <a:ext cx="1610510"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Uma linha por projeto (60)</a:t>
            </a:r>
            <a:endParaRPr lang="en-US" sz="900" dirty="0"/>
          </a:p>
        </p:txBody>
      </p:sp>
      <p:sp>
        <p:nvSpPr>
          <p:cNvPr id="7" name="Shape 5"/>
          <p:cNvSpPr/>
          <p:nvPr/>
        </p:nvSpPr>
        <p:spPr>
          <a:xfrm>
            <a:off x="984225" y="2198236"/>
            <a:ext cx="76198" cy="76198"/>
          </a:xfrm>
          <a:prstGeom prst="roundRect">
            <a:avLst>
              <a:gd name="adj" fmla="val 25000"/>
            </a:avLst>
          </a:prstGeom>
          <a:solidFill>
            <a:srgbClr val="22C2F4"/>
          </a:solidFill>
          <a:ln/>
        </p:spPr>
      </p:sp>
      <p:sp>
        <p:nvSpPr>
          <p:cNvPr id="8" name="Text 6"/>
          <p:cNvSpPr txBox="1"/>
          <p:nvPr/>
        </p:nvSpPr>
        <p:spPr>
          <a:xfrm>
            <a:off x="1174721" y="2115688"/>
            <a:ext cx="4787780"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o cadastro: cliente, segmento, ferramenta, gerente, contrato, prazo</a:t>
            </a:r>
            <a:endParaRPr lang="en-US" sz="1200" dirty="0"/>
          </a:p>
        </p:txBody>
      </p:sp>
      <p:sp>
        <p:nvSpPr>
          <p:cNvPr id="9" name="Shape 7"/>
          <p:cNvSpPr/>
          <p:nvPr/>
        </p:nvSpPr>
        <p:spPr>
          <a:xfrm>
            <a:off x="984225" y="2685784"/>
            <a:ext cx="76198" cy="76198"/>
          </a:xfrm>
          <a:prstGeom prst="roundRect">
            <a:avLst>
              <a:gd name="adj" fmla="val 25000"/>
            </a:avLst>
          </a:prstGeom>
          <a:solidFill>
            <a:srgbClr val="22C2F4"/>
          </a:solidFill>
          <a:ln/>
        </p:spPr>
      </p:sp>
      <p:sp>
        <p:nvSpPr>
          <p:cNvPr id="10" name="Text 8"/>
          <p:cNvSpPr txBox="1"/>
          <p:nvPr/>
        </p:nvSpPr>
        <p:spPr>
          <a:xfrm>
            <a:off x="1174721" y="2603236"/>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PV, EV, AC calculados sobre as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tarefas das 3 ferramentas</a:t>
            </a:r>
            <a:endParaRPr lang="en-US" sz="1200" dirty="0"/>
          </a:p>
        </p:txBody>
      </p:sp>
      <p:sp>
        <p:nvSpPr>
          <p:cNvPr id="11" name="Shape 9"/>
          <p:cNvSpPr/>
          <p:nvPr/>
        </p:nvSpPr>
        <p:spPr>
          <a:xfrm>
            <a:off x="984225" y="2967658"/>
            <a:ext cx="76198" cy="76198"/>
          </a:xfrm>
          <a:prstGeom prst="roundRect">
            <a:avLst>
              <a:gd name="adj" fmla="val 25000"/>
            </a:avLst>
          </a:prstGeom>
          <a:solidFill>
            <a:srgbClr val="22C2F4"/>
          </a:solidFill>
          <a:ln/>
        </p:spPr>
      </p:sp>
      <p:sp>
        <p:nvSpPr>
          <p:cNvPr id="12" name="Text 10"/>
          <p:cNvSpPr txBox="1"/>
          <p:nvPr/>
        </p:nvSpPr>
        <p:spPr>
          <a:xfrm>
            <a:off x="1174721" y="2885110"/>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SPI, CPI, EAC,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estouro previsto</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margem, atraso projetado</a:t>
            </a:r>
            <a:endParaRPr lang="en-US" sz="1200" dirty="0"/>
          </a:p>
        </p:txBody>
      </p:sp>
      <p:sp>
        <p:nvSpPr>
          <p:cNvPr id="13" name="Shape 11"/>
          <p:cNvSpPr/>
          <p:nvPr/>
        </p:nvSpPr>
        <p:spPr>
          <a:xfrm>
            <a:off x="984225" y="3249531"/>
            <a:ext cx="76198" cy="76198"/>
          </a:xfrm>
          <a:prstGeom prst="roundRect">
            <a:avLst>
              <a:gd name="adj" fmla="val 25000"/>
            </a:avLst>
          </a:prstGeom>
          <a:solidFill>
            <a:srgbClr val="22C2F4"/>
          </a:solidFill>
          <a:ln/>
        </p:spPr>
      </p:sp>
      <p:sp>
        <p:nvSpPr>
          <p:cNvPr id="14" name="Text 12"/>
          <p:cNvSpPr txBox="1"/>
          <p:nvPr/>
        </p:nvSpPr>
        <p:spPr>
          <a:xfrm>
            <a:off x="1174721" y="3166983"/>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situação: ok, atenção, crítico</a:t>
            </a:r>
            <a:endParaRPr lang="en-US" sz="1200" dirty="0"/>
          </a:p>
        </p:txBody>
      </p:sp>
      <p:sp>
        <p:nvSpPr>
          <p:cNvPr id="15" name="Shape 13"/>
          <p:cNvSpPr/>
          <p:nvPr/>
        </p:nvSpPr>
        <p:spPr>
          <a:xfrm>
            <a:off x="984225" y="3531405"/>
            <a:ext cx="76198" cy="76198"/>
          </a:xfrm>
          <a:prstGeom prst="roundRect">
            <a:avLst>
              <a:gd name="adj" fmla="val 25000"/>
            </a:avLst>
          </a:prstGeom>
          <a:solidFill>
            <a:srgbClr val="22C2F4"/>
          </a:solidFill>
          <a:ln/>
        </p:spPr>
      </p:sp>
      <p:sp>
        <p:nvSpPr>
          <p:cNvPr id="16" name="Text 14"/>
          <p:cNvSpPr txBox="1"/>
          <p:nvPr/>
        </p:nvSpPr>
        <p:spPr>
          <a:xfrm>
            <a:off x="1174721" y="3448857"/>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farol do gerente × farol calculado, e a coluna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melancia</a:t>
            </a:r>
            <a:endParaRPr lang="en-US" sz="1200" dirty="0"/>
          </a:p>
        </p:txBody>
      </p:sp>
      <p:sp>
        <p:nvSpPr>
          <p:cNvPr id="17" name="Shape 15"/>
          <p:cNvSpPr/>
          <p:nvPr/>
        </p:nvSpPr>
        <p:spPr>
          <a:xfrm>
            <a:off x="6191095" y="1582301"/>
            <a:ext cx="5238619" cy="2845622"/>
          </a:xfrm>
          <a:prstGeom prst="roundRect">
            <a:avLst>
              <a:gd name="adj" fmla="val 5355"/>
            </a:avLst>
          </a:prstGeom>
          <a:solidFill>
            <a:srgbClr val="0059DB"/>
          </a:solidFill>
          <a:ln/>
        </p:spPr>
      </p:sp>
      <p:sp>
        <p:nvSpPr>
          <p:cNvPr id="18" name="Shape 16"/>
          <p:cNvSpPr/>
          <p:nvPr/>
        </p:nvSpPr>
        <p:spPr>
          <a:xfrm>
            <a:off x="6413340" y="1779146"/>
            <a:ext cx="434964" cy="247644"/>
          </a:xfrm>
          <a:prstGeom prst="roundRect">
            <a:avLst>
              <a:gd name="adj" fmla="val 50000"/>
            </a:avLst>
          </a:prstGeom>
          <a:solidFill>
            <a:srgbClr val="FFFFFF">
              <a:alpha val="16000"/>
            </a:srgbClr>
          </a:solidFill>
          <a:ln/>
        </p:spPr>
      </p:sp>
      <p:sp>
        <p:nvSpPr>
          <p:cNvPr id="19" name="Text 17"/>
          <p:cNvSpPr txBox="1"/>
          <p:nvPr/>
        </p:nvSpPr>
        <p:spPr>
          <a:xfrm>
            <a:off x="6502237" y="1817245"/>
            <a:ext cx="267455"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Hoje</a:t>
            </a:r>
            <a:endParaRPr lang="en-US" sz="900" dirty="0"/>
          </a:p>
        </p:txBody>
      </p:sp>
      <p:sp>
        <p:nvSpPr>
          <p:cNvPr id="20" name="Text 18"/>
          <p:cNvSpPr txBox="1"/>
          <p:nvPr/>
        </p:nvSpPr>
        <p:spPr>
          <a:xfrm>
            <a:off x="6413340" y="2115688"/>
            <a:ext cx="4985895" cy="330192"/>
          </a:xfrm>
          <a:prstGeom prst="rect">
            <a:avLst/>
          </a:prstGeom>
          <a:noFill/>
          <a:ln/>
        </p:spPr>
        <p:txBody>
          <a:bodyPr wrap="square" lIns="0" tIns="0" rIns="0" bIns="0" rtlCol="0" anchor="t"/>
          <a:lstStyle/>
          <a:p>
            <a:pPr algn="l" indent="0" marL="0">
              <a:lnSpc>
                <a:spcPct val="85470"/>
              </a:lnSpc>
              <a:buNone/>
            </a:pPr>
            <a:r>
              <a:rPr lang="en-US" sz="2600" b="1" spc="-52" kern="0" dirty="0">
                <a:solidFill>
                  <a:srgbClr val="F5F6FC"/>
                </a:solidFill>
                <a:latin typeface="Poppins" pitchFamily="34" charset="0"/>
                <a:ea typeface="Poppins" pitchFamily="34" charset="-122"/>
                <a:cs typeface="Poppins" pitchFamily="34" charset="-120"/>
              </a:rPr>
              <a:t>7 · 10 · 4</a:t>
            </a:r>
            <a:endParaRPr lang="en-US" sz="2600" dirty="0"/>
          </a:p>
        </p:txBody>
      </p:sp>
      <p:sp>
        <p:nvSpPr>
          <p:cNvPr id="21" name="Text 19"/>
          <p:cNvSpPr txBox="1"/>
          <p:nvPr/>
        </p:nvSpPr>
        <p:spPr>
          <a:xfrm>
            <a:off x="6413340" y="2522078"/>
            <a:ext cx="4985895" cy="197143"/>
          </a:xfrm>
          <a:prstGeom prst="rect">
            <a:avLst/>
          </a:prstGeom>
          <a:noFill/>
          <a:ln/>
        </p:spPr>
        <p:txBody>
          <a:bodyPr wrap="square" lIns="0" tIns="0" rIns="0" bIns="0" rtlCol="0" anchor="t"/>
          <a:lstStyle/>
          <a:p>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críticos · em atenção · melancias</a:t>
            </a:r>
            <a:endParaRPr lang="en-US" sz="1150" dirty="0"/>
          </a:p>
        </p:txBody>
      </p:sp>
      <p:sp>
        <p:nvSpPr>
          <p:cNvPr id="22" name="Text 20"/>
          <p:cNvSpPr txBox="1"/>
          <p:nvPr/>
        </p:nvSpPr>
        <p:spPr>
          <a:xfrm>
            <a:off x="6413340" y="2871616"/>
            <a:ext cx="4985895" cy="330192"/>
          </a:xfrm>
          <a:prstGeom prst="rect">
            <a:avLst/>
          </a:prstGeom>
          <a:noFill/>
          <a:ln/>
        </p:spPr>
        <p:txBody>
          <a:bodyPr wrap="square" lIns="0" tIns="0" rIns="0" bIns="0" rtlCol="0" anchor="t"/>
          <a:lstStyle/>
          <a:p>
            <a:pPr algn="l" indent="0" marL="0">
              <a:lnSpc>
                <a:spcPct val="85470"/>
              </a:lnSpc>
              <a:buNone/>
            </a:pPr>
            <a:r>
              <a:rPr lang="en-US" sz="2600" b="1" spc="-52" kern="0" dirty="0">
                <a:solidFill>
                  <a:srgbClr val="F5F6FC"/>
                </a:solidFill>
                <a:latin typeface="Poppins" pitchFamily="34" charset="0"/>
                <a:ea typeface="Poppins" pitchFamily="34" charset="-122"/>
                <a:cs typeface="Poppins" pitchFamily="34" charset="-120"/>
              </a:rPr>
              <a:t>R$ 6,47 mi</a:t>
            </a:r>
            <a:endParaRPr lang="en-US" sz="2600" dirty="0"/>
          </a:p>
        </p:txBody>
      </p:sp>
      <p:sp>
        <p:nvSpPr>
          <p:cNvPr id="23" name="Text 21"/>
          <p:cNvSpPr txBox="1"/>
          <p:nvPr/>
        </p:nvSpPr>
        <p:spPr>
          <a:xfrm>
            <a:off x="6413340" y="3278006"/>
            <a:ext cx="4985895" cy="197143"/>
          </a:xfrm>
          <a:prstGeom prst="rect">
            <a:avLst/>
          </a:prstGeom>
          <a:noFill/>
          <a:ln/>
        </p:spPr>
        <p:txBody>
          <a:bodyPr wrap="square" lIns="0" tIns="0" rIns="0" bIns="0" rtlCol="0" anchor="t"/>
          <a:lstStyle/>
          <a:p>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de estouro previsto, o mesmo da noite 1</a:t>
            </a:r>
            <a:endParaRPr lang="en-US" sz="1150" dirty="0"/>
          </a:p>
        </p:txBody>
      </p:sp>
      <p:sp>
        <p:nvSpPr>
          <p:cNvPr id="24" name="Text 22"/>
          <p:cNvSpPr txBox="1"/>
          <p:nvPr/>
        </p:nvSpPr>
        <p:spPr>
          <a:xfrm>
            <a:off x="6413340" y="3627545"/>
            <a:ext cx="4985895" cy="330192"/>
          </a:xfrm>
          <a:prstGeom prst="rect">
            <a:avLst/>
          </a:prstGeom>
          <a:noFill/>
          <a:ln/>
        </p:spPr>
        <p:txBody>
          <a:bodyPr wrap="square" lIns="0" tIns="0" rIns="0" bIns="0" rtlCol="0" anchor="t"/>
          <a:lstStyle/>
          <a:p>
            <a:pPr algn="l" indent="0" marL="0">
              <a:lnSpc>
                <a:spcPct val="85470"/>
              </a:lnSpc>
              <a:buNone/>
            </a:pPr>
            <a:r>
              <a:rPr lang="en-US" sz="2600" b="1" spc="-52" kern="0" dirty="0">
                <a:solidFill>
                  <a:srgbClr val="F5F6FC"/>
                </a:solidFill>
                <a:latin typeface="Poppins" pitchFamily="34" charset="0"/>
                <a:ea typeface="Poppins" pitchFamily="34" charset="-122"/>
                <a:cs typeface="Poppins" pitchFamily="34" charset="-120"/>
              </a:rPr>
              <a:t>0,92 · 0,97</a:t>
            </a:r>
            <a:endParaRPr lang="en-US" sz="2600" dirty="0"/>
          </a:p>
        </p:txBody>
      </p:sp>
      <p:sp>
        <p:nvSpPr>
          <p:cNvPr id="25" name="Text 23"/>
          <p:cNvSpPr txBox="1"/>
          <p:nvPr/>
        </p:nvSpPr>
        <p:spPr>
          <a:xfrm>
            <a:off x="6413340" y="4033935"/>
            <a:ext cx="4985895" cy="197143"/>
          </a:xfrm>
          <a:prstGeom prst="rect">
            <a:avLst/>
          </a:prstGeom>
          <a:noFill/>
          <a:ln/>
        </p:spPr>
        <p:txBody>
          <a:bodyPr wrap="square" lIns="0" tIns="0" rIns="0" bIns="0" rtlCol="0" anchor="t"/>
          <a:lstStyle/>
          <a:p>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SPI e CPI da carteira · margem projetada 20,4%</a:t>
            </a:r>
            <a:endParaRPr lang="en-US" sz="1150" dirty="0"/>
          </a:p>
        </p:txBody>
      </p:sp>
      <p:pic>
        <p:nvPicPr>
          <p:cNvPr id="26"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27" name="Text 24"/>
          <p:cNvSpPr txBox="1"/>
          <p:nvPr/>
        </p:nvSpPr>
        <p:spPr>
          <a:xfrm>
            <a:off x="10946928" y="6387940"/>
            <a:ext cx="502098"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93 / 133</a:t>
            </a:r>
            <a:endParaRPr lang="en-US" sz="10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GOLD · 2 DE 5 · GOLD.FATO_PROJETO_SEMANA</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A evolução: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projeto × semana</a:t>
            </a:r>
            <a:endParaRPr lang="en-US" sz="3100" dirty="0"/>
          </a:p>
        </p:txBody>
      </p:sp>
      <p:sp>
        <p:nvSpPr>
          <p:cNvPr id="4" name="Shape 2"/>
          <p:cNvSpPr/>
          <p:nvPr/>
        </p:nvSpPr>
        <p:spPr>
          <a:xfrm>
            <a:off x="761981" y="1582301"/>
            <a:ext cx="5238619" cy="1987203"/>
          </a:xfrm>
          <a:prstGeom prst="roundRect">
            <a:avLst>
              <a:gd name="adj" fmla="val 7669"/>
            </a:avLst>
          </a:prstGeom>
          <a:solidFill>
            <a:srgbClr val="1E1E24"/>
          </a:solidFill>
          <a:ln w="6350">
            <a:solidFill>
              <a:srgbClr val="2F2F39"/>
            </a:solidFill>
            <a:prstDash val="solid"/>
          </a:ln>
        </p:spPr>
      </p:sp>
      <p:sp>
        <p:nvSpPr>
          <p:cNvPr id="5" name="Shape 3"/>
          <p:cNvSpPr/>
          <p:nvPr/>
        </p:nvSpPr>
        <p:spPr>
          <a:xfrm>
            <a:off x="984225" y="1779146"/>
            <a:ext cx="872409" cy="247644"/>
          </a:xfrm>
          <a:prstGeom prst="roundRect">
            <a:avLst>
              <a:gd name="adj" fmla="val 50000"/>
            </a:avLst>
          </a:prstGeom>
          <a:solidFill>
            <a:srgbClr val="22C2F4">
              <a:alpha val="14000"/>
            </a:srgbClr>
          </a:solidFill>
          <a:ln/>
        </p:spPr>
      </p:sp>
      <p:sp>
        <p:nvSpPr>
          <p:cNvPr id="6" name="Text 4"/>
          <p:cNvSpPr txBox="1"/>
          <p:nvPr/>
        </p:nvSpPr>
        <p:spPr>
          <a:xfrm>
            <a:off x="1073123" y="1817245"/>
            <a:ext cx="722398"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4.235 linhas</a:t>
            </a:r>
            <a:endParaRPr lang="en-US" sz="900" dirty="0"/>
          </a:p>
        </p:txBody>
      </p:sp>
      <p:sp>
        <p:nvSpPr>
          <p:cNvPr id="7" name="Shape 5"/>
          <p:cNvSpPr/>
          <p:nvPr/>
        </p:nvSpPr>
        <p:spPr>
          <a:xfrm>
            <a:off x="984225" y="2198236"/>
            <a:ext cx="76198" cy="76198"/>
          </a:xfrm>
          <a:prstGeom prst="roundRect">
            <a:avLst>
              <a:gd name="adj" fmla="val 25000"/>
            </a:avLst>
          </a:prstGeom>
          <a:solidFill>
            <a:srgbClr val="22C2F4"/>
          </a:solidFill>
          <a:ln/>
        </p:spPr>
      </p:sp>
      <p:sp>
        <p:nvSpPr>
          <p:cNvPr id="8" name="Text 6"/>
          <p:cNvSpPr txBox="1"/>
          <p:nvPr/>
        </p:nvSpPr>
        <p:spPr>
          <a:xfrm>
            <a:off x="1174721" y="2115688"/>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PV, EV e AC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acumulados</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até cada sexta</a:t>
            </a:r>
            <a:endParaRPr lang="en-US" sz="1200" dirty="0"/>
          </a:p>
        </p:txBody>
      </p:sp>
      <p:sp>
        <p:nvSpPr>
          <p:cNvPr id="9" name="Shape 7"/>
          <p:cNvSpPr/>
          <p:nvPr/>
        </p:nvSpPr>
        <p:spPr>
          <a:xfrm>
            <a:off x="984225" y="2480109"/>
            <a:ext cx="76198" cy="76198"/>
          </a:xfrm>
          <a:prstGeom prst="roundRect">
            <a:avLst>
              <a:gd name="adj" fmla="val 25000"/>
            </a:avLst>
          </a:prstGeom>
          <a:solidFill>
            <a:srgbClr val="22C2F4"/>
          </a:solidFill>
          <a:ln/>
        </p:spPr>
      </p:sp>
      <p:sp>
        <p:nvSpPr>
          <p:cNvPr id="10" name="Text 8"/>
          <p:cNvSpPr txBox="1"/>
          <p:nvPr/>
        </p:nvSpPr>
        <p:spPr>
          <a:xfrm>
            <a:off x="1174721" y="2397561"/>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SPI, CPI e EAC semana a semana; farol do gerente vigente</a:t>
            </a:r>
            <a:endParaRPr lang="en-US" sz="1200" dirty="0"/>
          </a:p>
        </p:txBody>
      </p:sp>
      <p:sp>
        <p:nvSpPr>
          <p:cNvPr id="11" name="Shape 9"/>
          <p:cNvSpPr/>
          <p:nvPr/>
        </p:nvSpPr>
        <p:spPr>
          <a:xfrm>
            <a:off x="984225" y="2761983"/>
            <a:ext cx="76198" cy="76198"/>
          </a:xfrm>
          <a:prstGeom prst="roundRect">
            <a:avLst>
              <a:gd name="adj" fmla="val 25000"/>
            </a:avLst>
          </a:prstGeom>
          <a:solidFill>
            <a:srgbClr val="22C2F4"/>
          </a:solidFill>
          <a:ln/>
        </p:spPr>
      </p:sp>
      <p:sp>
        <p:nvSpPr>
          <p:cNvPr id="12" name="Text 10"/>
          <p:cNvSpPr txBox="1"/>
          <p:nvPr/>
        </p:nvSpPr>
        <p:spPr>
          <a:xfrm>
            <a:off x="1174721" y="2679435"/>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horas disponíveis, apontadas e ociosas da equipe</a:t>
            </a:r>
            <a:endParaRPr lang="en-US" sz="1200" dirty="0"/>
          </a:p>
        </p:txBody>
      </p:sp>
      <p:sp>
        <p:nvSpPr>
          <p:cNvPr id="13" name="Shape 11"/>
          <p:cNvSpPr/>
          <p:nvPr/>
        </p:nvSpPr>
        <p:spPr>
          <a:xfrm>
            <a:off x="984225" y="3043856"/>
            <a:ext cx="76198" cy="76198"/>
          </a:xfrm>
          <a:prstGeom prst="roundRect">
            <a:avLst>
              <a:gd name="adj" fmla="val 25000"/>
            </a:avLst>
          </a:prstGeom>
          <a:solidFill>
            <a:srgbClr val="22C2F4"/>
          </a:solidFill>
          <a:ln/>
        </p:spPr>
      </p:sp>
      <p:sp>
        <p:nvSpPr>
          <p:cNvPr id="14" name="Text 12"/>
          <p:cNvSpPr txBox="1"/>
          <p:nvPr/>
        </p:nvSpPr>
        <p:spPr>
          <a:xfrm>
            <a:off x="1174721" y="2961308"/>
            <a:ext cx="4787780"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o EV histórico vem do status semanal: as ferramentas só guardam o % de hoje</a:t>
            </a:r>
            <a:endParaRPr lang="en-US" sz="1200" dirty="0"/>
          </a:p>
        </p:txBody>
      </p:sp>
      <p:sp>
        <p:nvSpPr>
          <p:cNvPr id="15" name="Shape 13"/>
          <p:cNvSpPr/>
          <p:nvPr/>
        </p:nvSpPr>
        <p:spPr>
          <a:xfrm>
            <a:off x="6191095" y="1582301"/>
            <a:ext cx="5238619" cy="1987203"/>
          </a:xfrm>
          <a:prstGeom prst="roundRect">
            <a:avLst>
              <a:gd name="adj" fmla="val 7669"/>
            </a:avLst>
          </a:prstGeom>
          <a:solidFill>
            <a:srgbClr val="0059DB"/>
          </a:solidFill>
          <a:ln/>
        </p:spPr>
      </p:sp>
      <p:sp>
        <p:nvSpPr>
          <p:cNvPr id="16" name="Shape 14"/>
          <p:cNvSpPr/>
          <p:nvPr/>
        </p:nvSpPr>
        <p:spPr>
          <a:xfrm>
            <a:off x="6413340" y="1779146"/>
            <a:ext cx="1044450" cy="247644"/>
          </a:xfrm>
          <a:prstGeom prst="roundRect">
            <a:avLst>
              <a:gd name="adj" fmla="val 50000"/>
            </a:avLst>
          </a:prstGeom>
          <a:solidFill>
            <a:srgbClr val="FFFFFF">
              <a:alpha val="16000"/>
            </a:srgbClr>
          </a:solidFill>
          <a:ln/>
        </p:spPr>
      </p:sp>
      <p:sp>
        <p:nvSpPr>
          <p:cNvPr id="17" name="Text 15"/>
          <p:cNvSpPr txBox="1"/>
          <p:nvPr/>
        </p:nvSpPr>
        <p:spPr>
          <a:xfrm>
            <a:off x="6502237" y="1817245"/>
            <a:ext cx="901320"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Para que serve</a:t>
            </a:r>
            <a:endParaRPr lang="en-US" sz="900" dirty="0"/>
          </a:p>
        </p:txBody>
      </p:sp>
      <p:sp>
        <p:nvSpPr>
          <p:cNvPr id="18" name="Shape 16"/>
          <p:cNvSpPr/>
          <p:nvPr/>
        </p:nvSpPr>
        <p:spPr>
          <a:xfrm>
            <a:off x="6413340" y="2198236"/>
            <a:ext cx="76198" cy="76198"/>
          </a:xfrm>
          <a:prstGeom prst="roundRect">
            <a:avLst>
              <a:gd name="adj" fmla="val 25000"/>
            </a:avLst>
          </a:prstGeom>
          <a:solidFill>
            <a:srgbClr val="22C2F4"/>
          </a:solidFill>
          <a:ln/>
        </p:spPr>
      </p:sp>
      <p:sp>
        <p:nvSpPr>
          <p:cNvPr id="19" name="Text 17"/>
          <p:cNvSpPr txBox="1"/>
          <p:nvPr/>
        </p:nvSpPr>
        <p:spPr>
          <a:xfrm>
            <a:off x="6603835" y="2115688"/>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a linha do SPI e do CPI da carteira no dashboard</a:t>
            </a:r>
            <a:endParaRPr lang="en-US" sz="1200" dirty="0"/>
          </a:p>
        </p:txBody>
      </p:sp>
      <p:sp>
        <p:nvSpPr>
          <p:cNvPr id="20" name="Shape 18"/>
          <p:cNvSpPr/>
          <p:nvPr/>
        </p:nvSpPr>
        <p:spPr>
          <a:xfrm>
            <a:off x="6413340" y="2480109"/>
            <a:ext cx="76198" cy="76198"/>
          </a:xfrm>
          <a:prstGeom prst="roundRect">
            <a:avLst>
              <a:gd name="adj" fmla="val 25000"/>
            </a:avLst>
          </a:prstGeom>
          <a:solidFill>
            <a:srgbClr val="22C2F4"/>
          </a:solidFill>
          <a:ln/>
        </p:spPr>
      </p:sp>
      <p:sp>
        <p:nvSpPr>
          <p:cNvPr id="21" name="Text 19"/>
          <p:cNvSpPr txBox="1"/>
          <p:nvPr/>
        </p:nvSpPr>
        <p:spPr>
          <a:xfrm>
            <a:off x="6603835" y="2397561"/>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"qual era o SPI do PRJ-016 em setembro?" no Genie</a:t>
            </a:r>
            <a:endParaRPr lang="en-US" sz="1200" dirty="0"/>
          </a:p>
        </p:txBody>
      </p:sp>
      <p:sp>
        <p:nvSpPr>
          <p:cNvPr id="22" name="Shape 20"/>
          <p:cNvSpPr/>
          <p:nvPr/>
        </p:nvSpPr>
        <p:spPr>
          <a:xfrm>
            <a:off x="6413340" y="2761983"/>
            <a:ext cx="76198" cy="76198"/>
          </a:xfrm>
          <a:prstGeom prst="roundRect">
            <a:avLst>
              <a:gd name="adj" fmla="val 25000"/>
            </a:avLst>
          </a:prstGeom>
          <a:solidFill>
            <a:srgbClr val="22C2F4"/>
          </a:solidFill>
          <a:ln/>
        </p:spPr>
      </p:sp>
      <p:sp>
        <p:nvSpPr>
          <p:cNvPr id="23" name="Text 21"/>
          <p:cNvSpPr txBox="1"/>
          <p:nvPr/>
        </p:nvSpPr>
        <p:spPr>
          <a:xfrm>
            <a:off x="6603835" y="2679435"/>
            <a:ext cx="4787780" cy="411351"/>
          </a:xfrm>
          <a:prstGeom prst="rect">
            <a:avLst/>
          </a:prstGeom>
          <a:noFill/>
          <a:ln/>
        </p:spPr>
        <p:txBody>
          <a:bodyPr wrap="square" lIns="0" tIns="0" rIns="0" bIns="0" rtlCol="0" anchor="t"/>
          <a:lstStyle/>
          <a:p>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a base do modelo da noite 3</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cada linha é um "momento" do projeto</a:t>
            </a:r>
            <a:endParaRPr lang="en-US" sz="1200" dirty="0"/>
          </a:p>
        </p:txBody>
      </p:sp>
      <p:sp>
        <p:nvSpPr>
          <p:cNvPr id="24" name="Shape 22"/>
          <p:cNvSpPr/>
          <p:nvPr/>
        </p:nvSpPr>
        <p:spPr>
          <a:xfrm>
            <a:off x="761981" y="3721900"/>
            <a:ext cx="25399" cy="285743"/>
          </a:xfrm>
          <a:prstGeom prst="rect">
            <a:avLst/>
          </a:prstGeom>
          <a:solidFill>
            <a:srgbClr val="22C2F4"/>
          </a:solidFill>
          <a:ln/>
        </p:spPr>
      </p:sp>
      <p:sp>
        <p:nvSpPr>
          <p:cNvPr id="25" name="Text 23"/>
          <p:cNvSpPr txBox="1"/>
          <p:nvPr/>
        </p:nvSpPr>
        <p:spPr>
          <a:xfrm>
            <a:off x="914377" y="3759999"/>
            <a:ext cx="10935951" cy="209545"/>
          </a:xfrm>
          <a:prstGeom prst="rect">
            <a:avLst/>
          </a:prstGeom>
          <a:noFill/>
          <a:ln/>
        </p:spPr>
        <p:txBody>
          <a:bodyPr wrap="square" lIns="0" tIns="0" rIns="0" bIns="0" rtlCol="0" anchor="t"/>
          <a:lstStyle/>
          <a:p>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Cuidado que vira teste: PV, EV e AC já são acumulados. Somar semanas do mesmo projeto conta duas vezes.</a:t>
            </a:r>
            <a:endParaRPr lang="en-US" sz="1100" dirty="0"/>
          </a:p>
        </p:txBody>
      </p:sp>
      <p:pic>
        <p:nvPicPr>
          <p:cNvPr id="26"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27" name="Text 24"/>
          <p:cNvSpPr txBox="1"/>
          <p:nvPr/>
        </p:nvSpPr>
        <p:spPr>
          <a:xfrm>
            <a:off x="10940181" y="6387940"/>
            <a:ext cx="509114"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94 / 133</a:t>
            </a:r>
            <a:endParaRPr lang="en-US" sz="10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GOLD · 3 DE 5 · GOLD.UTILIZACAO_PESSOA_SEMANA</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Pergunta 3: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gente parada × gente pedida</a:t>
            </a:r>
            <a:endParaRPr lang="en-US" sz="3100" dirty="0"/>
          </a:p>
        </p:txBody>
      </p:sp>
      <p:pic>
        <p:nvPicPr>
          <p:cNvPr id="4" name="Image 0" descr="preencoded.png">    </p:cNvPr>
          <p:cNvPicPr>
            <a:picLocks noChangeAspect="1"/>
          </p:cNvPicPr>
          <p:nvPr/>
        </p:nvPicPr>
        <p:blipFill>
          <a:blip r:embed="rId2"/>
          <a:srcRect l="18266" r="18266" t="0" b="0"/>
          <a:stretch/>
        </p:blipFill>
        <p:spPr>
          <a:xfrm>
            <a:off x="761981" y="1582301"/>
            <a:ext cx="5238619" cy="3809905"/>
          </a:xfrm>
          <a:prstGeom prst="rect">
            <a:avLst/>
          </a:prstGeom>
        </p:spPr>
      </p:pic>
      <p:sp>
        <p:nvSpPr>
          <p:cNvPr id="5" name="Shape 2"/>
          <p:cNvSpPr/>
          <p:nvPr/>
        </p:nvSpPr>
        <p:spPr>
          <a:xfrm>
            <a:off x="6191095" y="1582301"/>
            <a:ext cx="5238619" cy="2681816"/>
          </a:xfrm>
          <a:prstGeom prst="roundRect">
            <a:avLst>
              <a:gd name="adj" fmla="val 5683"/>
            </a:avLst>
          </a:prstGeom>
          <a:solidFill>
            <a:srgbClr val="1E1E24"/>
          </a:solidFill>
          <a:ln w="6350">
            <a:solidFill>
              <a:srgbClr val="2F2F39"/>
            </a:solidFill>
            <a:prstDash val="solid"/>
          </a:ln>
        </p:spPr>
      </p:sp>
      <p:sp>
        <p:nvSpPr>
          <p:cNvPr id="6" name="Shape 3"/>
          <p:cNvSpPr/>
          <p:nvPr/>
        </p:nvSpPr>
        <p:spPr>
          <a:xfrm>
            <a:off x="6413340" y="1779146"/>
            <a:ext cx="1754144" cy="247644"/>
          </a:xfrm>
          <a:prstGeom prst="roundRect">
            <a:avLst>
              <a:gd name="adj" fmla="val 50000"/>
            </a:avLst>
          </a:prstGeom>
          <a:solidFill>
            <a:srgbClr val="22C2F4">
              <a:alpha val="14000"/>
            </a:srgbClr>
          </a:solidFill>
          <a:ln/>
        </p:spPr>
      </p:sp>
      <p:sp>
        <p:nvSpPr>
          <p:cNvPr id="7" name="Text 4"/>
          <p:cNvSpPr txBox="1"/>
          <p:nvPr/>
        </p:nvSpPr>
        <p:spPr>
          <a:xfrm>
            <a:off x="6502237" y="1817245"/>
            <a:ext cx="1639402"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Pessoa × projeto × semana</a:t>
            </a:r>
            <a:endParaRPr lang="en-US" sz="900" dirty="0"/>
          </a:p>
        </p:txBody>
      </p:sp>
      <p:sp>
        <p:nvSpPr>
          <p:cNvPr id="8" name="Shape 5"/>
          <p:cNvSpPr/>
          <p:nvPr/>
        </p:nvSpPr>
        <p:spPr>
          <a:xfrm>
            <a:off x="6413340" y="2198236"/>
            <a:ext cx="76198" cy="76198"/>
          </a:xfrm>
          <a:prstGeom prst="roundRect">
            <a:avLst>
              <a:gd name="adj" fmla="val 25000"/>
            </a:avLst>
          </a:prstGeom>
          <a:solidFill>
            <a:srgbClr val="22C2F4"/>
          </a:solidFill>
          <a:ln/>
        </p:spPr>
      </p:sp>
      <p:sp>
        <p:nvSpPr>
          <p:cNvPr id="9" name="Text 6"/>
          <p:cNvSpPr txBox="1"/>
          <p:nvPr/>
        </p:nvSpPr>
        <p:spPr>
          <a:xfrm>
            <a:off x="6603835" y="2115688"/>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utilização = apontado ÷ disponível; custo da hora parada</a:t>
            </a:r>
            <a:endParaRPr lang="en-US" sz="1200" dirty="0"/>
          </a:p>
        </p:txBody>
      </p:sp>
      <p:sp>
        <p:nvSpPr>
          <p:cNvPr id="10" name="Shape 7"/>
          <p:cNvSpPr/>
          <p:nvPr/>
        </p:nvSpPr>
        <p:spPr>
          <a:xfrm>
            <a:off x="6413340" y="2480109"/>
            <a:ext cx="76198" cy="76198"/>
          </a:xfrm>
          <a:prstGeom prst="roundRect">
            <a:avLst>
              <a:gd name="adj" fmla="val 25000"/>
            </a:avLst>
          </a:prstGeom>
          <a:solidFill>
            <a:srgbClr val="22C2F4"/>
          </a:solidFill>
          <a:ln/>
        </p:spPr>
      </p:sp>
      <p:sp>
        <p:nvSpPr>
          <p:cNvPr id="11" name="Text 8"/>
          <p:cNvSpPr txBox="1"/>
          <p:nvPr/>
        </p:nvSpPr>
        <p:spPr>
          <a:xfrm>
            <a:off x="6603835" y="2397561"/>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e o SPI do projeto na mesma semana</a:t>
            </a:r>
            <a:endParaRPr lang="en-US" sz="1200" dirty="0"/>
          </a:p>
        </p:txBody>
      </p:sp>
      <p:sp>
        <p:nvSpPr>
          <p:cNvPr id="12" name="Shape 9"/>
          <p:cNvSpPr/>
          <p:nvPr/>
        </p:nvSpPr>
        <p:spPr>
          <a:xfrm>
            <a:off x="6413340" y="2755633"/>
            <a:ext cx="800378" cy="247644"/>
          </a:xfrm>
          <a:prstGeom prst="roundRect">
            <a:avLst>
              <a:gd name="adj" fmla="val 50000"/>
            </a:avLst>
          </a:prstGeom>
          <a:solidFill>
            <a:srgbClr val="22C2F4">
              <a:alpha val="14000"/>
            </a:srgbClr>
          </a:solidFill>
          <a:ln/>
        </p:spPr>
      </p:sp>
      <p:sp>
        <p:nvSpPr>
          <p:cNvPr id="13" name="Text 10"/>
          <p:cNvSpPr txBox="1"/>
          <p:nvPr/>
        </p:nvSpPr>
        <p:spPr>
          <a:xfrm>
            <a:off x="6502237" y="2793732"/>
            <a:ext cx="647485"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A resposta</a:t>
            </a:r>
            <a:endParaRPr lang="en-US" sz="900" dirty="0"/>
          </a:p>
        </p:txBody>
      </p:sp>
      <p:sp>
        <p:nvSpPr>
          <p:cNvPr id="14" name="Shape 11"/>
          <p:cNvSpPr/>
          <p:nvPr/>
        </p:nvSpPr>
        <p:spPr>
          <a:xfrm>
            <a:off x="6413340" y="3174722"/>
            <a:ext cx="76198" cy="76198"/>
          </a:xfrm>
          <a:prstGeom prst="roundRect">
            <a:avLst>
              <a:gd name="adj" fmla="val 25000"/>
            </a:avLst>
          </a:prstGeom>
          <a:solidFill>
            <a:srgbClr val="22C2F4"/>
          </a:solidFill>
          <a:ln/>
        </p:spPr>
      </p:sp>
      <p:sp>
        <p:nvSpPr>
          <p:cNvPr id="15" name="Text 12"/>
          <p:cNvSpPr txBox="1"/>
          <p:nvPr/>
        </p:nvSpPr>
        <p:spPr>
          <a:xfrm>
            <a:off x="6603835" y="3092174"/>
            <a:ext cx="4787780" cy="205675"/>
          </a:xfrm>
          <a:prstGeom prst="rect">
            <a:avLst/>
          </a:prstGeom>
          <a:noFill/>
          <a:ln/>
        </p:spPr>
        <p:txBody>
          <a:bodyPr wrap="square" lIns="0" tIns="0" rIns="0" bIns="0" rtlCol="0" anchor="t"/>
          <a:lstStyle/>
          <a:p>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COL0017</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e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COL0018</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SREs seniores, a ~5,5% no PRJ-007</a:t>
            </a:r>
            <a:endParaRPr lang="en-US" sz="1200" dirty="0"/>
          </a:p>
        </p:txBody>
      </p:sp>
      <p:sp>
        <p:nvSpPr>
          <p:cNvPr id="16" name="Shape 13"/>
          <p:cNvSpPr/>
          <p:nvPr/>
        </p:nvSpPr>
        <p:spPr>
          <a:xfrm>
            <a:off x="6413340" y="3456596"/>
            <a:ext cx="76198" cy="76198"/>
          </a:xfrm>
          <a:prstGeom prst="roundRect">
            <a:avLst>
              <a:gd name="adj" fmla="val 25000"/>
            </a:avLst>
          </a:prstGeom>
          <a:solidFill>
            <a:srgbClr val="22C2F4"/>
          </a:solidFill>
          <a:ln/>
        </p:spPr>
      </p:sp>
      <p:sp>
        <p:nvSpPr>
          <p:cNvPr id="17" name="Text 14"/>
          <p:cNvSpPr txBox="1"/>
          <p:nvPr/>
        </p:nvSpPr>
        <p:spPr>
          <a:xfrm>
            <a:off x="6603835" y="3374048"/>
            <a:ext cx="4787780"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o PRJ-011 está sem SRE há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12 semanas</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57 dias de impacto no status</a:t>
            </a:r>
            <a:endParaRPr lang="en-US" sz="1200" dirty="0"/>
          </a:p>
        </p:txBody>
      </p:sp>
      <p:sp>
        <p:nvSpPr>
          <p:cNvPr id="18" name="Shape 15"/>
          <p:cNvSpPr/>
          <p:nvPr/>
        </p:nvSpPr>
        <p:spPr>
          <a:xfrm>
            <a:off x="6413340" y="3944144"/>
            <a:ext cx="76198" cy="76198"/>
          </a:xfrm>
          <a:prstGeom prst="roundRect">
            <a:avLst>
              <a:gd name="adj" fmla="val 25000"/>
            </a:avLst>
          </a:prstGeom>
          <a:solidFill>
            <a:srgbClr val="22C2F4"/>
          </a:solidFill>
          <a:ln/>
        </p:spPr>
      </p:sp>
      <p:sp>
        <p:nvSpPr>
          <p:cNvPr id="19" name="Text 16"/>
          <p:cNvSpPr txBox="1"/>
          <p:nvPr/>
        </p:nvSpPr>
        <p:spPr>
          <a:xfrm>
            <a:off x="6603835" y="3861596"/>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a decisão óbvia vira simulação na noite 4</a:t>
            </a:r>
            <a:endParaRPr lang="en-US" sz="1200" dirty="0"/>
          </a:p>
        </p:txBody>
      </p:sp>
      <p:pic>
        <p:nvPicPr>
          <p:cNvPr id="20" name="Image 1" descr="preencoded.png">    </p:cNvPr>
          <p:cNvPicPr>
            <a:picLocks noChangeAspect="1"/>
          </p:cNvPicPr>
          <p:nvPr/>
        </p:nvPicPr>
        <p:blipFill>
          <a:blip r:embed="rId3"/>
          <a:stretch>
            <a:fillRect/>
          </a:stretch>
        </p:blipFill>
        <p:spPr>
          <a:xfrm>
            <a:off x="761981" y="6387940"/>
            <a:ext cx="2059928" cy="190495"/>
          </a:xfrm>
          <a:prstGeom prst="rect">
            <a:avLst/>
          </a:prstGeom>
        </p:spPr>
      </p:pic>
      <p:sp>
        <p:nvSpPr>
          <p:cNvPr id="21" name="Text 17"/>
          <p:cNvSpPr txBox="1"/>
          <p:nvPr/>
        </p:nvSpPr>
        <p:spPr>
          <a:xfrm>
            <a:off x="10941273" y="6387940"/>
            <a:ext cx="507979"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95 / 133</a:t>
            </a:r>
            <a:endParaRPr lang="en-US" sz="10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380990"/>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RECURSO DO DATABRICKS · FUNÇÕES DE IA</a:t>
            </a:r>
            <a:endParaRPr lang="en-US" sz="1200" dirty="0"/>
          </a:p>
        </p:txBody>
      </p:sp>
      <p:sp>
        <p:nvSpPr>
          <p:cNvPr id="3" name="Text 1"/>
          <p:cNvSpPr txBox="1"/>
          <p:nvPr/>
        </p:nvSpPr>
        <p:spPr>
          <a:xfrm>
            <a:off x="761981" y="704832"/>
            <a:ext cx="11094443" cy="363132"/>
          </a:xfrm>
          <a:prstGeom prst="rect">
            <a:avLst/>
          </a:prstGeom>
          <a:noFill/>
          <a:ln/>
        </p:spPr>
        <p:txBody>
          <a:bodyPr wrap="square" lIns="0" tIns="0" rIns="0" bIns="0" rtlCol="0" anchor="t"/>
          <a:lstStyle/>
          <a:p>
            <a:pPr algn="l" indent="0" marL="0">
              <a:lnSpc>
                <a:spcPct val="94017"/>
              </a:lnSpc>
              <a:buNone/>
            </a:pPr>
            <a:r>
              <a:rPr lang="en-US" sz="2600" b="1" spc="-26" kern="0" dirty="0">
                <a:solidFill>
                  <a:srgbClr val="F5F6FC"/>
                </a:solidFill>
                <a:latin typeface="Poppins" pitchFamily="34" charset="0"/>
                <a:ea typeface="Poppins" pitchFamily="34" charset="-122"/>
                <a:cs typeface="Poppins" pitchFamily="34" charset="-120"/>
              </a:rPr>
              <a:t>Funções de IA dentro do SQL</a:t>
            </a:r>
            <a:endParaRPr lang="en-US" sz="2600" dirty="0"/>
          </a:p>
        </p:txBody>
      </p:sp>
      <p:pic>
        <p:nvPicPr>
          <p:cNvPr id="4" name="Image 0" descr="preencoded.png">    </p:cNvPr>
          <p:cNvPicPr>
            <a:picLocks noChangeAspect="1"/>
          </p:cNvPicPr>
          <p:nvPr/>
        </p:nvPicPr>
        <p:blipFill>
          <a:blip r:embed="rId2"/>
          <a:srcRect l="10232" r="10232" t="0" b="0"/>
          <a:stretch/>
        </p:blipFill>
        <p:spPr>
          <a:xfrm>
            <a:off x="761981" y="1182261"/>
            <a:ext cx="6455308" cy="4063898"/>
          </a:xfrm>
          <a:prstGeom prst="rect">
            <a:avLst/>
          </a:prstGeom>
        </p:spPr>
      </p:pic>
      <p:sp>
        <p:nvSpPr>
          <p:cNvPr id="5" name="Shape 2"/>
          <p:cNvSpPr/>
          <p:nvPr/>
        </p:nvSpPr>
        <p:spPr>
          <a:xfrm>
            <a:off x="7395085" y="1182261"/>
            <a:ext cx="4034630" cy="4063898"/>
          </a:xfrm>
          <a:prstGeom prst="roundRect">
            <a:avLst>
              <a:gd name="adj" fmla="val 3777"/>
            </a:avLst>
          </a:prstGeom>
          <a:solidFill>
            <a:srgbClr val="0059DB"/>
          </a:solidFill>
          <a:ln/>
        </p:spPr>
      </p:sp>
      <p:sp>
        <p:nvSpPr>
          <p:cNvPr id="6" name="Shape 3"/>
          <p:cNvSpPr/>
          <p:nvPr/>
        </p:nvSpPr>
        <p:spPr>
          <a:xfrm>
            <a:off x="7617329" y="1379106"/>
            <a:ext cx="616034" cy="247644"/>
          </a:xfrm>
          <a:prstGeom prst="roundRect">
            <a:avLst>
              <a:gd name="adj" fmla="val 50000"/>
            </a:avLst>
          </a:prstGeom>
          <a:solidFill>
            <a:srgbClr val="FFFFFF">
              <a:alpha val="16000"/>
            </a:srgbClr>
          </a:solidFill>
          <a:ln/>
        </p:spPr>
      </p:sp>
      <p:sp>
        <p:nvSpPr>
          <p:cNvPr id="7" name="Text 4"/>
          <p:cNvSpPr txBox="1"/>
          <p:nvPr/>
        </p:nvSpPr>
        <p:spPr>
          <a:xfrm>
            <a:off x="7706227" y="1417205"/>
            <a:ext cx="455768"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O que é</a:t>
            </a:r>
            <a:endParaRPr lang="en-US" sz="900" dirty="0"/>
          </a:p>
        </p:txBody>
      </p:sp>
      <p:sp>
        <p:nvSpPr>
          <p:cNvPr id="8" name="Shape 5"/>
          <p:cNvSpPr/>
          <p:nvPr/>
        </p:nvSpPr>
        <p:spPr>
          <a:xfrm>
            <a:off x="7617329" y="1798196"/>
            <a:ext cx="76198" cy="76198"/>
          </a:xfrm>
          <a:prstGeom prst="roundRect">
            <a:avLst>
              <a:gd name="adj" fmla="val 25000"/>
            </a:avLst>
          </a:prstGeom>
          <a:solidFill>
            <a:srgbClr val="22C2F4"/>
          </a:solidFill>
          <a:ln/>
        </p:spPr>
      </p:sp>
      <p:sp>
        <p:nvSpPr>
          <p:cNvPr id="9" name="Text 6"/>
          <p:cNvSpPr txBox="1"/>
          <p:nvPr/>
        </p:nvSpPr>
        <p:spPr>
          <a:xfrm>
            <a:off x="7807824" y="1715648"/>
            <a:ext cx="3535631"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Courier New" pitchFamily="34" charset="0"/>
                <a:ea typeface="Courier New" pitchFamily="34" charset="-122"/>
                <a:cs typeface="Courier New" pitchFamily="34" charset="-120"/>
              </a:rPr>
              <a:t>ai_classify</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a:t>
            </a:r>
            <a:pPr algn="l" indent="0" marL="0">
              <a:lnSpc>
                <a:spcPct val="115385"/>
              </a:lnSpc>
              <a:buNone/>
            </a:pPr>
            <a:r>
              <a:rPr lang="en-US" sz="1200" dirty="0">
                <a:solidFill>
                  <a:srgbClr val="E6E8F2"/>
                </a:solidFill>
                <a:latin typeface="Courier New" pitchFamily="34" charset="0"/>
                <a:ea typeface="Courier New" pitchFamily="34" charset="-122"/>
                <a:cs typeface="Courier New" pitchFamily="34" charset="-120"/>
              </a:rPr>
              <a:t>ai_extract</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a:t>
            </a:r>
            <a:pPr algn="l" indent="0" marL="0">
              <a:lnSpc>
                <a:spcPct val="115385"/>
              </a:lnSpc>
              <a:buNone/>
            </a:pPr>
            <a:r>
              <a:rPr lang="en-US" sz="1200" dirty="0">
                <a:solidFill>
                  <a:srgbClr val="E6E8F2"/>
                </a:solidFill>
                <a:latin typeface="Courier New" pitchFamily="34" charset="0"/>
                <a:ea typeface="Courier New" pitchFamily="34" charset="-122"/>
                <a:cs typeface="Courier New" pitchFamily="34" charset="-120"/>
              </a:rPr>
              <a:t>ai_query</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a:t>
            </a:r>
            <a:pPr algn="l" indent="0" marL="0">
              <a:lnSpc>
                <a:spcPct val="115385"/>
              </a:lnSpc>
              <a:buNone/>
            </a:pPr>
            <a:r>
              <a:rPr lang="en-US" sz="1200" dirty="0">
                <a:solidFill>
                  <a:srgbClr val="E6E8F2"/>
                </a:solidFill>
                <a:latin typeface="Courier New" pitchFamily="34" charset="0"/>
                <a:ea typeface="Courier New" pitchFamily="34" charset="-122"/>
                <a:cs typeface="Courier New" pitchFamily="34" charset="-120"/>
              </a:rPr>
              <a:t>ai_parse_document</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IA como função SQL</a:t>
            </a:r>
            <a:endParaRPr lang="en-US" sz="1200" dirty="0"/>
          </a:p>
        </p:txBody>
      </p:sp>
      <p:sp>
        <p:nvSpPr>
          <p:cNvPr id="10" name="Shape 7"/>
          <p:cNvSpPr/>
          <p:nvPr/>
        </p:nvSpPr>
        <p:spPr>
          <a:xfrm>
            <a:off x="7617329" y="2285744"/>
            <a:ext cx="76198" cy="76198"/>
          </a:xfrm>
          <a:prstGeom prst="roundRect">
            <a:avLst>
              <a:gd name="adj" fmla="val 25000"/>
            </a:avLst>
          </a:prstGeom>
          <a:solidFill>
            <a:srgbClr val="22C2F4"/>
          </a:solidFill>
          <a:ln/>
        </p:spPr>
      </p:sp>
      <p:sp>
        <p:nvSpPr>
          <p:cNvPr id="11" name="Text 8"/>
          <p:cNvSpPr txBox="1"/>
          <p:nvPr/>
        </p:nvSpPr>
        <p:spPr>
          <a:xfrm>
            <a:off x="7807824" y="2203196"/>
            <a:ext cx="3535631"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roda sobre a tabela inteira, sem API key</a:t>
            </a:r>
            <a:endParaRPr lang="en-US" sz="1200" dirty="0"/>
          </a:p>
        </p:txBody>
      </p:sp>
      <p:sp>
        <p:nvSpPr>
          <p:cNvPr id="12" name="Shape 9"/>
          <p:cNvSpPr/>
          <p:nvPr/>
        </p:nvSpPr>
        <p:spPr>
          <a:xfrm>
            <a:off x="7617329" y="2548568"/>
            <a:ext cx="650958" cy="247644"/>
          </a:xfrm>
          <a:prstGeom prst="roundRect">
            <a:avLst>
              <a:gd name="adj" fmla="val 50000"/>
            </a:avLst>
          </a:prstGeom>
          <a:solidFill>
            <a:srgbClr val="FFFFFF">
              <a:alpha val="16000"/>
            </a:srgbClr>
          </a:solidFill>
          <a:ln/>
        </p:spPr>
      </p:sp>
      <p:sp>
        <p:nvSpPr>
          <p:cNvPr id="13" name="Text 10"/>
          <p:cNvSpPr txBox="1"/>
          <p:nvPr/>
        </p:nvSpPr>
        <p:spPr>
          <a:xfrm>
            <a:off x="7706227" y="2586667"/>
            <a:ext cx="492089"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No Farol</a:t>
            </a:r>
            <a:endParaRPr lang="en-US" sz="900" dirty="0"/>
          </a:p>
        </p:txBody>
      </p:sp>
      <p:sp>
        <p:nvSpPr>
          <p:cNvPr id="14" name="Text 11"/>
          <p:cNvSpPr txBox="1"/>
          <p:nvPr/>
        </p:nvSpPr>
        <p:spPr>
          <a:xfrm>
            <a:off x="7617329" y="2961308"/>
            <a:ext cx="3733746" cy="591428"/>
          </a:xfrm>
          <a:prstGeom prst="rect">
            <a:avLst/>
          </a:prstGeom>
          <a:noFill/>
          <a:ln/>
        </p:spPr>
        <p:txBody>
          <a:bodyPr wrap="square" lIns="0" tIns="0" rIns="0" bIns="0" rtlCol="0" anchor="t"/>
          <a:lstStyle/>
          <a:p>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noite 2: a causa de cada bloqueio, lida no texto livre do status semanal. O PRJ-011 grita </a:t>
            </a:r>
            <a:pPr algn="l" indent="0" marL="0">
              <a:lnSpc>
                <a:spcPct val="115385"/>
              </a:lnSpc>
              <a:buNone/>
            </a:pPr>
            <a:r>
              <a:rPr lang="en-US" sz="1150" b="1" dirty="0">
                <a:solidFill>
                  <a:srgbClr val="FFFFFF"/>
                </a:solidFill>
                <a:latin typeface="Poppins" pitchFamily="34" charset="0"/>
                <a:ea typeface="Poppins" pitchFamily="34" charset="-122"/>
                <a:cs typeface="Poppins" pitchFamily="34" charset="-120"/>
              </a:rPr>
              <a:t>falta de SRE</a:t>
            </a:r>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 há 12 semanas</a:t>
            </a:r>
            <a:endParaRPr lang="en-US" sz="1150" dirty="0"/>
          </a:p>
        </p:txBody>
      </p:sp>
      <p:pic>
        <p:nvPicPr>
          <p:cNvPr id="15" name="Image 1" descr="preencoded.png">    </p:cNvPr>
          <p:cNvPicPr>
            <a:picLocks noChangeAspect="1"/>
          </p:cNvPicPr>
          <p:nvPr/>
        </p:nvPicPr>
        <p:blipFill>
          <a:blip r:embed="rId3"/>
          <a:stretch>
            <a:fillRect/>
          </a:stretch>
        </p:blipFill>
        <p:spPr>
          <a:xfrm>
            <a:off x="761981" y="6387940"/>
            <a:ext cx="2059928" cy="190495"/>
          </a:xfrm>
          <a:prstGeom prst="rect">
            <a:avLst/>
          </a:prstGeom>
        </p:spPr>
      </p:pic>
      <p:sp>
        <p:nvSpPr>
          <p:cNvPr id="16" name="Text 12"/>
          <p:cNvSpPr txBox="1"/>
          <p:nvPr/>
        </p:nvSpPr>
        <p:spPr>
          <a:xfrm>
            <a:off x="10940876" y="6387940"/>
            <a:ext cx="508392"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96 / 133</a:t>
            </a:r>
            <a:endParaRPr lang="en-US" sz="10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GOLD · 4 DE 5 · GOLD.STATUS_ESTRUTURADO · A FUNÇÃO DE IA</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O texto livre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vira coluna</a:t>
            </a:r>
            <a:endParaRPr lang="en-US" sz="3100" dirty="0"/>
          </a:p>
        </p:txBody>
      </p:sp>
      <p:sp>
        <p:nvSpPr>
          <p:cNvPr id="4" name="Shape 2"/>
          <p:cNvSpPr/>
          <p:nvPr/>
        </p:nvSpPr>
        <p:spPr>
          <a:xfrm>
            <a:off x="761981" y="1582301"/>
            <a:ext cx="10667733" cy="867646"/>
          </a:xfrm>
          <a:prstGeom prst="roundRect">
            <a:avLst>
              <a:gd name="adj" fmla="val 13173"/>
            </a:avLst>
          </a:prstGeom>
          <a:solidFill>
            <a:srgbClr val="0C0C10"/>
          </a:solidFill>
          <a:ln w="6350">
            <a:solidFill>
              <a:srgbClr val="2F2F39"/>
            </a:solidFill>
            <a:prstDash val="solid"/>
          </a:ln>
        </p:spPr>
      </p:sp>
      <p:sp>
        <p:nvSpPr>
          <p:cNvPr id="5" name="Text 3"/>
          <p:cNvSpPr txBox="1"/>
          <p:nvPr/>
        </p:nvSpPr>
        <p:spPr>
          <a:xfrm>
            <a:off x="958826" y="1753747"/>
            <a:ext cx="10691609" cy="531105"/>
          </a:xfrm>
          <a:prstGeom prst="rect">
            <a:avLst/>
          </a:prstGeom>
          <a:noFill/>
          <a:ln/>
        </p:spPr>
        <p:txBody>
          <a:bodyPr wrap="square" lIns="0" tIns="0" rIns="0" bIns="0" rtlCol="0" anchor="t"/>
          <a:lstStyle/>
          <a:p>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ai_classify</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(texto_status, </a:t>
            </a:r>
            <a:pPr algn="l" indent="0" marL="0">
              <a:lnSpc>
                <a:spcPct val="123932"/>
              </a:lnSpc>
              <a:buNone/>
            </a:pPr>
            <a:r>
              <a:rPr lang="en-US" sz="950" dirty="0">
                <a:solidFill>
                  <a:srgbClr val="F6C344"/>
                </a:solidFill>
                <a:latin typeface="Courier New" pitchFamily="34" charset="0"/>
                <a:ea typeface="Courier New" pitchFamily="34" charset="-122"/>
                <a:cs typeface="Courier New" pitchFamily="34" charset="-120"/>
              </a:rPr>
              <a:t>'["change_freeze","falta_sre","dependencia_fornecedor","rotatividade",</a:t>
            </a:r>
            <a:endParaRPr lang="en-US" sz="950" dirty="0"/>
          </a:p>
          <a:p>
            <a:pPr algn="l" indent="0" marL="0">
              <a:lnSpc>
                <a:spcPct val="123932"/>
              </a:lnSpc>
              <a:buNone/>
            </a:pPr>
            <a:r>
              <a:rPr lang="en-US" sz="950" dirty="0">
                <a:solidFill>
                  <a:srgbClr val="F6C344"/>
                </a:solidFill>
                <a:latin typeface="Courier New" pitchFamily="34" charset="0"/>
                <a:ea typeface="Courier New" pitchFamily="34" charset="-122"/>
                <a:cs typeface="Courier New" pitchFamily="34" charset="-120"/>
              </a:rPr>
              <a:t>                            "mudanca_escopo","bug_retrabalho","aprovacao_cliente","sem_bloqueio"]'</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a:t>
            </a:r>
            <a:endParaRPr lang="en-US" sz="950" dirty="0"/>
          </a:p>
          <a:p>
            <a:pPr algn="l" indent="0" marL="0">
              <a:lnSpc>
                <a:spcPct val="123932"/>
              </a:lnSpc>
              <a:buNone/>
            </a:pP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ai_extract</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(texto_status, </a:t>
            </a:r>
            <a:pPr algn="l" indent="0" marL="0">
              <a:lnSpc>
                <a:spcPct val="123932"/>
              </a:lnSpc>
              <a:buNone/>
            </a:pPr>
            <a:r>
              <a:rPr lang="en-US" sz="950" dirty="0">
                <a:solidFill>
                  <a:srgbClr val="F6C344"/>
                </a:solidFill>
                <a:latin typeface="Courier New" pitchFamily="34" charset="0"/>
                <a:ea typeface="Courier New" pitchFamily="34" charset="-122"/>
                <a:cs typeface="Courier New" pitchFamily="34" charset="-120"/>
              </a:rPr>
              <a:t>'{"bloqueio": ..., "quem_destrava": ..., "dias_impacto": {"type": "number"}}'</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a:t>
            </a:r>
            <a:endParaRPr lang="en-US" sz="950" dirty="0"/>
          </a:p>
        </p:txBody>
      </p:sp>
      <p:sp>
        <p:nvSpPr>
          <p:cNvPr id="6" name="Shape 4"/>
          <p:cNvSpPr/>
          <p:nvPr/>
        </p:nvSpPr>
        <p:spPr>
          <a:xfrm>
            <a:off x="761981" y="2615043"/>
            <a:ext cx="3437348" cy="1530907"/>
          </a:xfrm>
          <a:prstGeom prst="roundRect">
            <a:avLst>
              <a:gd name="adj" fmla="val 9955"/>
            </a:avLst>
          </a:prstGeom>
          <a:solidFill>
            <a:srgbClr val="1E1E24"/>
          </a:solidFill>
          <a:ln w="6350">
            <a:solidFill>
              <a:srgbClr val="2F2F39"/>
            </a:solidFill>
            <a:prstDash val="solid"/>
          </a:ln>
        </p:spPr>
      </p:sp>
      <p:sp>
        <p:nvSpPr>
          <p:cNvPr id="7" name="Shape 5"/>
          <p:cNvSpPr/>
          <p:nvPr/>
        </p:nvSpPr>
        <p:spPr>
          <a:xfrm>
            <a:off x="984225" y="2811888"/>
            <a:ext cx="1203989" cy="247644"/>
          </a:xfrm>
          <a:prstGeom prst="roundRect">
            <a:avLst>
              <a:gd name="adj" fmla="val 50000"/>
            </a:avLst>
          </a:prstGeom>
          <a:solidFill>
            <a:srgbClr val="22C2F4">
              <a:alpha val="14000"/>
            </a:srgbClr>
          </a:solidFill>
          <a:ln/>
        </p:spPr>
      </p:sp>
      <p:sp>
        <p:nvSpPr>
          <p:cNvPr id="8" name="Text 6"/>
          <p:cNvSpPr txBox="1"/>
          <p:nvPr/>
        </p:nvSpPr>
        <p:spPr>
          <a:xfrm>
            <a:off x="1073123" y="2849987"/>
            <a:ext cx="1067242"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Regra · custo zero</a:t>
            </a:r>
            <a:endParaRPr lang="en-US" sz="900" dirty="0"/>
          </a:p>
        </p:txBody>
      </p:sp>
      <p:sp>
        <p:nvSpPr>
          <p:cNvPr id="9" name="Text 7"/>
          <p:cNvSpPr txBox="1"/>
          <p:nvPr/>
        </p:nvSpPr>
        <p:spPr>
          <a:xfrm>
            <a:off x="984225" y="3148430"/>
            <a:ext cx="3112573" cy="330192"/>
          </a:xfrm>
          <a:prstGeom prst="rect">
            <a:avLst/>
          </a:prstGeom>
          <a:noFill/>
          <a:ln/>
        </p:spPr>
        <p:txBody>
          <a:bodyPr wrap="square" lIns="0" tIns="0" rIns="0" bIns="0" rtlCol="0" anchor="t"/>
          <a:lstStyle/>
          <a:p>
            <a:pPr algn="l" indent="0" marL="0">
              <a:lnSpc>
                <a:spcPct val="85470"/>
              </a:lnSpc>
              <a:buNone/>
            </a:pPr>
            <a:r>
              <a:rPr lang="en-US" sz="2600" b="1" spc="-52" kern="0" dirty="0">
                <a:solidFill>
                  <a:srgbClr val="F5F6FC"/>
                </a:solidFill>
                <a:latin typeface="Poppins" pitchFamily="34" charset="0"/>
                <a:ea typeface="Poppins" pitchFamily="34" charset="-122"/>
                <a:cs typeface="Poppins" pitchFamily="34" charset="-120"/>
              </a:rPr>
              <a:t>2.954</a:t>
            </a:r>
            <a:endParaRPr lang="en-US" sz="2600" dirty="0"/>
          </a:p>
        </p:txBody>
      </p:sp>
      <p:sp>
        <p:nvSpPr>
          <p:cNvPr id="10" name="Text 8"/>
          <p:cNvSpPr txBox="1"/>
          <p:nvPr/>
        </p:nvSpPr>
        <p:spPr>
          <a:xfrm>
            <a:off x="984225" y="3554820"/>
            <a:ext cx="3112573" cy="394285"/>
          </a:xfrm>
          <a:prstGeom prst="rect">
            <a:avLst/>
          </a:prstGeom>
          <a:noFill/>
          <a:ln/>
        </p:spPr>
        <p:txBody>
          <a:bodyPr wrap="square" lIns="0" tIns="0" rIns="0" bIns="0" rtlCol="0" anchor="t"/>
          <a:lstStyle/>
          <a:p>
            <a:pPr algn="l" indent="0" marL="0">
              <a:lnSpc>
                <a:spcPct val="115385"/>
              </a:lnSpc>
              <a:buNone/>
            </a:pPr>
            <a:r>
              <a:rPr lang="en-US" sz="1150" dirty="0">
                <a:solidFill>
                  <a:srgbClr val="A3A6B4"/>
                </a:solidFill>
                <a:latin typeface="Poppins" pitchFamily="34" charset="0"/>
                <a:ea typeface="Poppins" pitchFamily="34" charset="-122"/>
                <a:cs typeface="Poppins" pitchFamily="34" charset="-120"/>
              </a:rPr>
              <a:t>"sem bloqueios" e status vazio: não precisa de IA</a:t>
            </a:r>
            <a:endParaRPr lang="en-US" sz="1150" dirty="0"/>
          </a:p>
        </p:txBody>
      </p:sp>
      <p:sp>
        <p:nvSpPr>
          <p:cNvPr id="11" name="Shape 9"/>
          <p:cNvSpPr/>
          <p:nvPr/>
        </p:nvSpPr>
        <p:spPr>
          <a:xfrm>
            <a:off x="4377124" y="2615043"/>
            <a:ext cx="3437348" cy="1530907"/>
          </a:xfrm>
          <a:prstGeom prst="roundRect">
            <a:avLst>
              <a:gd name="adj" fmla="val 9955"/>
            </a:avLst>
          </a:prstGeom>
          <a:solidFill>
            <a:srgbClr val="0059DB"/>
          </a:solidFill>
          <a:ln/>
        </p:spPr>
      </p:sp>
      <p:sp>
        <p:nvSpPr>
          <p:cNvPr id="12" name="Shape 10"/>
          <p:cNvSpPr/>
          <p:nvPr/>
        </p:nvSpPr>
        <p:spPr>
          <a:xfrm>
            <a:off x="4599369" y="2811888"/>
            <a:ext cx="1264015" cy="247644"/>
          </a:xfrm>
          <a:prstGeom prst="roundRect">
            <a:avLst>
              <a:gd name="adj" fmla="val 50000"/>
            </a:avLst>
          </a:prstGeom>
          <a:solidFill>
            <a:srgbClr val="FFFFFF">
              <a:alpha val="16000"/>
            </a:srgbClr>
          </a:solidFill>
          <a:ln/>
        </p:spPr>
      </p:sp>
      <p:sp>
        <p:nvSpPr>
          <p:cNvPr id="13" name="Text 11"/>
          <p:cNvSpPr txBox="1"/>
          <p:nvPr/>
        </p:nvSpPr>
        <p:spPr>
          <a:xfrm>
            <a:off x="4688266" y="2849987"/>
            <a:ext cx="1129669"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IA · últimos 90 dias</a:t>
            </a:r>
            <a:endParaRPr lang="en-US" sz="900" dirty="0"/>
          </a:p>
        </p:txBody>
      </p:sp>
      <p:sp>
        <p:nvSpPr>
          <p:cNvPr id="14" name="Text 12"/>
          <p:cNvSpPr txBox="1"/>
          <p:nvPr/>
        </p:nvSpPr>
        <p:spPr>
          <a:xfrm>
            <a:off x="4599369" y="3148430"/>
            <a:ext cx="3112573" cy="330192"/>
          </a:xfrm>
          <a:prstGeom prst="rect">
            <a:avLst/>
          </a:prstGeom>
          <a:noFill/>
          <a:ln/>
        </p:spPr>
        <p:txBody>
          <a:bodyPr wrap="square" lIns="0" tIns="0" rIns="0" bIns="0" rtlCol="0" anchor="t"/>
          <a:lstStyle/>
          <a:p>
            <a:pPr algn="l" indent="0" marL="0">
              <a:lnSpc>
                <a:spcPct val="85470"/>
              </a:lnSpc>
              <a:buNone/>
            </a:pPr>
            <a:r>
              <a:rPr lang="en-US" sz="2600" b="1" spc="-52" kern="0" dirty="0">
                <a:solidFill>
                  <a:srgbClr val="F5F6FC"/>
                </a:solidFill>
                <a:latin typeface="Poppins" pitchFamily="34" charset="0"/>
                <a:ea typeface="Poppins" pitchFamily="34" charset="-122"/>
                <a:cs typeface="Poppins" pitchFamily="34" charset="-120"/>
              </a:rPr>
              <a:t>163</a:t>
            </a:r>
            <a:endParaRPr lang="en-US" sz="2600" dirty="0"/>
          </a:p>
        </p:txBody>
      </p:sp>
      <p:sp>
        <p:nvSpPr>
          <p:cNvPr id="15" name="Text 13"/>
          <p:cNvSpPr txBox="1"/>
          <p:nvPr/>
        </p:nvSpPr>
        <p:spPr>
          <a:xfrm>
            <a:off x="4599369" y="3554820"/>
            <a:ext cx="3112573" cy="197143"/>
          </a:xfrm>
          <a:prstGeom prst="rect">
            <a:avLst/>
          </a:prstGeom>
          <a:noFill/>
          <a:ln/>
        </p:spPr>
        <p:txBody>
          <a:bodyPr wrap="square" lIns="0" tIns="0" rIns="0" bIns="0" rtlCol="0" anchor="t"/>
          <a:lstStyle/>
          <a:p>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status com bloqueio, em ~2 minutos</a:t>
            </a:r>
            <a:endParaRPr lang="en-US" sz="1150" dirty="0"/>
          </a:p>
        </p:txBody>
      </p:sp>
      <p:sp>
        <p:nvSpPr>
          <p:cNvPr id="16" name="Shape 14"/>
          <p:cNvSpPr/>
          <p:nvPr/>
        </p:nvSpPr>
        <p:spPr>
          <a:xfrm>
            <a:off x="7992267" y="2615043"/>
            <a:ext cx="3437348" cy="1530907"/>
          </a:xfrm>
          <a:prstGeom prst="roundRect">
            <a:avLst>
              <a:gd name="adj" fmla="val 9955"/>
            </a:avLst>
          </a:prstGeom>
          <a:solidFill>
            <a:srgbClr val="1E1E24"/>
          </a:solidFill>
          <a:ln w="6350">
            <a:solidFill>
              <a:srgbClr val="2F2F39"/>
            </a:solidFill>
            <a:prstDash val="solid"/>
          </a:ln>
        </p:spPr>
      </p:sp>
      <p:sp>
        <p:nvSpPr>
          <p:cNvPr id="17" name="Shape 15"/>
          <p:cNvSpPr/>
          <p:nvPr/>
        </p:nvSpPr>
        <p:spPr>
          <a:xfrm>
            <a:off x="8214512" y="2811888"/>
            <a:ext cx="1645502" cy="247644"/>
          </a:xfrm>
          <a:prstGeom prst="roundRect">
            <a:avLst>
              <a:gd name="adj" fmla="val 50000"/>
            </a:avLst>
          </a:prstGeom>
          <a:solidFill>
            <a:srgbClr val="22C2F4">
              <a:alpha val="14000"/>
            </a:srgbClr>
          </a:solidFill>
          <a:ln/>
        </p:spPr>
      </p:sp>
      <p:sp>
        <p:nvSpPr>
          <p:cNvPr id="18" name="Text 16"/>
          <p:cNvSpPr txBox="1"/>
          <p:nvPr/>
        </p:nvSpPr>
        <p:spPr>
          <a:xfrm>
            <a:off x="8303410" y="2849987"/>
            <a:ext cx="1526415"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Palavra-chave · histórico</a:t>
            </a:r>
            <a:endParaRPr lang="en-US" sz="900" dirty="0"/>
          </a:p>
        </p:txBody>
      </p:sp>
      <p:sp>
        <p:nvSpPr>
          <p:cNvPr id="19" name="Text 17"/>
          <p:cNvSpPr txBox="1"/>
          <p:nvPr/>
        </p:nvSpPr>
        <p:spPr>
          <a:xfrm>
            <a:off x="8214512" y="3148430"/>
            <a:ext cx="3112573" cy="330192"/>
          </a:xfrm>
          <a:prstGeom prst="rect">
            <a:avLst/>
          </a:prstGeom>
          <a:noFill/>
          <a:ln/>
        </p:spPr>
        <p:txBody>
          <a:bodyPr wrap="square" lIns="0" tIns="0" rIns="0" bIns="0" rtlCol="0" anchor="t"/>
          <a:lstStyle/>
          <a:p>
            <a:pPr algn="l" indent="0" marL="0">
              <a:lnSpc>
                <a:spcPct val="85470"/>
              </a:lnSpc>
              <a:buNone/>
            </a:pPr>
            <a:r>
              <a:rPr lang="en-US" sz="2600" b="1" spc="-52" kern="0" dirty="0">
                <a:solidFill>
                  <a:srgbClr val="F5F6FC"/>
                </a:solidFill>
                <a:latin typeface="Poppins" pitchFamily="34" charset="0"/>
                <a:ea typeface="Poppins" pitchFamily="34" charset="-122"/>
                <a:cs typeface="Poppins" pitchFamily="34" charset="-120"/>
              </a:rPr>
              <a:t>794</a:t>
            </a:r>
            <a:endParaRPr lang="en-US" sz="2600" dirty="0"/>
          </a:p>
        </p:txBody>
      </p:sp>
      <p:sp>
        <p:nvSpPr>
          <p:cNvPr id="20" name="Text 18"/>
          <p:cNvSpPr txBox="1"/>
          <p:nvPr/>
        </p:nvSpPr>
        <p:spPr>
          <a:xfrm>
            <a:off x="8214512" y="3554820"/>
            <a:ext cx="3112573" cy="394285"/>
          </a:xfrm>
          <a:prstGeom prst="rect">
            <a:avLst/>
          </a:prstGeom>
          <a:noFill/>
          <a:ln/>
        </p:spPr>
        <p:txBody>
          <a:bodyPr wrap="square" lIns="0" tIns="0" rIns="0" bIns="0" rtlCol="0" anchor="t"/>
          <a:lstStyle/>
          <a:p>
            <a:pPr algn="l" indent="0" marL="0">
              <a:lnSpc>
                <a:spcPct val="115385"/>
              </a:lnSpc>
              <a:buNone/>
            </a:pPr>
            <a:r>
              <a:rPr lang="en-US" sz="1150" dirty="0">
                <a:solidFill>
                  <a:srgbClr val="A3A6B4"/>
                </a:solidFill>
                <a:latin typeface="Poppins" pitchFamily="34" charset="0"/>
                <a:ea typeface="Poppins" pitchFamily="34" charset="-122"/>
                <a:cs typeface="Poppins" pitchFamily="34" charset="-120"/>
              </a:rPr>
              <a:t>onde a IA custaria caro e não muda decisão</a:t>
            </a:r>
            <a:endParaRPr lang="en-US" sz="1150" dirty="0"/>
          </a:p>
        </p:txBody>
      </p:sp>
      <p:sp>
        <p:nvSpPr>
          <p:cNvPr id="21" name="Shape 19"/>
          <p:cNvSpPr/>
          <p:nvPr/>
        </p:nvSpPr>
        <p:spPr>
          <a:xfrm>
            <a:off x="761981" y="4285647"/>
            <a:ext cx="25399" cy="495288"/>
          </a:xfrm>
          <a:prstGeom prst="rect">
            <a:avLst/>
          </a:prstGeom>
          <a:solidFill>
            <a:srgbClr val="22C2F4"/>
          </a:solidFill>
          <a:ln/>
        </p:spPr>
      </p:sp>
      <p:sp>
        <p:nvSpPr>
          <p:cNvPr id="22" name="Text 20"/>
          <p:cNvSpPr txBox="1"/>
          <p:nvPr/>
        </p:nvSpPr>
        <p:spPr>
          <a:xfrm>
            <a:off x="914377" y="4323746"/>
            <a:ext cx="10935951" cy="419090"/>
          </a:xfrm>
          <a:prstGeom prst="rect">
            <a:avLst/>
          </a:prstGeom>
          <a:noFill/>
          <a:ln/>
        </p:spPr>
        <p:txBody>
          <a:bodyPr wrap="square" lIns="0" tIns="0" rIns="0" bIns="0" rtlCol="0" anchor="t"/>
          <a:lstStyle/>
          <a:p>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Causas nos últimos 90 dias: escopo 42 · bug 37 · aprovação do cliente 35 · fornecedor 28 · </a:t>
            </a:r>
            <a:pPr algn="l" indent="0" marL="0">
              <a:lnSpc>
                <a:spcPct val="106838"/>
              </a:lnSpc>
              <a:buNone/>
            </a:pPr>
            <a:r>
              <a:rPr lang="en-US" sz="1100" b="1" dirty="0">
                <a:solidFill>
                  <a:srgbClr val="FFFFFF"/>
                </a:solidFill>
                <a:latin typeface="Poppins" pitchFamily="34" charset="0"/>
                <a:ea typeface="Poppins" pitchFamily="34" charset="-122"/>
                <a:cs typeface="Poppins" pitchFamily="34" charset="-120"/>
              </a:rPr>
              <a:t>falta de SRE 12</a:t>
            </a:r>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 · rotatividade 9. O MERGE só processa status novo: IA cobra por chamada.</a:t>
            </a:r>
            <a:endParaRPr lang="en-US" sz="1100" dirty="0"/>
          </a:p>
        </p:txBody>
      </p:sp>
      <p:pic>
        <p:nvPicPr>
          <p:cNvPr id="23"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24" name="Text 21"/>
          <p:cNvSpPr txBox="1"/>
          <p:nvPr/>
        </p:nvSpPr>
        <p:spPr>
          <a:xfrm>
            <a:off x="10951293" y="6387940"/>
            <a:ext cx="497558"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97 / 133</a:t>
            </a:r>
            <a:endParaRPr lang="en-US" sz="10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GOLD · 4 DE 5 · A IA NO DASHBOARD</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Por que travou,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projeto a projeto</a:t>
            </a:r>
            <a:endParaRPr lang="en-US" sz="3100" dirty="0"/>
          </a:p>
        </p:txBody>
      </p:sp>
      <p:pic>
        <p:nvPicPr>
          <p:cNvPr id="4" name="Image 0" descr="preencoded.png">    </p:cNvPr>
          <p:cNvPicPr>
            <a:picLocks noChangeAspect="1"/>
          </p:cNvPicPr>
          <p:nvPr/>
        </p:nvPicPr>
        <p:blipFill>
          <a:blip r:embed="rId2"/>
          <a:stretch>
            <a:fillRect/>
          </a:stretch>
        </p:blipFill>
        <p:spPr>
          <a:xfrm>
            <a:off x="1657300" y="1455304"/>
            <a:ext cx="8877096" cy="4444889"/>
          </a:xfrm>
          <a:prstGeom prst="rect">
            <a:avLst/>
          </a:prstGeom>
        </p:spPr>
      </p:pic>
      <p:pic>
        <p:nvPicPr>
          <p:cNvPr id="5" name="Image 1" descr="preencoded.png">    </p:cNvPr>
          <p:cNvPicPr>
            <a:picLocks noChangeAspect="1"/>
          </p:cNvPicPr>
          <p:nvPr/>
        </p:nvPicPr>
        <p:blipFill>
          <a:blip r:embed="rId3"/>
          <a:stretch>
            <a:fillRect/>
          </a:stretch>
        </p:blipFill>
        <p:spPr>
          <a:xfrm>
            <a:off x="761981" y="6387940"/>
            <a:ext cx="2059928" cy="190495"/>
          </a:xfrm>
          <a:prstGeom prst="rect">
            <a:avLst/>
          </a:prstGeom>
        </p:spPr>
      </p:pic>
      <p:sp>
        <p:nvSpPr>
          <p:cNvPr id="6" name="Text 2"/>
          <p:cNvSpPr txBox="1"/>
          <p:nvPr/>
        </p:nvSpPr>
        <p:spPr>
          <a:xfrm>
            <a:off x="10941372" y="6387940"/>
            <a:ext cx="507876"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98 / 133</a:t>
            </a:r>
            <a:endParaRPr lang="en-US" sz="10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GOLD · 5 DE 5 · GOLD.MV_PROJETOS · A MÉTRICA GOVERNADA</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O SPI definido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uma vez só</a:t>
            </a:r>
            <a:endParaRPr lang="en-US" sz="3100" dirty="0"/>
          </a:p>
        </p:txBody>
      </p:sp>
      <p:sp>
        <p:nvSpPr>
          <p:cNvPr id="4" name="Shape 2"/>
          <p:cNvSpPr/>
          <p:nvPr/>
        </p:nvSpPr>
        <p:spPr>
          <a:xfrm>
            <a:off x="761981" y="1582301"/>
            <a:ext cx="5238619" cy="2616829"/>
          </a:xfrm>
          <a:prstGeom prst="roundRect">
            <a:avLst>
              <a:gd name="adj" fmla="val 4368"/>
            </a:avLst>
          </a:prstGeom>
          <a:solidFill>
            <a:srgbClr val="0C0C10"/>
          </a:solidFill>
          <a:ln w="6350">
            <a:solidFill>
              <a:srgbClr val="2F2F39"/>
            </a:solidFill>
            <a:prstDash val="solid"/>
          </a:ln>
        </p:spPr>
      </p:sp>
      <p:sp>
        <p:nvSpPr>
          <p:cNvPr id="5" name="Text 3"/>
          <p:cNvSpPr txBox="1"/>
          <p:nvPr/>
        </p:nvSpPr>
        <p:spPr>
          <a:xfrm>
            <a:off x="958826" y="1753747"/>
            <a:ext cx="5045330" cy="2280288"/>
          </a:xfrm>
          <a:prstGeom prst="rect">
            <a:avLst/>
          </a:prstGeom>
          <a:noFill/>
          <a:ln/>
        </p:spPr>
        <p:txBody>
          <a:bodyPr wrap="square" lIns="0" tIns="0" rIns="0" bIns="0" rtlCol="0" anchor="t"/>
          <a:lstStyle/>
          <a:p>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CREATE VIEW</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gold.mv_projetos </a:t>
            </a: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WITH METRICS</a:t>
            </a:r>
            <a:pPr algn="l" indent="0" marL="0">
              <a:lnSpc>
                <a:spcPct val="123932"/>
              </a:lnSpc>
              <a:buNone/>
            </a:pPr>
            <a:endParaRPr lang="en-US" sz="950" dirty="0"/>
          </a:p>
          <a:p>
            <a:pPr algn="l" indent="0" marL="0">
              <a:lnSpc>
                <a:spcPct val="123932"/>
              </a:lnSpc>
              <a:buNone/>
            </a:pPr>
            <a:pPr algn="l" indent="0" marL="0">
              <a:lnSpc>
                <a:spcPct val="123932"/>
              </a:lnSpc>
              <a:buNone/>
            </a:pPr>
            <a:r>
              <a:rPr lang="en-US" sz="950" dirty="0">
                <a:solidFill>
                  <a:srgbClr val="22C2F4"/>
                </a:solidFill>
                <a:latin typeface="Courier New" pitchFamily="34" charset="0"/>
                <a:ea typeface="Courier New" pitchFamily="34" charset="-122"/>
                <a:cs typeface="Courier New" pitchFamily="34" charset="-120"/>
              </a:rPr>
              <a:t>LANGUAGE YAML AS</a:t>
            </a:r>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a:t>
            </a:r>
            <a:endParaRPr lang="en-US" sz="950" dirty="0"/>
          </a:p>
          <a:p>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source: gold.projeto_situacao_atual</a:t>
            </a:r>
            <a:endParaRPr lang="en-US" sz="950" dirty="0"/>
          </a:p>
          <a:p>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filter: status = 'em_andamento'</a:t>
            </a:r>
            <a:endParaRPr lang="en-US" sz="950" dirty="0"/>
          </a:p>
          <a:p>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measures:</a:t>
            </a:r>
            <a:endParaRPr lang="en-US" sz="950" dirty="0"/>
          </a:p>
          <a:p>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 name: spi</a:t>
            </a:r>
            <a:endParaRPr lang="en-US" sz="950" dirty="0"/>
          </a:p>
          <a:p>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expr: SUM(ev) / SUM(pv)</a:t>
            </a:r>
            <a:endParaRPr lang="en-US" sz="950" dirty="0"/>
          </a:p>
          <a:p>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 name: estouro_previsto</a:t>
            </a:r>
            <a:endParaRPr lang="en-US" sz="950" dirty="0"/>
          </a:p>
          <a:p>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expr: SUM(estouro_previsto)</a:t>
            </a:r>
            <a:endParaRPr lang="en-US" sz="950" dirty="0"/>
          </a:p>
          <a:p>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 name: projetos_em_risco</a:t>
            </a:r>
            <a:endParaRPr lang="en-US" sz="950" dirty="0"/>
          </a:p>
          <a:p>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expr: COUNT(1) FILTER (WHERE</a:t>
            </a:r>
            <a:endParaRPr lang="en-US" sz="950" dirty="0"/>
          </a:p>
          <a:p>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situacao IN ('atenção','crítico'))</a:t>
            </a:r>
            <a:endParaRPr lang="en-US" sz="950" dirty="0"/>
          </a:p>
          <a:p>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a:t>
            </a:r>
            <a:endParaRPr lang="en-US" sz="950" dirty="0"/>
          </a:p>
        </p:txBody>
      </p:sp>
      <p:sp>
        <p:nvSpPr>
          <p:cNvPr id="6" name="Shape 4"/>
          <p:cNvSpPr/>
          <p:nvPr/>
        </p:nvSpPr>
        <p:spPr>
          <a:xfrm>
            <a:off x="6191095" y="1582301"/>
            <a:ext cx="5238619" cy="3139004"/>
          </a:xfrm>
          <a:prstGeom prst="roundRect">
            <a:avLst>
              <a:gd name="adj" fmla="val 4855"/>
            </a:avLst>
          </a:prstGeom>
          <a:solidFill>
            <a:srgbClr val="1E1E24"/>
          </a:solidFill>
          <a:ln w="6350">
            <a:solidFill>
              <a:srgbClr val="2F2F39"/>
            </a:solidFill>
            <a:prstDash val="solid"/>
          </a:ln>
        </p:spPr>
      </p:sp>
      <p:sp>
        <p:nvSpPr>
          <p:cNvPr id="7" name="Shape 5"/>
          <p:cNvSpPr/>
          <p:nvPr/>
        </p:nvSpPr>
        <p:spPr>
          <a:xfrm>
            <a:off x="6413340" y="1779146"/>
            <a:ext cx="1114397" cy="247644"/>
          </a:xfrm>
          <a:prstGeom prst="roundRect">
            <a:avLst>
              <a:gd name="adj" fmla="val 50000"/>
            </a:avLst>
          </a:prstGeom>
          <a:solidFill>
            <a:srgbClr val="22C2F4">
              <a:alpha val="14000"/>
            </a:srgbClr>
          </a:solidFill>
          <a:ln/>
        </p:spPr>
      </p:sp>
      <p:sp>
        <p:nvSpPr>
          <p:cNvPr id="8" name="Text 6"/>
          <p:cNvSpPr txBox="1"/>
          <p:nvPr/>
        </p:nvSpPr>
        <p:spPr>
          <a:xfrm>
            <a:off x="6502237" y="1817245"/>
            <a:ext cx="974066"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Por que importa</a:t>
            </a:r>
            <a:endParaRPr lang="en-US" sz="900" dirty="0"/>
          </a:p>
        </p:txBody>
      </p:sp>
      <p:sp>
        <p:nvSpPr>
          <p:cNvPr id="9" name="Shape 7"/>
          <p:cNvSpPr/>
          <p:nvPr/>
        </p:nvSpPr>
        <p:spPr>
          <a:xfrm>
            <a:off x="6413340" y="2198236"/>
            <a:ext cx="76198" cy="76198"/>
          </a:xfrm>
          <a:prstGeom prst="roundRect">
            <a:avLst>
              <a:gd name="adj" fmla="val 25000"/>
            </a:avLst>
          </a:prstGeom>
          <a:solidFill>
            <a:srgbClr val="22C2F4"/>
          </a:solidFill>
          <a:ln/>
        </p:spPr>
      </p:sp>
      <p:sp>
        <p:nvSpPr>
          <p:cNvPr id="10" name="Text 8"/>
          <p:cNvSpPr txBox="1"/>
          <p:nvPr/>
        </p:nvSpPr>
        <p:spPr>
          <a:xfrm>
            <a:off x="6603835" y="2115688"/>
            <a:ext cx="4787780"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dashboard, Genie e app pedem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MEASURE(spi)</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e recebem a mesma fórmula</a:t>
            </a:r>
            <a:endParaRPr lang="en-US" sz="1200" dirty="0"/>
          </a:p>
        </p:txBody>
      </p:sp>
      <p:sp>
        <p:nvSpPr>
          <p:cNvPr id="11" name="Shape 9"/>
          <p:cNvSpPr/>
          <p:nvPr/>
        </p:nvSpPr>
        <p:spPr>
          <a:xfrm>
            <a:off x="6413340" y="2685784"/>
            <a:ext cx="76198" cy="76198"/>
          </a:xfrm>
          <a:prstGeom prst="roundRect">
            <a:avLst>
              <a:gd name="adj" fmla="val 25000"/>
            </a:avLst>
          </a:prstGeom>
          <a:solidFill>
            <a:srgbClr val="22C2F4"/>
          </a:solidFill>
          <a:ln/>
        </p:spPr>
      </p:sp>
      <p:sp>
        <p:nvSpPr>
          <p:cNvPr id="12" name="Text 10"/>
          <p:cNvSpPr txBox="1"/>
          <p:nvPr/>
        </p:nvSpPr>
        <p:spPr>
          <a:xfrm>
            <a:off x="6603835" y="2603236"/>
            <a:ext cx="4787780"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ninguém reescreve SPI num CASE escondido dentro de um gráfico</a:t>
            </a:r>
            <a:endParaRPr lang="en-US" sz="1200" dirty="0"/>
          </a:p>
        </p:txBody>
      </p:sp>
      <p:sp>
        <p:nvSpPr>
          <p:cNvPr id="13" name="Shape 11"/>
          <p:cNvSpPr/>
          <p:nvPr/>
        </p:nvSpPr>
        <p:spPr>
          <a:xfrm>
            <a:off x="6413340" y="3173333"/>
            <a:ext cx="76198" cy="76198"/>
          </a:xfrm>
          <a:prstGeom prst="roundRect">
            <a:avLst>
              <a:gd name="adj" fmla="val 25000"/>
            </a:avLst>
          </a:prstGeom>
          <a:solidFill>
            <a:srgbClr val="22C2F4"/>
          </a:solidFill>
          <a:ln/>
        </p:spPr>
      </p:sp>
      <p:sp>
        <p:nvSpPr>
          <p:cNvPr id="14" name="Text 12"/>
          <p:cNvSpPr txBox="1"/>
          <p:nvPr/>
        </p:nvSpPr>
        <p:spPr>
          <a:xfrm>
            <a:off x="6603835" y="3090785"/>
            <a:ext cx="4787780"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uma metric view só, de propósito: é a dos números da diretoria</a:t>
            </a:r>
            <a:endParaRPr lang="en-US" sz="1200" dirty="0"/>
          </a:p>
        </p:txBody>
      </p:sp>
      <p:sp>
        <p:nvSpPr>
          <p:cNvPr id="15" name="Shape 13"/>
          <p:cNvSpPr/>
          <p:nvPr/>
        </p:nvSpPr>
        <p:spPr>
          <a:xfrm>
            <a:off x="6413340" y="3629133"/>
            <a:ext cx="4794130" cy="895328"/>
          </a:xfrm>
          <a:prstGeom prst="roundRect">
            <a:avLst>
              <a:gd name="adj" fmla="val 12766"/>
            </a:avLst>
          </a:prstGeom>
          <a:solidFill>
            <a:srgbClr val="0C0C10"/>
          </a:solidFill>
          <a:ln w="6350">
            <a:solidFill>
              <a:srgbClr val="2F2F39"/>
            </a:solidFill>
            <a:prstDash val="solid"/>
          </a:ln>
        </p:spPr>
      </p:sp>
      <p:sp>
        <p:nvSpPr>
          <p:cNvPr id="16" name="Text 14"/>
          <p:cNvSpPr txBox="1"/>
          <p:nvPr/>
        </p:nvSpPr>
        <p:spPr>
          <a:xfrm>
            <a:off x="6610185" y="3800578"/>
            <a:ext cx="4583061" cy="558786"/>
          </a:xfrm>
          <a:prstGeom prst="rect">
            <a:avLst/>
          </a:prstGeom>
          <a:noFill/>
          <a:ln/>
        </p:spPr>
        <p:txBody>
          <a:bodyPr wrap="square" lIns="0" tIns="0" rIns="0" bIns="0" rtlCol="0" anchor="t"/>
          <a:lstStyle/>
          <a:p>
            <a:pPr algn="l" indent="0" marL="0">
              <a:lnSpc>
                <a:spcPct val="123932"/>
              </a:lnSpc>
              <a:buNone/>
            </a:pPr>
            <a:r>
              <a:rPr lang="en-US" sz="1000" dirty="0">
                <a:solidFill>
                  <a:srgbClr val="22C2F4"/>
                </a:solidFill>
                <a:latin typeface="Courier New" pitchFamily="34" charset="0"/>
                <a:ea typeface="Courier New" pitchFamily="34" charset="-122"/>
                <a:cs typeface="Courier New" pitchFamily="34" charset="-120"/>
              </a:rPr>
              <a:t>SELECT</a:t>
            </a:r>
            <a:pPr algn="l" indent="0" marL="0">
              <a:lnSpc>
                <a:spcPct val="123932"/>
              </a:lnSpc>
              <a:buNone/>
            </a:pPr>
            <a:r>
              <a:rPr lang="en-US" sz="1000" dirty="0">
                <a:solidFill>
                  <a:srgbClr val="E6E8F2"/>
                </a:solidFill>
                <a:latin typeface="Courier New" pitchFamily="34" charset="0"/>
                <a:ea typeface="Courier New" pitchFamily="34" charset="-122"/>
                <a:cs typeface="Courier New" pitchFamily="34" charset="-120"/>
              </a:rPr>
              <a:t> MEASURE(spi), MEASURE(estouro_previsto)</a:t>
            </a:r>
            <a:endParaRPr lang="en-US" sz="1000" dirty="0"/>
          </a:p>
          <a:p>
            <a:pPr algn="l" indent="0" marL="0">
              <a:lnSpc>
                <a:spcPct val="123932"/>
              </a:lnSpc>
              <a:buNone/>
            </a:pPr>
            <a:pPr algn="l" indent="0" marL="0">
              <a:lnSpc>
                <a:spcPct val="123932"/>
              </a:lnSpc>
              <a:buNone/>
            </a:pPr>
            <a:r>
              <a:rPr lang="en-US" sz="1000" dirty="0">
                <a:solidFill>
                  <a:srgbClr val="22C2F4"/>
                </a:solidFill>
                <a:latin typeface="Courier New" pitchFamily="34" charset="0"/>
                <a:ea typeface="Courier New" pitchFamily="34" charset="-122"/>
                <a:cs typeface="Courier New" pitchFamily="34" charset="-120"/>
              </a:rPr>
              <a:t>FROM</a:t>
            </a:r>
            <a:pPr algn="l" indent="0" marL="0">
              <a:lnSpc>
                <a:spcPct val="123932"/>
              </a:lnSpc>
              <a:buNone/>
            </a:pPr>
            <a:r>
              <a:rPr lang="en-US" sz="1000" dirty="0">
                <a:solidFill>
                  <a:srgbClr val="E6E8F2"/>
                </a:solidFill>
                <a:latin typeface="Courier New" pitchFamily="34" charset="0"/>
                <a:ea typeface="Courier New" pitchFamily="34" charset="-122"/>
                <a:cs typeface="Courier New" pitchFamily="34" charset="-120"/>
              </a:rPr>
              <a:t> gold.mv_projetos</a:t>
            </a:r>
            <a:endParaRPr lang="en-US" sz="1000" dirty="0"/>
          </a:p>
          <a:p>
            <a:pPr algn="l" indent="0" marL="0">
              <a:lnSpc>
                <a:spcPct val="123932"/>
              </a:lnSpc>
              <a:buNone/>
            </a:pPr>
            <a:pPr algn="l" indent="0" marL="0">
              <a:lnSpc>
                <a:spcPct val="123932"/>
              </a:lnSpc>
              <a:buNone/>
            </a:pPr>
            <a:r>
              <a:rPr lang="en-US" sz="1000" dirty="0">
                <a:solidFill>
                  <a:srgbClr val="6E7180"/>
                </a:solidFill>
                <a:latin typeface="Courier New" pitchFamily="34" charset="0"/>
                <a:ea typeface="Courier New" pitchFamily="34" charset="-122"/>
                <a:cs typeface="Courier New" pitchFamily="34" charset="-120"/>
              </a:rPr>
              <a:t>-- 0,92 · R$ 6.465.127</a:t>
            </a:r>
            <a:endParaRPr lang="en-US" sz="1000" dirty="0"/>
          </a:p>
        </p:txBody>
      </p:sp>
      <p:pic>
        <p:nvPicPr>
          <p:cNvPr id="17"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18" name="Text 15"/>
          <p:cNvSpPr txBox="1"/>
          <p:nvPr/>
        </p:nvSpPr>
        <p:spPr>
          <a:xfrm>
            <a:off x="10941769" y="6387940"/>
            <a:ext cx="507463"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99 / 133</a:t>
            </a:r>
            <a:endParaRPr lang="en-US" sz="10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380990"/>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RECURSO DO DATABRICKS · METRIC VIEW</a:t>
            </a:r>
            <a:endParaRPr lang="en-US" sz="1200" dirty="0"/>
          </a:p>
        </p:txBody>
      </p:sp>
      <p:sp>
        <p:nvSpPr>
          <p:cNvPr id="3" name="Text 1"/>
          <p:cNvSpPr txBox="1"/>
          <p:nvPr/>
        </p:nvSpPr>
        <p:spPr>
          <a:xfrm>
            <a:off x="761981" y="704832"/>
            <a:ext cx="11094443" cy="363132"/>
          </a:xfrm>
          <a:prstGeom prst="rect">
            <a:avLst/>
          </a:prstGeom>
          <a:noFill/>
          <a:ln/>
        </p:spPr>
        <p:txBody>
          <a:bodyPr wrap="square" lIns="0" tIns="0" rIns="0" bIns="0" rtlCol="0" anchor="t"/>
          <a:lstStyle/>
          <a:p>
            <a:pPr algn="l" indent="0" marL="0">
              <a:lnSpc>
                <a:spcPct val="94017"/>
              </a:lnSpc>
              <a:buNone/>
            </a:pPr>
            <a:r>
              <a:rPr lang="en-US" sz="2600" b="1" spc="-26" kern="0" dirty="0">
                <a:solidFill>
                  <a:srgbClr val="F5F6FC"/>
                </a:solidFill>
                <a:latin typeface="Poppins" pitchFamily="34" charset="0"/>
                <a:ea typeface="Poppins" pitchFamily="34" charset="-122"/>
                <a:cs typeface="Poppins" pitchFamily="34" charset="-120"/>
              </a:rPr>
              <a:t>Metric view: a fórmula num lugar só</a:t>
            </a:r>
            <a:endParaRPr lang="en-US" sz="2600" dirty="0"/>
          </a:p>
        </p:txBody>
      </p:sp>
      <p:pic>
        <p:nvPicPr>
          <p:cNvPr id="4" name="Image 0" descr="preencoded.png">    </p:cNvPr>
          <p:cNvPicPr>
            <a:picLocks noChangeAspect="1"/>
          </p:cNvPicPr>
          <p:nvPr/>
        </p:nvPicPr>
        <p:blipFill>
          <a:blip r:embed="rId2"/>
          <a:stretch>
            <a:fillRect/>
          </a:stretch>
        </p:blipFill>
        <p:spPr>
          <a:xfrm>
            <a:off x="1030710" y="1182261"/>
            <a:ext cx="5917850" cy="4063898"/>
          </a:xfrm>
          <a:prstGeom prst="rect">
            <a:avLst/>
          </a:prstGeom>
        </p:spPr>
      </p:pic>
      <p:sp>
        <p:nvSpPr>
          <p:cNvPr id="5" name="Shape 2"/>
          <p:cNvSpPr/>
          <p:nvPr/>
        </p:nvSpPr>
        <p:spPr>
          <a:xfrm>
            <a:off x="7395085" y="1182261"/>
            <a:ext cx="4034630" cy="4063898"/>
          </a:xfrm>
          <a:prstGeom prst="roundRect">
            <a:avLst>
              <a:gd name="adj" fmla="val 3777"/>
            </a:avLst>
          </a:prstGeom>
          <a:solidFill>
            <a:srgbClr val="0059DB"/>
          </a:solidFill>
          <a:ln/>
        </p:spPr>
      </p:sp>
      <p:sp>
        <p:nvSpPr>
          <p:cNvPr id="6" name="Shape 3"/>
          <p:cNvSpPr/>
          <p:nvPr/>
        </p:nvSpPr>
        <p:spPr>
          <a:xfrm>
            <a:off x="7617329" y="1379106"/>
            <a:ext cx="616034" cy="247644"/>
          </a:xfrm>
          <a:prstGeom prst="roundRect">
            <a:avLst>
              <a:gd name="adj" fmla="val 50000"/>
            </a:avLst>
          </a:prstGeom>
          <a:solidFill>
            <a:srgbClr val="FFFFFF">
              <a:alpha val="16000"/>
            </a:srgbClr>
          </a:solidFill>
          <a:ln/>
        </p:spPr>
      </p:sp>
      <p:sp>
        <p:nvSpPr>
          <p:cNvPr id="7" name="Text 4"/>
          <p:cNvSpPr txBox="1"/>
          <p:nvPr/>
        </p:nvSpPr>
        <p:spPr>
          <a:xfrm>
            <a:off x="7706227" y="1417205"/>
            <a:ext cx="455768"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O que é</a:t>
            </a:r>
            <a:endParaRPr lang="en-US" sz="900" dirty="0"/>
          </a:p>
        </p:txBody>
      </p:sp>
      <p:sp>
        <p:nvSpPr>
          <p:cNvPr id="8" name="Shape 5"/>
          <p:cNvSpPr/>
          <p:nvPr/>
        </p:nvSpPr>
        <p:spPr>
          <a:xfrm>
            <a:off x="7617329" y="1798196"/>
            <a:ext cx="76198" cy="76198"/>
          </a:xfrm>
          <a:prstGeom prst="roundRect">
            <a:avLst>
              <a:gd name="adj" fmla="val 25000"/>
            </a:avLst>
          </a:prstGeom>
          <a:solidFill>
            <a:srgbClr val="22C2F4"/>
          </a:solidFill>
          <a:ln/>
        </p:spPr>
      </p:sp>
      <p:sp>
        <p:nvSpPr>
          <p:cNvPr id="9" name="Text 6"/>
          <p:cNvSpPr txBox="1"/>
          <p:nvPr/>
        </p:nvSpPr>
        <p:spPr>
          <a:xfrm>
            <a:off x="7807824" y="1715648"/>
            <a:ext cx="3535631"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guarda a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fórmula</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do KPI, não o número</a:t>
            </a:r>
            <a:endParaRPr lang="en-US" sz="1200" dirty="0"/>
          </a:p>
        </p:txBody>
      </p:sp>
      <p:sp>
        <p:nvSpPr>
          <p:cNvPr id="10" name="Shape 7"/>
          <p:cNvSpPr/>
          <p:nvPr/>
        </p:nvSpPr>
        <p:spPr>
          <a:xfrm>
            <a:off x="7617329" y="2080069"/>
            <a:ext cx="76198" cy="76198"/>
          </a:xfrm>
          <a:prstGeom prst="roundRect">
            <a:avLst>
              <a:gd name="adj" fmla="val 25000"/>
            </a:avLst>
          </a:prstGeom>
          <a:solidFill>
            <a:srgbClr val="22C2F4"/>
          </a:solidFill>
          <a:ln/>
        </p:spPr>
      </p:sp>
      <p:sp>
        <p:nvSpPr>
          <p:cNvPr id="11" name="Text 8"/>
          <p:cNvSpPr txBox="1"/>
          <p:nvPr/>
        </p:nvSpPr>
        <p:spPr>
          <a:xfrm>
            <a:off x="7807824" y="1997521"/>
            <a:ext cx="3535631"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Courier New" pitchFamily="34" charset="0"/>
                <a:ea typeface="Courier New" pitchFamily="34" charset="-122"/>
                <a:cs typeface="Courier New" pitchFamily="34" charset="-120"/>
              </a:rPr>
              <a:t>MEASURE(cpi)</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é sempre ΣEV ÷ ΣAC, em qualquer grão</a:t>
            </a:r>
            <a:endParaRPr lang="en-US" sz="1200" dirty="0"/>
          </a:p>
        </p:txBody>
      </p:sp>
      <p:sp>
        <p:nvSpPr>
          <p:cNvPr id="12" name="Shape 9"/>
          <p:cNvSpPr/>
          <p:nvPr/>
        </p:nvSpPr>
        <p:spPr>
          <a:xfrm>
            <a:off x="7617329" y="2567618"/>
            <a:ext cx="76198" cy="76198"/>
          </a:xfrm>
          <a:prstGeom prst="roundRect">
            <a:avLst>
              <a:gd name="adj" fmla="val 25000"/>
            </a:avLst>
          </a:prstGeom>
          <a:solidFill>
            <a:srgbClr val="22C2F4"/>
          </a:solidFill>
          <a:ln/>
        </p:spPr>
      </p:sp>
      <p:sp>
        <p:nvSpPr>
          <p:cNvPr id="13" name="Text 10"/>
          <p:cNvSpPr txBox="1"/>
          <p:nvPr/>
        </p:nvSpPr>
        <p:spPr>
          <a:xfrm>
            <a:off x="7807824" y="2485070"/>
            <a:ext cx="3535631"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o comentário de cada medida ensina o Genie</a:t>
            </a:r>
            <a:endParaRPr lang="en-US" sz="1200" dirty="0"/>
          </a:p>
        </p:txBody>
      </p:sp>
      <p:sp>
        <p:nvSpPr>
          <p:cNvPr id="14" name="Shape 11"/>
          <p:cNvSpPr/>
          <p:nvPr/>
        </p:nvSpPr>
        <p:spPr>
          <a:xfrm>
            <a:off x="7617329" y="3036117"/>
            <a:ext cx="650958" cy="247644"/>
          </a:xfrm>
          <a:prstGeom prst="roundRect">
            <a:avLst>
              <a:gd name="adj" fmla="val 50000"/>
            </a:avLst>
          </a:prstGeom>
          <a:solidFill>
            <a:srgbClr val="FFFFFF">
              <a:alpha val="16000"/>
            </a:srgbClr>
          </a:solidFill>
          <a:ln/>
        </p:spPr>
      </p:sp>
      <p:sp>
        <p:nvSpPr>
          <p:cNvPr id="15" name="Text 12"/>
          <p:cNvSpPr txBox="1"/>
          <p:nvPr/>
        </p:nvSpPr>
        <p:spPr>
          <a:xfrm>
            <a:off x="7706227" y="3074216"/>
            <a:ext cx="492089"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No Farol</a:t>
            </a:r>
            <a:endParaRPr lang="en-US" sz="900" dirty="0"/>
          </a:p>
        </p:txBody>
      </p:sp>
      <p:sp>
        <p:nvSpPr>
          <p:cNvPr id="16" name="Text 13"/>
          <p:cNvSpPr txBox="1"/>
          <p:nvPr/>
        </p:nvSpPr>
        <p:spPr>
          <a:xfrm>
            <a:off x="7617329" y="3448857"/>
            <a:ext cx="3733746" cy="591428"/>
          </a:xfrm>
          <a:prstGeom prst="rect">
            <a:avLst/>
          </a:prstGeom>
          <a:noFill/>
          <a:ln/>
        </p:spPr>
        <p:txBody>
          <a:bodyPr wrap="square" lIns="0" tIns="0" rIns="0" bIns="0" rtlCol="0" anchor="t"/>
          <a:lstStyle/>
          <a:p>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noite 2: uma metric view só, a </a:t>
            </a:r>
            <a:pPr algn="l" indent="0" marL="0">
              <a:lnSpc>
                <a:spcPct val="115385"/>
              </a:lnSpc>
              <a:buNone/>
            </a:pPr>
            <a:r>
              <a:rPr lang="en-US" sz="1150" dirty="0">
                <a:solidFill>
                  <a:srgbClr val="DBE6FF"/>
                </a:solidFill>
                <a:latin typeface="Courier New" pitchFamily="34" charset="0"/>
                <a:ea typeface="Courier New" pitchFamily="34" charset="-122"/>
                <a:cs typeface="Courier New" pitchFamily="34" charset="-120"/>
              </a:rPr>
              <a:t>mv_projetos</a:t>
            </a:r>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 com 11 medidas: SPI 0,92 · CPI 0,97 · 7 críticos · 4 melancias</a:t>
            </a:r>
            <a:endParaRPr lang="en-US" sz="1150" dirty="0"/>
          </a:p>
        </p:txBody>
      </p:sp>
      <p:pic>
        <p:nvPicPr>
          <p:cNvPr id="17" name="Image 1" descr="preencoded.png">    </p:cNvPr>
          <p:cNvPicPr>
            <a:picLocks noChangeAspect="1"/>
          </p:cNvPicPr>
          <p:nvPr/>
        </p:nvPicPr>
        <p:blipFill>
          <a:blip r:embed="rId3"/>
          <a:stretch>
            <a:fillRect/>
          </a:stretch>
        </p:blipFill>
        <p:spPr>
          <a:xfrm>
            <a:off x="761981" y="6387940"/>
            <a:ext cx="2059928" cy="190495"/>
          </a:xfrm>
          <a:prstGeom prst="rect">
            <a:avLst/>
          </a:prstGeom>
        </p:spPr>
      </p:pic>
      <p:sp>
        <p:nvSpPr>
          <p:cNvPr id="18" name="Text 14"/>
          <p:cNvSpPr txBox="1"/>
          <p:nvPr/>
        </p:nvSpPr>
        <p:spPr>
          <a:xfrm>
            <a:off x="10895732" y="6387940"/>
            <a:ext cx="555341"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100 / 133</a:t>
            </a:r>
            <a:endParaRPr lang="en-US" sz="10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2 · TESTES DE QUALIDADE</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Melhor o dado de ontem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que o dado errado de hoje</a:t>
            </a:r>
            <a:endParaRPr lang="en-US" sz="3100" dirty="0"/>
          </a:p>
        </p:txBody>
      </p:sp>
      <p:sp>
        <p:nvSpPr>
          <p:cNvPr id="4" name="Shape 2"/>
          <p:cNvSpPr/>
          <p:nvPr/>
        </p:nvSpPr>
        <p:spPr>
          <a:xfrm>
            <a:off x="761981" y="1582301"/>
            <a:ext cx="5238619" cy="2345274"/>
          </a:xfrm>
          <a:prstGeom prst="roundRect">
            <a:avLst>
              <a:gd name="adj" fmla="val 6498"/>
            </a:avLst>
          </a:prstGeom>
          <a:solidFill>
            <a:srgbClr val="1E1E24"/>
          </a:solidFill>
          <a:ln w="6350">
            <a:solidFill>
              <a:srgbClr val="2F2F39"/>
            </a:solidFill>
            <a:prstDash val="solid"/>
          </a:ln>
        </p:spPr>
      </p:sp>
      <p:sp>
        <p:nvSpPr>
          <p:cNvPr id="5" name="Shape 3"/>
          <p:cNvSpPr/>
          <p:nvPr/>
        </p:nvSpPr>
        <p:spPr>
          <a:xfrm>
            <a:off x="984225" y="1779146"/>
            <a:ext cx="1931145" cy="247644"/>
          </a:xfrm>
          <a:prstGeom prst="roundRect">
            <a:avLst>
              <a:gd name="adj" fmla="val 50000"/>
            </a:avLst>
          </a:prstGeom>
          <a:solidFill>
            <a:srgbClr val="22C2F4">
              <a:alpha val="14000"/>
            </a:srgbClr>
          </a:solidFill>
          <a:ln/>
        </p:spPr>
      </p:sp>
      <p:sp>
        <p:nvSpPr>
          <p:cNvPr id="6" name="Text 4"/>
          <p:cNvSpPr txBox="1"/>
          <p:nvPr/>
        </p:nvSpPr>
        <p:spPr>
          <a:xfrm>
            <a:off x="1073123" y="1817245"/>
            <a:ext cx="1823484"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10 testes, depois do medalhão</a:t>
            </a:r>
            <a:endParaRPr lang="en-US" sz="900" dirty="0"/>
          </a:p>
        </p:txBody>
      </p:sp>
      <p:sp>
        <p:nvSpPr>
          <p:cNvPr id="7" name="Shape 5"/>
          <p:cNvSpPr/>
          <p:nvPr/>
        </p:nvSpPr>
        <p:spPr>
          <a:xfrm>
            <a:off x="984225" y="2198236"/>
            <a:ext cx="76198" cy="76198"/>
          </a:xfrm>
          <a:prstGeom prst="roundRect">
            <a:avLst>
              <a:gd name="adj" fmla="val 25000"/>
            </a:avLst>
          </a:prstGeom>
          <a:solidFill>
            <a:srgbClr val="22C2F4"/>
          </a:solidFill>
          <a:ln/>
        </p:spPr>
      </p:sp>
      <p:sp>
        <p:nvSpPr>
          <p:cNvPr id="8" name="Text 6"/>
          <p:cNvSpPr txBox="1"/>
          <p:nvPr/>
        </p:nvSpPr>
        <p:spPr>
          <a:xfrm>
            <a:off x="1174721" y="2115688"/>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os 60 projetos têm cronograma na silver</a:t>
            </a:r>
            <a:endParaRPr lang="en-US" sz="1200" dirty="0"/>
          </a:p>
        </p:txBody>
      </p:sp>
      <p:sp>
        <p:nvSpPr>
          <p:cNvPr id="9" name="Shape 7"/>
          <p:cNvSpPr/>
          <p:nvPr/>
        </p:nvSpPr>
        <p:spPr>
          <a:xfrm>
            <a:off x="984225" y="2480109"/>
            <a:ext cx="76198" cy="76198"/>
          </a:xfrm>
          <a:prstGeom prst="roundRect">
            <a:avLst>
              <a:gd name="adj" fmla="val 25000"/>
            </a:avLst>
          </a:prstGeom>
          <a:solidFill>
            <a:srgbClr val="22C2F4"/>
          </a:solidFill>
          <a:ln/>
        </p:spPr>
      </p:sp>
      <p:sp>
        <p:nvSpPr>
          <p:cNvPr id="10" name="Text 8"/>
          <p:cNvSpPr txBox="1"/>
          <p:nvPr/>
        </p:nvSpPr>
        <p:spPr>
          <a:xfrm>
            <a:off x="1174721" y="2397561"/>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cada projeto veio da ferramenta do cadastro</a:t>
            </a:r>
            <a:endParaRPr lang="en-US" sz="1200" dirty="0"/>
          </a:p>
        </p:txBody>
      </p:sp>
      <p:sp>
        <p:nvSpPr>
          <p:cNvPr id="11" name="Shape 9"/>
          <p:cNvSpPr/>
          <p:nvPr/>
        </p:nvSpPr>
        <p:spPr>
          <a:xfrm>
            <a:off x="984225" y="2761983"/>
            <a:ext cx="76198" cy="76198"/>
          </a:xfrm>
          <a:prstGeom prst="roundRect">
            <a:avLst>
              <a:gd name="adj" fmla="val 25000"/>
            </a:avLst>
          </a:prstGeom>
          <a:solidFill>
            <a:srgbClr val="22C2F4"/>
          </a:solidFill>
          <a:ln/>
        </p:spPr>
      </p:sp>
      <p:sp>
        <p:nvSpPr>
          <p:cNvPr id="12" name="Text 10"/>
          <p:cNvSpPr txBox="1"/>
          <p:nvPr/>
        </p:nvSpPr>
        <p:spPr>
          <a:xfrm>
            <a:off x="1174721" y="2679435"/>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horas da silver = linha de TOTAL de cada planilha</a:t>
            </a:r>
            <a:endParaRPr lang="en-US" sz="1200" dirty="0"/>
          </a:p>
        </p:txBody>
      </p:sp>
      <p:sp>
        <p:nvSpPr>
          <p:cNvPr id="13" name="Shape 11"/>
          <p:cNvSpPr/>
          <p:nvPr/>
        </p:nvSpPr>
        <p:spPr>
          <a:xfrm>
            <a:off x="984225" y="3043856"/>
            <a:ext cx="76198" cy="76198"/>
          </a:xfrm>
          <a:prstGeom prst="roundRect">
            <a:avLst>
              <a:gd name="adj" fmla="val 25000"/>
            </a:avLst>
          </a:prstGeom>
          <a:solidFill>
            <a:srgbClr val="22C2F4"/>
          </a:solidFill>
          <a:ln/>
        </p:spPr>
      </p:sp>
      <p:sp>
        <p:nvSpPr>
          <p:cNvPr id="14" name="Text 12"/>
          <p:cNvSpPr txBox="1"/>
          <p:nvPr/>
        </p:nvSpPr>
        <p:spPr>
          <a:xfrm>
            <a:off x="1174721" y="2961308"/>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uma linha por pessoa; CodeForge virou 1</a:t>
            </a:r>
            <a:endParaRPr lang="en-US" sz="1200" dirty="0"/>
          </a:p>
        </p:txBody>
      </p:sp>
      <p:sp>
        <p:nvSpPr>
          <p:cNvPr id="15" name="Shape 13"/>
          <p:cNvSpPr/>
          <p:nvPr/>
        </p:nvSpPr>
        <p:spPr>
          <a:xfrm>
            <a:off x="984225" y="3325729"/>
            <a:ext cx="76198" cy="76198"/>
          </a:xfrm>
          <a:prstGeom prst="roundRect">
            <a:avLst>
              <a:gd name="adj" fmla="val 25000"/>
            </a:avLst>
          </a:prstGeom>
          <a:solidFill>
            <a:srgbClr val="22C2F4"/>
          </a:solidFill>
          <a:ln/>
        </p:spPr>
      </p:sp>
      <p:sp>
        <p:nvSpPr>
          <p:cNvPr id="16" name="Text 14"/>
          <p:cNvSpPr txBox="1"/>
          <p:nvPr/>
        </p:nvSpPr>
        <p:spPr>
          <a:xfrm>
            <a:off x="1174721" y="3243181"/>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a limpeza não mudou o custo total</a:t>
            </a:r>
            <a:endParaRPr lang="en-US" sz="1200" dirty="0"/>
          </a:p>
        </p:txBody>
      </p:sp>
      <p:sp>
        <p:nvSpPr>
          <p:cNvPr id="17" name="Shape 15"/>
          <p:cNvSpPr/>
          <p:nvPr/>
        </p:nvSpPr>
        <p:spPr>
          <a:xfrm>
            <a:off x="984225" y="3607603"/>
            <a:ext cx="76198" cy="76198"/>
          </a:xfrm>
          <a:prstGeom prst="roundRect">
            <a:avLst>
              <a:gd name="adj" fmla="val 25000"/>
            </a:avLst>
          </a:prstGeom>
          <a:solidFill>
            <a:srgbClr val="22C2F4"/>
          </a:solidFill>
          <a:ln/>
        </p:spPr>
      </p:sp>
      <p:sp>
        <p:nvSpPr>
          <p:cNvPr id="18" name="Text 16"/>
          <p:cNvSpPr txBox="1"/>
          <p:nvPr/>
        </p:nvSpPr>
        <p:spPr>
          <a:xfrm>
            <a:off x="1174721" y="3525055"/>
            <a:ext cx="4787780"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EV do status bate com o das ferramentas (&lt; 1%)</a:t>
            </a:r>
            <a:endParaRPr lang="en-US" sz="1200" dirty="0"/>
          </a:p>
        </p:txBody>
      </p:sp>
      <p:sp>
        <p:nvSpPr>
          <p:cNvPr id="19" name="Shape 17"/>
          <p:cNvSpPr/>
          <p:nvPr/>
        </p:nvSpPr>
        <p:spPr>
          <a:xfrm>
            <a:off x="6191095" y="1582301"/>
            <a:ext cx="5238619" cy="2345274"/>
          </a:xfrm>
          <a:prstGeom prst="roundRect">
            <a:avLst>
              <a:gd name="adj" fmla="val 6498"/>
            </a:avLst>
          </a:prstGeom>
          <a:solidFill>
            <a:srgbClr val="0059DB"/>
          </a:solidFill>
          <a:ln/>
        </p:spPr>
      </p:sp>
      <p:sp>
        <p:nvSpPr>
          <p:cNvPr id="20" name="Shape 18"/>
          <p:cNvSpPr/>
          <p:nvPr/>
        </p:nvSpPr>
        <p:spPr>
          <a:xfrm>
            <a:off x="6413340" y="1779146"/>
            <a:ext cx="983134" cy="247644"/>
          </a:xfrm>
          <a:prstGeom prst="roundRect">
            <a:avLst>
              <a:gd name="adj" fmla="val 50000"/>
            </a:avLst>
          </a:prstGeom>
          <a:solidFill>
            <a:srgbClr val="FFFFFF">
              <a:alpha val="16000"/>
            </a:srgbClr>
          </a:solidFill>
          <a:ln/>
        </p:spPr>
      </p:sp>
      <p:sp>
        <p:nvSpPr>
          <p:cNvPr id="21" name="Text 19"/>
          <p:cNvSpPr txBox="1"/>
          <p:nvPr/>
        </p:nvSpPr>
        <p:spPr>
          <a:xfrm>
            <a:off x="6502237" y="1817245"/>
            <a:ext cx="837552"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Como quebra</a:t>
            </a:r>
            <a:endParaRPr lang="en-US" sz="900" dirty="0"/>
          </a:p>
        </p:txBody>
      </p:sp>
      <p:sp>
        <p:nvSpPr>
          <p:cNvPr id="22" name="Text 20"/>
          <p:cNvSpPr txBox="1"/>
          <p:nvPr/>
        </p:nvSpPr>
        <p:spPr>
          <a:xfrm>
            <a:off x="6413340" y="2115688"/>
            <a:ext cx="4985895" cy="524755"/>
          </a:xfrm>
          <a:prstGeom prst="rect">
            <a:avLst/>
          </a:prstGeom>
          <a:noFill/>
          <a:ln/>
        </p:spPr>
        <p:txBody>
          <a:bodyPr wrap="square" lIns="0" tIns="0" rIns="0" bIns="0" rtlCol="0" anchor="t"/>
          <a:lstStyle/>
          <a:p>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CASE WHEN passou THEN 'ok'</a:t>
            </a:r>
            <a:endParaRPr lang="en-US" sz="950" dirty="0"/>
          </a:p>
          <a:p>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ELSE raise_error('Teste ' || n</a:t>
            </a:r>
            <a:endParaRPr lang="en-US" sz="950" dirty="0"/>
          </a:p>
          <a:p>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                      || ' falhou') END</a:t>
            </a:r>
            <a:endParaRPr lang="en-US" sz="950" dirty="0"/>
          </a:p>
        </p:txBody>
      </p:sp>
      <p:sp>
        <p:nvSpPr>
          <p:cNvPr id="23" name="Text 21"/>
          <p:cNvSpPr txBox="1"/>
          <p:nvPr/>
        </p:nvSpPr>
        <p:spPr>
          <a:xfrm>
            <a:off x="6413340" y="2742040"/>
            <a:ext cx="4985895" cy="394285"/>
          </a:xfrm>
          <a:prstGeom prst="rect">
            <a:avLst/>
          </a:prstGeom>
          <a:noFill/>
          <a:ln/>
        </p:spPr>
        <p:txBody>
          <a:bodyPr wrap="square" lIns="0" tIns="0" rIns="0" bIns="0" rtlCol="0" anchor="t"/>
          <a:lstStyle/>
          <a:p>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raise_error interrompe o job antes de o dashboard mostrar meio dado com cara de dado inteiro. Verificação da noite: </a:t>
            </a:r>
            <a:pPr algn="l" indent="0" marL="0">
              <a:lnSpc>
                <a:spcPct val="115385"/>
              </a:lnSpc>
              <a:buNone/>
            </a:pPr>
            <a:r>
              <a:rPr lang="en-US" sz="1150" b="1" dirty="0">
                <a:solidFill>
                  <a:srgbClr val="FFFFFF"/>
                </a:solidFill>
                <a:latin typeface="Poppins" pitchFamily="34" charset="0"/>
                <a:ea typeface="Poppins" pitchFamily="34" charset="-122"/>
                <a:cs typeface="Poppins" pitchFamily="34" charset="-120"/>
              </a:rPr>
              <a:t>20 de 20 ok</a:t>
            </a:r>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a:t>
            </a:r>
            <a:endParaRPr lang="en-US" sz="1150" dirty="0"/>
          </a:p>
        </p:txBody>
      </p:sp>
      <p:pic>
        <p:nvPicPr>
          <p:cNvPr id="24"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25" name="Text 22"/>
          <p:cNvSpPr txBox="1"/>
          <p:nvPr/>
        </p:nvSpPr>
        <p:spPr>
          <a:xfrm>
            <a:off x="10932740" y="6387940"/>
            <a:ext cx="516853"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101 / 133</a:t>
            </a:r>
            <a:endParaRPr lang="en-US" sz="10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2 · DASHBOARD COMO CÓDIGO · PORTFÓLIO</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"Projeto Farol · Portfólio",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agora sobre a gold</a:t>
            </a:r>
            <a:endParaRPr lang="en-US" sz="3100" dirty="0"/>
          </a:p>
        </p:txBody>
      </p:sp>
      <p:pic>
        <p:nvPicPr>
          <p:cNvPr id="4" name="Image 0" descr="preencoded.png">    </p:cNvPr>
          <p:cNvPicPr>
            <a:picLocks noChangeAspect="1"/>
          </p:cNvPicPr>
          <p:nvPr/>
        </p:nvPicPr>
        <p:blipFill>
          <a:blip r:embed="rId2"/>
          <a:srcRect l="15657" r="15657" t="0" b="0"/>
          <a:stretch/>
        </p:blipFill>
        <p:spPr>
          <a:xfrm>
            <a:off x="761981" y="1455304"/>
            <a:ext cx="5257669" cy="4063898"/>
          </a:xfrm>
          <a:prstGeom prst="rect">
            <a:avLst/>
          </a:prstGeom>
        </p:spPr>
      </p:pic>
      <p:pic>
        <p:nvPicPr>
          <p:cNvPr id="5" name="Image 1" descr="preencoded.png">    </p:cNvPr>
          <p:cNvPicPr>
            <a:picLocks noChangeAspect="1"/>
          </p:cNvPicPr>
          <p:nvPr/>
        </p:nvPicPr>
        <p:blipFill>
          <a:blip r:embed="rId3"/>
          <a:srcRect l="14376" r="14376" t="0" b="0"/>
          <a:stretch/>
        </p:blipFill>
        <p:spPr>
          <a:xfrm>
            <a:off x="6172046" y="1455304"/>
            <a:ext cx="5257669" cy="4063898"/>
          </a:xfrm>
          <a:prstGeom prst="rect">
            <a:avLst/>
          </a:prstGeom>
        </p:spPr>
      </p:pic>
      <p:sp>
        <p:nvSpPr>
          <p:cNvPr id="6" name="Text 2"/>
          <p:cNvSpPr txBox="1"/>
          <p:nvPr/>
        </p:nvSpPr>
        <p:spPr>
          <a:xfrm>
            <a:off x="761981" y="5582701"/>
            <a:ext cx="11094443" cy="190495"/>
          </a:xfrm>
          <a:prstGeom prst="rect">
            <a:avLst/>
          </a:prstGeom>
          <a:noFill/>
          <a:ln/>
        </p:spPr>
        <p:txBody>
          <a:bodyPr wrap="square" lIns="0" tIns="0" rIns="0" bIns="0" rtlCol="0" anchor="t"/>
          <a:lstStyle/>
          <a:p>
            <a:pPr algn="l" indent="0" marL="0">
              <a:lnSpc>
                <a:spcPct val="106838"/>
              </a:lnSpc>
              <a:buNone/>
            </a:pPr>
            <a:r>
              <a:rPr lang="en-US" sz="1000" dirty="0">
                <a:solidFill>
                  <a:srgbClr val="A3A6B4"/>
                </a:solidFill>
                <a:latin typeface="Poppins" pitchFamily="34" charset="0"/>
                <a:ea typeface="Poppins" pitchFamily="34" charset="-122"/>
                <a:cs typeface="Poppins" pitchFamily="34" charset="-120"/>
              </a:rPr>
              <a:t>Três páginas: Portfólio, Pessoas e Fornecedores. É um JSON no Git, gerado por script e publicado pelo bundle: tem diff, revisão e rollback.</a:t>
            </a:r>
            <a:endParaRPr lang="en-US" sz="1000" dirty="0"/>
          </a:p>
        </p:txBody>
      </p:sp>
      <p:pic>
        <p:nvPicPr>
          <p:cNvPr id="7" name="Image 2" descr="preencoded.png">    </p:cNvPr>
          <p:cNvPicPr>
            <a:picLocks noChangeAspect="1"/>
          </p:cNvPicPr>
          <p:nvPr/>
        </p:nvPicPr>
        <p:blipFill>
          <a:blip r:embed="rId4"/>
          <a:stretch>
            <a:fillRect/>
          </a:stretch>
        </p:blipFill>
        <p:spPr>
          <a:xfrm>
            <a:off x="761981" y="6387940"/>
            <a:ext cx="2059928" cy="190495"/>
          </a:xfrm>
          <a:prstGeom prst="rect">
            <a:avLst/>
          </a:prstGeom>
        </p:spPr>
      </p:pic>
      <p:sp>
        <p:nvSpPr>
          <p:cNvPr id="8" name="Text 3"/>
          <p:cNvSpPr txBox="1"/>
          <p:nvPr/>
        </p:nvSpPr>
        <p:spPr>
          <a:xfrm>
            <a:off x="10903868" y="6387940"/>
            <a:ext cx="546880"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102 / 133</a:t>
            </a:r>
            <a:endParaRPr lang="en-US" sz="10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2 · DASHBOARD · FORNECEDORES</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Quem promete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e não cumpre</a:t>
            </a:r>
            <a:endParaRPr lang="en-US" sz="3100" dirty="0"/>
          </a:p>
        </p:txBody>
      </p:sp>
      <p:pic>
        <p:nvPicPr>
          <p:cNvPr id="4" name="Image 0" descr="preencoded.png">    </p:cNvPr>
          <p:cNvPicPr>
            <a:picLocks noChangeAspect="1"/>
          </p:cNvPicPr>
          <p:nvPr/>
        </p:nvPicPr>
        <p:blipFill>
          <a:blip r:embed="rId2"/>
          <a:stretch>
            <a:fillRect/>
          </a:stretch>
        </p:blipFill>
        <p:spPr>
          <a:xfrm>
            <a:off x="761981" y="2027483"/>
            <a:ext cx="5238619" cy="2792544"/>
          </a:xfrm>
          <a:prstGeom prst="rect">
            <a:avLst/>
          </a:prstGeom>
        </p:spPr>
      </p:pic>
      <p:sp>
        <p:nvSpPr>
          <p:cNvPr id="5" name="Text 2"/>
          <p:cNvSpPr txBox="1"/>
          <p:nvPr/>
        </p:nvSpPr>
        <p:spPr>
          <a:xfrm>
            <a:off x="6305392" y="1455304"/>
            <a:ext cx="2811170" cy="171446"/>
          </a:xfrm>
          <a:prstGeom prst="rect">
            <a:avLst/>
          </a:prstGeom>
          <a:noFill/>
          <a:ln/>
        </p:spPr>
        <p:txBody>
          <a:bodyPr wrap="square" lIns="0" tIns="0" rIns="0" bIns="0" rtlCol="0" anchor="t"/>
          <a:lstStyle/>
          <a:p>
            <a:pPr algn="l"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FORNECEDOR</a:t>
            </a:r>
            <a:endParaRPr lang="en-US" sz="900" dirty="0"/>
          </a:p>
        </p:txBody>
      </p:sp>
      <p:sp>
        <p:nvSpPr>
          <p:cNvPr id="6" name="Text 3"/>
          <p:cNvSpPr txBox="1"/>
          <p:nvPr/>
        </p:nvSpPr>
        <p:spPr>
          <a:xfrm>
            <a:off x="9237035" y="1455304"/>
            <a:ext cx="2161518" cy="171446"/>
          </a:xfrm>
          <a:prstGeom prst="rect">
            <a:avLst/>
          </a:prstGeom>
          <a:noFill/>
          <a:ln/>
        </p:spPr>
        <p:txBody>
          <a:bodyPr wrap="square" lIns="0" tIns="0" rIns="0" bIns="0" rtlCol="0" anchor="t"/>
          <a:lstStyle/>
          <a:p>
            <a:pPr algn="r"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REAL ÷ PROMETIDO</a:t>
            </a:r>
            <a:endParaRPr lang="en-US" sz="900" dirty="0"/>
          </a:p>
        </p:txBody>
      </p:sp>
      <p:sp>
        <p:nvSpPr>
          <p:cNvPr id="7" name="Shape 4"/>
          <p:cNvSpPr/>
          <p:nvPr/>
        </p:nvSpPr>
        <p:spPr>
          <a:xfrm>
            <a:off x="6191095" y="1753747"/>
            <a:ext cx="2931642" cy="384761"/>
          </a:xfrm>
          <a:prstGeom prst="rect">
            <a:avLst/>
          </a:prstGeom>
          <a:solidFill>
            <a:srgbClr val="1B2A4A"/>
          </a:solidFill>
          <a:ln/>
        </p:spPr>
      </p:sp>
      <p:sp>
        <p:nvSpPr>
          <p:cNvPr id="8" name="Text 5"/>
          <p:cNvSpPr txBox="1"/>
          <p:nvPr/>
        </p:nvSpPr>
        <p:spPr>
          <a:xfrm>
            <a:off x="6305392" y="1855344"/>
            <a:ext cx="2811170" cy="181566"/>
          </a:xfrm>
          <a:prstGeom prst="rect">
            <a:avLst/>
          </a:prstGeom>
          <a:noFill/>
          <a:ln/>
        </p:spPr>
        <p:txBody>
          <a:bodyPr wrap="square" lIns="0" tIns="0" rIns="0" bIns="0" rtlCol="0" anchor="t"/>
          <a:lstStyle/>
          <a:p>
            <a:pPr algn="l" indent="0" marL="0">
              <a:lnSpc>
                <a:spcPct val="111111"/>
              </a:lnSpc>
              <a:buNone/>
            </a:pPr>
            <a:r>
              <a:rPr lang="en-US" sz="1100" b="1" dirty="0">
                <a:solidFill>
                  <a:srgbClr val="F5F6FC"/>
                </a:solidFill>
                <a:latin typeface="Poppins" pitchFamily="34" charset="0"/>
                <a:ea typeface="Poppins" pitchFamily="34" charset="-122"/>
                <a:cs typeface="Poppins" pitchFamily="34" charset="-120"/>
              </a:rPr>
              <a:t>CodeForge (4 grafias)</a:t>
            </a:r>
            <a:endParaRPr lang="en-US" sz="1100" dirty="0"/>
          </a:p>
        </p:txBody>
      </p:sp>
      <p:sp>
        <p:nvSpPr>
          <p:cNvPr id="9" name="Shape 6"/>
          <p:cNvSpPr/>
          <p:nvPr/>
        </p:nvSpPr>
        <p:spPr>
          <a:xfrm>
            <a:off x="9122738" y="1753747"/>
            <a:ext cx="2306977" cy="384761"/>
          </a:xfrm>
          <a:prstGeom prst="rect">
            <a:avLst/>
          </a:prstGeom>
          <a:solidFill>
            <a:srgbClr val="1B2A4A"/>
          </a:solidFill>
          <a:ln/>
        </p:spPr>
      </p:sp>
      <p:sp>
        <p:nvSpPr>
          <p:cNvPr id="10" name="Text 7"/>
          <p:cNvSpPr txBox="1"/>
          <p:nvPr/>
        </p:nvSpPr>
        <p:spPr>
          <a:xfrm>
            <a:off x="9237035" y="1855344"/>
            <a:ext cx="2161518" cy="181566"/>
          </a:xfrm>
          <a:prstGeom prst="rect">
            <a:avLst/>
          </a:prstGeom>
          <a:noFill/>
          <a:ln/>
        </p:spPr>
        <p:txBody>
          <a:bodyPr wrap="square" lIns="0" tIns="0" rIns="0" bIns="0" rtlCol="0" anchor="t"/>
          <a:lstStyle/>
          <a:p>
            <a:pPr algn="r" indent="0" marL="0">
              <a:lnSpc>
                <a:spcPct val="111111"/>
              </a:lnSpc>
              <a:buNone/>
            </a:pPr>
            <a:r>
              <a:rPr lang="en-US" sz="1100" b="1" dirty="0">
                <a:solidFill>
                  <a:srgbClr val="FF6B6B"/>
                </a:solidFill>
                <a:latin typeface="Poppins" pitchFamily="34" charset="0"/>
                <a:ea typeface="Poppins" pitchFamily="34" charset="-122"/>
                <a:cs typeface="Poppins" pitchFamily="34" charset="-120"/>
              </a:rPr>
              <a:t>1,41</a:t>
            </a:r>
            <a:endParaRPr lang="en-US" sz="1100" dirty="0"/>
          </a:p>
        </p:txBody>
      </p:sp>
      <p:sp>
        <p:nvSpPr>
          <p:cNvPr id="11" name="Shape 8"/>
          <p:cNvSpPr/>
          <p:nvPr/>
        </p:nvSpPr>
        <p:spPr>
          <a:xfrm>
            <a:off x="6191095" y="2189306"/>
            <a:ext cx="2931642" cy="384761"/>
          </a:xfrm>
          <a:prstGeom prst="rect">
            <a:avLst/>
          </a:prstGeom>
          <a:solidFill>
            <a:srgbClr val="1E1E24"/>
          </a:solidFill>
          <a:ln/>
        </p:spPr>
      </p:sp>
      <p:sp>
        <p:nvSpPr>
          <p:cNvPr id="12" name="Text 9"/>
          <p:cNvSpPr txBox="1"/>
          <p:nvPr/>
        </p:nvSpPr>
        <p:spPr>
          <a:xfrm>
            <a:off x="6305392" y="2290904"/>
            <a:ext cx="2811170" cy="181566"/>
          </a:xfrm>
          <a:prstGeom prst="rect">
            <a:avLst/>
          </a:prstGeom>
          <a:noFill/>
          <a:ln/>
        </p:spPr>
        <p:txBody>
          <a:bodyPr wrap="square" lIns="0" tIns="0" rIns="0" bIns="0" rtlCol="0" anchor="t"/>
          <a:lstStyle/>
          <a:p>
            <a:pPr algn="l" indent="0" marL="0">
              <a:lnSpc>
                <a:spcPct val="111111"/>
              </a:lnSpc>
              <a:buNone/>
            </a:pPr>
            <a:r>
              <a:rPr lang="en-US" sz="1100" b="1" dirty="0">
                <a:solidFill>
                  <a:srgbClr val="F5F6FC"/>
                </a:solidFill>
                <a:latin typeface="Poppins" pitchFamily="34" charset="0"/>
                <a:ea typeface="Poppins" pitchFamily="34" charset="-122"/>
                <a:cs typeface="Poppins" pitchFamily="34" charset="-120"/>
              </a:rPr>
              <a:t>QualiTest Brasil</a:t>
            </a:r>
            <a:endParaRPr lang="en-US" sz="1100" dirty="0"/>
          </a:p>
        </p:txBody>
      </p:sp>
      <p:sp>
        <p:nvSpPr>
          <p:cNvPr id="13" name="Shape 10"/>
          <p:cNvSpPr/>
          <p:nvPr/>
        </p:nvSpPr>
        <p:spPr>
          <a:xfrm>
            <a:off x="9122738" y="2189306"/>
            <a:ext cx="2306977" cy="384761"/>
          </a:xfrm>
          <a:prstGeom prst="rect">
            <a:avLst/>
          </a:prstGeom>
          <a:solidFill>
            <a:srgbClr val="1E1E24"/>
          </a:solidFill>
          <a:ln/>
        </p:spPr>
      </p:sp>
      <p:sp>
        <p:nvSpPr>
          <p:cNvPr id="14" name="Text 11"/>
          <p:cNvSpPr txBox="1"/>
          <p:nvPr/>
        </p:nvSpPr>
        <p:spPr>
          <a:xfrm>
            <a:off x="9237035" y="2290904"/>
            <a:ext cx="2161518" cy="181566"/>
          </a:xfrm>
          <a:prstGeom prst="rect">
            <a:avLst/>
          </a:prstGeom>
          <a:noFill/>
          <a:ln/>
        </p:spPr>
        <p:txBody>
          <a:bodyPr wrap="square" lIns="0" tIns="0" rIns="0" bIns="0" rtlCol="0" anchor="t"/>
          <a:lstStyle/>
          <a:p>
            <a:pPr algn="r" indent="0" marL="0">
              <a:lnSpc>
                <a:spcPct val="111111"/>
              </a:lnSpc>
              <a:buNone/>
            </a:pPr>
            <a:r>
              <a:rPr lang="en-US" sz="1100" dirty="0">
                <a:solidFill>
                  <a:srgbClr val="F5F6FC"/>
                </a:solidFill>
                <a:latin typeface="Poppins" pitchFamily="34" charset="0"/>
                <a:ea typeface="Poppins" pitchFamily="34" charset="-122"/>
                <a:cs typeface="Poppins" pitchFamily="34" charset="-120"/>
              </a:rPr>
              <a:t>0,98</a:t>
            </a:r>
            <a:endParaRPr lang="en-US" sz="1100" dirty="0"/>
          </a:p>
        </p:txBody>
      </p:sp>
      <p:sp>
        <p:nvSpPr>
          <p:cNvPr id="15" name="Shape 12"/>
          <p:cNvSpPr/>
          <p:nvPr/>
        </p:nvSpPr>
        <p:spPr>
          <a:xfrm>
            <a:off x="6191095" y="2624866"/>
            <a:ext cx="2931642" cy="384761"/>
          </a:xfrm>
          <a:prstGeom prst="rect">
            <a:avLst/>
          </a:prstGeom>
          <a:solidFill>
            <a:srgbClr val="1E1E24"/>
          </a:solidFill>
          <a:ln/>
        </p:spPr>
      </p:sp>
      <p:sp>
        <p:nvSpPr>
          <p:cNvPr id="16" name="Text 13"/>
          <p:cNvSpPr txBox="1"/>
          <p:nvPr/>
        </p:nvSpPr>
        <p:spPr>
          <a:xfrm>
            <a:off x="6305392" y="2726463"/>
            <a:ext cx="2811170" cy="181566"/>
          </a:xfrm>
          <a:prstGeom prst="rect">
            <a:avLst/>
          </a:prstGeom>
          <a:noFill/>
          <a:ln/>
        </p:spPr>
        <p:txBody>
          <a:bodyPr wrap="square" lIns="0" tIns="0" rIns="0" bIns="0" rtlCol="0" anchor="t"/>
          <a:lstStyle/>
          <a:p>
            <a:pPr algn="l" indent="0" marL="0">
              <a:lnSpc>
                <a:spcPct val="111111"/>
              </a:lnSpc>
              <a:buNone/>
            </a:pPr>
            <a:r>
              <a:rPr lang="en-US" sz="1100" b="1" dirty="0">
                <a:solidFill>
                  <a:srgbClr val="F5F6FC"/>
                </a:solidFill>
                <a:latin typeface="Poppins" pitchFamily="34" charset="0"/>
                <a:ea typeface="Poppins" pitchFamily="34" charset="-122"/>
                <a:cs typeface="Poppins" pitchFamily="34" charset="-120"/>
              </a:rPr>
              <a:t>DataPrime Analytics</a:t>
            </a:r>
            <a:endParaRPr lang="en-US" sz="1100" dirty="0"/>
          </a:p>
        </p:txBody>
      </p:sp>
      <p:sp>
        <p:nvSpPr>
          <p:cNvPr id="17" name="Shape 14"/>
          <p:cNvSpPr/>
          <p:nvPr/>
        </p:nvSpPr>
        <p:spPr>
          <a:xfrm>
            <a:off x="9122738" y="2624866"/>
            <a:ext cx="2306977" cy="384761"/>
          </a:xfrm>
          <a:prstGeom prst="rect">
            <a:avLst/>
          </a:prstGeom>
          <a:solidFill>
            <a:srgbClr val="1E1E24"/>
          </a:solidFill>
          <a:ln/>
        </p:spPr>
      </p:sp>
      <p:sp>
        <p:nvSpPr>
          <p:cNvPr id="18" name="Text 15"/>
          <p:cNvSpPr txBox="1"/>
          <p:nvPr/>
        </p:nvSpPr>
        <p:spPr>
          <a:xfrm>
            <a:off x="9237035" y="2726463"/>
            <a:ext cx="2161518" cy="181566"/>
          </a:xfrm>
          <a:prstGeom prst="rect">
            <a:avLst/>
          </a:prstGeom>
          <a:noFill/>
          <a:ln/>
        </p:spPr>
        <p:txBody>
          <a:bodyPr wrap="square" lIns="0" tIns="0" rIns="0" bIns="0" rtlCol="0" anchor="t"/>
          <a:lstStyle/>
          <a:p>
            <a:pPr algn="r" indent="0" marL="0">
              <a:lnSpc>
                <a:spcPct val="111111"/>
              </a:lnSpc>
              <a:buNone/>
            </a:pPr>
            <a:r>
              <a:rPr lang="en-US" sz="1100" dirty="0">
                <a:solidFill>
                  <a:srgbClr val="F5F6FC"/>
                </a:solidFill>
                <a:latin typeface="Poppins" pitchFamily="34" charset="0"/>
                <a:ea typeface="Poppins" pitchFamily="34" charset="-122"/>
                <a:cs typeface="Poppins" pitchFamily="34" charset="-120"/>
              </a:rPr>
              <a:t>0,98</a:t>
            </a:r>
            <a:endParaRPr lang="en-US" sz="1100" dirty="0"/>
          </a:p>
        </p:txBody>
      </p:sp>
      <p:sp>
        <p:nvSpPr>
          <p:cNvPr id="19" name="Shape 16"/>
          <p:cNvSpPr/>
          <p:nvPr/>
        </p:nvSpPr>
        <p:spPr>
          <a:xfrm>
            <a:off x="6191095" y="3060425"/>
            <a:ext cx="2931642" cy="384761"/>
          </a:xfrm>
          <a:prstGeom prst="rect">
            <a:avLst/>
          </a:prstGeom>
          <a:solidFill>
            <a:srgbClr val="1E1E24"/>
          </a:solidFill>
          <a:ln/>
        </p:spPr>
      </p:sp>
      <p:sp>
        <p:nvSpPr>
          <p:cNvPr id="20" name="Text 17"/>
          <p:cNvSpPr txBox="1"/>
          <p:nvPr/>
        </p:nvSpPr>
        <p:spPr>
          <a:xfrm>
            <a:off x="6305392" y="3162023"/>
            <a:ext cx="2811170" cy="181566"/>
          </a:xfrm>
          <a:prstGeom prst="rect">
            <a:avLst/>
          </a:prstGeom>
          <a:noFill/>
          <a:ln/>
        </p:spPr>
        <p:txBody>
          <a:bodyPr wrap="square" lIns="0" tIns="0" rIns="0" bIns="0" rtlCol="0" anchor="t"/>
          <a:lstStyle/>
          <a:p>
            <a:pPr algn="l" indent="0" marL="0">
              <a:lnSpc>
                <a:spcPct val="111111"/>
              </a:lnSpc>
              <a:buNone/>
            </a:pPr>
            <a:r>
              <a:rPr lang="en-US" sz="1100" b="1" dirty="0">
                <a:solidFill>
                  <a:srgbClr val="F5F6FC"/>
                </a:solidFill>
                <a:latin typeface="Poppins" pitchFamily="34" charset="0"/>
                <a:ea typeface="Poppins" pitchFamily="34" charset="-122"/>
                <a:cs typeface="Poppins" pitchFamily="34" charset="-120"/>
              </a:rPr>
              <a:t>SecureOps Segurança</a:t>
            </a:r>
            <a:endParaRPr lang="en-US" sz="1100" dirty="0"/>
          </a:p>
        </p:txBody>
      </p:sp>
      <p:sp>
        <p:nvSpPr>
          <p:cNvPr id="21" name="Shape 18"/>
          <p:cNvSpPr/>
          <p:nvPr/>
        </p:nvSpPr>
        <p:spPr>
          <a:xfrm>
            <a:off x="9122738" y="3060425"/>
            <a:ext cx="2306977" cy="384761"/>
          </a:xfrm>
          <a:prstGeom prst="rect">
            <a:avLst/>
          </a:prstGeom>
          <a:solidFill>
            <a:srgbClr val="1E1E24"/>
          </a:solidFill>
          <a:ln/>
        </p:spPr>
      </p:sp>
      <p:sp>
        <p:nvSpPr>
          <p:cNvPr id="22" name="Text 19"/>
          <p:cNvSpPr txBox="1"/>
          <p:nvPr/>
        </p:nvSpPr>
        <p:spPr>
          <a:xfrm>
            <a:off x="9237035" y="3162023"/>
            <a:ext cx="2161518" cy="181566"/>
          </a:xfrm>
          <a:prstGeom prst="rect">
            <a:avLst/>
          </a:prstGeom>
          <a:noFill/>
          <a:ln/>
        </p:spPr>
        <p:txBody>
          <a:bodyPr wrap="square" lIns="0" tIns="0" rIns="0" bIns="0" rtlCol="0" anchor="t"/>
          <a:lstStyle/>
          <a:p>
            <a:pPr algn="r" indent="0" marL="0">
              <a:lnSpc>
                <a:spcPct val="111111"/>
              </a:lnSpc>
              <a:buNone/>
            </a:pPr>
            <a:r>
              <a:rPr lang="en-US" sz="1100" dirty="0">
                <a:solidFill>
                  <a:srgbClr val="F5F6FC"/>
                </a:solidFill>
                <a:latin typeface="Poppins" pitchFamily="34" charset="0"/>
                <a:ea typeface="Poppins" pitchFamily="34" charset="-122"/>
                <a:cs typeface="Poppins" pitchFamily="34" charset="-120"/>
              </a:rPr>
              <a:t>0,98</a:t>
            </a:r>
            <a:endParaRPr lang="en-US" sz="1100" dirty="0"/>
          </a:p>
        </p:txBody>
      </p:sp>
      <p:sp>
        <p:nvSpPr>
          <p:cNvPr id="23" name="Shape 20"/>
          <p:cNvSpPr/>
          <p:nvPr/>
        </p:nvSpPr>
        <p:spPr>
          <a:xfrm>
            <a:off x="6191095" y="3495984"/>
            <a:ext cx="2931642" cy="384761"/>
          </a:xfrm>
          <a:prstGeom prst="rect">
            <a:avLst/>
          </a:prstGeom>
          <a:solidFill>
            <a:srgbClr val="1E1E24"/>
          </a:solidFill>
          <a:ln/>
        </p:spPr>
      </p:sp>
      <p:sp>
        <p:nvSpPr>
          <p:cNvPr id="24" name="Text 21"/>
          <p:cNvSpPr txBox="1"/>
          <p:nvPr/>
        </p:nvSpPr>
        <p:spPr>
          <a:xfrm>
            <a:off x="6305392" y="3597582"/>
            <a:ext cx="2811170" cy="181566"/>
          </a:xfrm>
          <a:prstGeom prst="rect">
            <a:avLst/>
          </a:prstGeom>
          <a:noFill/>
          <a:ln/>
        </p:spPr>
        <p:txBody>
          <a:bodyPr wrap="square" lIns="0" tIns="0" rIns="0" bIns="0" rtlCol="0" anchor="t"/>
          <a:lstStyle/>
          <a:p>
            <a:pPr algn="l" indent="0" marL="0">
              <a:lnSpc>
                <a:spcPct val="111111"/>
              </a:lnSpc>
              <a:buNone/>
            </a:pPr>
            <a:r>
              <a:rPr lang="en-US" sz="1100" b="1" dirty="0">
                <a:solidFill>
                  <a:srgbClr val="F5F6FC"/>
                </a:solidFill>
                <a:latin typeface="Poppins" pitchFamily="34" charset="0"/>
                <a:ea typeface="Poppins" pitchFamily="34" charset="-122"/>
                <a:cs typeface="Poppins" pitchFamily="34" charset="-120"/>
              </a:rPr>
              <a:t>Pixel Design Studio</a:t>
            </a:r>
            <a:endParaRPr lang="en-US" sz="1100" dirty="0"/>
          </a:p>
        </p:txBody>
      </p:sp>
      <p:sp>
        <p:nvSpPr>
          <p:cNvPr id="25" name="Shape 22"/>
          <p:cNvSpPr/>
          <p:nvPr/>
        </p:nvSpPr>
        <p:spPr>
          <a:xfrm>
            <a:off x="9122738" y="3495984"/>
            <a:ext cx="2306977" cy="384761"/>
          </a:xfrm>
          <a:prstGeom prst="rect">
            <a:avLst/>
          </a:prstGeom>
          <a:solidFill>
            <a:srgbClr val="1E1E24"/>
          </a:solidFill>
          <a:ln/>
        </p:spPr>
      </p:sp>
      <p:sp>
        <p:nvSpPr>
          <p:cNvPr id="26" name="Text 23"/>
          <p:cNvSpPr txBox="1"/>
          <p:nvPr/>
        </p:nvSpPr>
        <p:spPr>
          <a:xfrm>
            <a:off x="9237035" y="3597582"/>
            <a:ext cx="2161518" cy="181566"/>
          </a:xfrm>
          <a:prstGeom prst="rect">
            <a:avLst/>
          </a:prstGeom>
          <a:noFill/>
          <a:ln/>
        </p:spPr>
        <p:txBody>
          <a:bodyPr wrap="square" lIns="0" tIns="0" rIns="0" bIns="0" rtlCol="0" anchor="t"/>
          <a:lstStyle/>
          <a:p>
            <a:pPr algn="r" indent="0" marL="0">
              <a:lnSpc>
                <a:spcPct val="111111"/>
              </a:lnSpc>
              <a:buNone/>
            </a:pPr>
            <a:r>
              <a:rPr lang="en-US" sz="1100" dirty="0">
                <a:solidFill>
                  <a:srgbClr val="F5F6FC"/>
                </a:solidFill>
                <a:latin typeface="Poppins" pitchFamily="34" charset="0"/>
                <a:ea typeface="Poppins" pitchFamily="34" charset="-122"/>
                <a:cs typeface="Poppins" pitchFamily="34" charset="-120"/>
              </a:rPr>
              <a:t>0,98</a:t>
            </a:r>
            <a:endParaRPr lang="en-US" sz="1100" dirty="0"/>
          </a:p>
        </p:txBody>
      </p:sp>
      <p:pic>
        <p:nvPicPr>
          <p:cNvPr id="27" name="Image 1" descr="preencoded.png">    </p:cNvPr>
          <p:cNvPicPr>
            <a:picLocks noChangeAspect="1"/>
          </p:cNvPicPr>
          <p:nvPr/>
        </p:nvPicPr>
        <p:blipFill>
          <a:blip r:embed="rId3"/>
          <a:stretch>
            <a:fillRect/>
          </a:stretch>
        </p:blipFill>
        <p:spPr>
          <a:xfrm>
            <a:off x="761981" y="6387940"/>
            <a:ext cx="2059928" cy="190495"/>
          </a:xfrm>
          <a:prstGeom prst="rect">
            <a:avLst/>
          </a:prstGeom>
        </p:spPr>
      </p:pic>
      <p:sp>
        <p:nvSpPr>
          <p:cNvPr id="28" name="Text 24"/>
          <p:cNvSpPr txBox="1"/>
          <p:nvPr/>
        </p:nvSpPr>
        <p:spPr>
          <a:xfrm>
            <a:off x="10901784" y="6387940"/>
            <a:ext cx="549047"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103 / 133</a:t>
            </a:r>
            <a:endParaRPr lang="en-US" sz="10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380990"/>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RECURSO DO DATABRICKS · QUERY HISTORY</a:t>
            </a:r>
            <a:endParaRPr lang="en-US" sz="1200" dirty="0"/>
          </a:p>
        </p:txBody>
      </p:sp>
      <p:sp>
        <p:nvSpPr>
          <p:cNvPr id="3" name="Text 1"/>
          <p:cNvSpPr txBox="1"/>
          <p:nvPr/>
        </p:nvSpPr>
        <p:spPr>
          <a:xfrm>
            <a:off x="761981" y="704832"/>
            <a:ext cx="11094443" cy="363132"/>
          </a:xfrm>
          <a:prstGeom prst="rect">
            <a:avLst/>
          </a:prstGeom>
          <a:noFill/>
          <a:ln/>
        </p:spPr>
        <p:txBody>
          <a:bodyPr wrap="square" lIns="0" tIns="0" rIns="0" bIns="0" rtlCol="0" anchor="t"/>
          <a:lstStyle/>
          <a:p>
            <a:pPr algn="l" indent="0" marL="0">
              <a:lnSpc>
                <a:spcPct val="94017"/>
              </a:lnSpc>
              <a:buNone/>
            </a:pPr>
            <a:r>
              <a:rPr lang="en-US" sz="2600" b="1" spc="-26" kern="0" dirty="0">
                <a:solidFill>
                  <a:srgbClr val="F5F6FC"/>
                </a:solidFill>
                <a:latin typeface="Poppins" pitchFamily="34" charset="0"/>
                <a:ea typeface="Poppins" pitchFamily="34" charset="-122"/>
                <a:cs typeface="Poppins" pitchFamily="34" charset="-120"/>
              </a:rPr>
              <a:t>Query History: o que cada um perguntou</a:t>
            </a:r>
            <a:endParaRPr lang="en-US" sz="2600" dirty="0"/>
          </a:p>
        </p:txBody>
      </p:sp>
      <p:pic>
        <p:nvPicPr>
          <p:cNvPr id="4" name="Image 0" descr="preencoded.png">    </p:cNvPr>
          <p:cNvPicPr>
            <a:picLocks noChangeAspect="1"/>
          </p:cNvPicPr>
          <p:nvPr/>
        </p:nvPicPr>
        <p:blipFill>
          <a:blip r:embed="rId2"/>
          <a:srcRect l="13802" r="13802" t="0" b="0"/>
          <a:stretch/>
        </p:blipFill>
        <p:spPr>
          <a:xfrm>
            <a:off x="761981" y="1182261"/>
            <a:ext cx="6455308" cy="4063898"/>
          </a:xfrm>
          <a:prstGeom prst="rect">
            <a:avLst/>
          </a:prstGeom>
        </p:spPr>
      </p:pic>
      <p:sp>
        <p:nvSpPr>
          <p:cNvPr id="5" name="Shape 2"/>
          <p:cNvSpPr/>
          <p:nvPr/>
        </p:nvSpPr>
        <p:spPr>
          <a:xfrm>
            <a:off x="7395085" y="1182261"/>
            <a:ext cx="4034630" cy="4063898"/>
          </a:xfrm>
          <a:prstGeom prst="roundRect">
            <a:avLst>
              <a:gd name="adj" fmla="val 3777"/>
            </a:avLst>
          </a:prstGeom>
          <a:solidFill>
            <a:srgbClr val="0059DB"/>
          </a:solidFill>
          <a:ln/>
        </p:spPr>
      </p:sp>
      <p:sp>
        <p:nvSpPr>
          <p:cNvPr id="6" name="Shape 3"/>
          <p:cNvSpPr/>
          <p:nvPr/>
        </p:nvSpPr>
        <p:spPr>
          <a:xfrm>
            <a:off x="7617329" y="1379106"/>
            <a:ext cx="616034" cy="247644"/>
          </a:xfrm>
          <a:prstGeom prst="roundRect">
            <a:avLst>
              <a:gd name="adj" fmla="val 50000"/>
            </a:avLst>
          </a:prstGeom>
          <a:solidFill>
            <a:srgbClr val="FFFFFF">
              <a:alpha val="16000"/>
            </a:srgbClr>
          </a:solidFill>
          <a:ln/>
        </p:spPr>
      </p:sp>
      <p:sp>
        <p:nvSpPr>
          <p:cNvPr id="7" name="Text 4"/>
          <p:cNvSpPr txBox="1"/>
          <p:nvPr/>
        </p:nvSpPr>
        <p:spPr>
          <a:xfrm>
            <a:off x="7706227" y="1417205"/>
            <a:ext cx="455768"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O que é</a:t>
            </a:r>
            <a:endParaRPr lang="en-US" sz="900" dirty="0"/>
          </a:p>
        </p:txBody>
      </p:sp>
      <p:sp>
        <p:nvSpPr>
          <p:cNvPr id="8" name="Shape 5"/>
          <p:cNvSpPr/>
          <p:nvPr/>
        </p:nvSpPr>
        <p:spPr>
          <a:xfrm>
            <a:off x="7617329" y="1798196"/>
            <a:ext cx="76198" cy="76198"/>
          </a:xfrm>
          <a:prstGeom prst="roundRect">
            <a:avLst>
              <a:gd name="adj" fmla="val 25000"/>
            </a:avLst>
          </a:prstGeom>
          <a:solidFill>
            <a:srgbClr val="22C2F4"/>
          </a:solidFill>
          <a:ln/>
        </p:spPr>
      </p:sp>
      <p:sp>
        <p:nvSpPr>
          <p:cNvPr id="9" name="Text 6"/>
          <p:cNvSpPr txBox="1"/>
          <p:nvPr/>
        </p:nvSpPr>
        <p:spPr>
          <a:xfrm>
            <a:off x="7807824" y="1715648"/>
            <a:ext cx="3535631"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toda consulta que passou pelo warehouse: quem, quando, quanto tempo, de onde</a:t>
            </a:r>
            <a:endParaRPr lang="en-US" sz="1200" dirty="0"/>
          </a:p>
        </p:txBody>
      </p:sp>
      <p:sp>
        <p:nvSpPr>
          <p:cNvPr id="10" name="Shape 7"/>
          <p:cNvSpPr/>
          <p:nvPr/>
        </p:nvSpPr>
        <p:spPr>
          <a:xfrm>
            <a:off x="7617329" y="2285744"/>
            <a:ext cx="76198" cy="76198"/>
          </a:xfrm>
          <a:prstGeom prst="roundRect">
            <a:avLst>
              <a:gd name="adj" fmla="val 25000"/>
            </a:avLst>
          </a:prstGeom>
          <a:solidFill>
            <a:srgbClr val="22C2F4"/>
          </a:solidFill>
          <a:ln/>
        </p:spPr>
      </p:sp>
      <p:sp>
        <p:nvSpPr>
          <p:cNvPr id="11" name="Text 8"/>
          <p:cNvSpPr txBox="1"/>
          <p:nvPr/>
        </p:nvSpPr>
        <p:spPr>
          <a:xfrm>
            <a:off x="7807824" y="2203196"/>
            <a:ext cx="3535631"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abre o plano e o perfil de cada uma</a:t>
            </a:r>
            <a:endParaRPr lang="en-US" sz="1200" dirty="0"/>
          </a:p>
        </p:txBody>
      </p:sp>
      <p:sp>
        <p:nvSpPr>
          <p:cNvPr id="12" name="Shape 9"/>
          <p:cNvSpPr/>
          <p:nvPr/>
        </p:nvSpPr>
        <p:spPr>
          <a:xfrm>
            <a:off x="7617329" y="2548568"/>
            <a:ext cx="650958" cy="247644"/>
          </a:xfrm>
          <a:prstGeom prst="roundRect">
            <a:avLst>
              <a:gd name="adj" fmla="val 50000"/>
            </a:avLst>
          </a:prstGeom>
          <a:solidFill>
            <a:srgbClr val="FFFFFF">
              <a:alpha val="16000"/>
            </a:srgbClr>
          </a:solidFill>
          <a:ln/>
        </p:spPr>
      </p:sp>
      <p:sp>
        <p:nvSpPr>
          <p:cNvPr id="13" name="Text 10"/>
          <p:cNvSpPr txBox="1"/>
          <p:nvPr/>
        </p:nvSpPr>
        <p:spPr>
          <a:xfrm>
            <a:off x="7706227" y="2586667"/>
            <a:ext cx="492089"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No Farol</a:t>
            </a:r>
            <a:endParaRPr lang="en-US" sz="900" dirty="0"/>
          </a:p>
        </p:txBody>
      </p:sp>
      <p:sp>
        <p:nvSpPr>
          <p:cNvPr id="14" name="Text 11"/>
          <p:cNvSpPr txBox="1"/>
          <p:nvPr/>
        </p:nvSpPr>
        <p:spPr>
          <a:xfrm>
            <a:off x="7617329" y="2961308"/>
            <a:ext cx="3733746" cy="394285"/>
          </a:xfrm>
          <a:prstGeom prst="rect">
            <a:avLst/>
          </a:prstGeom>
          <a:noFill/>
          <a:ln/>
        </p:spPr>
        <p:txBody>
          <a:bodyPr wrap="square" lIns="0" tIns="0" rIns="0" bIns="0" rtlCol="0" anchor="t"/>
          <a:lstStyle/>
          <a:p>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mostra o SQL que o Genie escreveu por trás de cada resposta. É assim que se audita a IA</a:t>
            </a:r>
            <a:endParaRPr lang="en-US" sz="1150" dirty="0"/>
          </a:p>
        </p:txBody>
      </p:sp>
      <p:pic>
        <p:nvPicPr>
          <p:cNvPr id="15" name="Image 1" descr="preencoded.png">    </p:cNvPr>
          <p:cNvPicPr>
            <a:picLocks noChangeAspect="1"/>
          </p:cNvPicPr>
          <p:nvPr/>
        </p:nvPicPr>
        <p:blipFill>
          <a:blip r:embed="rId3"/>
          <a:stretch>
            <a:fillRect/>
          </a:stretch>
        </p:blipFill>
        <p:spPr>
          <a:xfrm>
            <a:off x="761981" y="6387940"/>
            <a:ext cx="2059928" cy="190495"/>
          </a:xfrm>
          <a:prstGeom prst="rect">
            <a:avLst/>
          </a:prstGeom>
        </p:spPr>
      </p:pic>
      <p:sp>
        <p:nvSpPr>
          <p:cNvPr id="16" name="Text 12"/>
          <p:cNvSpPr txBox="1"/>
          <p:nvPr/>
        </p:nvSpPr>
        <p:spPr>
          <a:xfrm>
            <a:off x="10895038" y="6387940"/>
            <a:ext cx="556064"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104 / 133</a:t>
            </a:r>
            <a:endParaRPr lang="en-US" sz="10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2 · GENIE CURADO · "FAROL · DIRETORIA"</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O mesmo modelo de IA,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agora acerta</a:t>
            </a:r>
            <a:endParaRPr lang="en-US" sz="3100" dirty="0"/>
          </a:p>
        </p:txBody>
      </p:sp>
      <p:pic>
        <p:nvPicPr>
          <p:cNvPr id="4" name="Image 0" descr="preencoded.png">    </p:cNvPr>
          <p:cNvPicPr>
            <a:picLocks noChangeAspect="1"/>
          </p:cNvPicPr>
          <p:nvPr/>
        </p:nvPicPr>
        <p:blipFill>
          <a:blip r:embed="rId2"/>
          <a:srcRect l="14493" r="14493" t="0" b="0"/>
          <a:stretch/>
        </p:blipFill>
        <p:spPr>
          <a:xfrm>
            <a:off x="761981" y="1455304"/>
            <a:ext cx="5257669" cy="3936902"/>
          </a:xfrm>
          <a:prstGeom prst="rect">
            <a:avLst/>
          </a:prstGeom>
        </p:spPr>
      </p:pic>
      <p:pic>
        <p:nvPicPr>
          <p:cNvPr id="5" name="Image 1" descr="preencoded.png">    </p:cNvPr>
          <p:cNvPicPr>
            <a:picLocks noChangeAspect="1"/>
          </p:cNvPicPr>
          <p:nvPr/>
        </p:nvPicPr>
        <p:blipFill>
          <a:blip r:embed="rId3"/>
          <a:srcRect l="14493" r="14493" t="0" b="0"/>
          <a:stretch/>
        </p:blipFill>
        <p:spPr>
          <a:xfrm>
            <a:off x="6172046" y="1455304"/>
            <a:ext cx="5257669" cy="3936902"/>
          </a:xfrm>
          <a:prstGeom prst="rect">
            <a:avLst/>
          </a:prstGeom>
        </p:spPr>
      </p:pic>
      <p:sp>
        <p:nvSpPr>
          <p:cNvPr id="6" name="Text 2"/>
          <p:cNvSpPr txBox="1"/>
          <p:nvPr/>
        </p:nvSpPr>
        <p:spPr>
          <a:xfrm>
            <a:off x="761981" y="5455704"/>
            <a:ext cx="11094443" cy="190495"/>
          </a:xfrm>
          <a:prstGeom prst="rect">
            <a:avLst/>
          </a:prstGeom>
          <a:noFill/>
          <a:ln/>
        </p:spPr>
        <p:txBody>
          <a:bodyPr wrap="square" lIns="0" tIns="0" rIns="0" bIns="0" rtlCol="0" anchor="t"/>
          <a:lstStyle/>
          <a:p>
            <a:pPr algn="l" indent="0" marL="0">
              <a:lnSpc>
                <a:spcPct val="106838"/>
              </a:lnSpc>
              <a:buNone/>
            </a:pPr>
            <a:r>
              <a:rPr lang="en-US" sz="1000" dirty="0">
                <a:solidFill>
                  <a:srgbClr val="A3A6B4"/>
                </a:solidFill>
                <a:latin typeface="Poppins" pitchFamily="34" charset="0"/>
                <a:ea typeface="Poppins" pitchFamily="34" charset="-122"/>
                <a:cs typeface="Poppins" pitchFamily="34" charset="-120"/>
              </a:rPr>
              <a:t>Gold com COMMENT em toda tabela, a metric view, instruções de negócio ("hoje é 16/10/2026", as regras de corte) e 9 SQLs de exemplo. Também é código no bundle.</a:t>
            </a:r>
            <a:endParaRPr lang="en-US" sz="1000" dirty="0"/>
          </a:p>
        </p:txBody>
      </p:sp>
      <p:pic>
        <p:nvPicPr>
          <p:cNvPr id="7" name="Image 2" descr="preencoded.png">    </p:cNvPr>
          <p:cNvPicPr>
            <a:picLocks noChangeAspect="1"/>
          </p:cNvPicPr>
          <p:nvPr/>
        </p:nvPicPr>
        <p:blipFill>
          <a:blip r:embed="rId4"/>
          <a:stretch>
            <a:fillRect/>
          </a:stretch>
        </p:blipFill>
        <p:spPr>
          <a:xfrm>
            <a:off x="761981" y="6387940"/>
            <a:ext cx="2059928" cy="190495"/>
          </a:xfrm>
          <a:prstGeom prst="rect">
            <a:avLst/>
          </a:prstGeom>
        </p:spPr>
      </p:pic>
      <p:sp>
        <p:nvSpPr>
          <p:cNvPr id="8" name="Text 3"/>
          <p:cNvSpPr txBox="1"/>
          <p:nvPr/>
        </p:nvSpPr>
        <p:spPr>
          <a:xfrm>
            <a:off x="10896030" y="6387940"/>
            <a:ext cx="555032"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105 / 133</a:t>
            </a:r>
            <a:endParaRPr lang="en-US" sz="10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2 · O QUE MUDOU DA NOITE 1 PARA CÁ</a:t>
            </a:r>
            <a:endParaRPr lang="en-US" sz="1200" dirty="0"/>
          </a:p>
        </p:txBody>
      </p:sp>
      <p:sp>
        <p:nvSpPr>
          <p:cNvPr id="3" name="Text 1"/>
          <p:cNvSpPr txBox="1"/>
          <p:nvPr/>
        </p:nvSpPr>
        <p:spPr>
          <a:xfrm>
            <a:off x="761981" y="895328"/>
            <a:ext cx="11094443" cy="86596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Os mesmos números,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agora sem ninguém juntar à mão</a:t>
            </a:r>
            <a:endParaRPr lang="en-US" sz="3100" dirty="0"/>
          </a:p>
        </p:txBody>
      </p:sp>
      <p:sp>
        <p:nvSpPr>
          <p:cNvPr id="4" name="Text 2"/>
          <p:cNvSpPr txBox="1"/>
          <p:nvPr/>
        </p:nvSpPr>
        <p:spPr>
          <a:xfrm>
            <a:off x="2680625" y="2015281"/>
            <a:ext cx="4949471" cy="171446"/>
          </a:xfrm>
          <a:prstGeom prst="rect">
            <a:avLst/>
          </a:prstGeom>
          <a:noFill/>
          <a:ln/>
        </p:spPr>
        <p:txBody>
          <a:bodyPr wrap="square" lIns="0" tIns="0" rIns="0" bIns="0" rtlCol="0" anchor="t"/>
          <a:lstStyle/>
          <a:p>
            <a:pPr algn="l"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NOITE 1 · BRONZE</a:t>
            </a:r>
            <a:endParaRPr lang="en-US" sz="900" dirty="0"/>
          </a:p>
        </p:txBody>
      </p:sp>
      <p:sp>
        <p:nvSpPr>
          <p:cNvPr id="5" name="Text 3"/>
          <p:cNvSpPr txBox="1"/>
          <p:nvPr/>
        </p:nvSpPr>
        <p:spPr>
          <a:xfrm>
            <a:off x="7668326" y="2015281"/>
            <a:ext cx="3792974" cy="171446"/>
          </a:xfrm>
          <a:prstGeom prst="rect">
            <a:avLst/>
          </a:prstGeom>
          <a:noFill/>
          <a:ln/>
        </p:spPr>
        <p:txBody>
          <a:bodyPr wrap="square" lIns="0" tIns="0" rIns="0" bIns="0" rtlCol="0" anchor="t"/>
          <a:lstStyle/>
          <a:p>
            <a:pPr algn="l"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NOITE 2 · GOLD</a:t>
            </a:r>
            <a:endParaRPr lang="en-US" sz="900" dirty="0"/>
          </a:p>
        </p:txBody>
      </p:sp>
      <p:sp>
        <p:nvSpPr>
          <p:cNvPr id="6" name="Shape 4"/>
          <p:cNvSpPr/>
          <p:nvPr/>
        </p:nvSpPr>
        <p:spPr>
          <a:xfrm>
            <a:off x="761981" y="2313723"/>
            <a:ext cx="1804347" cy="401231"/>
          </a:xfrm>
          <a:prstGeom prst="rect">
            <a:avLst/>
          </a:prstGeom>
          <a:solidFill>
            <a:srgbClr val="1E1E24"/>
          </a:solidFill>
          <a:ln/>
        </p:spPr>
      </p:sp>
      <p:sp>
        <p:nvSpPr>
          <p:cNvPr id="7" name="Text 5"/>
          <p:cNvSpPr txBox="1"/>
          <p:nvPr/>
        </p:nvSpPr>
        <p:spPr>
          <a:xfrm>
            <a:off x="876278" y="2415321"/>
            <a:ext cx="1638783" cy="198036"/>
          </a:xfrm>
          <a:prstGeom prst="rect">
            <a:avLst/>
          </a:prstGeom>
          <a:noFill/>
          <a:ln/>
        </p:spPr>
        <p:txBody>
          <a:bodyPr wrap="square" lIns="0" tIns="0" rIns="0" bIns="0" rtlCol="0" anchor="t"/>
          <a:lstStyle/>
          <a:p>
            <a:pPr algn="l" indent="0" marL="0">
              <a:lnSpc>
                <a:spcPct val="111111"/>
              </a:lnSpc>
              <a:buNone/>
            </a:pPr>
            <a:r>
              <a:rPr lang="en-US" sz="1200" b="1" dirty="0">
                <a:solidFill>
                  <a:srgbClr val="F5F6FC"/>
                </a:solidFill>
                <a:latin typeface="Poppins" pitchFamily="34" charset="0"/>
                <a:ea typeface="Poppins" pitchFamily="34" charset="-122"/>
                <a:cs typeface="Poppins" pitchFamily="34" charset="-120"/>
              </a:rPr>
              <a:t>Integração</a:t>
            </a:r>
            <a:endParaRPr lang="en-US" sz="1200" dirty="0"/>
          </a:p>
        </p:txBody>
      </p:sp>
      <p:sp>
        <p:nvSpPr>
          <p:cNvPr id="8" name="Shape 6"/>
          <p:cNvSpPr/>
          <p:nvPr/>
        </p:nvSpPr>
        <p:spPr>
          <a:xfrm>
            <a:off x="2566328" y="2313723"/>
            <a:ext cx="4987701" cy="401231"/>
          </a:xfrm>
          <a:prstGeom prst="rect">
            <a:avLst/>
          </a:prstGeom>
          <a:solidFill>
            <a:srgbClr val="1E1E24"/>
          </a:solidFill>
          <a:ln/>
        </p:spPr>
      </p:sp>
      <p:sp>
        <p:nvSpPr>
          <p:cNvPr id="9" name="Text 7"/>
          <p:cNvSpPr txBox="1"/>
          <p:nvPr/>
        </p:nvSpPr>
        <p:spPr>
          <a:xfrm>
            <a:off x="2680625" y="2415321"/>
            <a:ext cx="4949471" cy="198036"/>
          </a:xfrm>
          <a:prstGeom prst="rect">
            <a:avLst/>
          </a:prstGeom>
          <a:noFill/>
          <a:ln/>
        </p:spPr>
        <p:txBody>
          <a:bodyPr wrap="square" lIns="0" tIns="0" rIns="0" bIns="0" rtlCol="0" anchor="t"/>
          <a:lstStyle/>
          <a:p>
            <a:pPr algn="l" indent="0" marL="0">
              <a:lnSpc>
                <a:spcPct val="111111"/>
              </a:lnSpc>
              <a:buNone/>
            </a:pPr>
            <a:r>
              <a:rPr lang="en-US" sz="1200" dirty="0">
                <a:solidFill>
                  <a:srgbClr val="F5F6FC"/>
                </a:solidFill>
                <a:latin typeface="Poppins" pitchFamily="34" charset="0"/>
                <a:ea typeface="Poppins" pitchFamily="34" charset="-122"/>
                <a:cs typeface="Poppins" pitchFamily="34" charset="-120"/>
              </a:rPr>
              <a:t>uma view com CASE, replace e conversão de data</a:t>
            </a:r>
            <a:endParaRPr lang="en-US" sz="1200" dirty="0"/>
          </a:p>
        </p:txBody>
      </p:sp>
      <p:sp>
        <p:nvSpPr>
          <p:cNvPr id="10" name="Shape 8"/>
          <p:cNvSpPr/>
          <p:nvPr/>
        </p:nvSpPr>
        <p:spPr>
          <a:xfrm>
            <a:off x="7554029" y="2313723"/>
            <a:ext cx="3875685" cy="401231"/>
          </a:xfrm>
          <a:prstGeom prst="rect">
            <a:avLst/>
          </a:prstGeom>
          <a:solidFill>
            <a:srgbClr val="1E1E24"/>
          </a:solidFill>
          <a:ln/>
        </p:spPr>
      </p:sp>
      <p:sp>
        <p:nvSpPr>
          <p:cNvPr id="11" name="Text 9"/>
          <p:cNvSpPr txBox="1"/>
          <p:nvPr/>
        </p:nvSpPr>
        <p:spPr>
          <a:xfrm>
            <a:off x="7668326" y="2415321"/>
            <a:ext cx="3792974" cy="198036"/>
          </a:xfrm>
          <a:prstGeom prst="rect">
            <a:avLst/>
          </a:prstGeom>
          <a:noFill/>
          <a:ln/>
        </p:spPr>
        <p:txBody>
          <a:bodyPr wrap="square" lIns="0" tIns="0" rIns="0" bIns="0" rtlCol="0" anchor="t"/>
          <a:lstStyle/>
          <a:p>
            <a:pPr algn="l" indent="0" marL="0">
              <a:lnSpc>
                <a:spcPct val="111111"/>
              </a:lnSpc>
              <a:buNone/>
            </a:pPr>
            <a:r>
              <a:rPr lang="en-US" sz="1200" dirty="0">
                <a:solidFill>
                  <a:srgbClr val="F5F6FC"/>
                </a:solidFill>
                <a:latin typeface="Poppins" pitchFamily="34" charset="0"/>
                <a:ea typeface="Poppins" pitchFamily="34" charset="-122"/>
                <a:cs typeface="Poppins" pitchFamily="34" charset="-120"/>
              </a:rPr>
              <a:t>silver.tarefas, testada, num pipeline</a:t>
            </a:r>
            <a:endParaRPr lang="en-US" sz="1200" dirty="0"/>
          </a:p>
        </p:txBody>
      </p:sp>
      <p:sp>
        <p:nvSpPr>
          <p:cNvPr id="12" name="Shape 10"/>
          <p:cNvSpPr/>
          <p:nvPr/>
        </p:nvSpPr>
        <p:spPr>
          <a:xfrm>
            <a:off x="761981" y="2765753"/>
            <a:ext cx="1804347" cy="401231"/>
          </a:xfrm>
          <a:prstGeom prst="rect">
            <a:avLst/>
          </a:prstGeom>
          <a:solidFill>
            <a:srgbClr val="1E1E24"/>
          </a:solidFill>
          <a:ln/>
        </p:spPr>
      </p:sp>
      <p:sp>
        <p:nvSpPr>
          <p:cNvPr id="13" name="Text 11"/>
          <p:cNvSpPr txBox="1"/>
          <p:nvPr/>
        </p:nvSpPr>
        <p:spPr>
          <a:xfrm>
            <a:off x="876278" y="2867350"/>
            <a:ext cx="1638783" cy="198036"/>
          </a:xfrm>
          <a:prstGeom prst="rect">
            <a:avLst/>
          </a:prstGeom>
          <a:noFill/>
          <a:ln/>
        </p:spPr>
        <p:txBody>
          <a:bodyPr wrap="square" lIns="0" tIns="0" rIns="0" bIns="0" rtlCol="0" anchor="t"/>
          <a:lstStyle/>
          <a:p>
            <a:pPr algn="l" indent="0" marL="0">
              <a:lnSpc>
                <a:spcPct val="111111"/>
              </a:lnSpc>
              <a:buNone/>
            </a:pPr>
            <a:r>
              <a:rPr lang="en-US" sz="1200" b="1" dirty="0">
                <a:solidFill>
                  <a:srgbClr val="F5F6FC"/>
                </a:solidFill>
                <a:latin typeface="Poppins" pitchFamily="34" charset="0"/>
                <a:ea typeface="Poppins" pitchFamily="34" charset="-122"/>
                <a:cs typeface="Poppins" pitchFamily="34" charset="-120"/>
              </a:rPr>
              <a:t>KPI</a:t>
            </a:r>
            <a:endParaRPr lang="en-US" sz="1200" dirty="0"/>
          </a:p>
        </p:txBody>
      </p:sp>
      <p:sp>
        <p:nvSpPr>
          <p:cNvPr id="14" name="Shape 12"/>
          <p:cNvSpPr/>
          <p:nvPr/>
        </p:nvSpPr>
        <p:spPr>
          <a:xfrm>
            <a:off x="2566328" y="2765753"/>
            <a:ext cx="4987701" cy="401231"/>
          </a:xfrm>
          <a:prstGeom prst="rect">
            <a:avLst/>
          </a:prstGeom>
          <a:solidFill>
            <a:srgbClr val="1E1E24"/>
          </a:solidFill>
          <a:ln/>
        </p:spPr>
      </p:sp>
      <p:sp>
        <p:nvSpPr>
          <p:cNvPr id="15" name="Text 13"/>
          <p:cNvSpPr txBox="1"/>
          <p:nvPr/>
        </p:nvSpPr>
        <p:spPr>
          <a:xfrm>
            <a:off x="2680625" y="2867350"/>
            <a:ext cx="4949471" cy="198036"/>
          </a:xfrm>
          <a:prstGeom prst="rect">
            <a:avLst/>
          </a:prstGeom>
          <a:noFill/>
          <a:ln/>
        </p:spPr>
        <p:txBody>
          <a:bodyPr wrap="square" lIns="0" tIns="0" rIns="0" bIns="0" rtlCol="0" anchor="t"/>
          <a:lstStyle/>
          <a:p>
            <a:pPr algn="l" indent="0" marL="0">
              <a:lnSpc>
                <a:spcPct val="111111"/>
              </a:lnSpc>
              <a:buNone/>
            </a:pPr>
            <a:r>
              <a:rPr lang="en-US" sz="1200" dirty="0">
                <a:solidFill>
                  <a:srgbClr val="F5F6FC"/>
                </a:solidFill>
                <a:latin typeface="Poppins" pitchFamily="34" charset="0"/>
                <a:ea typeface="Poppins" pitchFamily="34" charset="-122"/>
                <a:cs typeface="Poppins" pitchFamily="34" charset="-120"/>
              </a:rPr>
              <a:t>fórmula repetida em cada query e gráfico</a:t>
            </a:r>
            <a:endParaRPr lang="en-US" sz="1200" dirty="0"/>
          </a:p>
        </p:txBody>
      </p:sp>
      <p:sp>
        <p:nvSpPr>
          <p:cNvPr id="16" name="Shape 14"/>
          <p:cNvSpPr/>
          <p:nvPr/>
        </p:nvSpPr>
        <p:spPr>
          <a:xfrm>
            <a:off x="7554029" y="2765753"/>
            <a:ext cx="3875685" cy="401231"/>
          </a:xfrm>
          <a:prstGeom prst="rect">
            <a:avLst/>
          </a:prstGeom>
          <a:solidFill>
            <a:srgbClr val="1E1E24"/>
          </a:solidFill>
          <a:ln/>
        </p:spPr>
      </p:sp>
      <p:sp>
        <p:nvSpPr>
          <p:cNvPr id="17" name="Text 15"/>
          <p:cNvSpPr txBox="1"/>
          <p:nvPr/>
        </p:nvSpPr>
        <p:spPr>
          <a:xfrm>
            <a:off x="7668326" y="2867350"/>
            <a:ext cx="3792974" cy="198036"/>
          </a:xfrm>
          <a:prstGeom prst="rect">
            <a:avLst/>
          </a:prstGeom>
          <a:noFill/>
          <a:ln/>
        </p:spPr>
        <p:txBody>
          <a:bodyPr wrap="square" lIns="0" tIns="0" rIns="0" bIns="0" rtlCol="0" anchor="t"/>
          <a:lstStyle/>
          <a:p>
            <a:pPr algn="l" indent="0" marL="0">
              <a:lnSpc>
                <a:spcPct val="111111"/>
              </a:lnSpc>
              <a:buNone/>
            </a:pPr>
            <a:r>
              <a:rPr lang="en-US" sz="1200" dirty="0">
                <a:solidFill>
                  <a:srgbClr val="F5F6FC"/>
                </a:solidFill>
                <a:latin typeface="Poppins" pitchFamily="34" charset="0"/>
                <a:ea typeface="Poppins" pitchFamily="34" charset="-122"/>
                <a:cs typeface="Poppins" pitchFamily="34" charset="-120"/>
              </a:rPr>
              <a:t>mv_projetos: uma fórmula para todos</a:t>
            </a:r>
            <a:endParaRPr lang="en-US" sz="1200" dirty="0"/>
          </a:p>
        </p:txBody>
      </p:sp>
      <p:sp>
        <p:nvSpPr>
          <p:cNvPr id="18" name="Shape 16"/>
          <p:cNvSpPr/>
          <p:nvPr/>
        </p:nvSpPr>
        <p:spPr>
          <a:xfrm>
            <a:off x="761981" y="3217782"/>
            <a:ext cx="1804347" cy="401231"/>
          </a:xfrm>
          <a:prstGeom prst="rect">
            <a:avLst/>
          </a:prstGeom>
          <a:solidFill>
            <a:srgbClr val="1E1E24"/>
          </a:solidFill>
          <a:ln/>
        </p:spPr>
      </p:sp>
      <p:sp>
        <p:nvSpPr>
          <p:cNvPr id="19" name="Text 17"/>
          <p:cNvSpPr txBox="1"/>
          <p:nvPr/>
        </p:nvSpPr>
        <p:spPr>
          <a:xfrm>
            <a:off x="876278" y="3319380"/>
            <a:ext cx="1638783" cy="198036"/>
          </a:xfrm>
          <a:prstGeom prst="rect">
            <a:avLst/>
          </a:prstGeom>
          <a:noFill/>
          <a:ln/>
        </p:spPr>
        <p:txBody>
          <a:bodyPr wrap="square" lIns="0" tIns="0" rIns="0" bIns="0" rtlCol="0" anchor="t"/>
          <a:lstStyle/>
          <a:p>
            <a:pPr algn="l" indent="0" marL="0">
              <a:lnSpc>
                <a:spcPct val="111111"/>
              </a:lnSpc>
              <a:buNone/>
            </a:pPr>
            <a:r>
              <a:rPr lang="en-US" sz="1200" b="1" dirty="0">
                <a:solidFill>
                  <a:srgbClr val="F5F6FC"/>
                </a:solidFill>
                <a:latin typeface="Poppins" pitchFamily="34" charset="0"/>
                <a:ea typeface="Poppins" pitchFamily="34" charset="-122"/>
                <a:cs typeface="Poppins" pitchFamily="34" charset="-120"/>
              </a:rPr>
              <a:t>Por que atrasou</a:t>
            </a:r>
            <a:endParaRPr lang="en-US" sz="1200" dirty="0"/>
          </a:p>
        </p:txBody>
      </p:sp>
      <p:sp>
        <p:nvSpPr>
          <p:cNvPr id="20" name="Shape 18"/>
          <p:cNvSpPr/>
          <p:nvPr/>
        </p:nvSpPr>
        <p:spPr>
          <a:xfrm>
            <a:off x="2566328" y="3217782"/>
            <a:ext cx="4987701" cy="401231"/>
          </a:xfrm>
          <a:prstGeom prst="rect">
            <a:avLst/>
          </a:prstGeom>
          <a:solidFill>
            <a:srgbClr val="1E1E24"/>
          </a:solidFill>
          <a:ln/>
        </p:spPr>
      </p:sp>
      <p:sp>
        <p:nvSpPr>
          <p:cNvPr id="21" name="Text 19"/>
          <p:cNvSpPr txBox="1"/>
          <p:nvPr/>
        </p:nvSpPr>
        <p:spPr>
          <a:xfrm>
            <a:off x="2680625" y="3319380"/>
            <a:ext cx="4949471" cy="198036"/>
          </a:xfrm>
          <a:prstGeom prst="rect">
            <a:avLst/>
          </a:prstGeom>
          <a:noFill/>
          <a:ln/>
        </p:spPr>
        <p:txBody>
          <a:bodyPr wrap="square" lIns="0" tIns="0" rIns="0" bIns="0" rtlCol="0" anchor="t"/>
          <a:lstStyle/>
          <a:p>
            <a:pPr algn="l" indent="0" marL="0">
              <a:lnSpc>
                <a:spcPct val="111111"/>
              </a:lnSpc>
              <a:buNone/>
            </a:pPr>
            <a:r>
              <a:rPr lang="en-US" sz="1200" dirty="0">
                <a:solidFill>
                  <a:srgbClr val="F5F6FC"/>
                </a:solidFill>
                <a:latin typeface="Poppins" pitchFamily="34" charset="0"/>
                <a:ea typeface="Poppins" pitchFamily="34" charset="-122"/>
                <a:cs typeface="Poppins" pitchFamily="34" charset="-120"/>
              </a:rPr>
              <a:t>ler 3.911 textos</a:t>
            </a:r>
            <a:endParaRPr lang="en-US" sz="1200" dirty="0"/>
          </a:p>
        </p:txBody>
      </p:sp>
      <p:sp>
        <p:nvSpPr>
          <p:cNvPr id="22" name="Shape 20"/>
          <p:cNvSpPr/>
          <p:nvPr/>
        </p:nvSpPr>
        <p:spPr>
          <a:xfrm>
            <a:off x="7554029" y="3217782"/>
            <a:ext cx="3875685" cy="401231"/>
          </a:xfrm>
          <a:prstGeom prst="rect">
            <a:avLst/>
          </a:prstGeom>
          <a:solidFill>
            <a:srgbClr val="1E1E24"/>
          </a:solidFill>
          <a:ln/>
        </p:spPr>
      </p:sp>
      <p:sp>
        <p:nvSpPr>
          <p:cNvPr id="23" name="Text 21"/>
          <p:cNvSpPr txBox="1"/>
          <p:nvPr/>
        </p:nvSpPr>
        <p:spPr>
          <a:xfrm>
            <a:off x="7668326" y="3319380"/>
            <a:ext cx="3792974" cy="198036"/>
          </a:xfrm>
          <a:prstGeom prst="rect">
            <a:avLst/>
          </a:prstGeom>
          <a:noFill/>
          <a:ln/>
        </p:spPr>
        <p:txBody>
          <a:bodyPr wrap="square" lIns="0" tIns="0" rIns="0" bIns="0" rtlCol="0" anchor="t"/>
          <a:lstStyle/>
          <a:p>
            <a:pPr algn="l" indent="0" marL="0">
              <a:lnSpc>
                <a:spcPct val="111111"/>
              </a:lnSpc>
              <a:buNone/>
            </a:pPr>
            <a:r>
              <a:rPr lang="en-US" sz="1200" dirty="0">
                <a:solidFill>
                  <a:srgbClr val="F5F6FC"/>
                </a:solidFill>
                <a:latin typeface="Poppins" pitchFamily="34" charset="0"/>
                <a:ea typeface="Poppins" pitchFamily="34" charset="-122"/>
                <a:cs typeface="Poppins" pitchFamily="34" charset="-120"/>
              </a:rPr>
              <a:t>causa como coluna (IA)</a:t>
            </a:r>
            <a:endParaRPr lang="en-US" sz="1200" dirty="0"/>
          </a:p>
        </p:txBody>
      </p:sp>
      <p:sp>
        <p:nvSpPr>
          <p:cNvPr id="24" name="Shape 22"/>
          <p:cNvSpPr/>
          <p:nvPr/>
        </p:nvSpPr>
        <p:spPr>
          <a:xfrm>
            <a:off x="761981" y="3669811"/>
            <a:ext cx="1804347" cy="401231"/>
          </a:xfrm>
          <a:prstGeom prst="rect">
            <a:avLst/>
          </a:prstGeom>
          <a:solidFill>
            <a:srgbClr val="1E1E24"/>
          </a:solidFill>
          <a:ln/>
        </p:spPr>
      </p:sp>
      <p:sp>
        <p:nvSpPr>
          <p:cNvPr id="25" name="Text 23"/>
          <p:cNvSpPr txBox="1"/>
          <p:nvPr/>
        </p:nvSpPr>
        <p:spPr>
          <a:xfrm>
            <a:off x="876278" y="3771409"/>
            <a:ext cx="1638783" cy="198036"/>
          </a:xfrm>
          <a:prstGeom prst="rect">
            <a:avLst/>
          </a:prstGeom>
          <a:noFill/>
          <a:ln/>
        </p:spPr>
        <p:txBody>
          <a:bodyPr wrap="square" lIns="0" tIns="0" rIns="0" bIns="0" rtlCol="0" anchor="t"/>
          <a:lstStyle/>
          <a:p>
            <a:pPr algn="l" indent="0" marL="0">
              <a:lnSpc>
                <a:spcPct val="111111"/>
              </a:lnSpc>
              <a:buNone/>
            </a:pPr>
            <a:r>
              <a:rPr lang="en-US" sz="1200" b="1" dirty="0">
                <a:solidFill>
                  <a:srgbClr val="F5F6FC"/>
                </a:solidFill>
                <a:latin typeface="Poppins" pitchFamily="34" charset="0"/>
                <a:ea typeface="Poppins" pitchFamily="34" charset="-122"/>
                <a:cs typeface="Poppins" pitchFamily="34" charset="-120"/>
              </a:rPr>
              <a:t>Genie</a:t>
            </a:r>
            <a:endParaRPr lang="en-US" sz="1200" dirty="0"/>
          </a:p>
        </p:txBody>
      </p:sp>
      <p:sp>
        <p:nvSpPr>
          <p:cNvPr id="26" name="Shape 24"/>
          <p:cNvSpPr/>
          <p:nvPr/>
        </p:nvSpPr>
        <p:spPr>
          <a:xfrm>
            <a:off x="2566328" y="3669811"/>
            <a:ext cx="4987701" cy="401231"/>
          </a:xfrm>
          <a:prstGeom prst="rect">
            <a:avLst/>
          </a:prstGeom>
          <a:solidFill>
            <a:srgbClr val="1E1E24"/>
          </a:solidFill>
          <a:ln/>
        </p:spPr>
      </p:sp>
      <p:sp>
        <p:nvSpPr>
          <p:cNvPr id="27" name="Text 25"/>
          <p:cNvSpPr txBox="1"/>
          <p:nvPr/>
        </p:nvSpPr>
        <p:spPr>
          <a:xfrm>
            <a:off x="2680625" y="3771409"/>
            <a:ext cx="4949471" cy="198036"/>
          </a:xfrm>
          <a:prstGeom prst="rect">
            <a:avLst/>
          </a:prstGeom>
          <a:noFill/>
          <a:ln/>
        </p:spPr>
        <p:txBody>
          <a:bodyPr wrap="square" lIns="0" tIns="0" rIns="0" bIns="0" rtlCol="0" anchor="t"/>
          <a:lstStyle/>
          <a:p>
            <a:pPr algn="l" indent="0" marL="0">
              <a:lnSpc>
                <a:spcPct val="111111"/>
              </a:lnSpc>
              <a:buNone/>
            </a:pPr>
            <a:r>
              <a:rPr lang="en-US" sz="1200" dirty="0">
                <a:solidFill>
                  <a:srgbClr val="F5F6FC"/>
                </a:solidFill>
                <a:latin typeface="Poppins" pitchFamily="34" charset="0"/>
                <a:ea typeface="Poppins" pitchFamily="34" charset="-122"/>
                <a:cs typeface="Poppins" pitchFamily="34" charset="-120"/>
              </a:rPr>
              <a:t>erra as 4 perguntas</a:t>
            </a:r>
            <a:endParaRPr lang="en-US" sz="1200" dirty="0"/>
          </a:p>
        </p:txBody>
      </p:sp>
      <p:sp>
        <p:nvSpPr>
          <p:cNvPr id="28" name="Shape 26"/>
          <p:cNvSpPr/>
          <p:nvPr/>
        </p:nvSpPr>
        <p:spPr>
          <a:xfrm>
            <a:off x="7554029" y="3669811"/>
            <a:ext cx="3875685" cy="401231"/>
          </a:xfrm>
          <a:prstGeom prst="rect">
            <a:avLst/>
          </a:prstGeom>
          <a:solidFill>
            <a:srgbClr val="1E1E24"/>
          </a:solidFill>
          <a:ln/>
        </p:spPr>
      </p:sp>
      <p:sp>
        <p:nvSpPr>
          <p:cNvPr id="29" name="Text 27"/>
          <p:cNvSpPr txBox="1"/>
          <p:nvPr/>
        </p:nvSpPr>
        <p:spPr>
          <a:xfrm>
            <a:off x="7668326" y="3771409"/>
            <a:ext cx="3792974" cy="198036"/>
          </a:xfrm>
          <a:prstGeom prst="rect">
            <a:avLst/>
          </a:prstGeom>
          <a:noFill/>
          <a:ln/>
        </p:spPr>
        <p:txBody>
          <a:bodyPr wrap="square" lIns="0" tIns="0" rIns="0" bIns="0" rtlCol="0" anchor="t"/>
          <a:lstStyle/>
          <a:p>
            <a:pPr algn="l" indent="0" marL="0">
              <a:lnSpc>
                <a:spcPct val="111111"/>
              </a:lnSpc>
              <a:buNone/>
            </a:pPr>
            <a:r>
              <a:rPr lang="en-US" sz="1200" dirty="0">
                <a:solidFill>
                  <a:srgbClr val="F5F6FC"/>
                </a:solidFill>
                <a:latin typeface="Poppins" pitchFamily="34" charset="0"/>
                <a:ea typeface="Poppins" pitchFamily="34" charset="-122"/>
                <a:cs typeface="Poppins" pitchFamily="34" charset="-120"/>
              </a:rPr>
              <a:t>acerta, com instrução e exemplo</a:t>
            </a:r>
            <a:endParaRPr lang="en-US" sz="1200" dirty="0"/>
          </a:p>
        </p:txBody>
      </p:sp>
      <p:sp>
        <p:nvSpPr>
          <p:cNvPr id="30" name="Shape 28"/>
          <p:cNvSpPr/>
          <p:nvPr/>
        </p:nvSpPr>
        <p:spPr>
          <a:xfrm>
            <a:off x="761981" y="4121841"/>
            <a:ext cx="1804347" cy="401231"/>
          </a:xfrm>
          <a:prstGeom prst="rect">
            <a:avLst/>
          </a:prstGeom>
          <a:solidFill>
            <a:srgbClr val="1E1E24"/>
          </a:solidFill>
          <a:ln/>
        </p:spPr>
      </p:sp>
      <p:sp>
        <p:nvSpPr>
          <p:cNvPr id="31" name="Text 29"/>
          <p:cNvSpPr txBox="1"/>
          <p:nvPr/>
        </p:nvSpPr>
        <p:spPr>
          <a:xfrm>
            <a:off x="876278" y="4223438"/>
            <a:ext cx="1638783" cy="198036"/>
          </a:xfrm>
          <a:prstGeom prst="rect">
            <a:avLst/>
          </a:prstGeom>
          <a:noFill/>
          <a:ln/>
        </p:spPr>
        <p:txBody>
          <a:bodyPr wrap="square" lIns="0" tIns="0" rIns="0" bIns="0" rtlCol="0" anchor="t"/>
          <a:lstStyle/>
          <a:p>
            <a:pPr algn="l" indent="0" marL="0">
              <a:lnSpc>
                <a:spcPct val="111111"/>
              </a:lnSpc>
              <a:buNone/>
            </a:pPr>
            <a:r>
              <a:rPr lang="en-US" sz="1200" b="1" dirty="0">
                <a:solidFill>
                  <a:srgbClr val="F5F6FC"/>
                </a:solidFill>
                <a:latin typeface="Poppins" pitchFamily="34" charset="0"/>
                <a:ea typeface="Poppins" pitchFamily="34" charset="-122"/>
                <a:cs typeface="Poppins" pitchFamily="34" charset="-120"/>
              </a:rPr>
              <a:t>Atualizar</a:t>
            </a:r>
            <a:endParaRPr lang="en-US" sz="1200" dirty="0"/>
          </a:p>
        </p:txBody>
      </p:sp>
      <p:sp>
        <p:nvSpPr>
          <p:cNvPr id="32" name="Shape 30"/>
          <p:cNvSpPr/>
          <p:nvPr/>
        </p:nvSpPr>
        <p:spPr>
          <a:xfrm>
            <a:off x="2566328" y="4121841"/>
            <a:ext cx="4987701" cy="401231"/>
          </a:xfrm>
          <a:prstGeom prst="rect">
            <a:avLst/>
          </a:prstGeom>
          <a:solidFill>
            <a:srgbClr val="1E1E24"/>
          </a:solidFill>
          <a:ln/>
        </p:spPr>
      </p:sp>
      <p:sp>
        <p:nvSpPr>
          <p:cNvPr id="33" name="Text 31"/>
          <p:cNvSpPr txBox="1"/>
          <p:nvPr/>
        </p:nvSpPr>
        <p:spPr>
          <a:xfrm>
            <a:off x="2680625" y="4223438"/>
            <a:ext cx="4949471" cy="198036"/>
          </a:xfrm>
          <a:prstGeom prst="rect">
            <a:avLst/>
          </a:prstGeom>
          <a:noFill/>
          <a:ln/>
        </p:spPr>
        <p:txBody>
          <a:bodyPr wrap="square" lIns="0" tIns="0" rIns="0" bIns="0" rtlCol="0" anchor="t"/>
          <a:lstStyle/>
          <a:p>
            <a:pPr algn="l" indent="0" marL="0">
              <a:lnSpc>
                <a:spcPct val="111111"/>
              </a:lnSpc>
              <a:buNone/>
            </a:pPr>
            <a:r>
              <a:rPr lang="en-US" sz="1200" dirty="0">
                <a:solidFill>
                  <a:srgbClr val="F5F6FC"/>
                </a:solidFill>
                <a:latin typeface="Poppins" pitchFamily="34" charset="0"/>
                <a:ea typeface="Poppins" pitchFamily="34" charset="-122"/>
                <a:cs typeface="Poppins" pitchFamily="34" charset="-120"/>
              </a:rPr>
              <a:t>rodar tudo de novo</a:t>
            </a:r>
            <a:endParaRPr lang="en-US" sz="1200" dirty="0"/>
          </a:p>
        </p:txBody>
      </p:sp>
      <p:sp>
        <p:nvSpPr>
          <p:cNvPr id="34" name="Shape 32"/>
          <p:cNvSpPr/>
          <p:nvPr/>
        </p:nvSpPr>
        <p:spPr>
          <a:xfrm>
            <a:off x="7554029" y="4121841"/>
            <a:ext cx="3875685" cy="401231"/>
          </a:xfrm>
          <a:prstGeom prst="rect">
            <a:avLst/>
          </a:prstGeom>
          <a:solidFill>
            <a:srgbClr val="1E1E24"/>
          </a:solidFill>
          <a:ln/>
        </p:spPr>
      </p:sp>
      <p:sp>
        <p:nvSpPr>
          <p:cNvPr id="35" name="Text 33"/>
          <p:cNvSpPr txBox="1"/>
          <p:nvPr/>
        </p:nvSpPr>
        <p:spPr>
          <a:xfrm>
            <a:off x="7668326" y="4223438"/>
            <a:ext cx="3792974" cy="198036"/>
          </a:xfrm>
          <a:prstGeom prst="rect">
            <a:avLst/>
          </a:prstGeom>
          <a:noFill/>
          <a:ln/>
        </p:spPr>
        <p:txBody>
          <a:bodyPr wrap="square" lIns="0" tIns="0" rIns="0" bIns="0" rtlCol="0" anchor="t"/>
          <a:lstStyle/>
          <a:p>
            <a:pPr algn="l" indent="0" marL="0">
              <a:lnSpc>
                <a:spcPct val="111111"/>
              </a:lnSpc>
              <a:buNone/>
            </a:pPr>
            <a:r>
              <a:rPr lang="en-US" sz="1200" dirty="0">
                <a:solidFill>
                  <a:srgbClr val="F5F6FC"/>
                </a:solidFill>
                <a:latin typeface="Poppins" pitchFamily="34" charset="0"/>
                <a:ea typeface="Poppins" pitchFamily="34" charset="-122"/>
                <a:cs typeface="Poppins" pitchFamily="34" charset="-120"/>
              </a:rPr>
              <a:t>job toda segunda às 6h</a:t>
            </a:r>
            <a:endParaRPr lang="en-US" sz="1200" dirty="0"/>
          </a:p>
        </p:txBody>
      </p:sp>
      <p:pic>
        <p:nvPicPr>
          <p:cNvPr id="36"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37" name="Text 34"/>
          <p:cNvSpPr txBox="1"/>
          <p:nvPr/>
        </p:nvSpPr>
        <p:spPr>
          <a:xfrm>
            <a:off x="10895633" y="6387940"/>
            <a:ext cx="555444"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106 / 133</a:t>
            </a:r>
            <a:endParaRPr lang="en-US" sz="10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2007244"/>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3 · QUARTA, 21/10 · CIENTISTA DE DADOS</a:t>
            </a:r>
            <a:endParaRPr lang="en-US" sz="1200" dirty="0"/>
          </a:p>
        </p:txBody>
      </p:sp>
      <p:sp>
        <p:nvSpPr>
          <p:cNvPr id="3" name="Text 1"/>
          <p:cNvSpPr txBox="1"/>
          <p:nvPr/>
        </p:nvSpPr>
        <p:spPr>
          <a:xfrm>
            <a:off x="761981" y="2331086"/>
            <a:ext cx="11094443" cy="1554322"/>
          </a:xfrm>
          <a:prstGeom prst="rect">
            <a:avLst/>
          </a:prstGeom>
          <a:noFill/>
          <a:ln/>
        </p:spPr>
        <p:txBody>
          <a:bodyPr wrap="square" lIns="0" tIns="0" rIns="0" bIns="0" rtlCol="0" anchor="t"/>
          <a:lstStyle/>
          <a:p>
            <a:pPr algn="l" indent="0" marL="0">
              <a:lnSpc>
                <a:spcPct val="87179"/>
              </a:lnSpc>
              <a:buNone/>
            </a:pPr>
            <a:r>
              <a:rPr lang="en-US" sz="6000" b="1" spc="-120" kern="0" dirty="0">
                <a:solidFill>
                  <a:srgbClr val="F5F6FC"/>
                </a:solidFill>
                <a:latin typeface="Poppins" pitchFamily="34" charset="0"/>
                <a:ea typeface="Poppins" pitchFamily="34" charset="-122"/>
                <a:cs typeface="Poppins" pitchFamily="34" charset="-120"/>
              </a:rPr>
              <a:t>Ver o atraso</a:t>
            </a:r>
            <a:endParaRPr lang="en-US" sz="6000" dirty="0"/>
          </a:p>
          <a:p>
            <a:pPr algn="l" indent="0" marL="0">
              <a:lnSpc>
                <a:spcPct val="87179"/>
              </a:lnSpc>
              <a:buNone/>
            </a:pPr>
            <a:r>
              <a:rPr lang="en-US" sz="6000" b="1" spc="-120" kern="0" dirty="0">
                <a:solidFill>
                  <a:srgbClr val="22C2F4"/>
                </a:solidFill>
                <a:latin typeface="Poppins" pitchFamily="34" charset="0"/>
                <a:ea typeface="Poppins" pitchFamily="34" charset="-122"/>
                <a:cs typeface="Poppins" pitchFamily="34" charset="-120"/>
              </a:rPr>
              <a:t>antes de ele acontecer</a:t>
            </a:r>
            <a:endParaRPr lang="en-US" sz="6000" dirty="0"/>
          </a:p>
        </p:txBody>
      </p:sp>
      <p:sp>
        <p:nvSpPr>
          <p:cNvPr id="4" name="Text 2"/>
          <p:cNvSpPr txBox="1"/>
          <p:nvPr/>
        </p:nvSpPr>
        <p:spPr>
          <a:xfrm>
            <a:off x="761981" y="4075904"/>
            <a:ext cx="11094443" cy="647684"/>
          </a:xfrm>
          <a:prstGeom prst="rect">
            <a:avLst/>
          </a:prstGeom>
          <a:noFill/>
          <a:ln/>
        </p:spPr>
        <p:txBody>
          <a:bodyPr wrap="square" lIns="0" tIns="0" rIns="0" bIns="0" rtlCol="0" anchor="t"/>
          <a:lstStyle/>
          <a:p>
            <a:pPr algn="l" indent="0" marL="0">
              <a:lnSpc>
                <a:spcPct val="106838"/>
              </a:lnSpc>
              <a:buNone/>
            </a:pPr>
            <a:r>
              <a:rPr lang="en-US" sz="1700" dirty="0">
                <a:solidFill>
                  <a:srgbClr val="A3A6B4"/>
                </a:solidFill>
                <a:latin typeface="Poppins" pitchFamily="34" charset="0"/>
                <a:ea typeface="Poppins" pitchFamily="34" charset="-122"/>
                <a:cs typeface="Poppins" pitchFamily="34" charset="-120"/>
              </a:rPr>
              <a:t>Pergunta 4: o que vai dar errado no próximo mês? Um modelo, treinado com o passado de cada projeto, que avisa 40 dias antes.</a:t>
            </a:r>
            <a:endParaRPr lang="en-US" sz="1700" dirty="0"/>
          </a:p>
        </p:txBody>
      </p:sp>
      <p:pic>
        <p:nvPicPr>
          <p:cNvPr id="5" name="Image 0" descr="preencoded.png">    </p:cNvPr>
          <p:cNvPicPr>
            <a:picLocks noChangeAspect="1"/>
          </p:cNvPicPr>
          <p:nvPr/>
        </p:nvPicPr>
        <p:blipFill>
          <a:blip r:embed="rId2"/>
          <a:stretch>
            <a:fillRect/>
          </a:stretch>
        </p:blipFill>
        <p:spPr>
          <a:xfrm>
            <a:off x="761981" y="6299043"/>
            <a:ext cx="3021135" cy="279393"/>
          </a:xfrm>
          <a:prstGeom prst="rect">
            <a:avLst/>
          </a:prstGeom>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3 · COMO RODAR</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Três prompts,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três tarefas a mais no mesmo job</a:t>
            </a:r>
            <a:endParaRPr lang="en-US" sz="3100" dirty="0"/>
          </a:p>
        </p:txBody>
      </p:sp>
      <p:sp>
        <p:nvSpPr>
          <p:cNvPr id="4" name="Shape 2"/>
          <p:cNvSpPr/>
          <p:nvPr/>
        </p:nvSpPr>
        <p:spPr>
          <a:xfrm>
            <a:off x="761981" y="1582301"/>
            <a:ext cx="3282372" cy="1397858"/>
          </a:xfrm>
          <a:prstGeom prst="roundRect">
            <a:avLst>
              <a:gd name="adj" fmla="val 10902"/>
            </a:avLst>
          </a:prstGeom>
          <a:solidFill>
            <a:srgbClr val="0059DB"/>
          </a:solidFill>
          <a:ln/>
        </p:spPr>
      </p:sp>
      <p:sp>
        <p:nvSpPr>
          <p:cNvPr id="5" name="Shape 3"/>
          <p:cNvSpPr/>
          <p:nvPr/>
        </p:nvSpPr>
        <p:spPr>
          <a:xfrm>
            <a:off x="984225" y="1779146"/>
            <a:ext cx="1248240" cy="247644"/>
          </a:xfrm>
          <a:prstGeom prst="roundRect">
            <a:avLst>
              <a:gd name="adj" fmla="val 50000"/>
            </a:avLst>
          </a:prstGeom>
          <a:solidFill>
            <a:srgbClr val="FFFFFF">
              <a:alpha val="16000"/>
            </a:srgbClr>
          </a:solidFill>
          <a:ln/>
        </p:spPr>
      </p:sp>
      <p:sp>
        <p:nvSpPr>
          <p:cNvPr id="6" name="Text 4"/>
          <p:cNvSpPr txBox="1"/>
          <p:nvPr/>
        </p:nvSpPr>
        <p:spPr>
          <a:xfrm>
            <a:off x="1073123" y="1817245"/>
            <a:ext cx="1113262"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Prompt 1 · features</a:t>
            </a:r>
            <a:endParaRPr lang="en-US" sz="900" dirty="0"/>
          </a:p>
        </p:txBody>
      </p:sp>
      <p:sp>
        <p:nvSpPr>
          <p:cNvPr id="7" name="Text 5"/>
          <p:cNvSpPr txBox="1"/>
          <p:nvPr/>
        </p:nvSpPr>
        <p:spPr>
          <a:xfrm>
            <a:off x="984225" y="2191886"/>
            <a:ext cx="2951398" cy="591428"/>
          </a:xfrm>
          <a:prstGeom prst="rect">
            <a:avLst/>
          </a:prstGeom>
          <a:noFill/>
          <a:ln/>
        </p:spPr>
        <p:txBody>
          <a:bodyPr wrap="square" lIns="0" tIns="0" rIns="0" bIns="0" rtlCol="0" anchor="t"/>
          <a:lstStyle/>
          <a:p>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ml.features_projeto_semana: uma linha por projeto e semana, só olhando para trás</a:t>
            </a:r>
            <a:endParaRPr lang="en-US" sz="1150" dirty="0"/>
          </a:p>
        </p:txBody>
      </p:sp>
      <p:sp>
        <p:nvSpPr>
          <p:cNvPr id="8" name="Text 6"/>
          <p:cNvSpPr txBox="1"/>
          <p:nvPr/>
        </p:nvSpPr>
        <p:spPr>
          <a:xfrm>
            <a:off x="4133251" y="2090685"/>
            <a:ext cx="241762" cy="380990"/>
          </a:xfrm>
          <a:prstGeom prst="rect">
            <a:avLst/>
          </a:prstGeom>
          <a:noFill/>
          <a:ln/>
        </p:spPr>
        <p:txBody>
          <a:bodyPr wrap="square" lIns="0" tIns="0" rIns="0" bIns="0" rtlCol="0" anchor="t"/>
          <a:lstStyle/>
          <a:p>
            <a:pPr algn="l" indent="0" marL="0">
              <a:lnSpc>
                <a:spcPct val="106838"/>
              </a:lnSpc>
              <a:buNone/>
            </a:pPr>
            <a:r>
              <a:rPr lang="en-US" sz="2000" dirty="0">
                <a:solidFill>
                  <a:srgbClr val="22C2F4"/>
                </a:solidFill>
                <a:latin typeface="Poppins" pitchFamily="34" charset="0"/>
                <a:ea typeface="Poppins" pitchFamily="34" charset="-122"/>
                <a:cs typeface="Poppins" pitchFamily="34" charset="-120"/>
              </a:rPr>
              <a:t>→</a:t>
            </a:r>
            <a:endParaRPr lang="en-US" sz="2000" dirty="0"/>
          </a:p>
        </p:txBody>
      </p:sp>
      <p:sp>
        <p:nvSpPr>
          <p:cNvPr id="9" name="Shape 7"/>
          <p:cNvSpPr/>
          <p:nvPr/>
        </p:nvSpPr>
        <p:spPr>
          <a:xfrm>
            <a:off x="4454612" y="1582301"/>
            <a:ext cx="3282471" cy="1397858"/>
          </a:xfrm>
          <a:prstGeom prst="roundRect">
            <a:avLst>
              <a:gd name="adj" fmla="val 10902"/>
            </a:avLst>
          </a:prstGeom>
          <a:solidFill>
            <a:srgbClr val="0059DB"/>
          </a:solidFill>
          <a:ln/>
        </p:spPr>
      </p:sp>
      <p:sp>
        <p:nvSpPr>
          <p:cNvPr id="10" name="Shape 8"/>
          <p:cNvSpPr/>
          <p:nvPr/>
        </p:nvSpPr>
        <p:spPr>
          <a:xfrm>
            <a:off x="4676857" y="1779146"/>
            <a:ext cx="1231572" cy="247644"/>
          </a:xfrm>
          <a:prstGeom prst="roundRect">
            <a:avLst>
              <a:gd name="adj" fmla="val 50000"/>
            </a:avLst>
          </a:prstGeom>
          <a:solidFill>
            <a:srgbClr val="FFFFFF">
              <a:alpha val="16000"/>
            </a:srgbClr>
          </a:solidFill>
          <a:ln/>
        </p:spPr>
      </p:sp>
      <p:sp>
        <p:nvSpPr>
          <p:cNvPr id="11" name="Text 9"/>
          <p:cNvSpPr txBox="1"/>
          <p:nvPr/>
        </p:nvSpPr>
        <p:spPr>
          <a:xfrm>
            <a:off x="4765754" y="1817245"/>
            <a:ext cx="1095927"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Prompt 2 · modelo</a:t>
            </a:r>
            <a:endParaRPr lang="en-US" sz="900" dirty="0"/>
          </a:p>
        </p:txBody>
      </p:sp>
      <p:sp>
        <p:nvSpPr>
          <p:cNvPr id="12" name="Text 10"/>
          <p:cNvSpPr txBox="1"/>
          <p:nvPr/>
        </p:nvSpPr>
        <p:spPr>
          <a:xfrm>
            <a:off x="4676857" y="2191886"/>
            <a:ext cx="2951501" cy="591428"/>
          </a:xfrm>
          <a:prstGeom prst="rect">
            <a:avLst/>
          </a:prstGeom>
          <a:noFill/>
          <a:ln/>
        </p:spPr>
        <p:txBody>
          <a:bodyPr wrap="square" lIns="0" tIns="0" rIns="0" bIns="0" rtlCol="0" anchor="t"/>
          <a:lstStyle/>
          <a:p>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treino, comparação com as regras de hoje, MLflow e registro no Unity Catalog (@prod)</a:t>
            </a:r>
            <a:endParaRPr lang="en-US" sz="1150" dirty="0"/>
          </a:p>
        </p:txBody>
      </p:sp>
      <p:sp>
        <p:nvSpPr>
          <p:cNvPr id="13" name="Text 11"/>
          <p:cNvSpPr txBox="1"/>
          <p:nvPr/>
        </p:nvSpPr>
        <p:spPr>
          <a:xfrm>
            <a:off x="7825981" y="2090685"/>
            <a:ext cx="241762" cy="380990"/>
          </a:xfrm>
          <a:prstGeom prst="rect">
            <a:avLst/>
          </a:prstGeom>
          <a:noFill/>
          <a:ln/>
        </p:spPr>
        <p:txBody>
          <a:bodyPr wrap="square" lIns="0" tIns="0" rIns="0" bIns="0" rtlCol="0" anchor="t"/>
          <a:lstStyle/>
          <a:p>
            <a:pPr algn="l" indent="0" marL="0">
              <a:lnSpc>
                <a:spcPct val="106838"/>
              </a:lnSpc>
              <a:buNone/>
            </a:pPr>
            <a:r>
              <a:rPr lang="en-US" sz="2000" dirty="0">
                <a:solidFill>
                  <a:srgbClr val="22C2F4"/>
                </a:solidFill>
                <a:latin typeface="Poppins" pitchFamily="34" charset="0"/>
                <a:ea typeface="Poppins" pitchFamily="34" charset="-122"/>
                <a:cs typeface="Poppins" pitchFamily="34" charset="-120"/>
              </a:rPr>
              <a:t>→</a:t>
            </a:r>
            <a:endParaRPr lang="en-US" sz="2000" dirty="0"/>
          </a:p>
        </p:txBody>
      </p:sp>
      <p:sp>
        <p:nvSpPr>
          <p:cNvPr id="14" name="Shape 12"/>
          <p:cNvSpPr/>
          <p:nvPr/>
        </p:nvSpPr>
        <p:spPr>
          <a:xfrm>
            <a:off x="8147342" y="1582301"/>
            <a:ext cx="3282372" cy="1397858"/>
          </a:xfrm>
          <a:prstGeom prst="roundRect">
            <a:avLst>
              <a:gd name="adj" fmla="val 10902"/>
            </a:avLst>
          </a:prstGeom>
          <a:solidFill>
            <a:srgbClr val="0059DB"/>
          </a:solidFill>
          <a:ln/>
        </p:spPr>
      </p:sp>
      <p:sp>
        <p:nvSpPr>
          <p:cNvPr id="15" name="Shape 13"/>
          <p:cNvSpPr/>
          <p:nvPr/>
        </p:nvSpPr>
        <p:spPr>
          <a:xfrm>
            <a:off x="8369587" y="1779146"/>
            <a:ext cx="1109734" cy="247644"/>
          </a:xfrm>
          <a:prstGeom prst="roundRect">
            <a:avLst>
              <a:gd name="adj" fmla="val 50000"/>
            </a:avLst>
          </a:prstGeom>
          <a:solidFill>
            <a:srgbClr val="FFFFFF">
              <a:alpha val="16000"/>
            </a:srgbClr>
          </a:solidFill>
          <a:ln/>
        </p:spPr>
      </p:sp>
      <p:sp>
        <p:nvSpPr>
          <p:cNvPr id="16" name="Text 14"/>
          <p:cNvSpPr txBox="1"/>
          <p:nvPr/>
        </p:nvSpPr>
        <p:spPr>
          <a:xfrm>
            <a:off x="8458485" y="1817245"/>
            <a:ext cx="969216"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Prompt 3 · score</a:t>
            </a:r>
            <a:endParaRPr lang="en-US" sz="900" dirty="0"/>
          </a:p>
        </p:txBody>
      </p:sp>
      <p:sp>
        <p:nvSpPr>
          <p:cNvPr id="17" name="Text 15"/>
          <p:cNvSpPr txBox="1"/>
          <p:nvPr/>
        </p:nvSpPr>
        <p:spPr>
          <a:xfrm>
            <a:off x="8369587" y="2191886"/>
            <a:ext cx="2951398" cy="591428"/>
          </a:xfrm>
          <a:prstGeom prst="rect">
            <a:avLst/>
          </a:prstGeom>
          <a:noFill/>
          <a:ln/>
        </p:spPr>
        <p:txBody>
          <a:bodyPr wrap="square" lIns="0" tIns="0" rIns="0" bIns="0" rtlCol="0" anchor="t"/>
          <a:lstStyle/>
          <a:p>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gold.score_estouro_30d: probabilidade, ranking, faixa e motivos em português</a:t>
            </a:r>
            <a:endParaRPr lang="en-US" sz="1150" dirty="0"/>
          </a:p>
        </p:txBody>
      </p:sp>
      <p:sp>
        <p:nvSpPr>
          <p:cNvPr id="18" name="Shape 16"/>
          <p:cNvSpPr/>
          <p:nvPr/>
        </p:nvSpPr>
        <p:spPr>
          <a:xfrm>
            <a:off x="761981" y="3170654"/>
            <a:ext cx="5238619" cy="1734400"/>
          </a:xfrm>
          <a:prstGeom prst="roundRect">
            <a:avLst>
              <a:gd name="adj" fmla="val 8787"/>
            </a:avLst>
          </a:prstGeom>
          <a:solidFill>
            <a:srgbClr val="1E1E24"/>
          </a:solidFill>
          <a:ln w="6350">
            <a:solidFill>
              <a:srgbClr val="2F2F39"/>
            </a:solidFill>
            <a:prstDash val="solid"/>
          </a:ln>
        </p:spPr>
      </p:sp>
      <p:sp>
        <p:nvSpPr>
          <p:cNvPr id="19" name="Shape 17"/>
          <p:cNvSpPr/>
          <p:nvPr/>
        </p:nvSpPr>
        <p:spPr>
          <a:xfrm>
            <a:off x="984225" y="3367499"/>
            <a:ext cx="1656713" cy="247644"/>
          </a:xfrm>
          <a:prstGeom prst="roundRect">
            <a:avLst>
              <a:gd name="adj" fmla="val 50000"/>
            </a:avLst>
          </a:prstGeom>
          <a:solidFill>
            <a:srgbClr val="22C2F4">
              <a:alpha val="14000"/>
            </a:srgbClr>
          </a:solidFill>
          <a:ln/>
        </p:spPr>
      </p:sp>
      <p:sp>
        <p:nvSpPr>
          <p:cNvPr id="20" name="Text 18"/>
          <p:cNvSpPr txBox="1"/>
          <p:nvPr/>
        </p:nvSpPr>
        <p:spPr>
          <a:xfrm>
            <a:off x="1073123" y="3405598"/>
            <a:ext cx="1538074"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O laboratório: schema ml</a:t>
            </a:r>
            <a:endParaRPr lang="en-US" sz="900" dirty="0"/>
          </a:p>
        </p:txBody>
      </p:sp>
      <p:sp>
        <p:nvSpPr>
          <p:cNvPr id="21" name="Text 19"/>
          <p:cNvSpPr txBox="1"/>
          <p:nvPr/>
        </p:nvSpPr>
        <p:spPr>
          <a:xfrm>
            <a:off x="984225" y="3780239"/>
            <a:ext cx="4985895" cy="394285"/>
          </a:xfrm>
          <a:prstGeom prst="rect">
            <a:avLst/>
          </a:prstGeom>
          <a:noFill/>
          <a:ln/>
        </p:spPr>
        <p:txBody>
          <a:bodyPr wrap="square" lIns="0" tIns="0" rIns="0" bIns="0" rtlCol="0" anchor="t"/>
          <a:lstStyle/>
          <a:p>
            <a:pPr algn="l" indent="0" marL="0">
              <a:lnSpc>
                <a:spcPct val="115385"/>
              </a:lnSpc>
              <a:buNone/>
            </a:pPr>
            <a:r>
              <a:rPr lang="en-US" sz="1150" dirty="0">
                <a:solidFill>
                  <a:srgbClr val="A3A6B4"/>
                </a:solidFill>
                <a:latin typeface="Poppins" pitchFamily="34" charset="0"/>
                <a:ea typeface="Poppins" pitchFamily="34" charset="-122"/>
                <a:cs typeface="Poppins" pitchFamily="34" charset="-120"/>
              </a:rPr>
              <a:t>features, métricas e o modelo moram fora da gold. Na gold fica só a resposta: o score.</a:t>
            </a:r>
            <a:endParaRPr lang="en-US" sz="1150" dirty="0"/>
          </a:p>
        </p:txBody>
      </p:sp>
      <p:sp>
        <p:nvSpPr>
          <p:cNvPr id="22" name="Shape 20"/>
          <p:cNvSpPr/>
          <p:nvPr/>
        </p:nvSpPr>
        <p:spPr>
          <a:xfrm>
            <a:off x="6191095" y="3170654"/>
            <a:ext cx="5238619" cy="1734400"/>
          </a:xfrm>
          <a:prstGeom prst="roundRect">
            <a:avLst>
              <a:gd name="adj" fmla="val 8787"/>
            </a:avLst>
          </a:prstGeom>
          <a:solidFill>
            <a:srgbClr val="1E1E24"/>
          </a:solidFill>
          <a:ln w="6350">
            <a:solidFill>
              <a:srgbClr val="2F2F39"/>
            </a:solidFill>
            <a:prstDash val="solid"/>
          </a:ln>
        </p:spPr>
      </p:sp>
      <p:sp>
        <p:nvSpPr>
          <p:cNvPr id="23" name="Shape 21"/>
          <p:cNvSpPr/>
          <p:nvPr/>
        </p:nvSpPr>
        <p:spPr>
          <a:xfrm>
            <a:off x="6413340" y="3367499"/>
            <a:ext cx="525152" cy="247644"/>
          </a:xfrm>
          <a:prstGeom prst="roundRect">
            <a:avLst>
              <a:gd name="adj" fmla="val 50000"/>
            </a:avLst>
          </a:prstGeom>
          <a:solidFill>
            <a:srgbClr val="22C2F4">
              <a:alpha val="14000"/>
            </a:srgbClr>
          </a:solidFill>
          <a:ln/>
        </p:spPr>
      </p:sp>
      <p:sp>
        <p:nvSpPr>
          <p:cNvPr id="24" name="Text 22"/>
          <p:cNvSpPr txBox="1"/>
          <p:nvPr/>
        </p:nvSpPr>
        <p:spPr>
          <a:xfrm>
            <a:off x="6502237" y="3405598"/>
            <a:ext cx="361250"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Rodar</a:t>
            </a:r>
            <a:endParaRPr lang="en-US" sz="900" dirty="0"/>
          </a:p>
        </p:txBody>
      </p:sp>
      <p:sp>
        <p:nvSpPr>
          <p:cNvPr id="25" name="Shape 23"/>
          <p:cNvSpPr/>
          <p:nvPr/>
        </p:nvSpPr>
        <p:spPr>
          <a:xfrm>
            <a:off x="6413340" y="3742140"/>
            <a:ext cx="4794130" cy="692728"/>
          </a:xfrm>
          <a:prstGeom prst="roundRect">
            <a:avLst>
              <a:gd name="adj" fmla="val 16500"/>
            </a:avLst>
          </a:prstGeom>
          <a:solidFill>
            <a:srgbClr val="0C0C10"/>
          </a:solidFill>
          <a:ln w="6350">
            <a:solidFill>
              <a:srgbClr val="2F2F39"/>
            </a:solidFill>
            <a:prstDash val="solid"/>
          </a:ln>
        </p:spPr>
      </p:sp>
      <p:sp>
        <p:nvSpPr>
          <p:cNvPr id="26" name="Text 24"/>
          <p:cNvSpPr txBox="1"/>
          <p:nvPr/>
        </p:nvSpPr>
        <p:spPr>
          <a:xfrm>
            <a:off x="6610185" y="3913586"/>
            <a:ext cx="4583061" cy="356186"/>
          </a:xfrm>
          <a:prstGeom prst="rect">
            <a:avLst/>
          </a:prstGeom>
          <a:noFill/>
          <a:ln/>
        </p:spPr>
        <p:txBody>
          <a:bodyPr wrap="square" lIns="0" tIns="0" rIns="0" bIns="0" rtlCol="0" anchor="t"/>
          <a:lstStyle/>
          <a:p>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databricks bundle deploy --profile SEU-PERFIL</a:t>
            </a:r>
            <a:endParaRPr lang="en-US" sz="950" dirty="0"/>
          </a:p>
          <a:p>
            <a:pPr algn="l" indent="0" marL="0">
              <a:lnSpc>
                <a:spcPct val="123932"/>
              </a:lnSpc>
              <a:buNone/>
            </a:pPr>
            <a:r>
              <a:rPr lang="en-US" sz="950" dirty="0">
                <a:solidFill>
                  <a:srgbClr val="E6E8F2"/>
                </a:solidFill>
                <a:latin typeface="Courier New" pitchFamily="34" charset="0"/>
                <a:ea typeface="Courier New" pitchFamily="34" charset="-122"/>
                <a:cs typeface="Courier New" pitchFamily="34" charset="-120"/>
              </a:rPr>
              <a:t>databricks bundle run vertice_farol --profile SEU-PERFIL</a:t>
            </a:r>
            <a:endParaRPr lang="en-US" sz="950" dirty="0"/>
          </a:p>
        </p:txBody>
      </p:sp>
      <p:sp>
        <p:nvSpPr>
          <p:cNvPr id="27" name="Text 25"/>
          <p:cNvSpPr txBox="1"/>
          <p:nvPr/>
        </p:nvSpPr>
        <p:spPr>
          <a:xfrm>
            <a:off x="6413340" y="4511066"/>
            <a:ext cx="4985895" cy="197143"/>
          </a:xfrm>
          <a:prstGeom prst="rect">
            <a:avLst/>
          </a:prstGeom>
          <a:noFill/>
          <a:ln/>
        </p:spPr>
        <p:txBody>
          <a:bodyPr wrap="square" lIns="0" tIns="0" rIns="0" bIns="0" rtlCol="0" anchor="t"/>
          <a:lstStyle/>
          <a:p>
            <a:pPr algn="l" indent="0" marL="0">
              <a:lnSpc>
                <a:spcPct val="115385"/>
              </a:lnSpc>
              <a:buNone/>
            </a:pPr>
            <a:r>
              <a:rPr lang="en-US" sz="1150" dirty="0">
                <a:solidFill>
                  <a:srgbClr val="A3A6B4"/>
                </a:solidFill>
                <a:latin typeface="Poppins" pitchFamily="34" charset="0"/>
                <a:ea typeface="Poppins" pitchFamily="34" charset="-122"/>
                <a:cs typeface="Poppins" pitchFamily="34" charset="-120"/>
              </a:rPr>
              <a:t>8 tarefas, 4 a 5 minutos.</a:t>
            </a:r>
            <a:endParaRPr lang="en-US" sz="1150" dirty="0"/>
          </a:p>
        </p:txBody>
      </p:sp>
      <p:pic>
        <p:nvPicPr>
          <p:cNvPr id="28"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29" name="Text 26"/>
          <p:cNvSpPr txBox="1"/>
          <p:nvPr/>
        </p:nvSpPr>
        <p:spPr>
          <a:xfrm>
            <a:off x="10896129" y="6387940"/>
            <a:ext cx="554929"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108 / 133</a:t>
            </a:r>
            <a:endParaRPr lang="en-US" sz="10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380990"/>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RECURSO DO DATABRICKS · NOTEBOOK</a:t>
            </a:r>
            <a:endParaRPr lang="en-US" sz="1200" dirty="0"/>
          </a:p>
        </p:txBody>
      </p:sp>
      <p:sp>
        <p:nvSpPr>
          <p:cNvPr id="3" name="Text 1"/>
          <p:cNvSpPr txBox="1"/>
          <p:nvPr/>
        </p:nvSpPr>
        <p:spPr>
          <a:xfrm>
            <a:off x="761981" y="704832"/>
            <a:ext cx="11094443" cy="363132"/>
          </a:xfrm>
          <a:prstGeom prst="rect">
            <a:avLst/>
          </a:prstGeom>
          <a:noFill/>
          <a:ln/>
        </p:spPr>
        <p:txBody>
          <a:bodyPr wrap="square" lIns="0" tIns="0" rIns="0" bIns="0" rtlCol="0" anchor="t"/>
          <a:lstStyle/>
          <a:p>
            <a:pPr algn="l" indent="0" marL="0">
              <a:lnSpc>
                <a:spcPct val="94017"/>
              </a:lnSpc>
              <a:buNone/>
            </a:pPr>
            <a:r>
              <a:rPr lang="en-US" sz="2600" b="1" spc="-26" kern="0" dirty="0">
                <a:solidFill>
                  <a:srgbClr val="F5F6FC"/>
                </a:solidFill>
                <a:latin typeface="Poppins" pitchFamily="34" charset="0"/>
                <a:ea typeface="Poppins" pitchFamily="34" charset="-122"/>
                <a:cs typeface="Poppins" pitchFamily="34" charset="-120"/>
              </a:rPr>
              <a:t>Notebook</a:t>
            </a:r>
            <a:endParaRPr lang="en-US" sz="2600" dirty="0"/>
          </a:p>
        </p:txBody>
      </p:sp>
      <p:pic>
        <p:nvPicPr>
          <p:cNvPr id="4" name="Image 0" descr="preencoded.png">    </p:cNvPr>
          <p:cNvPicPr>
            <a:picLocks noChangeAspect="1"/>
          </p:cNvPicPr>
          <p:nvPr/>
        </p:nvPicPr>
        <p:blipFill>
          <a:blip r:embed="rId2"/>
          <a:srcRect l="10085" r="10085" t="0" b="0"/>
          <a:stretch/>
        </p:blipFill>
        <p:spPr>
          <a:xfrm>
            <a:off x="761981" y="1182261"/>
            <a:ext cx="6455308" cy="4063898"/>
          </a:xfrm>
          <a:prstGeom prst="rect">
            <a:avLst/>
          </a:prstGeom>
        </p:spPr>
      </p:pic>
      <p:sp>
        <p:nvSpPr>
          <p:cNvPr id="5" name="Shape 2"/>
          <p:cNvSpPr/>
          <p:nvPr/>
        </p:nvSpPr>
        <p:spPr>
          <a:xfrm>
            <a:off x="7395085" y="1182261"/>
            <a:ext cx="4034630" cy="4063898"/>
          </a:xfrm>
          <a:prstGeom prst="roundRect">
            <a:avLst>
              <a:gd name="adj" fmla="val 3777"/>
            </a:avLst>
          </a:prstGeom>
          <a:solidFill>
            <a:srgbClr val="0059DB"/>
          </a:solidFill>
          <a:ln/>
        </p:spPr>
      </p:sp>
      <p:sp>
        <p:nvSpPr>
          <p:cNvPr id="6" name="Shape 3"/>
          <p:cNvSpPr/>
          <p:nvPr/>
        </p:nvSpPr>
        <p:spPr>
          <a:xfrm>
            <a:off x="7617329" y="1379106"/>
            <a:ext cx="616034" cy="247644"/>
          </a:xfrm>
          <a:prstGeom prst="roundRect">
            <a:avLst>
              <a:gd name="adj" fmla="val 50000"/>
            </a:avLst>
          </a:prstGeom>
          <a:solidFill>
            <a:srgbClr val="FFFFFF">
              <a:alpha val="16000"/>
            </a:srgbClr>
          </a:solidFill>
          <a:ln/>
        </p:spPr>
      </p:sp>
      <p:sp>
        <p:nvSpPr>
          <p:cNvPr id="7" name="Text 4"/>
          <p:cNvSpPr txBox="1"/>
          <p:nvPr/>
        </p:nvSpPr>
        <p:spPr>
          <a:xfrm>
            <a:off x="7706227" y="1417205"/>
            <a:ext cx="455768"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O que é</a:t>
            </a:r>
            <a:endParaRPr lang="en-US" sz="900" dirty="0"/>
          </a:p>
        </p:txBody>
      </p:sp>
      <p:sp>
        <p:nvSpPr>
          <p:cNvPr id="8" name="Shape 5"/>
          <p:cNvSpPr/>
          <p:nvPr/>
        </p:nvSpPr>
        <p:spPr>
          <a:xfrm>
            <a:off x="7617329" y="1798196"/>
            <a:ext cx="76198" cy="76198"/>
          </a:xfrm>
          <a:prstGeom prst="roundRect">
            <a:avLst>
              <a:gd name="adj" fmla="val 25000"/>
            </a:avLst>
          </a:prstGeom>
          <a:solidFill>
            <a:srgbClr val="22C2F4"/>
          </a:solidFill>
          <a:ln/>
        </p:spPr>
      </p:sp>
      <p:sp>
        <p:nvSpPr>
          <p:cNvPr id="9" name="Text 6"/>
          <p:cNvSpPr txBox="1"/>
          <p:nvPr/>
        </p:nvSpPr>
        <p:spPr>
          <a:xfrm>
            <a:off x="7807824" y="1715648"/>
            <a:ext cx="3535631"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texto, código e resultado na mesma página</a:t>
            </a:r>
            <a:endParaRPr lang="en-US" sz="1200" dirty="0"/>
          </a:p>
        </p:txBody>
      </p:sp>
      <p:sp>
        <p:nvSpPr>
          <p:cNvPr id="10" name="Shape 7"/>
          <p:cNvSpPr/>
          <p:nvPr/>
        </p:nvSpPr>
        <p:spPr>
          <a:xfrm>
            <a:off x="7617329" y="2080069"/>
            <a:ext cx="76198" cy="76198"/>
          </a:xfrm>
          <a:prstGeom prst="roundRect">
            <a:avLst>
              <a:gd name="adj" fmla="val 25000"/>
            </a:avLst>
          </a:prstGeom>
          <a:solidFill>
            <a:srgbClr val="22C2F4"/>
          </a:solidFill>
          <a:ln/>
        </p:spPr>
      </p:sp>
      <p:sp>
        <p:nvSpPr>
          <p:cNvPr id="11" name="Text 8"/>
          <p:cNvSpPr txBox="1"/>
          <p:nvPr/>
        </p:nvSpPr>
        <p:spPr>
          <a:xfrm>
            <a:off x="7807824" y="1997521"/>
            <a:ext cx="3535631"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Python, SQL, Scala ou R, célula a célula</a:t>
            </a:r>
            <a:endParaRPr lang="en-US" sz="1200" dirty="0"/>
          </a:p>
        </p:txBody>
      </p:sp>
      <p:sp>
        <p:nvSpPr>
          <p:cNvPr id="12" name="Shape 9"/>
          <p:cNvSpPr/>
          <p:nvPr/>
        </p:nvSpPr>
        <p:spPr>
          <a:xfrm>
            <a:off x="7617329" y="2361943"/>
            <a:ext cx="76198" cy="76198"/>
          </a:xfrm>
          <a:prstGeom prst="roundRect">
            <a:avLst>
              <a:gd name="adj" fmla="val 25000"/>
            </a:avLst>
          </a:prstGeom>
          <a:solidFill>
            <a:srgbClr val="22C2F4"/>
          </a:solidFill>
          <a:ln/>
        </p:spPr>
      </p:sp>
      <p:sp>
        <p:nvSpPr>
          <p:cNvPr id="13" name="Text 10"/>
          <p:cNvSpPr txBox="1"/>
          <p:nvPr/>
        </p:nvSpPr>
        <p:spPr>
          <a:xfrm>
            <a:off x="7807824" y="2279395"/>
            <a:ext cx="3535631"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vira tarefa de job sem mudar uma linha</a:t>
            </a:r>
            <a:endParaRPr lang="en-US" sz="1200" dirty="0"/>
          </a:p>
        </p:txBody>
      </p:sp>
      <p:sp>
        <p:nvSpPr>
          <p:cNvPr id="14" name="Shape 11"/>
          <p:cNvSpPr/>
          <p:nvPr/>
        </p:nvSpPr>
        <p:spPr>
          <a:xfrm>
            <a:off x="7617329" y="2624766"/>
            <a:ext cx="650958" cy="247644"/>
          </a:xfrm>
          <a:prstGeom prst="roundRect">
            <a:avLst>
              <a:gd name="adj" fmla="val 50000"/>
            </a:avLst>
          </a:prstGeom>
          <a:solidFill>
            <a:srgbClr val="FFFFFF">
              <a:alpha val="16000"/>
            </a:srgbClr>
          </a:solidFill>
          <a:ln/>
        </p:spPr>
      </p:sp>
      <p:sp>
        <p:nvSpPr>
          <p:cNvPr id="15" name="Text 12"/>
          <p:cNvSpPr txBox="1"/>
          <p:nvPr/>
        </p:nvSpPr>
        <p:spPr>
          <a:xfrm>
            <a:off x="7706227" y="2662865"/>
            <a:ext cx="492089"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No Farol</a:t>
            </a:r>
            <a:endParaRPr lang="en-US" sz="900" dirty="0"/>
          </a:p>
        </p:txBody>
      </p:sp>
      <p:sp>
        <p:nvSpPr>
          <p:cNvPr id="16" name="Text 13"/>
          <p:cNvSpPr txBox="1"/>
          <p:nvPr/>
        </p:nvSpPr>
        <p:spPr>
          <a:xfrm>
            <a:off x="7617329" y="3037506"/>
            <a:ext cx="3733746" cy="394285"/>
          </a:xfrm>
          <a:prstGeom prst="rect">
            <a:avLst/>
          </a:prstGeom>
          <a:noFill/>
          <a:ln/>
        </p:spPr>
        <p:txBody>
          <a:bodyPr wrap="square" lIns="0" tIns="0" rIns="0" bIns="0" rtlCol="0" anchor="t"/>
          <a:lstStyle/>
          <a:p>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noite 3: </a:t>
            </a:r>
            <a:pPr algn="l" indent="0" marL="0">
              <a:lnSpc>
                <a:spcPct val="115385"/>
              </a:lnSpc>
              <a:buNone/>
            </a:pPr>
            <a:r>
              <a:rPr lang="en-US" sz="1150" dirty="0">
                <a:solidFill>
                  <a:srgbClr val="DBE6FF"/>
                </a:solidFill>
                <a:latin typeface="Courier New" pitchFamily="34" charset="0"/>
                <a:ea typeface="Courier New" pitchFamily="34" charset="-122"/>
                <a:cs typeface="Courier New" pitchFamily="34" charset="-120"/>
              </a:rPr>
              <a:t>02-modelo</a:t>
            </a:r>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 e </a:t>
            </a:r>
            <a:pPr algn="l" indent="0" marL="0">
              <a:lnSpc>
                <a:spcPct val="115385"/>
              </a:lnSpc>
              <a:buNone/>
            </a:pPr>
            <a:r>
              <a:rPr lang="en-US" sz="1150" dirty="0">
                <a:solidFill>
                  <a:srgbClr val="DBE6FF"/>
                </a:solidFill>
                <a:latin typeface="Courier New" pitchFamily="34" charset="0"/>
                <a:ea typeface="Courier New" pitchFamily="34" charset="-122"/>
                <a:cs typeface="Courier New" pitchFamily="34" charset="-120"/>
              </a:rPr>
              <a:t>03-score</a:t>
            </a:r>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 que treinam e pontuam o modelo dentro do job</a:t>
            </a:r>
            <a:endParaRPr lang="en-US" sz="1150" dirty="0"/>
          </a:p>
        </p:txBody>
      </p:sp>
      <p:pic>
        <p:nvPicPr>
          <p:cNvPr id="17" name="Image 1" descr="preencoded.png">    </p:cNvPr>
          <p:cNvPicPr>
            <a:picLocks noChangeAspect="1"/>
          </p:cNvPicPr>
          <p:nvPr/>
        </p:nvPicPr>
        <p:blipFill>
          <a:blip r:embed="rId3"/>
          <a:stretch>
            <a:fillRect/>
          </a:stretch>
        </p:blipFill>
        <p:spPr>
          <a:xfrm>
            <a:off x="761981" y="6387940"/>
            <a:ext cx="2059928" cy="190495"/>
          </a:xfrm>
          <a:prstGeom prst="rect">
            <a:avLst/>
          </a:prstGeom>
        </p:spPr>
      </p:pic>
      <p:sp>
        <p:nvSpPr>
          <p:cNvPr id="18" name="Text 14"/>
          <p:cNvSpPr txBox="1"/>
          <p:nvPr/>
        </p:nvSpPr>
        <p:spPr>
          <a:xfrm>
            <a:off x="10896526" y="6387940"/>
            <a:ext cx="554516"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109 / 133</a:t>
            </a:r>
            <a:endParaRPr lang="en-US" sz="10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3 · AS FEATURES</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O que descreve um projeto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que vai estourar</a:t>
            </a:r>
            <a:endParaRPr lang="en-US" sz="3100" dirty="0"/>
          </a:p>
        </p:txBody>
      </p:sp>
      <p:sp>
        <p:nvSpPr>
          <p:cNvPr id="4" name="Shape 2"/>
          <p:cNvSpPr/>
          <p:nvPr/>
        </p:nvSpPr>
        <p:spPr>
          <a:xfrm>
            <a:off x="761981" y="1582301"/>
            <a:ext cx="3462747" cy="1499654"/>
          </a:xfrm>
          <a:prstGeom prst="roundRect">
            <a:avLst>
              <a:gd name="adj" fmla="val 10162"/>
            </a:avLst>
          </a:prstGeom>
          <a:solidFill>
            <a:srgbClr val="1E1E24"/>
          </a:solidFill>
          <a:ln w="6350">
            <a:solidFill>
              <a:srgbClr val="2F2F39"/>
            </a:solidFill>
            <a:prstDash val="solid"/>
          </a:ln>
        </p:spPr>
      </p:sp>
      <p:sp>
        <p:nvSpPr>
          <p:cNvPr id="5" name="Shape 3"/>
          <p:cNvSpPr/>
          <p:nvPr/>
        </p:nvSpPr>
        <p:spPr>
          <a:xfrm>
            <a:off x="984225" y="1779146"/>
            <a:ext cx="772994" cy="247644"/>
          </a:xfrm>
          <a:prstGeom prst="roundRect">
            <a:avLst>
              <a:gd name="adj" fmla="val 50000"/>
            </a:avLst>
          </a:prstGeom>
          <a:solidFill>
            <a:srgbClr val="22C2F4">
              <a:alpha val="14000"/>
            </a:srgbClr>
          </a:solidFill>
          <a:ln/>
        </p:spPr>
      </p:sp>
      <p:sp>
        <p:nvSpPr>
          <p:cNvPr id="6" name="Text 4"/>
          <p:cNvSpPr txBox="1"/>
          <p:nvPr/>
        </p:nvSpPr>
        <p:spPr>
          <a:xfrm>
            <a:off x="1073123" y="1817245"/>
            <a:ext cx="619006"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Onde está</a:t>
            </a:r>
            <a:endParaRPr lang="en-US" sz="900" dirty="0"/>
          </a:p>
        </p:txBody>
      </p:sp>
      <p:sp>
        <p:nvSpPr>
          <p:cNvPr id="7" name="Shape 5"/>
          <p:cNvSpPr/>
          <p:nvPr/>
        </p:nvSpPr>
        <p:spPr>
          <a:xfrm>
            <a:off x="984225" y="2198236"/>
            <a:ext cx="76198" cy="76198"/>
          </a:xfrm>
          <a:prstGeom prst="roundRect">
            <a:avLst>
              <a:gd name="adj" fmla="val 25000"/>
            </a:avLst>
          </a:prstGeom>
          <a:solidFill>
            <a:srgbClr val="22C2F4"/>
          </a:solidFill>
          <a:ln/>
        </p:spPr>
      </p:sp>
      <p:sp>
        <p:nvSpPr>
          <p:cNvPr id="8" name="Text 6"/>
          <p:cNvSpPr txBox="1"/>
          <p:nvPr/>
        </p:nvSpPr>
        <p:spPr>
          <a:xfrm>
            <a:off x="1174721" y="2115688"/>
            <a:ext cx="2940873"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SPI, CPI e o pior dos dois</a:t>
            </a:r>
            <a:endParaRPr lang="en-US" sz="1200" dirty="0"/>
          </a:p>
        </p:txBody>
      </p:sp>
      <p:sp>
        <p:nvSpPr>
          <p:cNvPr id="9" name="Shape 7"/>
          <p:cNvSpPr/>
          <p:nvPr/>
        </p:nvSpPr>
        <p:spPr>
          <a:xfrm>
            <a:off x="984225" y="2480109"/>
            <a:ext cx="76198" cy="76198"/>
          </a:xfrm>
          <a:prstGeom prst="roundRect">
            <a:avLst>
              <a:gd name="adj" fmla="val 25000"/>
            </a:avLst>
          </a:prstGeom>
          <a:solidFill>
            <a:srgbClr val="22C2F4"/>
          </a:solidFill>
          <a:ln/>
        </p:spPr>
      </p:sp>
      <p:sp>
        <p:nvSpPr>
          <p:cNvPr id="10" name="Text 8"/>
          <p:cNvSpPr txBox="1"/>
          <p:nvPr/>
        </p:nvSpPr>
        <p:spPr>
          <a:xfrm>
            <a:off x="1174721" y="2397561"/>
            <a:ext cx="2940873"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físico × % do prazo</a:t>
            </a:r>
            <a:endParaRPr lang="en-US" sz="1200" dirty="0"/>
          </a:p>
        </p:txBody>
      </p:sp>
      <p:sp>
        <p:nvSpPr>
          <p:cNvPr id="11" name="Shape 9"/>
          <p:cNvSpPr/>
          <p:nvPr/>
        </p:nvSpPr>
        <p:spPr>
          <a:xfrm>
            <a:off x="4364424" y="1582301"/>
            <a:ext cx="3462747" cy="1499654"/>
          </a:xfrm>
          <a:prstGeom prst="roundRect">
            <a:avLst>
              <a:gd name="adj" fmla="val 10162"/>
            </a:avLst>
          </a:prstGeom>
          <a:solidFill>
            <a:srgbClr val="1E1E24"/>
          </a:solidFill>
          <a:ln w="6350">
            <a:solidFill>
              <a:srgbClr val="2F2F39"/>
            </a:solidFill>
            <a:prstDash val="solid"/>
          </a:ln>
        </p:spPr>
      </p:sp>
      <p:sp>
        <p:nvSpPr>
          <p:cNvPr id="12" name="Shape 10"/>
          <p:cNvSpPr/>
          <p:nvPr/>
        </p:nvSpPr>
        <p:spPr>
          <a:xfrm>
            <a:off x="4586669" y="1779146"/>
            <a:ext cx="977082" cy="247644"/>
          </a:xfrm>
          <a:prstGeom prst="roundRect">
            <a:avLst>
              <a:gd name="adj" fmla="val 50000"/>
            </a:avLst>
          </a:prstGeom>
          <a:solidFill>
            <a:srgbClr val="22C2F4">
              <a:alpha val="14000"/>
            </a:srgbClr>
          </a:solidFill>
          <a:ln/>
        </p:spPr>
      </p:sp>
      <p:sp>
        <p:nvSpPr>
          <p:cNvPr id="13" name="Text 11"/>
          <p:cNvSpPr txBox="1"/>
          <p:nvPr/>
        </p:nvSpPr>
        <p:spPr>
          <a:xfrm>
            <a:off x="4675567" y="1817245"/>
            <a:ext cx="831258"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Para onde vai</a:t>
            </a:r>
            <a:endParaRPr lang="en-US" sz="900" dirty="0"/>
          </a:p>
        </p:txBody>
      </p:sp>
      <p:sp>
        <p:nvSpPr>
          <p:cNvPr id="14" name="Shape 12"/>
          <p:cNvSpPr/>
          <p:nvPr/>
        </p:nvSpPr>
        <p:spPr>
          <a:xfrm>
            <a:off x="4586669" y="2198236"/>
            <a:ext cx="76198" cy="76198"/>
          </a:xfrm>
          <a:prstGeom prst="roundRect">
            <a:avLst>
              <a:gd name="adj" fmla="val 25000"/>
            </a:avLst>
          </a:prstGeom>
          <a:solidFill>
            <a:srgbClr val="22C2F4"/>
          </a:solidFill>
          <a:ln/>
        </p:spPr>
      </p:sp>
      <p:sp>
        <p:nvSpPr>
          <p:cNvPr id="15" name="Text 13"/>
          <p:cNvSpPr txBox="1"/>
          <p:nvPr/>
        </p:nvSpPr>
        <p:spPr>
          <a:xfrm>
            <a:off x="4777164" y="2115688"/>
            <a:ext cx="2940873"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variação em 4 e 8 semanas</a:t>
            </a:r>
            <a:endParaRPr lang="en-US" sz="1200" dirty="0"/>
          </a:p>
        </p:txBody>
      </p:sp>
      <p:sp>
        <p:nvSpPr>
          <p:cNvPr id="16" name="Shape 14"/>
          <p:cNvSpPr/>
          <p:nvPr/>
        </p:nvSpPr>
        <p:spPr>
          <a:xfrm>
            <a:off x="4586669" y="2480109"/>
            <a:ext cx="76198" cy="76198"/>
          </a:xfrm>
          <a:prstGeom prst="roundRect">
            <a:avLst>
              <a:gd name="adj" fmla="val 25000"/>
            </a:avLst>
          </a:prstGeom>
          <a:solidFill>
            <a:srgbClr val="22C2F4"/>
          </a:solidFill>
          <a:ln/>
        </p:spPr>
      </p:sp>
      <p:sp>
        <p:nvSpPr>
          <p:cNvPr id="17" name="Text 15"/>
          <p:cNvSpPr txBox="1"/>
          <p:nvPr/>
        </p:nvSpPr>
        <p:spPr>
          <a:xfrm>
            <a:off x="4777164" y="2397561"/>
            <a:ext cx="2940873"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semanas com CPI caindo</a:t>
            </a:r>
            <a:endParaRPr lang="en-US" sz="1200" dirty="0"/>
          </a:p>
        </p:txBody>
      </p:sp>
      <p:sp>
        <p:nvSpPr>
          <p:cNvPr id="18" name="Shape 16"/>
          <p:cNvSpPr/>
          <p:nvPr/>
        </p:nvSpPr>
        <p:spPr>
          <a:xfrm>
            <a:off x="4586669" y="2761983"/>
            <a:ext cx="76198" cy="76198"/>
          </a:xfrm>
          <a:prstGeom prst="roundRect">
            <a:avLst>
              <a:gd name="adj" fmla="val 25000"/>
            </a:avLst>
          </a:prstGeom>
          <a:solidFill>
            <a:srgbClr val="22C2F4"/>
          </a:solidFill>
          <a:ln/>
        </p:spPr>
      </p:sp>
      <p:sp>
        <p:nvSpPr>
          <p:cNvPr id="19" name="Text 17"/>
          <p:cNvSpPr txBox="1"/>
          <p:nvPr/>
        </p:nvSpPr>
        <p:spPr>
          <a:xfrm>
            <a:off x="4777164" y="2679435"/>
            <a:ext cx="2940873"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SPI e CPI do último mês</a:t>
            </a:r>
            <a:endParaRPr lang="en-US" sz="1200" dirty="0"/>
          </a:p>
        </p:txBody>
      </p:sp>
      <p:sp>
        <p:nvSpPr>
          <p:cNvPr id="20" name="Shape 18"/>
          <p:cNvSpPr/>
          <p:nvPr/>
        </p:nvSpPr>
        <p:spPr>
          <a:xfrm>
            <a:off x="7966868" y="1582301"/>
            <a:ext cx="3462747" cy="1499654"/>
          </a:xfrm>
          <a:prstGeom prst="roundRect">
            <a:avLst>
              <a:gd name="adj" fmla="val 10162"/>
            </a:avLst>
          </a:prstGeom>
          <a:solidFill>
            <a:srgbClr val="1E1E24"/>
          </a:solidFill>
          <a:ln w="6350">
            <a:solidFill>
              <a:srgbClr val="2F2F39"/>
            </a:solidFill>
            <a:prstDash val="solid"/>
          </a:ln>
        </p:spPr>
      </p:sp>
      <p:sp>
        <p:nvSpPr>
          <p:cNvPr id="21" name="Shape 19"/>
          <p:cNvSpPr/>
          <p:nvPr/>
        </p:nvSpPr>
        <p:spPr>
          <a:xfrm>
            <a:off x="8189112" y="1779146"/>
            <a:ext cx="975395" cy="247644"/>
          </a:xfrm>
          <a:prstGeom prst="roundRect">
            <a:avLst>
              <a:gd name="adj" fmla="val 50000"/>
            </a:avLst>
          </a:prstGeom>
          <a:solidFill>
            <a:srgbClr val="22C2F4">
              <a:alpha val="14000"/>
            </a:srgbClr>
          </a:solidFill>
          <a:ln/>
        </p:spPr>
      </p:sp>
      <p:sp>
        <p:nvSpPr>
          <p:cNvPr id="22" name="Text 20"/>
          <p:cNvSpPr txBox="1"/>
          <p:nvPr/>
        </p:nvSpPr>
        <p:spPr>
          <a:xfrm>
            <a:off x="8278010" y="1817245"/>
            <a:ext cx="829504"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Gente e custo</a:t>
            </a:r>
            <a:endParaRPr lang="en-US" sz="900" dirty="0"/>
          </a:p>
        </p:txBody>
      </p:sp>
      <p:sp>
        <p:nvSpPr>
          <p:cNvPr id="23" name="Shape 21"/>
          <p:cNvSpPr/>
          <p:nvPr/>
        </p:nvSpPr>
        <p:spPr>
          <a:xfrm>
            <a:off x="8189112" y="2198236"/>
            <a:ext cx="76198" cy="76198"/>
          </a:xfrm>
          <a:prstGeom prst="roundRect">
            <a:avLst>
              <a:gd name="adj" fmla="val 25000"/>
            </a:avLst>
          </a:prstGeom>
          <a:solidFill>
            <a:srgbClr val="22C2F4"/>
          </a:solidFill>
          <a:ln/>
        </p:spPr>
      </p:sp>
      <p:sp>
        <p:nvSpPr>
          <p:cNvPr id="24" name="Text 22"/>
          <p:cNvSpPr txBox="1"/>
          <p:nvPr/>
        </p:nvSpPr>
        <p:spPr>
          <a:xfrm>
            <a:off x="8379608" y="2115688"/>
            <a:ext cx="2940873"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ociosidade da equipe</a:t>
            </a:r>
            <a:endParaRPr lang="en-US" sz="1200" dirty="0"/>
          </a:p>
        </p:txBody>
      </p:sp>
      <p:sp>
        <p:nvSpPr>
          <p:cNvPr id="25" name="Shape 23"/>
          <p:cNvSpPr/>
          <p:nvPr/>
        </p:nvSpPr>
        <p:spPr>
          <a:xfrm>
            <a:off x="8189112" y="2480109"/>
            <a:ext cx="76198" cy="76198"/>
          </a:xfrm>
          <a:prstGeom prst="roundRect">
            <a:avLst>
              <a:gd name="adj" fmla="val 25000"/>
            </a:avLst>
          </a:prstGeom>
          <a:solidFill>
            <a:srgbClr val="22C2F4"/>
          </a:solidFill>
          <a:ln/>
        </p:spPr>
      </p:sp>
      <p:sp>
        <p:nvSpPr>
          <p:cNvPr id="26" name="Text 24"/>
          <p:cNvSpPr txBox="1"/>
          <p:nvPr/>
        </p:nvSpPr>
        <p:spPr>
          <a:xfrm>
            <a:off x="8379608" y="2397561"/>
            <a:ext cx="2940873"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do custo em consultoria e cloud</a:t>
            </a:r>
            <a:endParaRPr lang="en-US" sz="1200" dirty="0"/>
          </a:p>
        </p:txBody>
      </p:sp>
      <p:sp>
        <p:nvSpPr>
          <p:cNvPr id="27" name="Shape 25"/>
          <p:cNvSpPr/>
          <p:nvPr/>
        </p:nvSpPr>
        <p:spPr>
          <a:xfrm>
            <a:off x="8189112" y="2761983"/>
            <a:ext cx="76198" cy="76198"/>
          </a:xfrm>
          <a:prstGeom prst="roundRect">
            <a:avLst>
              <a:gd name="adj" fmla="val 25000"/>
            </a:avLst>
          </a:prstGeom>
          <a:solidFill>
            <a:srgbClr val="22C2F4"/>
          </a:solidFill>
          <a:ln/>
        </p:spPr>
      </p:sp>
      <p:sp>
        <p:nvSpPr>
          <p:cNvPr id="28" name="Text 26"/>
          <p:cNvSpPr txBox="1"/>
          <p:nvPr/>
        </p:nvSpPr>
        <p:spPr>
          <a:xfrm>
            <a:off x="8379608" y="2679435"/>
            <a:ext cx="2940873"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saídas do squad em 12 semanas</a:t>
            </a:r>
            <a:endParaRPr lang="en-US" sz="1200" dirty="0"/>
          </a:p>
        </p:txBody>
      </p:sp>
      <p:sp>
        <p:nvSpPr>
          <p:cNvPr id="29" name="Shape 27"/>
          <p:cNvSpPr/>
          <p:nvPr/>
        </p:nvSpPr>
        <p:spPr>
          <a:xfrm>
            <a:off x="761981" y="3221651"/>
            <a:ext cx="10667733" cy="1003573"/>
          </a:xfrm>
          <a:prstGeom prst="roundRect">
            <a:avLst>
              <a:gd name="adj" fmla="val 15185"/>
            </a:avLst>
          </a:prstGeom>
          <a:solidFill>
            <a:srgbClr val="0059DB"/>
          </a:solidFill>
          <a:ln/>
        </p:spPr>
      </p:sp>
      <p:sp>
        <p:nvSpPr>
          <p:cNvPr id="30" name="Shape 28"/>
          <p:cNvSpPr/>
          <p:nvPr/>
        </p:nvSpPr>
        <p:spPr>
          <a:xfrm>
            <a:off x="984225" y="3418497"/>
            <a:ext cx="3166289" cy="247644"/>
          </a:xfrm>
          <a:prstGeom prst="roundRect">
            <a:avLst>
              <a:gd name="adj" fmla="val 50000"/>
            </a:avLst>
          </a:prstGeom>
          <a:solidFill>
            <a:srgbClr val="FFFFFF">
              <a:alpha val="16000"/>
            </a:srgbClr>
          </a:solidFill>
          <a:ln/>
        </p:spPr>
      </p:sp>
      <p:sp>
        <p:nvSpPr>
          <p:cNvPr id="31" name="Text 29"/>
          <p:cNvSpPr txBox="1"/>
          <p:nvPr/>
        </p:nvSpPr>
        <p:spPr>
          <a:xfrm>
            <a:off x="1073123" y="3456596"/>
            <a:ext cx="3108033"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O texto do gerente, já classificado pela IA da noite 2</a:t>
            </a:r>
            <a:endParaRPr lang="en-US" sz="900" dirty="0"/>
          </a:p>
        </p:txBody>
      </p:sp>
      <p:sp>
        <p:nvSpPr>
          <p:cNvPr id="32" name="Text 30"/>
          <p:cNvSpPr txBox="1"/>
          <p:nvPr/>
        </p:nvSpPr>
        <p:spPr>
          <a:xfrm>
            <a:off x="984225" y="3831236"/>
            <a:ext cx="10632174" cy="197143"/>
          </a:xfrm>
          <a:prstGeom prst="rect">
            <a:avLst/>
          </a:prstGeom>
          <a:noFill/>
          <a:ln/>
        </p:spPr>
        <p:txBody>
          <a:bodyPr wrap="square" lIns="0" tIns="0" rIns="0" bIns="0" rtlCol="0" anchor="t"/>
          <a:lstStyle/>
          <a:p>
            <a:pPr algn="l" indent="0" marL="0">
              <a:lnSpc>
                <a:spcPct val="115385"/>
              </a:lnSpc>
              <a:buNone/>
            </a:pPr>
            <a:r>
              <a:rPr lang="en-US" sz="1150" dirty="0">
                <a:solidFill>
                  <a:srgbClr val="FFFFFF"/>
                </a:solidFill>
                <a:latin typeface="Poppins" pitchFamily="34" charset="0"/>
                <a:ea typeface="Poppins" pitchFamily="34" charset="-122"/>
                <a:cs typeface="Poppins" pitchFamily="34" charset="-120"/>
              </a:rPr>
              <a:t>quantos dos últimos 4 status citaram freeze, falta de SRE, fornecedor, rotatividade, escopo, retrabalho</a:t>
            </a:r>
            <a:endParaRPr lang="en-US" sz="1150" dirty="0"/>
          </a:p>
        </p:txBody>
      </p:sp>
      <p:sp>
        <p:nvSpPr>
          <p:cNvPr id="33" name="Shape 31"/>
          <p:cNvSpPr/>
          <p:nvPr/>
        </p:nvSpPr>
        <p:spPr>
          <a:xfrm>
            <a:off x="761981" y="4364921"/>
            <a:ext cx="3437348" cy="997223"/>
          </a:xfrm>
          <a:prstGeom prst="roundRect">
            <a:avLst>
              <a:gd name="adj" fmla="val 15282"/>
            </a:avLst>
          </a:prstGeom>
          <a:solidFill>
            <a:srgbClr val="1E1E24"/>
          </a:solidFill>
          <a:ln w="6350">
            <a:solidFill>
              <a:srgbClr val="2F2F39"/>
            </a:solidFill>
            <a:prstDash val="solid"/>
          </a:ln>
        </p:spPr>
      </p:sp>
      <p:sp>
        <p:nvSpPr>
          <p:cNvPr id="34" name="Text 32"/>
          <p:cNvSpPr txBox="1"/>
          <p:nvPr/>
        </p:nvSpPr>
        <p:spPr>
          <a:xfrm>
            <a:off x="984225" y="4561766"/>
            <a:ext cx="3112573" cy="330192"/>
          </a:xfrm>
          <a:prstGeom prst="rect">
            <a:avLst/>
          </a:prstGeom>
          <a:noFill/>
          <a:ln/>
        </p:spPr>
        <p:txBody>
          <a:bodyPr wrap="square" lIns="0" tIns="0" rIns="0" bIns="0" rtlCol="0" anchor="t"/>
          <a:lstStyle/>
          <a:p>
            <a:pPr algn="l" indent="0" marL="0">
              <a:lnSpc>
                <a:spcPct val="85470"/>
              </a:lnSpc>
              <a:buNone/>
            </a:pPr>
            <a:r>
              <a:rPr lang="en-US" sz="2600" b="1" spc="-52" kern="0" dirty="0">
                <a:solidFill>
                  <a:srgbClr val="F5F6FC"/>
                </a:solidFill>
                <a:latin typeface="Poppins" pitchFamily="34" charset="0"/>
                <a:ea typeface="Poppins" pitchFamily="34" charset="-122"/>
                <a:cs typeface="Poppins" pitchFamily="34" charset="-120"/>
              </a:rPr>
              <a:t>4.235</a:t>
            </a:r>
            <a:endParaRPr lang="en-US" sz="2600" dirty="0"/>
          </a:p>
        </p:txBody>
      </p:sp>
      <p:sp>
        <p:nvSpPr>
          <p:cNvPr id="35" name="Text 33"/>
          <p:cNvSpPr txBox="1"/>
          <p:nvPr/>
        </p:nvSpPr>
        <p:spPr>
          <a:xfrm>
            <a:off x="984225" y="4968155"/>
            <a:ext cx="3112573" cy="197143"/>
          </a:xfrm>
          <a:prstGeom prst="rect">
            <a:avLst/>
          </a:prstGeom>
          <a:noFill/>
          <a:ln/>
        </p:spPr>
        <p:txBody>
          <a:bodyPr wrap="square" lIns="0" tIns="0" rIns="0" bIns="0" rtlCol="0" anchor="t"/>
          <a:lstStyle/>
          <a:p>
            <a:pPr algn="l" indent="0" marL="0">
              <a:lnSpc>
                <a:spcPct val="115385"/>
              </a:lnSpc>
              <a:buNone/>
            </a:pPr>
            <a:r>
              <a:rPr lang="en-US" sz="1150" dirty="0">
                <a:solidFill>
                  <a:srgbClr val="A3A6B4"/>
                </a:solidFill>
                <a:latin typeface="Poppins" pitchFamily="34" charset="0"/>
                <a:ea typeface="Poppins" pitchFamily="34" charset="-122"/>
                <a:cs typeface="Poppins" pitchFamily="34" charset="-120"/>
              </a:rPr>
              <a:t>linhas (projeto × semana)</a:t>
            </a:r>
            <a:endParaRPr lang="en-US" sz="1150" dirty="0"/>
          </a:p>
        </p:txBody>
      </p:sp>
      <p:sp>
        <p:nvSpPr>
          <p:cNvPr id="36" name="Shape 34"/>
          <p:cNvSpPr/>
          <p:nvPr/>
        </p:nvSpPr>
        <p:spPr>
          <a:xfrm>
            <a:off x="4377124" y="4364921"/>
            <a:ext cx="3437348" cy="997223"/>
          </a:xfrm>
          <a:prstGeom prst="roundRect">
            <a:avLst>
              <a:gd name="adj" fmla="val 15282"/>
            </a:avLst>
          </a:prstGeom>
          <a:solidFill>
            <a:srgbClr val="1E1E24"/>
          </a:solidFill>
          <a:ln w="6350">
            <a:solidFill>
              <a:srgbClr val="2F2F39"/>
            </a:solidFill>
            <a:prstDash val="solid"/>
          </a:ln>
        </p:spPr>
      </p:sp>
      <p:sp>
        <p:nvSpPr>
          <p:cNvPr id="37" name="Text 35"/>
          <p:cNvSpPr txBox="1"/>
          <p:nvPr/>
        </p:nvSpPr>
        <p:spPr>
          <a:xfrm>
            <a:off x="4599369" y="4561766"/>
            <a:ext cx="3112573" cy="330192"/>
          </a:xfrm>
          <a:prstGeom prst="rect">
            <a:avLst/>
          </a:prstGeom>
          <a:noFill/>
          <a:ln/>
        </p:spPr>
        <p:txBody>
          <a:bodyPr wrap="square" lIns="0" tIns="0" rIns="0" bIns="0" rtlCol="0" anchor="t"/>
          <a:lstStyle/>
          <a:p>
            <a:pPr algn="l" indent="0" marL="0">
              <a:lnSpc>
                <a:spcPct val="85470"/>
              </a:lnSpc>
              <a:buNone/>
            </a:pPr>
            <a:r>
              <a:rPr lang="en-US" sz="2600" b="1" spc="-52" kern="0" dirty="0">
                <a:solidFill>
                  <a:srgbClr val="F5F6FC"/>
                </a:solidFill>
                <a:latin typeface="Poppins" pitchFamily="34" charset="0"/>
                <a:ea typeface="Poppins" pitchFamily="34" charset="-122"/>
                <a:cs typeface="Poppins" pitchFamily="34" charset="-120"/>
              </a:rPr>
              <a:t>1.643</a:t>
            </a:r>
            <a:endParaRPr lang="en-US" sz="2600" dirty="0"/>
          </a:p>
        </p:txBody>
      </p:sp>
      <p:sp>
        <p:nvSpPr>
          <p:cNvPr id="38" name="Text 36"/>
          <p:cNvSpPr txBox="1"/>
          <p:nvPr/>
        </p:nvSpPr>
        <p:spPr>
          <a:xfrm>
            <a:off x="4599369" y="4968155"/>
            <a:ext cx="3112573" cy="197143"/>
          </a:xfrm>
          <a:prstGeom prst="rect">
            <a:avLst/>
          </a:prstGeom>
          <a:noFill/>
          <a:ln/>
        </p:spPr>
        <p:txBody>
          <a:bodyPr wrap="square" lIns="0" tIns="0" rIns="0" bIns="0" rtlCol="0" anchor="t"/>
          <a:lstStyle/>
          <a:p>
            <a:pPr algn="l" indent="0" marL="0">
              <a:lnSpc>
                <a:spcPct val="115385"/>
              </a:lnSpc>
              <a:buNone/>
            </a:pPr>
            <a:r>
              <a:rPr lang="en-US" sz="1150" dirty="0">
                <a:solidFill>
                  <a:srgbClr val="A3A6B4"/>
                </a:solidFill>
                <a:latin typeface="Poppins" pitchFamily="34" charset="0"/>
                <a:ea typeface="Poppins" pitchFamily="34" charset="-122"/>
                <a:cs typeface="Poppins" pitchFamily="34" charset="-120"/>
              </a:rPr>
              <a:t>linhas de treino, com rótulo</a:t>
            </a:r>
            <a:endParaRPr lang="en-US" sz="1150" dirty="0"/>
          </a:p>
        </p:txBody>
      </p:sp>
      <p:sp>
        <p:nvSpPr>
          <p:cNvPr id="39" name="Shape 37"/>
          <p:cNvSpPr/>
          <p:nvPr/>
        </p:nvSpPr>
        <p:spPr>
          <a:xfrm>
            <a:off x="7992267" y="4364921"/>
            <a:ext cx="3437348" cy="997223"/>
          </a:xfrm>
          <a:prstGeom prst="roundRect">
            <a:avLst>
              <a:gd name="adj" fmla="val 15282"/>
            </a:avLst>
          </a:prstGeom>
          <a:solidFill>
            <a:srgbClr val="1E1E24"/>
          </a:solidFill>
          <a:ln w="6350">
            <a:solidFill>
              <a:srgbClr val="2F2F39"/>
            </a:solidFill>
            <a:prstDash val="solid"/>
          </a:ln>
        </p:spPr>
      </p:sp>
      <p:sp>
        <p:nvSpPr>
          <p:cNvPr id="40" name="Text 38"/>
          <p:cNvSpPr txBox="1"/>
          <p:nvPr/>
        </p:nvSpPr>
        <p:spPr>
          <a:xfrm>
            <a:off x="8214512" y="4561766"/>
            <a:ext cx="3112573" cy="330192"/>
          </a:xfrm>
          <a:prstGeom prst="rect">
            <a:avLst/>
          </a:prstGeom>
          <a:noFill/>
          <a:ln/>
        </p:spPr>
        <p:txBody>
          <a:bodyPr wrap="square" lIns="0" tIns="0" rIns="0" bIns="0" rtlCol="0" anchor="t"/>
          <a:lstStyle/>
          <a:p>
            <a:pPr algn="l" indent="0" marL="0">
              <a:lnSpc>
                <a:spcPct val="85470"/>
              </a:lnSpc>
              <a:buNone/>
            </a:pPr>
            <a:r>
              <a:rPr lang="en-US" sz="2600" b="1" spc="-52" kern="0" dirty="0">
                <a:solidFill>
                  <a:srgbClr val="F5F6FC"/>
                </a:solidFill>
                <a:latin typeface="Poppins" pitchFamily="34" charset="0"/>
                <a:ea typeface="Poppins" pitchFamily="34" charset="-122"/>
                <a:cs typeface="Poppins" pitchFamily="34" charset="-120"/>
              </a:rPr>
              <a:t>16,7%</a:t>
            </a:r>
            <a:endParaRPr lang="en-US" sz="2600" dirty="0"/>
          </a:p>
        </p:txBody>
      </p:sp>
      <p:sp>
        <p:nvSpPr>
          <p:cNvPr id="41" name="Text 39"/>
          <p:cNvSpPr txBox="1"/>
          <p:nvPr/>
        </p:nvSpPr>
        <p:spPr>
          <a:xfrm>
            <a:off x="8214512" y="4968155"/>
            <a:ext cx="3112573" cy="197143"/>
          </a:xfrm>
          <a:prstGeom prst="rect">
            <a:avLst/>
          </a:prstGeom>
          <a:noFill/>
          <a:ln/>
        </p:spPr>
        <p:txBody>
          <a:bodyPr wrap="square" lIns="0" tIns="0" rIns="0" bIns="0" rtlCol="0" anchor="t"/>
          <a:lstStyle/>
          <a:p>
            <a:pPr algn="l" indent="0" marL="0">
              <a:lnSpc>
                <a:spcPct val="115385"/>
              </a:lnSpc>
              <a:buNone/>
            </a:pPr>
            <a:r>
              <a:rPr lang="en-US" sz="1150" dirty="0">
                <a:solidFill>
                  <a:srgbClr val="A3A6B4"/>
                </a:solidFill>
                <a:latin typeface="Poppins" pitchFamily="34" charset="0"/>
                <a:ea typeface="Poppins" pitchFamily="34" charset="-122"/>
                <a:cs typeface="Poppins" pitchFamily="34" charset="-120"/>
              </a:rPr>
              <a:t>taxa base: estoura em 30 dias</a:t>
            </a:r>
            <a:endParaRPr lang="en-US" sz="1150" dirty="0"/>
          </a:p>
        </p:txBody>
      </p:sp>
      <p:pic>
        <p:nvPicPr>
          <p:cNvPr id="42"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43" name="Text 40"/>
          <p:cNvSpPr txBox="1"/>
          <p:nvPr/>
        </p:nvSpPr>
        <p:spPr>
          <a:xfrm>
            <a:off x="10932740" y="6387940"/>
            <a:ext cx="516853"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110 / 133</a:t>
            </a:r>
            <a:endParaRPr lang="en-US" sz="10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3 · O MODELO</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Vale mais que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a regra de hoje?</a:t>
            </a:r>
            <a:endParaRPr lang="en-US" sz="3100" dirty="0"/>
          </a:p>
        </p:txBody>
      </p:sp>
      <p:sp>
        <p:nvSpPr>
          <p:cNvPr id="4" name="Text 2"/>
          <p:cNvSpPr txBox="1"/>
          <p:nvPr/>
        </p:nvSpPr>
        <p:spPr>
          <a:xfrm>
            <a:off x="876278" y="1582301"/>
            <a:ext cx="4950812" cy="171446"/>
          </a:xfrm>
          <a:prstGeom prst="rect">
            <a:avLst/>
          </a:prstGeom>
          <a:noFill/>
          <a:ln/>
        </p:spPr>
        <p:txBody>
          <a:bodyPr wrap="square" lIns="0" tIns="0" rIns="0" bIns="0" rtlCol="0" anchor="t"/>
          <a:lstStyle/>
          <a:p>
            <a:pPr algn="l"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QUEM PREVÊ</a:t>
            </a:r>
            <a:endParaRPr lang="en-US" sz="900" dirty="0"/>
          </a:p>
        </p:txBody>
      </p:sp>
      <p:sp>
        <p:nvSpPr>
          <p:cNvPr id="5" name="Text 3"/>
          <p:cNvSpPr txBox="1"/>
          <p:nvPr/>
        </p:nvSpPr>
        <p:spPr>
          <a:xfrm>
            <a:off x="5865269" y="1582301"/>
            <a:ext cx="503542" cy="171446"/>
          </a:xfrm>
          <a:prstGeom prst="rect">
            <a:avLst/>
          </a:prstGeom>
          <a:noFill/>
          <a:ln/>
        </p:spPr>
        <p:txBody>
          <a:bodyPr wrap="square" lIns="0" tIns="0" rIns="0" bIns="0" rtlCol="0" anchor="t"/>
          <a:lstStyle/>
          <a:p>
            <a:pPr algn="r"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AUC</a:t>
            </a:r>
            <a:endParaRPr lang="en-US" sz="900" dirty="0"/>
          </a:p>
        </p:txBody>
      </p:sp>
      <p:sp>
        <p:nvSpPr>
          <p:cNvPr id="6" name="Text 4"/>
          <p:cNvSpPr txBox="1"/>
          <p:nvPr/>
        </p:nvSpPr>
        <p:spPr>
          <a:xfrm>
            <a:off x="6578039" y="1582301"/>
            <a:ext cx="4926874" cy="171446"/>
          </a:xfrm>
          <a:prstGeom prst="rect">
            <a:avLst/>
          </a:prstGeom>
          <a:noFill/>
          <a:ln/>
        </p:spPr>
        <p:txBody>
          <a:bodyPr wrap="square" lIns="0" tIns="0" rIns="0" bIns="0" rtlCol="0" anchor="t"/>
          <a:lstStyle/>
          <a:p>
            <a:pPr algn="l"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LEITURA</a:t>
            </a:r>
            <a:endParaRPr lang="en-US" sz="900" dirty="0"/>
          </a:p>
        </p:txBody>
      </p:sp>
      <p:sp>
        <p:nvSpPr>
          <p:cNvPr id="7" name="Shape 5"/>
          <p:cNvSpPr/>
          <p:nvPr/>
        </p:nvSpPr>
        <p:spPr>
          <a:xfrm>
            <a:off x="761981" y="1880744"/>
            <a:ext cx="4988991" cy="401231"/>
          </a:xfrm>
          <a:prstGeom prst="rect">
            <a:avLst/>
          </a:prstGeom>
          <a:solidFill>
            <a:srgbClr val="1E1E24"/>
          </a:solidFill>
          <a:ln/>
        </p:spPr>
      </p:sp>
      <p:sp>
        <p:nvSpPr>
          <p:cNvPr id="8" name="Text 6"/>
          <p:cNvSpPr txBox="1"/>
          <p:nvPr/>
        </p:nvSpPr>
        <p:spPr>
          <a:xfrm>
            <a:off x="876278" y="1982341"/>
            <a:ext cx="4950812" cy="198036"/>
          </a:xfrm>
          <a:prstGeom prst="rect">
            <a:avLst/>
          </a:prstGeom>
          <a:noFill/>
          <a:ln/>
        </p:spPr>
        <p:txBody>
          <a:bodyPr wrap="square" lIns="0" tIns="0" rIns="0" bIns="0" rtlCol="0" anchor="t"/>
          <a:lstStyle/>
          <a:p>
            <a:pPr algn="l" indent="0" marL="0">
              <a:lnSpc>
                <a:spcPct val="111111"/>
              </a:lnSpc>
              <a:buNone/>
            </a:pPr>
            <a:r>
              <a:rPr lang="en-US" sz="1200" b="1" dirty="0">
                <a:solidFill>
                  <a:srgbClr val="F5F6FC"/>
                </a:solidFill>
                <a:latin typeface="Poppins" pitchFamily="34" charset="0"/>
                <a:ea typeface="Poppins" pitchFamily="34" charset="-122"/>
                <a:cs typeface="Poppins" pitchFamily="34" charset="-120"/>
              </a:rPr>
              <a:t>a regra atual (SPI ou CPI &lt; 0,9)</a:t>
            </a:r>
            <a:endParaRPr lang="en-US" sz="1200" dirty="0"/>
          </a:p>
        </p:txBody>
      </p:sp>
      <p:sp>
        <p:nvSpPr>
          <p:cNvPr id="9" name="Shape 7"/>
          <p:cNvSpPr/>
          <p:nvPr/>
        </p:nvSpPr>
        <p:spPr>
          <a:xfrm>
            <a:off x="5750972" y="1880744"/>
            <a:ext cx="712770" cy="401231"/>
          </a:xfrm>
          <a:prstGeom prst="rect">
            <a:avLst/>
          </a:prstGeom>
          <a:solidFill>
            <a:srgbClr val="1E1E24"/>
          </a:solidFill>
          <a:ln/>
        </p:spPr>
      </p:sp>
      <p:sp>
        <p:nvSpPr>
          <p:cNvPr id="10" name="Text 8"/>
          <p:cNvSpPr txBox="1"/>
          <p:nvPr/>
        </p:nvSpPr>
        <p:spPr>
          <a:xfrm>
            <a:off x="5865269" y="1982341"/>
            <a:ext cx="503542" cy="198036"/>
          </a:xfrm>
          <a:prstGeom prst="rect">
            <a:avLst/>
          </a:prstGeom>
          <a:noFill/>
          <a:ln/>
        </p:spPr>
        <p:txBody>
          <a:bodyPr wrap="square" lIns="0" tIns="0" rIns="0" bIns="0" rtlCol="0" anchor="t"/>
          <a:lstStyle/>
          <a:p>
            <a:pPr algn="r" indent="0" marL="0">
              <a:lnSpc>
                <a:spcPct val="111111"/>
              </a:lnSpc>
              <a:buNone/>
            </a:pPr>
            <a:r>
              <a:rPr lang="en-US" sz="1200" dirty="0">
                <a:solidFill>
                  <a:srgbClr val="F5F6FC"/>
                </a:solidFill>
                <a:latin typeface="Poppins" pitchFamily="34" charset="0"/>
                <a:ea typeface="Poppins" pitchFamily="34" charset="-122"/>
                <a:cs typeface="Poppins" pitchFamily="34" charset="-120"/>
              </a:rPr>
              <a:t>0,50</a:t>
            </a:r>
            <a:endParaRPr lang="en-US" sz="1200" dirty="0"/>
          </a:p>
        </p:txBody>
      </p:sp>
      <p:sp>
        <p:nvSpPr>
          <p:cNvPr id="11" name="Shape 9"/>
          <p:cNvSpPr/>
          <p:nvPr/>
        </p:nvSpPr>
        <p:spPr>
          <a:xfrm>
            <a:off x="6463742" y="1880744"/>
            <a:ext cx="4965973" cy="401231"/>
          </a:xfrm>
          <a:prstGeom prst="rect">
            <a:avLst/>
          </a:prstGeom>
          <a:solidFill>
            <a:srgbClr val="1E1E24"/>
          </a:solidFill>
          <a:ln/>
        </p:spPr>
      </p:sp>
      <p:sp>
        <p:nvSpPr>
          <p:cNvPr id="12" name="Text 10"/>
          <p:cNvSpPr txBox="1"/>
          <p:nvPr/>
        </p:nvSpPr>
        <p:spPr>
          <a:xfrm>
            <a:off x="6578039" y="1982341"/>
            <a:ext cx="4926874" cy="198036"/>
          </a:xfrm>
          <a:prstGeom prst="rect">
            <a:avLst/>
          </a:prstGeom>
          <a:noFill/>
          <a:ln/>
        </p:spPr>
        <p:txBody>
          <a:bodyPr wrap="square" lIns="0" tIns="0" rIns="0" bIns="0" rtlCol="0" anchor="t"/>
          <a:lstStyle/>
          <a:p>
            <a:pPr algn="l" indent="0" marL="0">
              <a:lnSpc>
                <a:spcPct val="111111"/>
              </a:lnSpc>
              <a:buNone/>
            </a:pPr>
            <a:r>
              <a:rPr lang="en-US" sz="1200" dirty="0">
                <a:solidFill>
                  <a:srgbClr val="F5F6FC"/>
                </a:solidFill>
                <a:latin typeface="Poppins" pitchFamily="34" charset="0"/>
                <a:ea typeface="Poppins" pitchFamily="34" charset="-122"/>
                <a:cs typeface="Poppins" pitchFamily="34" charset="-120"/>
              </a:rPr>
              <a:t>só vê o que já aconteceu</a:t>
            </a:r>
            <a:endParaRPr lang="en-US" sz="1200" dirty="0"/>
          </a:p>
        </p:txBody>
      </p:sp>
      <p:sp>
        <p:nvSpPr>
          <p:cNvPr id="13" name="Shape 11"/>
          <p:cNvSpPr/>
          <p:nvPr/>
        </p:nvSpPr>
        <p:spPr>
          <a:xfrm>
            <a:off x="761981" y="2332773"/>
            <a:ext cx="4988991" cy="401231"/>
          </a:xfrm>
          <a:prstGeom prst="rect">
            <a:avLst/>
          </a:prstGeom>
          <a:solidFill>
            <a:srgbClr val="1E1E24"/>
          </a:solidFill>
          <a:ln/>
        </p:spPr>
      </p:sp>
      <p:sp>
        <p:nvSpPr>
          <p:cNvPr id="14" name="Text 12"/>
          <p:cNvSpPr txBox="1"/>
          <p:nvPr/>
        </p:nvSpPr>
        <p:spPr>
          <a:xfrm>
            <a:off x="876278" y="2434370"/>
            <a:ext cx="4950812" cy="198036"/>
          </a:xfrm>
          <a:prstGeom prst="rect">
            <a:avLst/>
          </a:prstGeom>
          <a:noFill/>
          <a:ln/>
        </p:spPr>
        <p:txBody>
          <a:bodyPr wrap="square" lIns="0" tIns="0" rIns="0" bIns="0" rtlCol="0" anchor="t"/>
          <a:lstStyle/>
          <a:p>
            <a:pPr algn="l" indent="0" marL="0">
              <a:lnSpc>
                <a:spcPct val="111111"/>
              </a:lnSpc>
              <a:buNone/>
            </a:pPr>
            <a:r>
              <a:rPr lang="en-US" sz="1200" b="1" dirty="0">
                <a:solidFill>
                  <a:srgbClr val="F5F6FC"/>
                </a:solidFill>
                <a:latin typeface="Poppins" pitchFamily="34" charset="0"/>
                <a:ea typeface="Poppins" pitchFamily="34" charset="-122"/>
                <a:cs typeface="Poppins" pitchFamily="34" charset="-120"/>
              </a:rPr>
              <a:t>a regra da folga (quem está mais perto de 0,9)</a:t>
            </a:r>
            <a:endParaRPr lang="en-US" sz="1200" dirty="0"/>
          </a:p>
        </p:txBody>
      </p:sp>
      <p:sp>
        <p:nvSpPr>
          <p:cNvPr id="15" name="Shape 13"/>
          <p:cNvSpPr/>
          <p:nvPr/>
        </p:nvSpPr>
        <p:spPr>
          <a:xfrm>
            <a:off x="5750972" y="2332773"/>
            <a:ext cx="712770" cy="401231"/>
          </a:xfrm>
          <a:prstGeom prst="rect">
            <a:avLst/>
          </a:prstGeom>
          <a:solidFill>
            <a:srgbClr val="1E1E24"/>
          </a:solidFill>
          <a:ln/>
        </p:spPr>
      </p:sp>
      <p:sp>
        <p:nvSpPr>
          <p:cNvPr id="16" name="Text 14"/>
          <p:cNvSpPr txBox="1"/>
          <p:nvPr/>
        </p:nvSpPr>
        <p:spPr>
          <a:xfrm>
            <a:off x="5865269" y="2434370"/>
            <a:ext cx="503542" cy="198036"/>
          </a:xfrm>
          <a:prstGeom prst="rect">
            <a:avLst/>
          </a:prstGeom>
          <a:noFill/>
          <a:ln/>
        </p:spPr>
        <p:txBody>
          <a:bodyPr wrap="square" lIns="0" tIns="0" rIns="0" bIns="0" rtlCol="0" anchor="t"/>
          <a:lstStyle/>
          <a:p>
            <a:pPr algn="r" indent="0" marL="0">
              <a:lnSpc>
                <a:spcPct val="111111"/>
              </a:lnSpc>
              <a:buNone/>
            </a:pPr>
            <a:r>
              <a:rPr lang="en-US" sz="1200" dirty="0">
                <a:solidFill>
                  <a:srgbClr val="F5F6FC"/>
                </a:solidFill>
                <a:latin typeface="Poppins" pitchFamily="34" charset="0"/>
                <a:ea typeface="Poppins" pitchFamily="34" charset="-122"/>
                <a:cs typeface="Poppins" pitchFamily="34" charset="-120"/>
              </a:rPr>
              <a:t>0,87</a:t>
            </a:r>
            <a:endParaRPr lang="en-US" sz="1200" dirty="0"/>
          </a:p>
        </p:txBody>
      </p:sp>
      <p:sp>
        <p:nvSpPr>
          <p:cNvPr id="17" name="Shape 15"/>
          <p:cNvSpPr/>
          <p:nvPr/>
        </p:nvSpPr>
        <p:spPr>
          <a:xfrm>
            <a:off x="6463742" y="2332773"/>
            <a:ext cx="4965973" cy="401231"/>
          </a:xfrm>
          <a:prstGeom prst="rect">
            <a:avLst/>
          </a:prstGeom>
          <a:solidFill>
            <a:srgbClr val="1E1E24"/>
          </a:solidFill>
          <a:ln/>
        </p:spPr>
      </p:sp>
      <p:sp>
        <p:nvSpPr>
          <p:cNvPr id="18" name="Text 16"/>
          <p:cNvSpPr txBox="1"/>
          <p:nvPr/>
        </p:nvSpPr>
        <p:spPr>
          <a:xfrm>
            <a:off x="6578039" y="2434370"/>
            <a:ext cx="4926874" cy="198036"/>
          </a:xfrm>
          <a:prstGeom prst="rect">
            <a:avLst/>
          </a:prstGeom>
          <a:noFill/>
          <a:ln/>
        </p:spPr>
        <p:txBody>
          <a:bodyPr wrap="square" lIns="0" tIns="0" rIns="0" bIns="0" rtlCol="0" anchor="t"/>
          <a:lstStyle/>
          <a:p>
            <a:pPr algn="l" indent="0" marL="0">
              <a:lnSpc>
                <a:spcPct val="111111"/>
              </a:lnSpc>
              <a:buNone/>
            </a:pPr>
            <a:r>
              <a:rPr lang="en-US" sz="1200" dirty="0">
                <a:solidFill>
                  <a:srgbClr val="F5F6FC"/>
                </a:solidFill>
                <a:latin typeface="Poppins" pitchFamily="34" charset="0"/>
                <a:ea typeface="Poppins" pitchFamily="34" charset="-122"/>
                <a:cs typeface="Poppins" pitchFamily="34" charset="-120"/>
              </a:rPr>
              <a:t>o baseline honesto</a:t>
            </a:r>
            <a:endParaRPr lang="en-US" sz="1200" dirty="0"/>
          </a:p>
        </p:txBody>
      </p:sp>
      <p:sp>
        <p:nvSpPr>
          <p:cNvPr id="19" name="Shape 17"/>
          <p:cNvSpPr/>
          <p:nvPr/>
        </p:nvSpPr>
        <p:spPr>
          <a:xfrm>
            <a:off x="761981" y="2784802"/>
            <a:ext cx="4988991" cy="401231"/>
          </a:xfrm>
          <a:prstGeom prst="rect">
            <a:avLst/>
          </a:prstGeom>
          <a:solidFill>
            <a:srgbClr val="1B2A4A"/>
          </a:solidFill>
          <a:ln/>
        </p:spPr>
      </p:sp>
      <p:sp>
        <p:nvSpPr>
          <p:cNvPr id="20" name="Text 18"/>
          <p:cNvSpPr txBox="1"/>
          <p:nvPr/>
        </p:nvSpPr>
        <p:spPr>
          <a:xfrm>
            <a:off x="876278" y="2886400"/>
            <a:ext cx="4950812" cy="198036"/>
          </a:xfrm>
          <a:prstGeom prst="rect">
            <a:avLst/>
          </a:prstGeom>
          <a:noFill/>
          <a:ln/>
        </p:spPr>
        <p:txBody>
          <a:bodyPr wrap="square" lIns="0" tIns="0" rIns="0" bIns="0" rtlCol="0" anchor="t"/>
          <a:lstStyle/>
          <a:p>
            <a:pPr algn="l" indent="0" marL="0">
              <a:lnSpc>
                <a:spcPct val="111111"/>
              </a:lnSpc>
              <a:buNone/>
            </a:pPr>
            <a:r>
              <a:rPr lang="en-US" sz="1200" b="1" dirty="0">
                <a:solidFill>
                  <a:srgbClr val="F5F6FC"/>
                </a:solidFill>
                <a:latin typeface="Poppins" pitchFamily="34" charset="0"/>
                <a:ea typeface="Poppins" pitchFamily="34" charset="-122"/>
                <a:cs typeface="Poppins" pitchFamily="34" charset="-120"/>
              </a:rPr>
              <a:t>o modelo (HistGradientBoosting)</a:t>
            </a:r>
            <a:endParaRPr lang="en-US" sz="1200" dirty="0"/>
          </a:p>
        </p:txBody>
      </p:sp>
      <p:sp>
        <p:nvSpPr>
          <p:cNvPr id="21" name="Shape 19"/>
          <p:cNvSpPr/>
          <p:nvPr/>
        </p:nvSpPr>
        <p:spPr>
          <a:xfrm>
            <a:off x="5750972" y="2784802"/>
            <a:ext cx="712770" cy="401231"/>
          </a:xfrm>
          <a:prstGeom prst="rect">
            <a:avLst/>
          </a:prstGeom>
          <a:solidFill>
            <a:srgbClr val="1B2A4A"/>
          </a:solidFill>
          <a:ln/>
        </p:spPr>
      </p:sp>
      <p:sp>
        <p:nvSpPr>
          <p:cNvPr id="22" name="Text 20"/>
          <p:cNvSpPr txBox="1"/>
          <p:nvPr/>
        </p:nvSpPr>
        <p:spPr>
          <a:xfrm>
            <a:off x="5865269" y="2886400"/>
            <a:ext cx="503542" cy="198036"/>
          </a:xfrm>
          <a:prstGeom prst="rect">
            <a:avLst/>
          </a:prstGeom>
          <a:noFill/>
          <a:ln/>
        </p:spPr>
        <p:txBody>
          <a:bodyPr wrap="square" lIns="0" tIns="0" rIns="0" bIns="0" rtlCol="0" anchor="t"/>
          <a:lstStyle/>
          <a:p>
            <a:pPr algn="r" indent="0" marL="0">
              <a:lnSpc>
                <a:spcPct val="111111"/>
              </a:lnSpc>
              <a:buNone/>
            </a:pPr>
            <a:r>
              <a:rPr lang="en-US" sz="1200" b="1" dirty="0">
                <a:solidFill>
                  <a:srgbClr val="3ECF8E"/>
                </a:solidFill>
                <a:latin typeface="Poppins" pitchFamily="34" charset="0"/>
                <a:ea typeface="Poppins" pitchFamily="34" charset="-122"/>
                <a:cs typeface="Poppins" pitchFamily="34" charset="-120"/>
              </a:rPr>
              <a:t>0,92</a:t>
            </a:r>
            <a:endParaRPr lang="en-US" sz="1200" dirty="0"/>
          </a:p>
        </p:txBody>
      </p:sp>
      <p:sp>
        <p:nvSpPr>
          <p:cNvPr id="23" name="Shape 21"/>
          <p:cNvSpPr/>
          <p:nvPr/>
        </p:nvSpPr>
        <p:spPr>
          <a:xfrm>
            <a:off x="6463742" y="2784802"/>
            <a:ext cx="4965973" cy="401231"/>
          </a:xfrm>
          <a:prstGeom prst="rect">
            <a:avLst/>
          </a:prstGeom>
          <a:solidFill>
            <a:srgbClr val="1B2A4A"/>
          </a:solidFill>
          <a:ln/>
        </p:spPr>
      </p:sp>
      <p:sp>
        <p:nvSpPr>
          <p:cNvPr id="24" name="Text 22"/>
          <p:cNvSpPr txBox="1"/>
          <p:nvPr/>
        </p:nvSpPr>
        <p:spPr>
          <a:xfrm>
            <a:off x="6578039" y="2886400"/>
            <a:ext cx="4926874" cy="198036"/>
          </a:xfrm>
          <a:prstGeom prst="rect">
            <a:avLst/>
          </a:prstGeom>
          <a:noFill/>
          <a:ln/>
        </p:spPr>
        <p:txBody>
          <a:bodyPr wrap="square" lIns="0" tIns="0" rIns="0" bIns="0" rtlCol="0" anchor="t"/>
          <a:lstStyle/>
          <a:p>
            <a:pPr algn="l" indent="0" marL="0">
              <a:lnSpc>
                <a:spcPct val="111111"/>
              </a:lnSpc>
              <a:buNone/>
            </a:pPr>
            <a:r>
              <a:rPr lang="en-US" sz="1200" dirty="0">
                <a:solidFill>
                  <a:srgbClr val="F5F6FC"/>
                </a:solidFill>
                <a:latin typeface="Poppins" pitchFamily="34" charset="0"/>
                <a:ea typeface="Poppins" pitchFamily="34" charset="-122"/>
                <a:cs typeface="Poppins" pitchFamily="34" charset="-120"/>
              </a:rPr>
              <a:t>ganha da folga, sem vazamento (assert &lt; 0,98)</a:t>
            </a:r>
            <a:endParaRPr lang="en-US" sz="1200" dirty="0"/>
          </a:p>
        </p:txBody>
      </p:sp>
      <p:sp>
        <p:nvSpPr>
          <p:cNvPr id="25" name="Shape 23"/>
          <p:cNvSpPr/>
          <p:nvPr/>
        </p:nvSpPr>
        <p:spPr>
          <a:xfrm>
            <a:off x="761981" y="3376528"/>
            <a:ext cx="3437348" cy="1702353"/>
          </a:xfrm>
          <a:prstGeom prst="roundRect">
            <a:avLst>
              <a:gd name="adj" fmla="val 8952"/>
            </a:avLst>
          </a:prstGeom>
          <a:solidFill>
            <a:srgbClr val="0059DB"/>
          </a:solidFill>
          <a:ln/>
        </p:spPr>
      </p:sp>
      <p:sp>
        <p:nvSpPr>
          <p:cNvPr id="26" name="Text 24"/>
          <p:cNvSpPr txBox="1"/>
          <p:nvPr/>
        </p:nvSpPr>
        <p:spPr>
          <a:xfrm>
            <a:off x="984225" y="3573373"/>
            <a:ext cx="3112573" cy="419090"/>
          </a:xfrm>
          <a:prstGeom prst="rect">
            <a:avLst/>
          </a:prstGeom>
          <a:noFill/>
          <a:ln/>
        </p:spPr>
        <p:txBody>
          <a:bodyPr wrap="square" lIns="0" tIns="0" rIns="0" bIns="0" rtlCol="0" anchor="t"/>
          <a:lstStyle/>
          <a:p>
            <a:pPr algn="l" indent="0" marL="0">
              <a:lnSpc>
                <a:spcPct val="85470"/>
              </a:lnSpc>
              <a:buNone/>
            </a:pPr>
            <a:r>
              <a:rPr lang="en-US" sz="3300" b="1" spc="-66" kern="0" dirty="0">
                <a:solidFill>
                  <a:srgbClr val="F5F6FC"/>
                </a:solidFill>
                <a:latin typeface="Poppins" pitchFamily="34" charset="0"/>
                <a:ea typeface="Poppins" pitchFamily="34" charset="-122"/>
                <a:cs typeface="Poppins" pitchFamily="34" charset="-120"/>
              </a:rPr>
              <a:t>9 de 10</a:t>
            </a:r>
            <a:endParaRPr lang="en-US" sz="3300" dirty="0"/>
          </a:p>
        </p:txBody>
      </p:sp>
      <p:sp>
        <p:nvSpPr>
          <p:cNvPr id="27" name="Text 25"/>
          <p:cNvSpPr txBox="1"/>
          <p:nvPr/>
        </p:nvSpPr>
        <p:spPr>
          <a:xfrm>
            <a:off x="984225" y="4068661"/>
            <a:ext cx="3112573" cy="394285"/>
          </a:xfrm>
          <a:prstGeom prst="rect">
            <a:avLst/>
          </a:prstGeom>
          <a:noFill/>
          <a:ln/>
        </p:spPr>
        <p:txBody>
          <a:bodyPr wrap="square" lIns="0" tIns="0" rIns="0" bIns="0" rtlCol="0" anchor="t"/>
          <a:lstStyle/>
          <a:p>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estouros do teste apareceram no top 5 da semana</a:t>
            </a:r>
            <a:endParaRPr lang="en-US" sz="1150" dirty="0"/>
          </a:p>
        </p:txBody>
      </p:sp>
      <p:sp>
        <p:nvSpPr>
          <p:cNvPr id="28" name="Shape 26"/>
          <p:cNvSpPr/>
          <p:nvPr/>
        </p:nvSpPr>
        <p:spPr>
          <a:xfrm>
            <a:off x="4377124" y="3376528"/>
            <a:ext cx="3437348" cy="1702353"/>
          </a:xfrm>
          <a:prstGeom prst="roundRect">
            <a:avLst>
              <a:gd name="adj" fmla="val 8952"/>
            </a:avLst>
          </a:prstGeom>
          <a:solidFill>
            <a:srgbClr val="0059DB"/>
          </a:solidFill>
          <a:ln/>
        </p:spPr>
      </p:sp>
      <p:sp>
        <p:nvSpPr>
          <p:cNvPr id="29" name="Text 27"/>
          <p:cNvSpPr txBox="1"/>
          <p:nvPr/>
        </p:nvSpPr>
        <p:spPr>
          <a:xfrm>
            <a:off x="4599369" y="3573373"/>
            <a:ext cx="3112573" cy="419090"/>
          </a:xfrm>
          <a:prstGeom prst="rect">
            <a:avLst/>
          </a:prstGeom>
          <a:noFill/>
          <a:ln/>
        </p:spPr>
        <p:txBody>
          <a:bodyPr wrap="square" lIns="0" tIns="0" rIns="0" bIns="0" rtlCol="0" anchor="t"/>
          <a:lstStyle/>
          <a:p>
            <a:pPr algn="l" indent="0" marL="0">
              <a:lnSpc>
                <a:spcPct val="85470"/>
              </a:lnSpc>
              <a:buNone/>
            </a:pPr>
            <a:r>
              <a:rPr lang="en-US" sz="3300" b="1" spc="-66" kern="0" dirty="0">
                <a:solidFill>
                  <a:srgbClr val="F5F6FC"/>
                </a:solidFill>
                <a:latin typeface="Poppins" pitchFamily="34" charset="0"/>
                <a:ea typeface="Poppins" pitchFamily="34" charset="-122"/>
                <a:cs typeface="Poppins" pitchFamily="34" charset="-120"/>
              </a:rPr>
              <a:t>41 dias</a:t>
            </a:r>
            <a:endParaRPr lang="en-US" sz="3300" dirty="0"/>
          </a:p>
        </p:txBody>
      </p:sp>
      <p:sp>
        <p:nvSpPr>
          <p:cNvPr id="30" name="Text 28"/>
          <p:cNvSpPr txBox="1"/>
          <p:nvPr/>
        </p:nvSpPr>
        <p:spPr>
          <a:xfrm>
            <a:off x="4599369" y="4068661"/>
            <a:ext cx="3112573" cy="197143"/>
          </a:xfrm>
          <a:prstGeom prst="rect">
            <a:avLst/>
          </a:prstGeom>
          <a:noFill/>
          <a:ln/>
        </p:spPr>
        <p:txBody>
          <a:bodyPr wrap="square" lIns="0" tIns="0" rIns="0" bIns="0" rtlCol="0" anchor="t"/>
          <a:lstStyle/>
          <a:p>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de antecedência, em média</a:t>
            </a:r>
            <a:endParaRPr lang="en-US" sz="1150" dirty="0"/>
          </a:p>
        </p:txBody>
      </p:sp>
      <p:sp>
        <p:nvSpPr>
          <p:cNvPr id="31" name="Shape 29"/>
          <p:cNvSpPr/>
          <p:nvPr/>
        </p:nvSpPr>
        <p:spPr>
          <a:xfrm>
            <a:off x="7992267" y="3376528"/>
            <a:ext cx="3437348" cy="1702353"/>
          </a:xfrm>
          <a:prstGeom prst="roundRect">
            <a:avLst>
              <a:gd name="adj" fmla="val 8952"/>
            </a:avLst>
          </a:prstGeom>
          <a:solidFill>
            <a:srgbClr val="1E1E24"/>
          </a:solidFill>
          <a:ln w="6350">
            <a:solidFill>
              <a:srgbClr val="2F2F39"/>
            </a:solidFill>
            <a:prstDash val="solid"/>
          </a:ln>
        </p:spPr>
      </p:sp>
      <p:sp>
        <p:nvSpPr>
          <p:cNvPr id="32" name="Text 30"/>
          <p:cNvSpPr txBox="1"/>
          <p:nvPr/>
        </p:nvSpPr>
        <p:spPr>
          <a:xfrm>
            <a:off x="8214512" y="3573373"/>
            <a:ext cx="3112573" cy="838179"/>
          </a:xfrm>
          <a:prstGeom prst="rect">
            <a:avLst/>
          </a:prstGeom>
          <a:noFill/>
          <a:ln/>
        </p:spPr>
        <p:txBody>
          <a:bodyPr wrap="square" lIns="0" tIns="0" rIns="0" bIns="0" rtlCol="0" anchor="t"/>
          <a:lstStyle/>
          <a:p>
            <a:pPr algn="l" indent="0" marL="0">
              <a:lnSpc>
                <a:spcPct val="85470"/>
              </a:lnSpc>
              <a:buNone/>
            </a:pPr>
            <a:r>
              <a:rPr lang="en-US" sz="3300" b="1" spc="-66" kern="0" dirty="0">
                <a:solidFill>
                  <a:srgbClr val="F5F6FC"/>
                </a:solidFill>
                <a:latin typeface="Poppins" pitchFamily="34" charset="0"/>
                <a:ea typeface="Poppins" pitchFamily="34" charset="-122"/>
                <a:cs typeface="Poppins" pitchFamily="34" charset="-120"/>
              </a:rPr>
              <a:t>corte no tempo</a:t>
            </a:r>
            <a:endParaRPr lang="en-US" sz="3300" dirty="0"/>
          </a:p>
        </p:txBody>
      </p:sp>
      <p:sp>
        <p:nvSpPr>
          <p:cNvPr id="33" name="Text 31"/>
          <p:cNvSpPr txBox="1"/>
          <p:nvPr/>
        </p:nvSpPr>
        <p:spPr>
          <a:xfrm>
            <a:off x="8214512" y="4487750"/>
            <a:ext cx="3112573" cy="394285"/>
          </a:xfrm>
          <a:prstGeom prst="rect">
            <a:avLst/>
          </a:prstGeom>
          <a:noFill/>
          <a:ln/>
        </p:spPr>
        <p:txBody>
          <a:bodyPr wrap="square" lIns="0" tIns="0" rIns="0" bIns="0" rtlCol="0" anchor="t"/>
          <a:lstStyle/>
          <a:p>
            <a:pPr algn="l" indent="0" marL="0">
              <a:lnSpc>
                <a:spcPct val="115385"/>
              </a:lnSpc>
              <a:buNone/>
            </a:pPr>
            <a:r>
              <a:rPr lang="en-US" sz="1150" dirty="0">
                <a:solidFill>
                  <a:srgbClr val="A3A6B4"/>
                </a:solidFill>
                <a:latin typeface="Poppins" pitchFamily="34" charset="0"/>
                <a:ea typeface="Poppins" pitchFamily="34" charset="-122"/>
                <a:cs typeface="Poppins" pitchFamily="34" charset="-120"/>
              </a:rPr>
              <a:t>treina até mar/2026, testa a partir de abr/2026: o futuro nunca entra no treino</a:t>
            </a:r>
            <a:endParaRPr lang="en-US" sz="1150" dirty="0"/>
          </a:p>
        </p:txBody>
      </p:sp>
      <p:pic>
        <p:nvPicPr>
          <p:cNvPr id="34"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35" name="Text 32"/>
          <p:cNvSpPr txBox="1"/>
          <p:nvPr/>
        </p:nvSpPr>
        <p:spPr>
          <a:xfrm>
            <a:off x="10969648" y="6387940"/>
            <a:ext cx="478468"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111 / 133</a:t>
            </a:r>
            <a:endParaRPr lang="en-US" sz="10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380990"/>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RECURSO DO DATABRICKS · MLFLOW</a:t>
            </a:r>
            <a:endParaRPr lang="en-US" sz="1200" dirty="0"/>
          </a:p>
        </p:txBody>
      </p:sp>
      <p:sp>
        <p:nvSpPr>
          <p:cNvPr id="3" name="Text 1"/>
          <p:cNvSpPr txBox="1"/>
          <p:nvPr/>
        </p:nvSpPr>
        <p:spPr>
          <a:xfrm>
            <a:off x="761981" y="704832"/>
            <a:ext cx="11094443" cy="363132"/>
          </a:xfrm>
          <a:prstGeom prst="rect">
            <a:avLst/>
          </a:prstGeom>
          <a:noFill/>
          <a:ln/>
        </p:spPr>
        <p:txBody>
          <a:bodyPr wrap="square" lIns="0" tIns="0" rIns="0" bIns="0" rtlCol="0" anchor="t"/>
          <a:lstStyle/>
          <a:p>
            <a:pPr algn="l" indent="0" marL="0">
              <a:lnSpc>
                <a:spcPct val="94017"/>
              </a:lnSpc>
              <a:buNone/>
            </a:pPr>
            <a:r>
              <a:rPr lang="en-US" sz="2600" b="1" spc="-26" kern="0" dirty="0">
                <a:solidFill>
                  <a:srgbClr val="F5F6FC"/>
                </a:solidFill>
                <a:latin typeface="Poppins" pitchFamily="34" charset="0"/>
                <a:ea typeface="Poppins" pitchFamily="34" charset="-122"/>
                <a:cs typeface="Poppins" pitchFamily="34" charset="-120"/>
              </a:rPr>
              <a:t>MLflow: o caderno do cientista</a:t>
            </a:r>
            <a:endParaRPr lang="en-US" sz="2600" dirty="0"/>
          </a:p>
        </p:txBody>
      </p:sp>
      <p:pic>
        <p:nvPicPr>
          <p:cNvPr id="4" name="Image 0" descr="preencoded.png">    </p:cNvPr>
          <p:cNvPicPr>
            <a:picLocks noChangeAspect="1"/>
          </p:cNvPicPr>
          <p:nvPr/>
        </p:nvPicPr>
        <p:blipFill>
          <a:blip r:embed="rId2"/>
          <a:srcRect l="8118" r="8118" t="0" b="0"/>
          <a:stretch/>
        </p:blipFill>
        <p:spPr>
          <a:xfrm>
            <a:off x="761981" y="1182261"/>
            <a:ext cx="6455308" cy="4063898"/>
          </a:xfrm>
          <a:prstGeom prst="rect">
            <a:avLst/>
          </a:prstGeom>
        </p:spPr>
      </p:pic>
      <p:sp>
        <p:nvSpPr>
          <p:cNvPr id="5" name="Shape 2"/>
          <p:cNvSpPr/>
          <p:nvPr/>
        </p:nvSpPr>
        <p:spPr>
          <a:xfrm>
            <a:off x="7395085" y="1182261"/>
            <a:ext cx="4034630" cy="4063898"/>
          </a:xfrm>
          <a:prstGeom prst="roundRect">
            <a:avLst>
              <a:gd name="adj" fmla="val 3777"/>
            </a:avLst>
          </a:prstGeom>
          <a:solidFill>
            <a:srgbClr val="0059DB"/>
          </a:solidFill>
          <a:ln/>
        </p:spPr>
      </p:sp>
      <p:sp>
        <p:nvSpPr>
          <p:cNvPr id="6" name="Shape 3"/>
          <p:cNvSpPr/>
          <p:nvPr/>
        </p:nvSpPr>
        <p:spPr>
          <a:xfrm>
            <a:off x="7617329" y="1379106"/>
            <a:ext cx="616034" cy="247644"/>
          </a:xfrm>
          <a:prstGeom prst="roundRect">
            <a:avLst>
              <a:gd name="adj" fmla="val 50000"/>
            </a:avLst>
          </a:prstGeom>
          <a:solidFill>
            <a:srgbClr val="FFFFFF">
              <a:alpha val="16000"/>
            </a:srgbClr>
          </a:solidFill>
          <a:ln/>
        </p:spPr>
      </p:sp>
      <p:sp>
        <p:nvSpPr>
          <p:cNvPr id="7" name="Text 4"/>
          <p:cNvSpPr txBox="1"/>
          <p:nvPr/>
        </p:nvSpPr>
        <p:spPr>
          <a:xfrm>
            <a:off x="7706227" y="1417205"/>
            <a:ext cx="455768"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O que é</a:t>
            </a:r>
            <a:endParaRPr lang="en-US" sz="900" dirty="0"/>
          </a:p>
        </p:txBody>
      </p:sp>
      <p:sp>
        <p:nvSpPr>
          <p:cNvPr id="8" name="Shape 5"/>
          <p:cNvSpPr/>
          <p:nvPr/>
        </p:nvSpPr>
        <p:spPr>
          <a:xfrm>
            <a:off x="7617329" y="1798196"/>
            <a:ext cx="76198" cy="76198"/>
          </a:xfrm>
          <a:prstGeom prst="roundRect">
            <a:avLst>
              <a:gd name="adj" fmla="val 25000"/>
            </a:avLst>
          </a:prstGeom>
          <a:solidFill>
            <a:srgbClr val="22C2F4"/>
          </a:solidFill>
          <a:ln/>
        </p:spPr>
      </p:sp>
      <p:sp>
        <p:nvSpPr>
          <p:cNvPr id="9" name="Text 6"/>
          <p:cNvSpPr txBox="1"/>
          <p:nvPr/>
        </p:nvSpPr>
        <p:spPr>
          <a:xfrm>
            <a:off x="7807824" y="1715648"/>
            <a:ext cx="3535631"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cada treino vira uma execução: parâmetros, métricas, gráficos, o modelo</a:t>
            </a:r>
            <a:endParaRPr lang="en-US" sz="1200" dirty="0"/>
          </a:p>
        </p:txBody>
      </p:sp>
      <p:sp>
        <p:nvSpPr>
          <p:cNvPr id="10" name="Shape 7"/>
          <p:cNvSpPr/>
          <p:nvPr/>
        </p:nvSpPr>
        <p:spPr>
          <a:xfrm>
            <a:off x="7617329" y="2285744"/>
            <a:ext cx="76198" cy="76198"/>
          </a:xfrm>
          <a:prstGeom prst="roundRect">
            <a:avLst>
              <a:gd name="adj" fmla="val 25000"/>
            </a:avLst>
          </a:prstGeom>
          <a:solidFill>
            <a:srgbClr val="22C2F4"/>
          </a:solidFill>
          <a:ln/>
        </p:spPr>
      </p:sp>
      <p:sp>
        <p:nvSpPr>
          <p:cNvPr id="11" name="Text 8"/>
          <p:cNvSpPr txBox="1"/>
          <p:nvPr/>
        </p:nvSpPr>
        <p:spPr>
          <a:xfrm>
            <a:off x="7807824" y="2203196"/>
            <a:ext cx="3535631"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dá para comparar treinos lado a lado</a:t>
            </a:r>
            <a:endParaRPr lang="en-US" sz="1200" dirty="0"/>
          </a:p>
        </p:txBody>
      </p:sp>
      <p:sp>
        <p:nvSpPr>
          <p:cNvPr id="12" name="Shape 9"/>
          <p:cNvSpPr/>
          <p:nvPr/>
        </p:nvSpPr>
        <p:spPr>
          <a:xfrm>
            <a:off x="7617329" y="2548568"/>
            <a:ext cx="650958" cy="247644"/>
          </a:xfrm>
          <a:prstGeom prst="roundRect">
            <a:avLst>
              <a:gd name="adj" fmla="val 50000"/>
            </a:avLst>
          </a:prstGeom>
          <a:solidFill>
            <a:srgbClr val="FFFFFF">
              <a:alpha val="16000"/>
            </a:srgbClr>
          </a:solidFill>
          <a:ln/>
        </p:spPr>
      </p:sp>
      <p:sp>
        <p:nvSpPr>
          <p:cNvPr id="13" name="Text 10"/>
          <p:cNvSpPr txBox="1"/>
          <p:nvPr/>
        </p:nvSpPr>
        <p:spPr>
          <a:xfrm>
            <a:off x="7706227" y="2586667"/>
            <a:ext cx="492089"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No Farol</a:t>
            </a:r>
            <a:endParaRPr lang="en-US" sz="900" dirty="0"/>
          </a:p>
        </p:txBody>
      </p:sp>
      <p:sp>
        <p:nvSpPr>
          <p:cNvPr id="14" name="Text 11"/>
          <p:cNvSpPr txBox="1"/>
          <p:nvPr/>
        </p:nvSpPr>
        <p:spPr>
          <a:xfrm>
            <a:off x="7617329" y="2961308"/>
            <a:ext cx="3733746" cy="591428"/>
          </a:xfrm>
          <a:prstGeom prst="rect">
            <a:avLst/>
          </a:prstGeom>
          <a:noFill/>
          <a:ln/>
        </p:spPr>
        <p:txBody>
          <a:bodyPr wrap="square" lIns="0" tIns="0" rIns="0" bIns="0" rtlCol="0" anchor="t"/>
          <a:lstStyle/>
          <a:p>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noite 3: AUC 0,92 contra 0,50 da regra atual. 9 de 10 estouros avisados com 41 dias de antecedência</a:t>
            </a:r>
            <a:endParaRPr lang="en-US" sz="1150" dirty="0"/>
          </a:p>
        </p:txBody>
      </p:sp>
      <p:pic>
        <p:nvPicPr>
          <p:cNvPr id="15" name="Image 1" descr="preencoded.png">    </p:cNvPr>
          <p:cNvPicPr>
            <a:picLocks noChangeAspect="1"/>
          </p:cNvPicPr>
          <p:nvPr/>
        </p:nvPicPr>
        <p:blipFill>
          <a:blip r:embed="rId3"/>
          <a:stretch>
            <a:fillRect/>
          </a:stretch>
        </p:blipFill>
        <p:spPr>
          <a:xfrm>
            <a:off x="761981" y="6387940"/>
            <a:ext cx="2059928" cy="190495"/>
          </a:xfrm>
          <a:prstGeom prst="rect">
            <a:avLst/>
          </a:prstGeom>
        </p:spPr>
      </p:pic>
      <p:sp>
        <p:nvSpPr>
          <p:cNvPr id="16" name="Text 12"/>
          <p:cNvSpPr txBox="1"/>
          <p:nvPr/>
        </p:nvSpPr>
        <p:spPr>
          <a:xfrm>
            <a:off x="10940876" y="6387940"/>
            <a:ext cx="508392"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112 / 133</a:t>
            </a:r>
            <a:endParaRPr lang="en-US" sz="10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380990"/>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RECURSO DO DATABRICKS · MODELOS</a:t>
            </a:r>
            <a:endParaRPr lang="en-US" sz="1200" dirty="0"/>
          </a:p>
        </p:txBody>
      </p:sp>
      <p:sp>
        <p:nvSpPr>
          <p:cNvPr id="3" name="Text 1"/>
          <p:cNvSpPr txBox="1"/>
          <p:nvPr/>
        </p:nvSpPr>
        <p:spPr>
          <a:xfrm>
            <a:off x="761981" y="704832"/>
            <a:ext cx="11094443" cy="363132"/>
          </a:xfrm>
          <a:prstGeom prst="rect">
            <a:avLst/>
          </a:prstGeom>
          <a:noFill/>
          <a:ln/>
        </p:spPr>
        <p:txBody>
          <a:bodyPr wrap="square" lIns="0" tIns="0" rIns="0" bIns="0" rtlCol="0" anchor="t"/>
          <a:lstStyle/>
          <a:p>
            <a:pPr algn="l" indent="0" marL="0">
              <a:lnSpc>
                <a:spcPct val="94017"/>
              </a:lnSpc>
              <a:buNone/>
            </a:pPr>
            <a:r>
              <a:rPr lang="en-US" sz="2600" b="1" spc="-26" kern="0" dirty="0">
                <a:solidFill>
                  <a:srgbClr val="F5F6FC"/>
                </a:solidFill>
                <a:latin typeface="Poppins" pitchFamily="34" charset="0"/>
                <a:ea typeface="Poppins" pitchFamily="34" charset="-122"/>
                <a:cs typeface="Poppins" pitchFamily="34" charset="-120"/>
              </a:rPr>
              <a:t>O modelo no Unity Catalog</a:t>
            </a:r>
            <a:endParaRPr lang="en-US" sz="2600" dirty="0"/>
          </a:p>
        </p:txBody>
      </p:sp>
      <p:pic>
        <p:nvPicPr>
          <p:cNvPr id="4" name="Image 0" descr="preencoded.png">    </p:cNvPr>
          <p:cNvPicPr>
            <a:picLocks noChangeAspect="1"/>
          </p:cNvPicPr>
          <p:nvPr/>
        </p:nvPicPr>
        <p:blipFill>
          <a:blip r:embed="rId2"/>
          <a:stretch>
            <a:fillRect/>
          </a:stretch>
        </p:blipFill>
        <p:spPr>
          <a:xfrm>
            <a:off x="761981" y="1358753"/>
            <a:ext cx="6455308" cy="3710915"/>
          </a:xfrm>
          <a:prstGeom prst="rect">
            <a:avLst/>
          </a:prstGeom>
        </p:spPr>
      </p:pic>
      <p:sp>
        <p:nvSpPr>
          <p:cNvPr id="5" name="Shape 2"/>
          <p:cNvSpPr/>
          <p:nvPr/>
        </p:nvSpPr>
        <p:spPr>
          <a:xfrm>
            <a:off x="7395085" y="1182261"/>
            <a:ext cx="4034630" cy="4063898"/>
          </a:xfrm>
          <a:prstGeom prst="roundRect">
            <a:avLst>
              <a:gd name="adj" fmla="val 3777"/>
            </a:avLst>
          </a:prstGeom>
          <a:solidFill>
            <a:srgbClr val="0059DB"/>
          </a:solidFill>
          <a:ln/>
        </p:spPr>
      </p:sp>
      <p:sp>
        <p:nvSpPr>
          <p:cNvPr id="6" name="Shape 3"/>
          <p:cNvSpPr/>
          <p:nvPr/>
        </p:nvSpPr>
        <p:spPr>
          <a:xfrm>
            <a:off x="7617329" y="1379106"/>
            <a:ext cx="616034" cy="247644"/>
          </a:xfrm>
          <a:prstGeom prst="roundRect">
            <a:avLst>
              <a:gd name="adj" fmla="val 50000"/>
            </a:avLst>
          </a:prstGeom>
          <a:solidFill>
            <a:srgbClr val="FFFFFF">
              <a:alpha val="16000"/>
            </a:srgbClr>
          </a:solidFill>
          <a:ln/>
        </p:spPr>
      </p:sp>
      <p:sp>
        <p:nvSpPr>
          <p:cNvPr id="7" name="Text 4"/>
          <p:cNvSpPr txBox="1"/>
          <p:nvPr/>
        </p:nvSpPr>
        <p:spPr>
          <a:xfrm>
            <a:off x="7706227" y="1417205"/>
            <a:ext cx="455768"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O que é</a:t>
            </a:r>
            <a:endParaRPr lang="en-US" sz="900" dirty="0"/>
          </a:p>
        </p:txBody>
      </p:sp>
      <p:sp>
        <p:nvSpPr>
          <p:cNvPr id="8" name="Shape 5"/>
          <p:cNvSpPr/>
          <p:nvPr/>
        </p:nvSpPr>
        <p:spPr>
          <a:xfrm>
            <a:off x="7617329" y="1798196"/>
            <a:ext cx="76198" cy="76198"/>
          </a:xfrm>
          <a:prstGeom prst="roundRect">
            <a:avLst>
              <a:gd name="adj" fmla="val 25000"/>
            </a:avLst>
          </a:prstGeom>
          <a:solidFill>
            <a:srgbClr val="22C2F4"/>
          </a:solidFill>
          <a:ln/>
        </p:spPr>
      </p:sp>
      <p:sp>
        <p:nvSpPr>
          <p:cNvPr id="9" name="Text 6"/>
          <p:cNvSpPr txBox="1"/>
          <p:nvPr/>
        </p:nvSpPr>
        <p:spPr>
          <a:xfrm>
            <a:off x="7807824" y="1715648"/>
            <a:ext cx="3535631"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o modelo é objeto de catálogo, como uma tabela: dono, permissão, versões</a:t>
            </a:r>
            <a:endParaRPr lang="en-US" sz="1200" dirty="0"/>
          </a:p>
        </p:txBody>
      </p:sp>
      <p:sp>
        <p:nvSpPr>
          <p:cNvPr id="10" name="Shape 7"/>
          <p:cNvSpPr/>
          <p:nvPr/>
        </p:nvSpPr>
        <p:spPr>
          <a:xfrm>
            <a:off x="7617329" y="2285744"/>
            <a:ext cx="76198" cy="76198"/>
          </a:xfrm>
          <a:prstGeom prst="roundRect">
            <a:avLst>
              <a:gd name="adj" fmla="val 25000"/>
            </a:avLst>
          </a:prstGeom>
          <a:solidFill>
            <a:srgbClr val="22C2F4"/>
          </a:solidFill>
          <a:ln/>
        </p:spPr>
      </p:sp>
      <p:sp>
        <p:nvSpPr>
          <p:cNvPr id="11" name="Text 8"/>
          <p:cNvSpPr txBox="1"/>
          <p:nvPr/>
        </p:nvSpPr>
        <p:spPr>
          <a:xfrm>
            <a:off x="7807824" y="2203196"/>
            <a:ext cx="3535631"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o alias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@prod</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diz qual versão o job usa</a:t>
            </a:r>
            <a:endParaRPr lang="en-US" sz="1200" dirty="0"/>
          </a:p>
        </p:txBody>
      </p:sp>
      <p:sp>
        <p:nvSpPr>
          <p:cNvPr id="12" name="Shape 9"/>
          <p:cNvSpPr/>
          <p:nvPr/>
        </p:nvSpPr>
        <p:spPr>
          <a:xfrm>
            <a:off x="7617329" y="2567618"/>
            <a:ext cx="76198" cy="76198"/>
          </a:xfrm>
          <a:prstGeom prst="roundRect">
            <a:avLst>
              <a:gd name="adj" fmla="val 25000"/>
            </a:avLst>
          </a:prstGeom>
          <a:solidFill>
            <a:srgbClr val="22C2F4"/>
          </a:solidFill>
          <a:ln/>
        </p:spPr>
      </p:sp>
      <p:sp>
        <p:nvSpPr>
          <p:cNvPr id="13" name="Text 10"/>
          <p:cNvSpPr txBox="1"/>
          <p:nvPr/>
        </p:nvSpPr>
        <p:spPr>
          <a:xfrm>
            <a:off x="7807824" y="2485070"/>
            <a:ext cx="3535631"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trocar de versão é mover o alias, não reescrever código</a:t>
            </a:r>
            <a:endParaRPr lang="en-US" sz="1200" dirty="0"/>
          </a:p>
        </p:txBody>
      </p:sp>
      <p:sp>
        <p:nvSpPr>
          <p:cNvPr id="14" name="Shape 11"/>
          <p:cNvSpPr/>
          <p:nvPr/>
        </p:nvSpPr>
        <p:spPr>
          <a:xfrm>
            <a:off x="7617329" y="3036117"/>
            <a:ext cx="650958" cy="247644"/>
          </a:xfrm>
          <a:prstGeom prst="roundRect">
            <a:avLst>
              <a:gd name="adj" fmla="val 50000"/>
            </a:avLst>
          </a:prstGeom>
          <a:solidFill>
            <a:srgbClr val="FFFFFF">
              <a:alpha val="16000"/>
            </a:srgbClr>
          </a:solidFill>
          <a:ln/>
        </p:spPr>
      </p:sp>
      <p:sp>
        <p:nvSpPr>
          <p:cNvPr id="15" name="Text 12"/>
          <p:cNvSpPr txBox="1"/>
          <p:nvPr/>
        </p:nvSpPr>
        <p:spPr>
          <a:xfrm>
            <a:off x="7706227" y="3074216"/>
            <a:ext cx="492089"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No Farol</a:t>
            </a:r>
            <a:endParaRPr lang="en-US" sz="900" dirty="0"/>
          </a:p>
        </p:txBody>
      </p:sp>
      <p:sp>
        <p:nvSpPr>
          <p:cNvPr id="16" name="Text 13"/>
          <p:cNvSpPr txBox="1"/>
          <p:nvPr/>
        </p:nvSpPr>
        <p:spPr>
          <a:xfrm>
            <a:off x="7617329" y="3448857"/>
            <a:ext cx="3733746" cy="591428"/>
          </a:xfrm>
          <a:prstGeom prst="rect">
            <a:avLst/>
          </a:prstGeom>
          <a:noFill/>
          <a:ln/>
        </p:spPr>
        <p:txBody>
          <a:bodyPr wrap="square" lIns="0" tIns="0" rIns="0" bIns="0" rtlCol="0" anchor="t"/>
          <a:lstStyle/>
          <a:p>
            <a:pPr algn="l" indent="0" marL="0">
              <a:lnSpc>
                <a:spcPct val="115385"/>
              </a:lnSpc>
              <a:buNone/>
            </a:pPr>
            <a:r>
              <a:rPr lang="en-US" sz="1150" dirty="0">
                <a:solidFill>
                  <a:srgbClr val="DBE6FF"/>
                </a:solidFill>
                <a:latin typeface="Courier New" pitchFamily="34" charset="0"/>
                <a:ea typeface="Courier New" pitchFamily="34" charset="-122"/>
                <a:cs typeface="Courier New" pitchFamily="34" charset="-120"/>
              </a:rPr>
              <a:t>ml.modelo_estouro_30d</a:t>
            </a:r>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 @prod, no laboratório do cientista. O score sai em lote, gravado na gold</a:t>
            </a:r>
            <a:endParaRPr lang="en-US" sz="1150" dirty="0"/>
          </a:p>
        </p:txBody>
      </p:sp>
      <p:pic>
        <p:nvPicPr>
          <p:cNvPr id="17" name="Image 1" descr="preencoded.png">    </p:cNvPr>
          <p:cNvPicPr>
            <a:picLocks noChangeAspect="1"/>
          </p:cNvPicPr>
          <p:nvPr/>
        </p:nvPicPr>
        <p:blipFill>
          <a:blip r:embed="rId3"/>
          <a:stretch>
            <a:fillRect/>
          </a:stretch>
        </p:blipFill>
        <p:spPr>
          <a:xfrm>
            <a:off x="761981" y="6387940"/>
            <a:ext cx="2059928" cy="190495"/>
          </a:xfrm>
          <a:prstGeom prst="rect">
            <a:avLst/>
          </a:prstGeom>
        </p:spPr>
      </p:pic>
      <p:sp>
        <p:nvSpPr>
          <p:cNvPr id="18" name="Text 14"/>
          <p:cNvSpPr txBox="1"/>
          <p:nvPr/>
        </p:nvSpPr>
        <p:spPr>
          <a:xfrm>
            <a:off x="10938693" y="6387940"/>
            <a:ext cx="510662"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113 / 133</a:t>
            </a:r>
            <a:endParaRPr lang="en-US" sz="10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3 · GOLD.SCORE_ESTOURO_30D</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A lista que o dono abre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na segunda</a:t>
            </a:r>
            <a:endParaRPr lang="en-US" sz="3100" dirty="0"/>
          </a:p>
        </p:txBody>
      </p:sp>
      <p:sp>
        <p:nvSpPr>
          <p:cNvPr id="4" name="Text 2"/>
          <p:cNvSpPr txBox="1"/>
          <p:nvPr/>
        </p:nvSpPr>
        <p:spPr>
          <a:xfrm>
            <a:off x="876278" y="1582301"/>
            <a:ext cx="270654" cy="171446"/>
          </a:xfrm>
          <a:prstGeom prst="rect">
            <a:avLst/>
          </a:prstGeom>
          <a:noFill/>
          <a:ln/>
        </p:spPr>
        <p:txBody>
          <a:bodyPr wrap="square" lIns="0" tIns="0" rIns="0" bIns="0" rtlCol="0" anchor="t"/>
          <a:lstStyle/>
          <a:p>
            <a:pPr algn="l"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a:t>
            </a:r>
            <a:endParaRPr lang="en-US" sz="900" dirty="0"/>
          </a:p>
        </p:txBody>
      </p:sp>
      <p:sp>
        <p:nvSpPr>
          <p:cNvPr id="5" name="Text 3"/>
          <p:cNvSpPr txBox="1"/>
          <p:nvPr/>
        </p:nvSpPr>
        <p:spPr>
          <a:xfrm>
            <a:off x="1365117" y="1582301"/>
            <a:ext cx="830432" cy="171446"/>
          </a:xfrm>
          <a:prstGeom prst="rect">
            <a:avLst/>
          </a:prstGeom>
          <a:noFill/>
          <a:ln/>
        </p:spPr>
        <p:txBody>
          <a:bodyPr wrap="square" lIns="0" tIns="0" rIns="0" bIns="0" rtlCol="0" anchor="t"/>
          <a:lstStyle/>
          <a:p>
            <a:pPr algn="l"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PROJETO</a:t>
            </a:r>
            <a:endParaRPr lang="en-US" sz="900" dirty="0"/>
          </a:p>
        </p:txBody>
      </p:sp>
      <p:sp>
        <p:nvSpPr>
          <p:cNvPr id="6" name="Text 4"/>
          <p:cNvSpPr txBox="1"/>
          <p:nvPr/>
        </p:nvSpPr>
        <p:spPr>
          <a:xfrm>
            <a:off x="2392203" y="1582301"/>
            <a:ext cx="569993" cy="171446"/>
          </a:xfrm>
          <a:prstGeom prst="rect">
            <a:avLst/>
          </a:prstGeom>
          <a:noFill/>
          <a:ln/>
        </p:spPr>
        <p:txBody>
          <a:bodyPr wrap="square" lIns="0" tIns="0" rIns="0" bIns="0" rtlCol="0" anchor="t"/>
          <a:lstStyle/>
          <a:p>
            <a:pPr algn="r"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PROB.</a:t>
            </a:r>
            <a:endParaRPr lang="en-US" sz="900" dirty="0"/>
          </a:p>
        </p:txBody>
      </p:sp>
      <p:sp>
        <p:nvSpPr>
          <p:cNvPr id="7" name="Text 5"/>
          <p:cNvSpPr txBox="1"/>
          <p:nvPr/>
        </p:nvSpPr>
        <p:spPr>
          <a:xfrm>
            <a:off x="3168868" y="1582301"/>
            <a:ext cx="617562" cy="171446"/>
          </a:xfrm>
          <a:prstGeom prst="rect">
            <a:avLst/>
          </a:prstGeom>
          <a:noFill/>
          <a:ln/>
        </p:spPr>
        <p:txBody>
          <a:bodyPr wrap="square" lIns="0" tIns="0" rIns="0" bIns="0" rtlCol="0" anchor="t"/>
          <a:lstStyle/>
          <a:p>
            <a:pPr algn="l"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FAIXA</a:t>
            </a:r>
            <a:endParaRPr lang="en-US" sz="900" dirty="0"/>
          </a:p>
        </p:txBody>
      </p:sp>
      <p:sp>
        <p:nvSpPr>
          <p:cNvPr id="8" name="Text 6"/>
          <p:cNvSpPr txBox="1"/>
          <p:nvPr/>
        </p:nvSpPr>
        <p:spPr>
          <a:xfrm>
            <a:off x="3991272" y="1582301"/>
            <a:ext cx="7617111" cy="171446"/>
          </a:xfrm>
          <a:prstGeom prst="rect">
            <a:avLst/>
          </a:prstGeom>
          <a:noFill/>
          <a:ln/>
        </p:spPr>
        <p:txBody>
          <a:bodyPr wrap="square" lIns="0" tIns="0" rIns="0" bIns="0" rtlCol="0" anchor="t"/>
          <a:lstStyle/>
          <a:p>
            <a:pPr algn="l"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MOTIVOS (EM PORTUGUÊS)</a:t>
            </a:r>
            <a:endParaRPr lang="en-US" sz="900" dirty="0"/>
          </a:p>
        </p:txBody>
      </p:sp>
      <p:sp>
        <p:nvSpPr>
          <p:cNvPr id="9" name="Shape 7"/>
          <p:cNvSpPr/>
          <p:nvPr/>
        </p:nvSpPr>
        <p:spPr>
          <a:xfrm>
            <a:off x="761981" y="1880744"/>
            <a:ext cx="488839" cy="368291"/>
          </a:xfrm>
          <a:prstGeom prst="rect">
            <a:avLst/>
          </a:prstGeom>
          <a:solidFill>
            <a:srgbClr val="1E1E24"/>
          </a:solidFill>
          <a:ln/>
        </p:spPr>
      </p:sp>
      <p:sp>
        <p:nvSpPr>
          <p:cNvPr id="10" name="Text 8"/>
          <p:cNvSpPr txBox="1"/>
          <p:nvPr/>
        </p:nvSpPr>
        <p:spPr>
          <a:xfrm>
            <a:off x="876278" y="1982341"/>
            <a:ext cx="270654" cy="165096"/>
          </a:xfrm>
          <a:prstGeom prst="rect">
            <a:avLst/>
          </a:prstGeom>
          <a:noFill/>
          <a:ln/>
        </p:spPr>
        <p:txBody>
          <a:bodyPr wrap="square" lIns="0" tIns="0" rIns="0" bIns="0" rtlCol="0" anchor="t"/>
          <a:lstStyle/>
          <a:p>
            <a:pPr algn="l" indent="0" marL="0">
              <a:lnSpc>
                <a:spcPct val="111111"/>
              </a:lnSpc>
              <a:buNone/>
            </a:pPr>
            <a:r>
              <a:rPr lang="en-US" sz="1000" b="1" dirty="0">
                <a:solidFill>
                  <a:srgbClr val="F5F6FC"/>
                </a:solidFill>
                <a:latin typeface="Poppins" pitchFamily="34" charset="0"/>
                <a:ea typeface="Poppins" pitchFamily="34" charset="-122"/>
                <a:cs typeface="Poppins" pitchFamily="34" charset="-120"/>
              </a:rPr>
              <a:t>1</a:t>
            </a:r>
            <a:endParaRPr lang="en-US" sz="1000" dirty="0"/>
          </a:p>
        </p:txBody>
      </p:sp>
      <p:sp>
        <p:nvSpPr>
          <p:cNvPr id="11" name="Shape 9"/>
          <p:cNvSpPr/>
          <p:nvPr/>
        </p:nvSpPr>
        <p:spPr>
          <a:xfrm>
            <a:off x="1250820" y="1880744"/>
            <a:ext cx="1027087" cy="368291"/>
          </a:xfrm>
          <a:prstGeom prst="rect">
            <a:avLst/>
          </a:prstGeom>
          <a:solidFill>
            <a:srgbClr val="1E1E24"/>
          </a:solidFill>
          <a:ln/>
        </p:spPr>
      </p:sp>
      <p:sp>
        <p:nvSpPr>
          <p:cNvPr id="12" name="Text 10"/>
          <p:cNvSpPr txBox="1"/>
          <p:nvPr/>
        </p:nvSpPr>
        <p:spPr>
          <a:xfrm>
            <a:off x="1365117" y="1982341"/>
            <a:ext cx="830432" cy="165096"/>
          </a:xfrm>
          <a:prstGeom prst="rect">
            <a:avLst/>
          </a:prstGeom>
          <a:noFill/>
          <a:ln/>
        </p:spPr>
        <p:txBody>
          <a:bodyPr wrap="square" lIns="0" tIns="0" rIns="0" bIns="0" rtlCol="0" anchor="t"/>
          <a:lstStyle/>
          <a:p>
            <a:pPr algn="l" indent="0" marL="0">
              <a:lnSpc>
                <a:spcPct val="111111"/>
              </a:lnSpc>
              <a:buNone/>
            </a:pPr>
            <a:r>
              <a:rPr lang="en-US" sz="1000" dirty="0">
                <a:solidFill>
                  <a:srgbClr val="F5F6FC"/>
                </a:solidFill>
                <a:latin typeface="Poppins" pitchFamily="34" charset="0"/>
                <a:ea typeface="Poppins" pitchFamily="34" charset="-122"/>
                <a:cs typeface="Poppins" pitchFamily="34" charset="-120"/>
              </a:rPr>
              <a:t>PRJ-016</a:t>
            </a:r>
            <a:endParaRPr lang="en-US" sz="1000" dirty="0"/>
          </a:p>
        </p:txBody>
      </p:sp>
      <p:sp>
        <p:nvSpPr>
          <p:cNvPr id="13" name="Shape 11"/>
          <p:cNvSpPr/>
          <p:nvPr/>
        </p:nvSpPr>
        <p:spPr>
          <a:xfrm>
            <a:off x="2277906" y="1880744"/>
            <a:ext cx="776665" cy="368291"/>
          </a:xfrm>
          <a:prstGeom prst="rect">
            <a:avLst/>
          </a:prstGeom>
          <a:solidFill>
            <a:srgbClr val="1E1E24"/>
          </a:solidFill>
          <a:ln/>
        </p:spPr>
      </p:sp>
      <p:sp>
        <p:nvSpPr>
          <p:cNvPr id="14" name="Text 12"/>
          <p:cNvSpPr txBox="1"/>
          <p:nvPr/>
        </p:nvSpPr>
        <p:spPr>
          <a:xfrm>
            <a:off x="2392203" y="1982341"/>
            <a:ext cx="569993" cy="165096"/>
          </a:xfrm>
          <a:prstGeom prst="rect">
            <a:avLst/>
          </a:prstGeom>
          <a:noFill/>
          <a:ln/>
        </p:spPr>
        <p:txBody>
          <a:bodyPr wrap="square" lIns="0" tIns="0" rIns="0" bIns="0" rtlCol="0" anchor="t"/>
          <a:lstStyle/>
          <a:p>
            <a:pPr algn="r" indent="0" marL="0">
              <a:lnSpc>
                <a:spcPct val="111111"/>
              </a:lnSpc>
              <a:buNone/>
            </a:pPr>
            <a:r>
              <a:rPr lang="en-US" sz="1000" dirty="0">
                <a:solidFill>
                  <a:srgbClr val="F5F6FC"/>
                </a:solidFill>
                <a:latin typeface="Poppins" pitchFamily="34" charset="0"/>
                <a:ea typeface="Poppins" pitchFamily="34" charset="-122"/>
                <a:cs typeface="Poppins" pitchFamily="34" charset="-120"/>
              </a:rPr>
              <a:t>1,00</a:t>
            </a:r>
            <a:endParaRPr lang="en-US" sz="1000" dirty="0"/>
          </a:p>
        </p:txBody>
      </p:sp>
      <p:sp>
        <p:nvSpPr>
          <p:cNvPr id="15" name="Shape 13"/>
          <p:cNvSpPr/>
          <p:nvPr/>
        </p:nvSpPr>
        <p:spPr>
          <a:xfrm>
            <a:off x="3054571" y="1880744"/>
            <a:ext cx="822404" cy="368291"/>
          </a:xfrm>
          <a:prstGeom prst="rect">
            <a:avLst/>
          </a:prstGeom>
          <a:solidFill>
            <a:srgbClr val="1E1E24"/>
          </a:solidFill>
          <a:ln/>
        </p:spPr>
      </p:sp>
      <p:sp>
        <p:nvSpPr>
          <p:cNvPr id="16" name="Text 14"/>
          <p:cNvSpPr txBox="1"/>
          <p:nvPr/>
        </p:nvSpPr>
        <p:spPr>
          <a:xfrm>
            <a:off x="3168868" y="1982341"/>
            <a:ext cx="617562" cy="165096"/>
          </a:xfrm>
          <a:prstGeom prst="rect">
            <a:avLst/>
          </a:prstGeom>
          <a:noFill/>
          <a:ln/>
        </p:spPr>
        <p:txBody>
          <a:bodyPr wrap="square" lIns="0" tIns="0" rIns="0" bIns="0" rtlCol="0" anchor="t"/>
          <a:lstStyle/>
          <a:p>
            <a:pPr algn="l" indent="0" marL="0">
              <a:lnSpc>
                <a:spcPct val="111111"/>
              </a:lnSpc>
              <a:buNone/>
            </a:pPr>
            <a:r>
              <a:rPr lang="en-US" sz="1000" b="1" dirty="0">
                <a:solidFill>
                  <a:srgbClr val="FF6B6B"/>
                </a:solidFill>
                <a:latin typeface="Poppins" pitchFamily="34" charset="0"/>
                <a:ea typeface="Poppins" pitchFamily="34" charset="-122"/>
                <a:cs typeface="Poppins" pitchFamily="34" charset="-120"/>
              </a:rPr>
              <a:t>alto</a:t>
            </a:r>
            <a:endParaRPr lang="en-US" sz="1000" dirty="0"/>
          </a:p>
        </p:txBody>
      </p:sp>
      <p:sp>
        <p:nvSpPr>
          <p:cNvPr id="17" name="Shape 15"/>
          <p:cNvSpPr/>
          <p:nvPr/>
        </p:nvSpPr>
        <p:spPr>
          <a:xfrm>
            <a:off x="3876975" y="1880744"/>
            <a:ext cx="7552739" cy="368291"/>
          </a:xfrm>
          <a:prstGeom prst="rect">
            <a:avLst/>
          </a:prstGeom>
          <a:solidFill>
            <a:srgbClr val="1E1E24"/>
          </a:solidFill>
          <a:ln/>
        </p:spPr>
      </p:sp>
      <p:sp>
        <p:nvSpPr>
          <p:cNvPr id="18" name="Text 16"/>
          <p:cNvSpPr txBox="1"/>
          <p:nvPr/>
        </p:nvSpPr>
        <p:spPr>
          <a:xfrm>
            <a:off x="3991272" y="1982341"/>
            <a:ext cx="7617111" cy="165096"/>
          </a:xfrm>
          <a:prstGeom prst="rect">
            <a:avLst/>
          </a:prstGeom>
          <a:noFill/>
          <a:ln/>
        </p:spPr>
        <p:txBody>
          <a:bodyPr wrap="square" lIns="0" tIns="0" rIns="0" bIns="0" rtlCol="0" anchor="t"/>
          <a:lstStyle/>
          <a:p>
            <a:pPr algn="l" indent="0" marL="0">
              <a:lnSpc>
                <a:spcPct val="111111"/>
              </a:lnSpc>
              <a:buNone/>
            </a:pPr>
            <a:r>
              <a:rPr lang="en-US" sz="1000" dirty="0">
                <a:solidFill>
                  <a:srgbClr val="F5F6FC"/>
                </a:solidFill>
                <a:latin typeface="Poppins" pitchFamily="34" charset="0"/>
                <a:ea typeface="Poppins" pitchFamily="34" charset="-122"/>
                <a:cs typeface="Poppins" pitchFamily="34" charset="-120"/>
              </a:rPr>
              <a:t>já abaixo do corte: SPI 0,63; ritmo do último mês em 56% do planejado</a:t>
            </a:r>
            <a:endParaRPr lang="en-US" sz="1000" dirty="0"/>
          </a:p>
        </p:txBody>
      </p:sp>
      <p:sp>
        <p:nvSpPr>
          <p:cNvPr id="19" name="Shape 17"/>
          <p:cNvSpPr/>
          <p:nvPr/>
        </p:nvSpPr>
        <p:spPr>
          <a:xfrm>
            <a:off x="761981" y="2299833"/>
            <a:ext cx="488839" cy="368291"/>
          </a:xfrm>
          <a:prstGeom prst="rect">
            <a:avLst/>
          </a:prstGeom>
          <a:solidFill>
            <a:srgbClr val="1E1E24"/>
          </a:solidFill>
          <a:ln/>
        </p:spPr>
      </p:sp>
      <p:sp>
        <p:nvSpPr>
          <p:cNvPr id="20" name="Text 18"/>
          <p:cNvSpPr txBox="1"/>
          <p:nvPr/>
        </p:nvSpPr>
        <p:spPr>
          <a:xfrm>
            <a:off x="876278" y="2401431"/>
            <a:ext cx="270654" cy="165096"/>
          </a:xfrm>
          <a:prstGeom prst="rect">
            <a:avLst/>
          </a:prstGeom>
          <a:noFill/>
          <a:ln/>
        </p:spPr>
        <p:txBody>
          <a:bodyPr wrap="square" lIns="0" tIns="0" rIns="0" bIns="0" rtlCol="0" anchor="t"/>
          <a:lstStyle/>
          <a:p>
            <a:pPr algn="l" indent="0" marL="0">
              <a:lnSpc>
                <a:spcPct val="111111"/>
              </a:lnSpc>
              <a:buNone/>
            </a:pPr>
            <a:r>
              <a:rPr lang="en-US" sz="1000" b="1" dirty="0">
                <a:solidFill>
                  <a:srgbClr val="F5F6FC"/>
                </a:solidFill>
                <a:latin typeface="Poppins" pitchFamily="34" charset="0"/>
                <a:ea typeface="Poppins" pitchFamily="34" charset="-122"/>
                <a:cs typeface="Poppins" pitchFamily="34" charset="-120"/>
              </a:rPr>
              <a:t>5</a:t>
            </a:r>
            <a:endParaRPr lang="en-US" sz="1000" dirty="0"/>
          </a:p>
        </p:txBody>
      </p:sp>
      <p:sp>
        <p:nvSpPr>
          <p:cNvPr id="21" name="Shape 19"/>
          <p:cNvSpPr/>
          <p:nvPr/>
        </p:nvSpPr>
        <p:spPr>
          <a:xfrm>
            <a:off x="1250820" y="2299833"/>
            <a:ext cx="1027087" cy="368291"/>
          </a:xfrm>
          <a:prstGeom prst="rect">
            <a:avLst/>
          </a:prstGeom>
          <a:solidFill>
            <a:srgbClr val="1E1E24"/>
          </a:solidFill>
          <a:ln/>
        </p:spPr>
      </p:sp>
      <p:sp>
        <p:nvSpPr>
          <p:cNvPr id="22" name="Text 20"/>
          <p:cNvSpPr txBox="1"/>
          <p:nvPr/>
        </p:nvSpPr>
        <p:spPr>
          <a:xfrm>
            <a:off x="1365117" y="2401431"/>
            <a:ext cx="830432" cy="165096"/>
          </a:xfrm>
          <a:prstGeom prst="rect">
            <a:avLst/>
          </a:prstGeom>
          <a:noFill/>
          <a:ln/>
        </p:spPr>
        <p:txBody>
          <a:bodyPr wrap="square" lIns="0" tIns="0" rIns="0" bIns="0" rtlCol="0" anchor="t"/>
          <a:lstStyle/>
          <a:p>
            <a:pPr algn="l" indent="0" marL="0">
              <a:lnSpc>
                <a:spcPct val="111111"/>
              </a:lnSpc>
              <a:buNone/>
            </a:pPr>
            <a:r>
              <a:rPr lang="en-US" sz="1000" dirty="0">
                <a:solidFill>
                  <a:srgbClr val="F5F6FC"/>
                </a:solidFill>
                <a:latin typeface="Poppins" pitchFamily="34" charset="0"/>
                <a:ea typeface="Poppins" pitchFamily="34" charset="-122"/>
                <a:cs typeface="Poppins" pitchFamily="34" charset="-120"/>
              </a:rPr>
              <a:t>PRJ-011</a:t>
            </a:r>
            <a:endParaRPr lang="en-US" sz="1000" dirty="0"/>
          </a:p>
        </p:txBody>
      </p:sp>
      <p:sp>
        <p:nvSpPr>
          <p:cNvPr id="23" name="Shape 21"/>
          <p:cNvSpPr/>
          <p:nvPr/>
        </p:nvSpPr>
        <p:spPr>
          <a:xfrm>
            <a:off x="2277906" y="2299833"/>
            <a:ext cx="776665" cy="368291"/>
          </a:xfrm>
          <a:prstGeom prst="rect">
            <a:avLst/>
          </a:prstGeom>
          <a:solidFill>
            <a:srgbClr val="1E1E24"/>
          </a:solidFill>
          <a:ln/>
        </p:spPr>
      </p:sp>
      <p:sp>
        <p:nvSpPr>
          <p:cNvPr id="24" name="Text 22"/>
          <p:cNvSpPr txBox="1"/>
          <p:nvPr/>
        </p:nvSpPr>
        <p:spPr>
          <a:xfrm>
            <a:off x="2392203" y="2401431"/>
            <a:ext cx="569993" cy="165096"/>
          </a:xfrm>
          <a:prstGeom prst="rect">
            <a:avLst/>
          </a:prstGeom>
          <a:noFill/>
          <a:ln/>
        </p:spPr>
        <p:txBody>
          <a:bodyPr wrap="square" lIns="0" tIns="0" rIns="0" bIns="0" rtlCol="0" anchor="t"/>
          <a:lstStyle/>
          <a:p>
            <a:pPr algn="r" indent="0" marL="0">
              <a:lnSpc>
                <a:spcPct val="111111"/>
              </a:lnSpc>
              <a:buNone/>
            </a:pPr>
            <a:r>
              <a:rPr lang="en-US" sz="1000" dirty="0">
                <a:solidFill>
                  <a:srgbClr val="F5F6FC"/>
                </a:solidFill>
                <a:latin typeface="Poppins" pitchFamily="34" charset="0"/>
                <a:ea typeface="Poppins" pitchFamily="34" charset="-122"/>
                <a:cs typeface="Poppins" pitchFamily="34" charset="-120"/>
              </a:rPr>
              <a:t>1,00</a:t>
            </a:r>
            <a:endParaRPr lang="en-US" sz="1000" dirty="0"/>
          </a:p>
        </p:txBody>
      </p:sp>
      <p:sp>
        <p:nvSpPr>
          <p:cNvPr id="25" name="Shape 23"/>
          <p:cNvSpPr/>
          <p:nvPr/>
        </p:nvSpPr>
        <p:spPr>
          <a:xfrm>
            <a:off x="3054571" y="2299833"/>
            <a:ext cx="822404" cy="368291"/>
          </a:xfrm>
          <a:prstGeom prst="rect">
            <a:avLst/>
          </a:prstGeom>
          <a:solidFill>
            <a:srgbClr val="1E1E24"/>
          </a:solidFill>
          <a:ln/>
        </p:spPr>
      </p:sp>
      <p:sp>
        <p:nvSpPr>
          <p:cNvPr id="26" name="Text 24"/>
          <p:cNvSpPr txBox="1"/>
          <p:nvPr/>
        </p:nvSpPr>
        <p:spPr>
          <a:xfrm>
            <a:off x="3168868" y="2401431"/>
            <a:ext cx="617562" cy="165096"/>
          </a:xfrm>
          <a:prstGeom prst="rect">
            <a:avLst/>
          </a:prstGeom>
          <a:noFill/>
          <a:ln/>
        </p:spPr>
        <p:txBody>
          <a:bodyPr wrap="square" lIns="0" tIns="0" rIns="0" bIns="0" rtlCol="0" anchor="t"/>
          <a:lstStyle/>
          <a:p>
            <a:pPr algn="l" indent="0" marL="0">
              <a:lnSpc>
                <a:spcPct val="111111"/>
              </a:lnSpc>
              <a:buNone/>
            </a:pPr>
            <a:r>
              <a:rPr lang="en-US" sz="1000" b="1" dirty="0">
                <a:solidFill>
                  <a:srgbClr val="FF6B6B"/>
                </a:solidFill>
                <a:latin typeface="Poppins" pitchFamily="34" charset="0"/>
                <a:ea typeface="Poppins" pitchFamily="34" charset="-122"/>
                <a:cs typeface="Poppins" pitchFamily="34" charset="-120"/>
              </a:rPr>
              <a:t>alto</a:t>
            </a:r>
            <a:endParaRPr lang="en-US" sz="1000" dirty="0"/>
          </a:p>
        </p:txBody>
      </p:sp>
      <p:sp>
        <p:nvSpPr>
          <p:cNvPr id="27" name="Shape 25"/>
          <p:cNvSpPr/>
          <p:nvPr/>
        </p:nvSpPr>
        <p:spPr>
          <a:xfrm>
            <a:off x="3876975" y="2299833"/>
            <a:ext cx="7552739" cy="368291"/>
          </a:xfrm>
          <a:prstGeom prst="rect">
            <a:avLst/>
          </a:prstGeom>
          <a:solidFill>
            <a:srgbClr val="1E1E24"/>
          </a:solidFill>
          <a:ln/>
        </p:spPr>
      </p:sp>
      <p:sp>
        <p:nvSpPr>
          <p:cNvPr id="28" name="Text 26"/>
          <p:cNvSpPr txBox="1"/>
          <p:nvPr/>
        </p:nvSpPr>
        <p:spPr>
          <a:xfrm>
            <a:off x="3991272" y="2401431"/>
            <a:ext cx="7617111" cy="165096"/>
          </a:xfrm>
          <a:prstGeom prst="rect">
            <a:avLst/>
          </a:prstGeom>
          <a:noFill/>
          <a:ln/>
        </p:spPr>
        <p:txBody>
          <a:bodyPr wrap="square" lIns="0" tIns="0" rIns="0" bIns="0" rtlCol="0" anchor="t"/>
          <a:lstStyle/>
          <a:p>
            <a:pPr algn="l" indent="0" marL="0">
              <a:lnSpc>
                <a:spcPct val="111111"/>
              </a:lnSpc>
              <a:buNone/>
            </a:pPr>
            <a:r>
              <a:rPr lang="en-US" sz="1000" dirty="0">
                <a:solidFill>
                  <a:srgbClr val="F5F6FC"/>
                </a:solidFill>
                <a:latin typeface="Poppins" pitchFamily="34" charset="0"/>
                <a:ea typeface="Poppins" pitchFamily="34" charset="-122"/>
                <a:cs typeface="Poppins" pitchFamily="34" charset="-120"/>
              </a:rPr>
              <a:t>já abaixo do corte: SPI 0,77; falta de SRE em 4 dos últimos 4 status; 38% das horas paradas</a:t>
            </a:r>
            <a:endParaRPr lang="en-US" sz="1000" dirty="0"/>
          </a:p>
        </p:txBody>
      </p:sp>
      <p:sp>
        <p:nvSpPr>
          <p:cNvPr id="29" name="Shape 27"/>
          <p:cNvSpPr/>
          <p:nvPr/>
        </p:nvSpPr>
        <p:spPr>
          <a:xfrm>
            <a:off x="761981" y="2718923"/>
            <a:ext cx="488839" cy="368291"/>
          </a:xfrm>
          <a:prstGeom prst="rect">
            <a:avLst/>
          </a:prstGeom>
          <a:solidFill>
            <a:srgbClr val="1B2A4A"/>
          </a:solidFill>
          <a:ln/>
        </p:spPr>
      </p:sp>
      <p:sp>
        <p:nvSpPr>
          <p:cNvPr id="30" name="Text 28"/>
          <p:cNvSpPr txBox="1"/>
          <p:nvPr/>
        </p:nvSpPr>
        <p:spPr>
          <a:xfrm>
            <a:off x="876278" y="2820520"/>
            <a:ext cx="270654" cy="165096"/>
          </a:xfrm>
          <a:prstGeom prst="rect">
            <a:avLst/>
          </a:prstGeom>
          <a:noFill/>
          <a:ln/>
        </p:spPr>
        <p:txBody>
          <a:bodyPr wrap="square" lIns="0" tIns="0" rIns="0" bIns="0" rtlCol="0" anchor="t"/>
          <a:lstStyle/>
          <a:p>
            <a:pPr algn="l" indent="0" marL="0">
              <a:lnSpc>
                <a:spcPct val="111111"/>
              </a:lnSpc>
              <a:buNone/>
            </a:pPr>
            <a:r>
              <a:rPr lang="en-US" sz="1000" b="1" dirty="0">
                <a:solidFill>
                  <a:srgbClr val="F5F6FC"/>
                </a:solidFill>
                <a:latin typeface="Poppins" pitchFamily="34" charset="0"/>
                <a:ea typeface="Poppins" pitchFamily="34" charset="-122"/>
                <a:cs typeface="Poppins" pitchFamily="34" charset="-120"/>
              </a:rPr>
              <a:t>18</a:t>
            </a:r>
            <a:endParaRPr lang="en-US" sz="1000" dirty="0"/>
          </a:p>
        </p:txBody>
      </p:sp>
      <p:sp>
        <p:nvSpPr>
          <p:cNvPr id="31" name="Shape 29"/>
          <p:cNvSpPr/>
          <p:nvPr/>
        </p:nvSpPr>
        <p:spPr>
          <a:xfrm>
            <a:off x="1250820" y="2718923"/>
            <a:ext cx="1027087" cy="368291"/>
          </a:xfrm>
          <a:prstGeom prst="rect">
            <a:avLst/>
          </a:prstGeom>
          <a:solidFill>
            <a:srgbClr val="1B2A4A"/>
          </a:solidFill>
          <a:ln/>
        </p:spPr>
      </p:sp>
      <p:sp>
        <p:nvSpPr>
          <p:cNvPr id="32" name="Text 30"/>
          <p:cNvSpPr txBox="1"/>
          <p:nvPr/>
        </p:nvSpPr>
        <p:spPr>
          <a:xfrm>
            <a:off x="1365117" y="2820520"/>
            <a:ext cx="830432" cy="165096"/>
          </a:xfrm>
          <a:prstGeom prst="rect">
            <a:avLst/>
          </a:prstGeom>
          <a:noFill/>
          <a:ln/>
        </p:spPr>
        <p:txBody>
          <a:bodyPr wrap="square" lIns="0" tIns="0" rIns="0" bIns="0" rtlCol="0" anchor="t"/>
          <a:lstStyle/>
          <a:p>
            <a:pPr algn="l" indent="0" marL="0">
              <a:lnSpc>
                <a:spcPct val="111111"/>
              </a:lnSpc>
              <a:buNone/>
            </a:pPr>
            <a:r>
              <a:rPr lang="en-US" sz="1000" dirty="0">
                <a:solidFill>
                  <a:srgbClr val="F5F6FC"/>
                </a:solidFill>
                <a:latin typeface="Poppins" pitchFamily="34" charset="0"/>
                <a:ea typeface="Poppins" pitchFamily="34" charset="-122"/>
                <a:cs typeface="Poppins" pitchFamily="34" charset="-120"/>
              </a:rPr>
              <a:t>PRJ-013</a:t>
            </a:r>
            <a:endParaRPr lang="en-US" sz="1000" dirty="0"/>
          </a:p>
        </p:txBody>
      </p:sp>
      <p:sp>
        <p:nvSpPr>
          <p:cNvPr id="33" name="Shape 31"/>
          <p:cNvSpPr/>
          <p:nvPr/>
        </p:nvSpPr>
        <p:spPr>
          <a:xfrm>
            <a:off x="2277906" y="2718923"/>
            <a:ext cx="776665" cy="368291"/>
          </a:xfrm>
          <a:prstGeom prst="rect">
            <a:avLst/>
          </a:prstGeom>
          <a:solidFill>
            <a:srgbClr val="1B2A4A"/>
          </a:solidFill>
          <a:ln/>
        </p:spPr>
      </p:sp>
      <p:sp>
        <p:nvSpPr>
          <p:cNvPr id="34" name="Text 32"/>
          <p:cNvSpPr txBox="1"/>
          <p:nvPr/>
        </p:nvSpPr>
        <p:spPr>
          <a:xfrm>
            <a:off x="2392203" y="2820520"/>
            <a:ext cx="569993" cy="165096"/>
          </a:xfrm>
          <a:prstGeom prst="rect">
            <a:avLst/>
          </a:prstGeom>
          <a:noFill/>
          <a:ln/>
        </p:spPr>
        <p:txBody>
          <a:bodyPr wrap="square" lIns="0" tIns="0" rIns="0" bIns="0" rtlCol="0" anchor="t"/>
          <a:lstStyle/>
          <a:p>
            <a:pPr algn="r" indent="0" marL="0">
              <a:lnSpc>
                <a:spcPct val="111111"/>
              </a:lnSpc>
              <a:buNone/>
            </a:pPr>
            <a:r>
              <a:rPr lang="en-US" sz="1000" dirty="0">
                <a:solidFill>
                  <a:srgbClr val="F5F6FC"/>
                </a:solidFill>
                <a:latin typeface="Poppins" pitchFamily="34" charset="0"/>
                <a:ea typeface="Poppins" pitchFamily="34" charset="-122"/>
                <a:cs typeface="Poppins" pitchFamily="34" charset="-120"/>
              </a:rPr>
              <a:t>0,89</a:t>
            </a:r>
            <a:endParaRPr lang="en-US" sz="1000" dirty="0"/>
          </a:p>
        </p:txBody>
      </p:sp>
      <p:sp>
        <p:nvSpPr>
          <p:cNvPr id="35" name="Shape 33"/>
          <p:cNvSpPr/>
          <p:nvPr/>
        </p:nvSpPr>
        <p:spPr>
          <a:xfrm>
            <a:off x="3054571" y="2718923"/>
            <a:ext cx="822404" cy="368291"/>
          </a:xfrm>
          <a:prstGeom prst="rect">
            <a:avLst/>
          </a:prstGeom>
          <a:solidFill>
            <a:srgbClr val="1B2A4A"/>
          </a:solidFill>
          <a:ln/>
        </p:spPr>
      </p:sp>
      <p:sp>
        <p:nvSpPr>
          <p:cNvPr id="36" name="Text 34"/>
          <p:cNvSpPr txBox="1"/>
          <p:nvPr/>
        </p:nvSpPr>
        <p:spPr>
          <a:xfrm>
            <a:off x="3168868" y="2820520"/>
            <a:ext cx="617562" cy="165096"/>
          </a:xfrm>
          <a:prstGeom prst="rect">
            <a:avLst/>
          </a:prstGeom>
          <a:noFill/>
          <a:ln/>
        </p:spPr>
        <p:txBody>
          <a:bodyPr wrap="square" lIns="0" tIns="0" rIns="0" bIns="0" rtlCol="0" anchor="t"/>
          <a:lstStyle/>
          <a:p>
            <a:pPr algn="l" indent="0" marL="0">
              <a:lnSpc>
                <a:spcPct val="111111"/>
              </a:lnSpc>
              <a:buNone/>
            </a:pPr>
            <a:r>
              <a:rPr lang="en-US" sz="1000" b="1" dirty="0">
                <a:solidFill>
                  <a:srgbClr val="FF6B6B"/>
                </a:solidFill>
                <a:latin typeface="Poppins" pitchFamily="34" charset="0"/>
                <a:ea typeface="Poppins" pitchFamily="34" charset="-122"/>
                <a:cs typeface="Poppins" pitchFamily="34" charset="-120"/>
              </a:rPr>
              <a:t>alto</a:t>
            </a:r>
            <a:endParaRPr lang="en-US" sz="1000" dirty="0"/>
          </a:p>
        </p:txBody>
      </p:sp>
      <p:sp>
        <p:nvSpPr>
          <p:cNvPr id="37" name="Shape 35"/>
          <p:cNvSpPr/>
          <p:nvPr/>
        </p:nvSpPr>
        <p:spPr>
          <a:xfrm>
            <a:off x="3876975" y="2718923"/>
            <a:ext cx="7552739" cy="368291"/>
          </a:xfrm>
          <a:prstGeom prst="rect">
            <a:avLst/>
          </a:prstGeom>
          <a:solidFill>
            <a:srgbClr val="1B2A4A"/>
          </a:solidFill>
          <a:ln/>
        </p:spPr>
      </p:sp>
      <p:sp>
        <p:nvSpPr>
          <p:cNvPr id="38" name="Text 36"/>
          <p:cNvSpPr txBox="1"/>
          <p:nvPr/>
        </p:nvSpPr>
        <p:spPr>
          <a:xfrm>
            <a:off x="3991272" y="2820520"/>
            <a:ext cx="7617111" cy="165096"/>
          </a:xfrm>
          <a:prstGeom prst="rect">
            <a:avLst/>
          </a:prstGeom>
          <a:noFill/>
          <a:ln/>
        </p:spPr>
        <p:txBody>
          <a:bodyPr wrap="square" lIns="0" tIns="0" rIns="0" bIns="0" rtlCol="0" anchor="t"/>
          <a:lstStyle/>
          <a:p>
            <a:pPr algn="l" indent="0" marL="0">
              <a:lnSpc>
                <a:spcPct val="111111"/>
              </a:lnSpc>
              <a:buNone/>
            </a:pPr>
            <a:r>
              <a:rPr lang="en-US" sz="1000" dirty="0">
                <a:solidFill>
                  <a:srgbClr val="F5F6FC"/>
                </a:solidFill>
                <a:latin typeface="Poppins" pitchFamily="34" charset="0"/>
                <a:ea typeface="Poppins" pitchFamily="34" charset="-122"/>
                <a:cs typeface="Poppins" pitchFamily="34" charset="-120"/>
              </a:rPr>
              <a:t>pelo status semanal o índice já é 0,90: o cronograma da ferramenta diz 0,94</a:t>
            </a:r>
            <a:endParaRPr lang="en-US" sz="1000" dirty="0"/>
          </a:p>
        </p:txBody>
      </p:sp>
      <p:sp>
        <p:nvSpPr>
          <p:cNvPr id="39" name="Shape 37"/>
          <p:cNvSpPr/>
          <p:nvPr/>
        </p:nvSpPr>
        <p:spPr>
          <a:xfrm>
            <a:off x="761981" y="3138012"/>
            <a:ext cx="488839" cy="368291"/>
          </a:xfrm>
          <a:prstGeom prst="rect">
            <a:avLst/>
          </a:prstGeom>
          <a:solidFill>
            <a:srgbClr val="1B2A4A"/>
          </a:solidFill>
          <a:ln/>
        </p:spPr>
      </p:sp>
      <p:sp>
        <p:nvSpPr>
          <p:cNvPr id="40" name="Text 38"/>
          <p:cNvSpPr txBox="1"/>
          <p:nvPr/>
        </p:nvSpPr>
        <p:spPr>
          <a:xfrm>
            <a:off x="876278" y="3239610"/>
            <a:ext cx="270654" cy="165096"/>
          </a:xfrm>
          <a:prstGeom prst="rect">
            <a:avLst/>
          </a:prstGeom>
          <a:noFill/>
          <a:ln/>
        </p:spPr>
        <p:txBody>
          <a:bodyPr wrap="square" lIns="0" tIns="0" rIns="0" bIns="0" rtlCol="0" anchor="t"/>
          <a:lstStyle/>
          <a:p>
            <a:pPr algn="l" indent="0" marL="0">
              <a:lnSpc>
                <a:spcPct val="111111"/>
              </a:lnSpc>
              <a:buNone/>
            </a:pPr>
            <a:r>
              <a:rPr lang="en-US" sz="1000" b="1" dirty="0">
                <a:solidFill>
                  <a:srgbClr val="F5F6FC"/>
                </a:solidFill>
                <a:latin typeface="Poppins" pitchFamily="34" charset="0"/>
                <a:ea typeface="Poppins" pitchFamily="34" charset="-122"/>
                <a:cs typeface="Poppins" pitchFamily="34" charset="-120"/>
              </a:rPr>
              <a:t>19</a:t>
            </a:r>
            <a:endParaRPr lang="en-US" sz="1000" dirty="0"/>
          </a:p>
        </p:txBody>
      </p:sp>
      <p:sp>
        <p:nvSpPr>
          <p:cNvPr id="41" name="Shape 39"/>
          <p:cNvSpPr/>
          <p:nvPr/>
        </p:nvSpPr>
        <p:spPr>
          <a:xfrm>
            <a:off x="1250820" y="3138012"/>
            <a:ext cx="1027087" cy="368291"/>
          </a:xfrm>
          <a:prstGeom prst="rect">
            <a:avLst/>
          </a:prstGeom>
          <a:solidFill>
            <a:srgbClr val="1B2A4A"/>
          </a:solidFill>
          <a:ln/>
        </p:spPr>
      </p:sp>
      <p:sp>
        <p:nvSpPr>
          <p:cNvPr id="42" name="Text 40"/>
          <p:cNvSpPr txBox="1"/>
          <p:nvPr/>
        </p:nvSpPr>
        <p:spPr>
          <a:xfrm>
            <a:off x="1365117" y="3239610"/>
            <a:ext cx="830432" cy="165096"/>
          </a:xfrm>
          <a:prstGeom prst="rect">
            <a:avLst/>
          </a:prstGeom>
          <a:noFill/>
          <a:ln/>
        </p:spPr>
        <p:txBody>
          <a:bodyPr wrap="square" lIns="0" tIns="0" rIns="0" bIns="0" rtlCol="0" anchor="t"/>
          <a:lstStyle/>
          <a:p>
            <a:pPr algn="l" indent="0" marL="0">
              <a:lnSpc>
                <a:spcPct val="111111"/>
              </a:lnSpc>
              <a:buNone/>
            </a:pPr>
            <a:r>
              <a:rPr lang="en-US" sz="1000" dirty="0">
                <a:solidFill>
                  <a:srgbClr val="F5F6FC"/>
                </a:solidFill>
                <a:latin typeface="Poppins" pitchFamily="34" charset="0"/>
                <a:ea typeface="Poppins" pitchFamily="34" charset="-122"/>
                <a:cs typeface="Poppins" pitchFamily="34" charset="-120"/>
              </a:rPr>
              <a:t>PRJ-024</a:t>
            </a:r>
            <a:endParaRPr lang="en-US" sz="1000" dirty="0"/>
          </a:p>
        </p:txBody>
      </p:sp>
      <p:sp>
        <p:nvSpPr>
          <p:cNvPr id="43" name="Shape 41"/>
          <p:cNvSpPr/>
          <p:nvPr/>
        </p:nvSpPr>
        <p:spPr>
          <a:xfrm>
            <a:off x="2277906" y="3138012"/>
            <a:ext cx="776665" cy="368291"/>
          </a:xfrm>
          <a:prstGeom prst="rect">
            <a:avLst/>
          </a:prstGeom>
          <a:solidFill>
            <a:srgbClr val="1B2A4A"/>
          </a:solidFill>
          <a:ln/>
        </p:spPr>
      </p:sp>
      <p:sp>
        <p:nvSpPr>
          <p:cNvPr id="44" name="Text 42"/>
          <p:cNvSpPr txBox="1"/>
          <p:nvPr/>
        </p:nvSpPr>
        <p:spPr>
          <a:xfrm>
            <a:off x="2392203" y="3239610"/>
            <a:ext cx="569993" cy="165096"/>
          </a:xfrm>
          <a:prstGeom prst="rect">
            <a:avLst/>
          </a:prstGeom>
          <a:noFill/>
          <a:ln/>
        </p:spPr>
        <p:txBody>
          <a:bodyPr wrap="square" lIns="0" tIns="0" rIns="0" bIns="0" rtlCol="0" anchor="t"/>
          <a:lstStyle/>
          <a:p>
            <a:pPr algn="r" indent="0" marL="0">
              <a:lnSpc>
                <a:spcPct val="111111"/>
              </a:lnSpc>
              <a:buNone/>
            </a:pPr>
            <a:r>
              <a:rPr lang="en-US" sz="1000" dirty="0">
                <a:solidFill>
                  <a:srgbClr val="F5F6FC"/>
                </a:solidFill>
                <a:latin typeface="Poppins" pitchFamily="34" charset="0"/>
                <a:ea typeface="Poppins" pitchFamily="34" charset="-122"/>
                <a:cs typeface="Poppins" pitchFamily="34" charset="-120"/>
              </a:rPr>
              <a:t>0,46</a:t>
            </a:r>
            <a:endParaRPr lang="en-US" sz="1000" dirty="0"/>
          </a:p>
        </p:txBody>
      </p:sp>
      <p:sp>
        <p:nvSpPr>
          <p:cNvPr id="45" name="Shape 43"/>
          <p:cNvSpPr/>
          <p:nvPr/>
        </p:nvSpPr>
        <p:spPr>
          <a:xfrm>
            <a:off x="3054571" y="3138012"/>
            <a:ext cx="822404" cy="368291"/>
          </a:xfrm>
          <a:prstGeom prst="rect">
            <a:avLst/>
          </a:prstGeom>
          <a:solidFill>
            <a:srgbClr val="1B2A4A"/>
          </a:solidFill>
          <a:ln/>
        </p:spPr>
      </p:sp>
      <p:sp>
        <p:nvSpPr>
          <p:cNvPr id="46" name="Text 44"/>
          <p:cNvSpPr txBox="1"/>
          <p:nvPr/>
        </p:nvSpPr>
        <p:spPr>
          <a:xfrm>
            <a:off x="3168868" y="3239610"/>
            <a:ext cx="617562" cy="165096"/>
          </a:xfrm>
          <a:prstGeom prst="rect">
            <a:avLst/>
          </a:prstGeom>
          <a:noFill/>
          <a:ln/>
        </p:spPr>
        <p:txBody>
          <a:bodyPr wrap="square" lIns="0" tIns="0" rIns="0" bIns="0" rtlCol="0" anchor="t"/>
          <a:lstStyle/>
          <a:p>
            <a:pPr algn="l" indent="0" marL="0">
              <a:lnSpc>
                <a:spcPct val="111111"/>
              </a:lnSpc>
              <a:buNone/>
            </a:pPr>
            <a:r>
              <a:rPr lang="en-US" sz="1000" b="1" dirty="0">
                <a:solidFill>
                  <a:srgbClr val="F6C344"/>
                </a:solidFill>
                <a:latin typeface="Poppins" pitchFamily="34" charset="0"/>
                <a:ea typeface="Poppins" pitchFamily="34" charset="-122"/>
                <a:cs typeface="Poppins" pitchFamily="34" charset="-120"/>
              </a:rPr>
              <a:t>médio</a:t>
            </a:r>
            <a:endParaRPr lang="en-US" sz="1000" dirty="0"/>
          </a:p>
        </p:txBody>
      </p:sp>
      <p:sp>
        <p:nvSpPr>
          <p:cNvPr id="47" name="Shape 45"/>
          <p:cNvSpPr/>
          <p:nvPr/>
        </p:nvSpPr>
        <p:spPr>
          <a:xfrm>
            <a:off x="3876975" y="3138012"/>
            <a:ext cx="7552739" cy="368291"/>
          </a:xfrm>
          <a:prstGeom prst="rect">
            <a:avLst/>
          </a:prstGeom>
          <a:solidFill>
            <a:srgbClr val="1B2A4A"/>
          </a:solidFill>
          <a:ln/>
        </p:spPr>
      </p:sp>
      <p:sp>
        <p:nvSpPr>
          <p:cNvPr id="48" name="Text 46"/>
          <p:cNvSpPr txBox="1"/>
          <p:nvPr/>
        </p:nvSpPr>
        <p:spPr>
          <a:xfrm>
            <a:off x="3991272" y="3239610"/>
            <a:ext cx="7617111" cy="165096"/>
          </a:xfrm>
          <a:prstGeom prst="rect">
            <a:avLst/>
          </a:prstGeom>
          <a:noFill/>
          <a:ln/>
        </p:spPr>
        <p:txBody>
          <a:bodyPr wrap="square" lIns="0" tIns="0" rIns="0" bIns="0" rtlCol="0" anchor="t"/>
          <a:lstStyle/>
          <a:p>
            <a:pPr algn="l" indent="0" marL="0">
              <a:lnSpc>
                <a:spcPct val="111111"/>
              </a:lnSpc>
              <a:buNone/>
            </a:pPr>
            <a:r>
              <a:rPr lang="en-US" sz="1000" dirty="0">
                <a:solidFill>
                  <a:srgbClr val="F5F6FC"/>
                </a:solidFill>
                <a:latin typeface="Poppins" pitchFamily="34" charset="0"/>
                <a:ea typeface="Poppins" pitchFamily="34" charset="-122"/>
                <a:cs typeface="Poppins" pitchFamily="34" charset="-120"/>
              </a:rPr>
              <a:t>a 0,01 do corte de 0,9 (índice 0,91)</a:t>
            </a:r>
            <a:endParaRPr lang="en-US" sz="1000" dirty="0"/>
          </a:p>
        </p:txBody>
      </p:sp>
      <p:sp>
        <p:nvSpPr>
          <p:cNvPr id="49" name="Shape 47"/>
          <p:cNvSpPr/>
          <p:nvPr/>
        </p:nvSpPr>
        <p:spPr>
          <a:xfrm>
            <a:off x="761981" y="3557102"/>
            <a:ext cx="488839" cy="368291"/>
          </a:xfrm>
          <a:prstGeom prst="rect">
            <a:avLst/>
          </a:prstGeom>
          <a:solidFill>
            <a:srgbClr val="1E1E24"/>
          </a:solidFill>
          <a:ln/>
        </p:spPr>
      </p:sp>
      <p:sp>
        <p:nvSpPr>
          <p:cNvPr id="50" name="Text 48"/>
          <p:cNvSpPr txBox="1"/>
          <p:nvPr/>
        </p:nvSpPr>
        <p:spPr>
          <a:xfrm>
            <a:off x="876278" y="3658699"/>
            <a:ext cx="270654" cy="165096"/>
          </a:xfrm>
          <a:prstGeom prst="rect">
            <a:avLst/>
          </a:prstGeom>
          <a:noFill/>
          <a:ln/>
        </p:spPr>
        <p:txBody>
          <a:bodyPr wrap="square" lIns="0" tIns="0" rIns="0" bIns="0" rtlCol="0" anchor="t"/>
          <a:lstStyle/>
          <a:p>
            <a:pPr algn="l" indent="0" marL="0">
              <a:lnSpc>
                <a:spcPct val="111111"/>
              </a:lnSpc>
              <a:buNone/>
            </a:pPr>
            <a:r>
              <a:rPr lang="en-US" sz="1000" b="1" dirty="0">
                <a:solidFill>
                  <a:srgbClr val="F5F6FC"/>
                </a:solidFill>
                <a:latin typeface="Poppins" pitchFamily="34" charset="0"/>
                <a:ea typeface="Poppins" pitchFamily="34" charset="-122"/>
                <a:cs typeface="Poppins" pitchFamily="34" charset="-120"/>
              </a:rPr>
              <a:t>20</a:t>
            </a:r>
            <a:endParaRPr lang="en-US" sz="1000" dirty="0"/>
          </a:p>
        </p:txBody>
      </p:sp>
      <p:sp>
        <p:nvSpPr>
          <p:cNvPr id="51" name="Shape 49"/>
          <p:cNvSpPr/>
          <p:nvPr/>
        </p:nvSpPr>
        <p:spPr>
          <a:xfrm>
            <a:off x="1250820" y="3557102"/>
            <a:ext cx="1027087" cy="368291"/>
          </a:xfrm>
          <a:prstGeom prst="rect">
            <a:avLst/>
          </a:prstGeom>
          <a:solidFill>
            <a:srgbClr val="1E1E24"/>
          </a:solidFill>
          <a:ln/>
        </p:spPr>
      </p:sp>
      <p:sp>
        <p:nvSpPr>
          <p:cNvPr id="52" name="Text 50"/>
          <p:cNvSpPr txBox="1"/>
          <p:nvPr/>
        </p:nvSpPr>
        <p:spPr>
          <a:xfrm>
            <a:off x="1365117" y="3658699"/>
            <a:ext cx="830432" cy="165096"/>
          </a:xfrm>
          <a:prstGeom prst="rect">
            <a:avLst/>
          </a:prstGeom>
          <a:noFill/>
          <a:ln/>
        </p:spPr>
        <p:txBody>
          <a:bodyPr wrap="square" lIns="0" tIns="0" rIns="0" bIns="0" rtlCol="0" anchor="t"/>
          <a:lstStyle/>
          <a:p>
            <a:pPr algn="l" indent="0" marL="0">
              <a:lnSpc>
                <a:spcPct val="111111"/>
              </a:lnSpc>
              <a:buNone/>
            </a:pPr>
            <a:r>
              <a:rPr lang="en-US" sz="1000" dirty="0">
                <a:solidFill>
                  <a:srgbClr val="F5F6FC"/>
                </a:solidFill>
                <a:latin typeface="Poppins" pitchFamily="34" charset="0"/>
                <a:ea typeface="Poppins" pitchFamily="34" charset="-122"/>
                <a:cs typeface="Poppins" pitchFamily="34" charset="-120"/>
              </a:rPr>
              <a:t>PRJ-026</a:t>
            </a:r>
            <a:endParaRPr lang="en-US" sz="1000" dirty="0"/>
          </a:p>
        </p:txBody>
      </p:sp>
      <p:sp>
        <p:nvSpPr>
          <p:cNvPr id="53" name="Shape 51"/>
          <p:cNvSpPr/>
          <p:nvPr/>
        </p:nvSpPr>
        <p:spPr>
          <a:xfrm>
            <a:off x="2277906" y="3557102"/>
            <a:ext cx="776665" cy="368291"/>
          </a:xfrm>
          <a:prstGeom prst="rect">
            <a:avLst/>
          </a:prstGeom>
          <a:solidFill>
            <a:srgbClr val="1E1E24"/>
          </a:solidFill>
          <a:ln/>
        </p:spPr>
      </p:sp>
      <p:sp>
        <p:nvSpPr>
          <p:cNvPr id="54" name="Text 52"/>
          <p:cNvSpPr txBox="1"/>
          <p:nvPr/>
        </p:nvSpPr>
        <p:spPr>
          <a:xfrm>
            <a:off x="2392203" y="3658699"/>
            <a:ext cx="569993" cy="165096"/>
          </a:xfrm>
          <a:prstGeom prst="rect">
            <a:avLst/>
          </a:prstGeom>
          <a:noFill/>
          <a:ln/>
        </p:spPr>
        <p:txBody>
          <a:bodyPr wrap="square" lIns="0" tIns="0" rIns="0" bIns="0" rtlCol="0" anchor="t"/>
          <a:lstStyle/>
          <a:p>
            <a:pPr algn="r" indent="0" marL="0">
              <a:lnSpc>
                <a:spcPct val="111111"/>
              </a:lnSpc>
              <a:buNone/>
            </a:pPr>
            <a:r>
              <a:rPr lang="en-US" sz="1000" dirty="0">
                <a:solidFill>
                  <a:srgbClr val="F5F6FC"/>
                </a:solidFill>
                <a:latin typeface="Poppins" pitchFamily="34" charset="0"/>
                <a:ea typeface="Poppins" pitchFamily="34" charset="-122"/>
                <a:cs typeface="Poppins" pitchFamily="34" charset="-120"/>
              </a:rPr>
              <a:t>0,35</a:t>
            </a:r>
            <a:endParaRPr lang="en-US" sz="1000" dirty="0"/>
          </a:p>
        </p:txBody>
      </p:sp>
      <p:sp>
        <p:nvSpPr>
          <p:cNvPr id="55" name="Shape 53"/>
          <p:cNvSpPr/>
          <p:nvPr/>
        </p:nvSpPr>
        <p:spPr>
          <a:xfrm>
            <a:off x="3054571" y="3557102"/>
            <a:ext cx="822404" cy="368291"/>
          </a:xfrm>
          <a:prstGeom prst="rect">
            <a:avLst/>
          </a:prstGeom>
          <a:solidFill>
            <a:srgbClr val="1E1E24"/>
          </a:solidFill>
          <a:ln/>
        </p:spPr>
      </p:sp>
      <p:sp>
        <p:nvSpPr>
          <p:cNvPr id="56" name="Text 54"/>
          <p:cNvSpPr txBox="1"/>
          <p:nvPr/>
        </p:nvSpPr>
        <p:spPr>
          <a:xfrm>
            <a:off x="3168868" y="3658699"/>
            <a:ext cx="617562" cy="165096"/>
          </a:xfrm>
          <a:prstGeom prst="rect">
            <a:avLst/>
          </a:prstGeom>
          <a:noFill/>
          <a:ln/>
        </p:spPr>
        <p:txBody>
          <a:bodyPr wrap="square" lIns="0" tIns="0" rIns="0" bIns="0" rtlCol="0" anchor="t"/>
          <a:lstStyle/>
          <a:p>
            <a:pPr algn="l" indent="0" marL="0">
              <a:lnSpc>
                <a:spcPct val="111111"/>
              </a:lnSpc>
              <a:buNone/>
            </a:pPr>
            <a:r>
              <a:rPr lang="en-US" sz="1000" b="1" dirty="0">
                <a:solidFill>
                  <a:srgbClr val="F6C344"/>
                </a:solidFill>
                <a:latin typeface="Poppins" pitchFamily="34" charset="0"/>
                <a:ea typeface="Poppins" pitchFamily="34" charset="-122"/>
                <a:cs typeface="Poppins" pitchFamily="34" charset="-120"/>
              </a:rPr>
              <a:t>médio</a:t>
            </a:r>
            <a:endParaRPr lang="en-US" sz="1000" dirty="0"/>
          </a:p>
        </p:txBody>
      </p:sp>
      <p:sp>
        <p:nvSpPr>
          <p:cNvPr id="57" name="Shape 55"/>
          <p:cNvSpPr/>
          <p:nvPr/>
        </p:nvSpPr>
        <p:spPr>
          <a:xfrm>
            <a:off x="3876975" y="3557102"/>
            <a:ext cx="7552739" cy="368291"/>
          </a:xfrm>
          <a:prstGeom prst="rect">
            <a:avLst/>
          </a:prstGeom>
          <a:solidFill>
            <a:srgbClr val="1E1E24"/>
          </a:solidFill>
          <a:ln/>
        </p:spPr>
      </p:sp>
      <p:sp>
        <p:nvSpPr>
          <p:cNvPr id="58" name="Text 56"/>
          <p:cNvSpPr txBox="1"/>
          <p:nvPr/>
        </p:nvSpPr>
        <p:spPr>
          <a:xfrm>
            <a:off x="3991272" y="3658699"/>
            <a:ext cx="7617111" cy="165096"/>
          </a:xfrm>
          <a:prstGeom prst="rect">
            <a:avLst/>
          </a:prstGeom>
          <a:noFill/>
          <a:ln/>
        </p:spPr>
        <p:txBody>
          <a:bodyPr wrap="square" lIns="0" tIns="0" rIns="0" bIns="0" rtlCol="0" anchor="t"/>
          <a:lstStyle/>
          <a:p>
            <a:pPr algn="l" indent="0" marL="0">
              <a:lnSpc>
                <a:spcPct val="111111"/>
              </a:lnSpc>
              <a:buNone/>
            </a:pPr>
            <a:r>
              <a:rPr lang="en-US" sz="1000" dirty="0">
                <a:solidFill>
                  <a:srgbClr val="F5F6FC"/>
                </a:solidFill>
                <a:latin typeface="Poppins" pitchFamily="34" charset="0"/>
                <a:ea typeface="Poppins" pitchFamily="34" charset="-122"/>
                <a:cs typeface="Poppins" pitchFamily="34" charset="-120"/>
              </a:rPr>
              <a:t>a 0,00 do corte; consultoria atrasando em 2 dos últimos 4 status</a:t>
            </a:r>
            <a:endParaRPr lang="en-US" sz="1000" dirty="0"/>
          </a:p>
        </p:txBody>
      </p:sp>
      <p:sp>
        <p:nvSpPr>
          <p:cNvPr id="59" name="Shape 57"/>
          <p:cNvSpPr/>
          <p:nvPr/>
        </p:nvSpPr>
        <p:spPr>
          <a:xfrm>
            <a:off x="761981" y="3976191"/>
            <a:ext cx="488839" cy="368291"/>
          </a:xfrm>
          <a:prstGeom prst="rect">
            <a:avLst/>
          </a:prstGeom>
          <a:solidFill>
            <a:srgbClr val="1E1E24"/>
          </a:solidFill>
          <a:ln/>
        </p:spPr>
      </p:sp>
      <p:sp>
        <p:nvSpPr>
          <p:cNvPr id="60" name="Text 58"/>
          <p:cNvSpPr txBox="1"/>
          <p:nvPr/>
        </p:nvSpPr>
        <p:spPr>
          <a:xfrm>
            <a:off x="876278" y="4077789"/>
            <a:ext cx="270654" cy="165096"/>
          </a:xfrm>
          <a:prstGeom prst="rect">
            <a:avLst/>
          </a:prstGeom>
          <a:noFill/>
          <a:ln/>
        </p:spPr>
        <p:txBody>
          <a:bodyPr wrap="square" lIns="0" tIns="0" rIns="0" bIns="0" rtlCol="0" anchor="t"/>
          <a:lstStyle/>
          <a:p>
            <a:pPr algn="l" indent="0" marL="0">
              <a:lnSpc>
                <a:spcPct val="111111"/>
              </a:lnSpc>
              <a:buNone/>
            </a:pPr>
            <a:r>
              <a:rPr lang="en-US" sz="1000" b="1" dirty="0">
                <a:solidFill>
                  <a:srgbClr val="F5F6FC"/>
                </a:solidFill>
                <a:latin typeface="Poppins" pitchFamily="34" charset="0"/>
                <a:ea typeface="Poppins" pitchFamily="34" charset="-122"/>
                <a:cs typeface="Poppins" pitchFamily="34" charset="-120"/>
              </a:rPr>
              <a:t>21</a:t>
            </a:r>
            <a:endParaRPr lang="en-US" sz="1000" dirty="0"/>
          </a:p>
        </p:txBody>
      </p:sp>
      <p:sp>
        <p:nvSpPr>
          <p:cNvPr id="61" name="Shape 59"/>
          <p:cNvSpPr/>
          <p:nvPr/>
        </p:nvSpPr>
        <p:spPr>
          <a:xfrm>
            <a:off x="1250820" y="3976191"/>
            <a:ext cx="1027087" cy="368291"/>
          </a:xfrm>
          <a:prstGeom prst="rect">
            <a:avLst/>
          </a:prstGeom>
          <a:solidFill>
            <a:srgbClr val="1E1E24"/>
          </a:solidFill>
          <a:ln/>
        </p:spPr>
      </p:sp>
      <p:sp>
        <p:nvSpPr>
          <p:cNvPr id="62" name="Text 60"/>
          <p:cNvSpPr txBox="1"/>
          <p:nvPr/>
        </p:nvSpPr>
        <p:spPr>
          <a:xfrm>
            <a:off x="1365117" y="4077789"/>
            <a:ext cx="830432" cy="165096"/>
          </a:xfrm>
          <a:prstGeom prst="rect">
            <a:avLst/>
          </a:prstGeom>
          <a:noFill/>
          <a:ln/>
        </p:spPr>
        <p:txBody>
          <a:bodyPr wrap="square" lIns="0" tIns="0" rIns="0" bIns="0" rtlCol="0" anchor="t"/>
          <a:lstStyle/>
          <a:p>
            <a:pPr algn="l" indent="0" marL="0">
              <a:lnSpc>
                <a:spcPct val="111111"/>
              </a:lnSpc>
              <a:buNone/>
            </a:pPr>
            <a:r>
              <a:rPr lang="en-US" sz="1000" dirty="0">
                <a:solidFill>
                  <a:srgbClr val="F5F6FC"/>
                </a:solidFill>
                <a:latin typeface="Poppins" pitchFamily="34" charset="0"/>
                <a:ea typeface="Poppins" pitchFamily="34" charset="-122"/>
                <a:cs typeface="Poppins" pitchFamily="34" charset="-120"/>
              </a:rPr>
              <a:t>PRJ-053</a:t>
            </a:r>
            <a:endParaRPr lang="en-US" sz="1000" dirty="0"/>
          </a:p>
        </p:txBody>
      </p:sp>
      <p:sp>
        <p:nvSpPr>
          <p:cNvPr id="63" name="Shape 61"/>
          <p:cNvSpPr/>
          <p:nvPr/>
        </p:nvSpPr>
        <p:spPr>
          <a:xfrm>
            <a:off x="2277906" y="3976191"/>
            <a:ext cx="776665" cy="368291"/>
          </a:xfrm>
          <a:prstGeom prst="rect">
            <a:avLst/>
          </a:prstGeom>
          <a:solidFill>
            <a:srgbClr val="1E1E24"/>
          </a:solidFill>
          <a:ln/>
        </p:spPr>
      </p:sp>
      <p:sp>
        <p:nvSpPr>
          <p:cNvPr id="64" name="Text 62"/>
          <p:cNvSpPr txBox="1"/>
          <p:nvPr/>
        </p:nvSpPr>
        <p:spPr>
          <a:xfrm>
            <a:off x="2392203" y="4077789"/>
            <a:ext cx="569993" cy="165096"/>
          </a:xfrm>
          <a:prstGeom prst="rect">
            <a:avLst/>
          </a:prstGeom>
          <a:noFill/>
          <a:ln/>
        </p:spPr>
        <p:txBody>
          <a:bodyPr wrap="square" lIns="0" tIns="0" rIns="0" bIns="0" rtlCol="0" anchor="t"/>
          <a:lstStyle/>
          <a:p>
            <a:pPr algn="r" indent="0" marL="0">
              <a:lnSpc>
                <a:spcPct val="111111"/>
              </a:lnSpc>
              <a:buNone/>
            </a:pPr>
            <a:r>
              <a:rPr lang="en-US" sz="1000" dirty="0">
                <a:solidFill>
                  <a:srgbClr val="F5F6FC"/>
                </a:solidFill>
                <a:latin typeface="Poppins" pitchFamily="34" charset="0"/>
                <a:ea typeface="Poppins" pitchFamily="34" charset="-122"/>
                <a:cs typeface="Poppins" pitchFamily="34" charset="-120"/>
              </a:rPr>
              <a:t>0,32</a:t>
            </a:r>
            <a:endParaRPr lang="en-US" sz="1000" dirty="0"/>
          </a:p>
        </p:txBody>
      </p:sp>
      <p:sp>
        <p:nvSpPr>
          <p:cNvPr id="65" name="Shape 63"/>
          <p:cNvSpPr/>
          <p:nvPr/>
        </p:nvSpPr>
        <p:spPr>
          <a:xfrm>
            <a:off x="3054571" y="3976191"/>
            <a:ext cx="822404" cy="368291"/>
          </a:xfrm>
          <a:prstGeom prst="rect">
            <a:avLst/>
          </a:prstGeom>
          <a:solidFill>
            <a:srgbClr val="1E1E24"/>
          </a:solidFill>
          <a:ln/>
        </p:spPr>
      </p:sp>
      <p:sp>
        <p:nvSpPr>
          <p:cNvPr id="66" name="Text 64"/>
          <p:cNvSpPr txBox="1"/>
          <p:nvPr/>
        </p:nvSpPr>
        <p:spPr>
          <a:xfrm>
            <a:off x="3168868" y="4077789"/>
            <a:ext cx="617562" cy="165096"/>
          </a:xfrm>
          <a:prstGeom prst="rect">
            <a:avLst/>
          </a:prstGeom>
          <a:noFill/>
          <a:ln/>
        </p:spPr>
        <p:txBody>
          <a:bodyPr wrap="square" lIns="0" tIns="0" rIns="0" bIns="0" rtlCol="0" anchor="t"/>
          <a:lstStyle/>
          <a:p>
            <a:pPr algn="l" indent="0" marL="0">
              <a:lnSpc>
                <a:spcPct val="111111"/>
              </a:lnSpc>
              <a:buNone/>
            </a:pPr>
            <a:r>
              <a:rPr lang="en-US" sz="1000" b="1" dirty="0">
                <a:solidFill>
                  <a:srgbClr val="F6C344"/>
                </a:solidFill>
                <a:latin typeface="Poppins" pitchFamily="34" charset="0"/>
                <a:ea typeface="Poppins" pitchFamily="34" charset="-122"/>
                <a:cs typeface="Poppins" pitchFamily="34" charset="-120"/>
              </a:rPr>
              <a:t>médio</a:t>
            </a:r>
            <a:endParaRPr lang="en-US" sz="1000" dirty="0"/>
          </a:p>
        </p:txBody>
      </p:sp>
      <p:sp>
        <p:nvSpPr>
          <p:cNvPr id="67" name="Shape 65"/>
          <p:cNvSpPr/>
          <p:nvPr/>
        </p:nvSpPr>
        <p:spPr>
          <a:xfrm>
            <a:off x="3876975" y="3976191"/>
            <a:ext cx="7552739" cy="368291"/>
          </a:xfrm>
          <a:prstGeom prst="rect">
            <a:avLst/>
          </a:prstGeom>
          <a:solidFill>
            <a:srgbClr val="1E1E24"/>
          </a:solidFill>
          <a:ln/>
        </p:spPr>
      </p:sp>
      <p:sp>
        <p:nvSpPr>
          <p:cNvPr id="68" name="Text 66"/>
          <p:cNvSpPr txBox="1"/>
          <p:nvPr/>
        </p:nvSpPr>
        <p:spPr>
          <a:xfrm>
            <a:off x="3991272" y="4077789"/>
            <a:ext cx="7617111" cy="165096"/>
          </a:xfrm>
          <a:prstGeom prst="rect">
            <a:avLst/>
          </a:prstGeom>
          <a:noFill/>
          <a:ln/>
        </p:spPr>
        <p:txBody>
          <a:bodyPr wrap="square" lIns="0" tIns="0" rIns="0" bIns="0" rtlCol="0" anchor="t"/>
          <a:lstStyle/>
          <a:p>
            <a:pPr algn="l" indent="0" marL="0">
              <a:lnSpc>
                <a:spcPct val="111111"/>
              </a:lnSpc>
              <a:buNone/>
            </a:pPr>
            <a:r>
              <a:rPr lang="en-US" sz="1000" dirty="0">
                <a:solidFill>
                  <a:srgbClr val="F5F6FC"/>
                </a:solidFill>
                <a:latin typeface="Poppins" pitchFamily="34" charset="0"/>
                <a:ea typeface="Poppins" pitchFamily="34" charset="-122"/>
                <a:cs typeface="Poppins" pitchFamily="34" charset="-120"/>
              </a:rPr>
              <a:t>ritmo do último mês em 74%; squad perdendo gente: 2 saídas em 12 semanas</a:t>
            </a:r>
            <a:endParaRPr lang="en-US" sz="1000" dirty="0"/>
          </a:p>
        </p:txBody>
      </p:sp>
      <p:sp>
        <p:nvSpPr>
          <p:cNvPr id="69" name="Shape 67"/>
          <p:cNvSpPr/>
          <p:nvPr/>
        </p:nvSpPr>
        <p:spPr>
          <a:xfrm>
            <a:off x="761981" y="4484179"/>
            <a:ext cx="3437348" cy="1194365"/>
          </a:xfrm>
          <a:prstGeom prst="roundRect">
            <a:avLst>
              <a:gd name="adj" fmla="val 12760"/>
            </a:avLst>
          </a:prstGeom>
          <a:solidFill>
            <a:srgbClr val="1E1E24"/>
          </a:solidFill>
          <a:ln w="6350">
            <a:solidFill>
              <a:srgbClr val="2F2F39"/>
            </a:solidFill>
            <a:prstDash val="solid"/>
          </a:ln>
        </p:spPr>
      </p:sp>
      <p:sp>
        <p:nvSpPr>
          <p:cNvPr id="70" name="Text 68"/>
          <p:cNvSpPr txBox="1"/>
          <p:nvPr/>
        </p:nvSpPr>
        <p:spPr>
          <a:xfrm>
            <a:off x="984225" y="4681024"/>
            <a:ext cx="3112573" cy="330192"/>
          </a:xfrm>
          <a:prstGeom prst="rect">
            <a:avLst/>
          </a:prstGeom>
          <a:noFill/>
          <a:ln/>
        </p:spPr>
        <p:txBody>
          <a:bodyPr wrap="square" lIns="0" tIns="0" rIns="0" bIns="0" rtlCol="0" anchor="t"/>
          <a:lstStyle/>
          <a:p>
            <a:pPr algn="l" indent="0" marL="0">
              <a:lnSpc>
                <a:spcPct val="85470"/>
              </a:lnSpc>
              <a:buNone/>
            </a:pPr>
            <a:r>
              <a:rPr lang="en-US" sz="2600" b="1" spc="-52" kern="0" dirty="0">
                <a:solidFill>
                  <a:srgbClr val="F5F6FC"/>
                </a:solidFill>
                <a:latin typeface="Poppins" pitchFamily="34" charset="0"/>
                <a:ea typeface="Poppins" pitchFamily="34" charset="-122"/>
                <a:cs typeface="Poppins" pitchFamily="34" charset="-120"/>
              </a:rPr>
              <a:t>18 · 4 · 19</a:t>
            </a:r>
            <a:endParaRPr lang="en-US" sz="2600" dirty="0"/>
          </a:p>
        </p:txBody>
      </p:sp>
      <p:sp>
        <p:nvSpPr>
          <p:cNvPr id="71" name="Text 69"/>
          <p:cNvSpPr txBox="1"/>
          <p:nvPr/>
        </p:nvSpPr>
        <p:spPr>
          <a:xfrm>
            <a:off x="984225" y="5087413"/>
            <a:ext cx="3112573" cy="394285"/>
          </a:xfrm>
          <a:prstGeom prst="rect">
            <a:avLst/>
          </a:prstGeom>
          <a:noFill/>
          <a:ln/>
        </p:spPr>
        <p:txBody>
          <a:bodyPr wrap="square" lIns="0" tIns="0" rIns="0" bIns="0" rtlCol="0" anchor="t"/>
          <a:lstStyle/>
          <a:p>
            <a:pPr algn="l" indent="0" marL="0">
              <a:lnSpc>
                <a:spcPct val="115385"/>
              </a:lnSpc>
              <a:buNone/>
            </a:pPr>
            <a:r>
              <a:rPr lang="en-US" sz="1150" dirty="0">
                <a:solidFill>
                  <a:srgbClr val="A3A6B4"/>
                </a:solidFill>
                <a:latin typeface="Poppins" pitchFamily="34" charset="0"/>
                <a:ea typeface="Poppins" pitchFamily="34" charset="-122"/>
                <a:cs typeface="Poppins" pitchFamily="34" charset="-120"/>
              </a:rPr>
              <a:t>alto · médio · baixo, dos 41 em andamento</a:t>
            </a:r>
            <a:endParaRPr lang="en-US" sz="1150" dirty="0"/>
          </a:p>
        </p:txBody>
      </p:sp>
      <p:sp>
        <p:nvSpPr>
          <p:cNvPr id="72" name="Shape 70"/>
          <p:cNvSpPr/>
          <p:nvPr/>
        </p:nvSpPr>
        <p:spPr>
          <a:xfrm>
            <a:off x="4377124" y="4484179"/>
            <a:ext cx="3437348" cy="1194365"/>
          </a:xfrm>
          <a:prstGeom prst="roundRect">
            <a:avLst>
              <a:gd name="adj" fmla="val 12760"/>
            </a:avLst>
          </a:prstGeom>
          <a:solidFill>
            <a:srgbClr val="1E1E24"/>
          </a:solidFill>
          <a:ln w="6350">
            <a:solidFill>
              <a:srgbClr val="2F2F39"/>
            </a:solidFill>
            <a:prstDash val="solid"/>
          </a:ln>
        </p:spPr>
      </p:sp>
      <p:sp>
        <p:nvSpPr>
          <p:cNvPr id="73" name="Text 71"/>
          <p:cNvSpPr txBox="1"/>
          <p:nvPr/>
        </p:nvSpPr>
        <p:spPr>
          <a:xfrm>
            <a:off x="4599369" y="4681024"/>
            <a:ext cx="3112573" cy="330192"/>
          </a:xfrm>
          <a:prstGeom prst="rect">
            <a:avLst/>
          </a:prstGeom>
          <a:noFill/>
          <a:ln/>
        </p:spPr>
        <p:txBody>
          <a:bodyPr wrap="square" lIns="0" tIns="0" rIns="0" bIns="0" rtlCol="0" anchor="t"/>
          <a:lstStyle/>
          <a:p>
            <a:pPr algn="l" indent="0" marL="0">
              <a:lnSpc>
                <a:spcPct val="85470"/>
              </a:lnSpc>
              <a:buNone/>
            </a:pPr>
            <a:r>
              <a:rPr lang="en-US" sz="2600" b="1" spc="-52" kern="0" dirty="0">
                <a:solidFill>
                  <a:srgbClr val="F5F6FC"/>
                </a:solidFill>
                <a:latin typeface="Poppins" pitchFamily="34" charset="0"/>
                <a:ea typeface="Poppins" pitchFamily="34" charset="-122"/>
                <a:cs typeface="Poppins" pitchFamily="34" charset="-120"/>
              </a:rPr>
              <a:t>17</a:t>
            </a:r>
            <a:endParaRPr lang="en-US" sz="2600" dirty="0"/>
          </a:p>
        </p:txBody>
      </p:sp>
      <p:sp>
        <p:nvSpPr>
          <p:cNvPr id="74" name="Text 72"/>
          <p:cNvSpPr txBox="1"/>
          <p:nvPr/>
        </p:nvSpPr>
        <p:spPr>
          <a:xfrm>
            <a:off x="4599369" y="5087413"/>
            <a:ext cx="3112573" cy="394285"/>
          </a:xfrm>
          <a:prstGeom prst="rect">
            <a:avLst/>
          </a:prstGeom>
          <a:noFill/>
          <a:ln/>
        </p:spPr>
        <p:txBody>
          <a:bodyPr wrap="square" lIns="0" tIns="0" rIns="0" bIns="0" rtlCol="0" anchor="t"/>
          <a:lstStyle/>
          <a:p>
            <a:pPr algn="l" indent="0" marL="0">
              <a:lnSpc>
                <a:spcPct val="115385"/>
              </a:lnSpc>
              <a:buNone/>
            </a:pPr>
            <a:r>
              <a:rPr lang="en-US" sz="1150" dirty="0">
                <a:solidFill>
                  <a:srgbClr val="A3A6B4"/>
                </a:solidFill>
                <a:latin typeface="Poppins" pitchFamily="34" charset="0"/>
                <a:ea typeface="Poppins" pitchFamily="34" charset="-122"/>
                <a:cs typeface="Poppins" pitchFamily="34" charset="-120"/>
              </a:rPr>
              <a:t>já críticos ou em atenção: probabilidade 1,0</a:t>
            </a:r>
            <a:endParaRPr lang="en-US" sz="1150" dirty="0"/>
          </a:p>
        </p:txBody>
      </p:sp>
      <p:sp>
        <p:nvSpPr>
          <p:cNvPr id="75" name="Shape 73"/>
          <p:cNvSpPr/>
          <p:nvPr/>
        </p:nvSpPr>
        <p:spPr>
          <a:xfrm>
            <a:off x="7992267" y="4484179"/>
            <a:ext cx="3437348" cy="1194365"/>
          </a:xfrm>
          <a:prstGeom prst="roundRect">
            <a:avLst>
              <a:gd name="adj" fmla="val 12760"/>
            </a:avLst>
          </a:prstGeom>
          <a:solidFill>
            <a:srgbClr val="0059DB"/>
          </a:solidFill>
          <a:ln/>
        </p:spPr>
      </p:sp>
      <p:sp>
        <p:nvSpPr>
          <p:cNvPr id="76" name="Text 74"/>
          <p:cNvSpPr txBox="1"/>
          <p:nvPr/>
        </p:nvSpPr>
        <p:spPr>
          <a:xfrm>
            <a:off x="8214512" y="4681024"/>
            <a:ext cx="3112573" cy="330192"/>
          </a:xfrm>
          <a:prstGeom prst="rect">
            <a:avLst/>
          </a:prstGeom>
          <a:noFill/>
          <a:ln/>
        </p:spPr>
        <p:txBody>
          <a:bodyPr wrap="square" lIns="0" tIns="0" rIns="0" bIns="0" rtlCol="0" anchor="t"/>
          <a:lstStyle/>
          <a:p>
            <a:pPr algn="l" indent="0" marL="0">
              <a:lnSpc>
                <a:spcPct val="85470"/>
              </a:lnSpc>
              <a:buNone/>
            </a:pPr>
            <a:r>
              <a:rPr lang="en-US" sz="2600" b="1" spc="-52" kern="0" dirty="0">
                <a:solidFill>
                  <a:srgbClr val="F5F6FC"/>
                </a:solidFill>
                <a:latin typeface="Poppins" pitchFamily="34" charset="0"/>
                <a:ea typeface="Poppins" pitchFamily="34" charset="-122"/>
                <a:cs typeface="Poppins" pitchFamily="34" charset="-120"/>
              </a:rPr>
              <a:t>5</a:t>
            </a:r>
            <a:endParaRPr lang="en-US" sz="2600" dirty="0"/>
          </a:p>
        </p:txBody>
      </p:sp>
      <p:sp>
        <p:nvSpPr>
          <p:cNvPr id="77" name="Text 75"/>
          <p:cNvSpPr txBox="1"/>
          <p:nvPr/>
        </p:nvSpPr>
        <p:spPr>
          <a:xfrm>
            <a:off x="8214512" y="5087413"/>
            <a:ext cx="3112573" cy="394285"/>
          </a:xfrm>
          <a:prstGeom prst="rect">
            <a:avLst/>
          </a:prstGeom>
          <a:noFill/>
          <a:ln/>
        </p:spPr>
        <p:txBody>
          <a:bodyPr wrap="square" lIns="0" tIns="0" rIns="0" bIns="0" rtlCol="0" anchor="t"/>
          <a:lstStyle/>
          <a:p>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"ok" para a regra, mas com risco alto ou médio</a:t>
            </a:r>
            <a:endParaRPr lang="en-US" sz="1150" dirty="0"/>
          </a:p>
        </p:txBody>
      </p:sp>
      <p:pic>
        <p:nvPicPr>
          <p:cNvPr id="78"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79" name="Text 76"/>
          <p:cNvSpPr txBox="1"/>
          <p:nvPr/>
        </p:nvSpPr>
        <p:spPr>
          <a:xfrm>
            <a:off x="10931946" y="6387940"/>
            <a:ext cx="517679"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114 / 133</a:t>
            </a:r>
            <a:endParaRPr lang="en-US" sz="10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3 · O SCORE NO CATÁLOGO</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gold.score_estouro_30d,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uma linha por projeto</a:t>
            </a:r>
            <a:endParaRPr lang="en-US" sz="3100" dirty="0"/>
          </a:p>
        </p:txBody>
      </p:sp>
      <p:pic>
        <p:nvPicPr>
          <p:cNvPr id="4" name="Image 0" descr="preencoded.png">    </p:cNvPr>
          <p:cNvPicPr>
            <a:picLocks noChangeAspect="1"/>
          </p:cNvPicPr>
          <p:nvPr/>
        </p:nvPicPr>
        <p:blipFill>
          <a:blip r:embed="rId2"/>
          <a:stretch>
            <a:fillRect/>
          </a:stretch>
        </p:blipFill>
        <p:spPr>
          <a:xfrm>
            <a:off x="2767057" y="1455304"/>
            <a:ext cx="6657581" cy="4571886"/>
          </a:xfrm>
          <a:prstGeom prst="rect">
            <a:avLst/>
          </a:prstGeom>
        </p:spPr>
      </p:pic>
      <p:pic>
        <p:nvPicPr>
          <p:cNvPr id="5" name="Image 1" descr="preencoded.png">    </p:cNvPr>
          <p:cNvPicPr>
            <a:picLocks noChangeAspect="1"/>
          </p:cNvPicPr>
          <p:nvPr/>
        </p:nvPicPr>
        <p:blipFill>
          <a:blip r:embed="rId3"/>
          <a:stretch>
            <a:fillRect/>
          </a:stretch>
        </p:blipFill>
        <p:spPr>
          <a:xfrm>
            <a:off x="761981" y="6387940"/>
            <a:ext cx="2059928" cy="190495"/>
          </a:xfrm>
          <a:prstGeom prst="rect">
            <a:avLst/>
          </a:prstGeom>
        </p:spPr>
      </p:pic>
      <p:sp>
        <p:nvSpPr>
          <p:cNvPr id="6" name="Text 2"/>
          <p:cNvSpPr txBox="1"/>
          <p:nvPr/>
        </p:nvSpPr>
        <p:spPr>
          <a:xfrm>
            <a:off x="10932938" y="6387940"/>
            <a:ext cx="516647"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115 / 133</a:t>
            </a:r>
            <a:endParaRPr lang="en-US" sz="10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3 · O "UAU"</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PRJ-024: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ok hoje, 46% de estourar</a:t>
            </a:r>
            <a:endParaRPr lang="en-US" sz="3100" dirty="0"/>
          </a:p>
        </p:txBody>
      </p:sp>
      <p:sp>
        <p:nvSpPr>
          <p:cNvPr id="4" name="Shape 2"/>
          <p:cNvSpPr/>
          <p:nvPr/>
        </p:nvSpPr>
        <p:spPr>
          <a:xfrm>
            <a:off x="761981" y="1582301"/>
            <a:ext cx="3437348" cy="1816948"/>
          </a:xfrm>
          <a:prstGeom prst="roundRect">
            <a:avLst>
              <a:gd name="adj" fmla="val 8387"/>
            </a:avLst>
          </a:prstGeom>
          <a:solidFill>
            <a:srgbClr val="1E1E24"/>
          </a:solidFill>
          <a:ln w="6350">
            <a:solidFill>
              <a:srgbClr val="2F2F39"/>
            </a:solidFill>
            <a:prstDash val="solid"/>
          </a:ln>
        </p:spPr>
      </p:sp>
      <p:sp>
        <p:nvSpPr>
          <p:cNvPr id="5" name="Shape 3"/>
          <p:cNvSpPr/>
          <p:nvPr/>
        </p:nvSpPr>
        <p:spPr>
          <a:xfrm>
            <a:off x="984225" y="1779146"/>
            <a:ext cx="1208454" cy="247644"/>
          </a:xfrm>
          <a:prstGeom prst="roundRect">
            <a:avLst>
              <a:gd name="adj" fmla="val 50000"/>
            </a:avLst>
          </a:prstGeom>
          <a:solidFill>
            <a:srgbClr val="22C2F4">
              <a:alpha val="14000"/>
            </a:srgbClr>
          </a:solidFill>
          <a:ln/>
        </p:spPr>
      </p:sp>
      <p:sp>
        <p:nvSpPr>
          <p:cNvPr id="6" name="Text 4"/>
          <p:cNvSpPr txBox="1"/>
          <p:nvPr/>
        </p:nvSpPr>
        <p:spPr>
          <a:xfrm>
            <a:off x="1073123" y="1817245"/>
            <a:ext cx="1071885"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O número de hoje</a:t>
            </a:r>
            <a:endParaRPr lang="en-US" sz="900" dirty="0"/>
          </a:p>
        </p:txBody>
      </p:sp>
      <p:sp>
        <p:nvSpPr>
          <p:cNvPr id="7" name="Text 5"/>
          <p:cNvSpPr txBox="1"/>
          <p:nvPr/>
        </p:nvSpPr>
        <p:spPr>
          <a:xfrm>
            <a:off x="984225" y="2115688"/>
            <a:ext cx="3112573" cy="419090"/>
          </a:xfrm>
          <a:prstGeom prst="rect">
            <a:avLst/>
          </a:prstGeom>
          <a:noFill/>
          <a:ln/>
        </p:spPr>
        <p:txBody>
          <a:bodyPr wrap="square" lIns="0" tIns="0" rIns="0" bIns="0" rtlCol="0" anchor="t"/>
          <a:lstStyle/>
          <a:p>
            <a:pPr algn="l" indent="0" marL="0">
              <a:lnSpc>
                <a:spcPct val="85470"/>
              </a:lnSpc>
              <a:buNone/>
            </a:pPr>
            <a:r>
              <a:rPr lang="en-US" sz="3300" b="1" spc="-66" kern="0" dirty="0">
                <a:solidFill>
                  <a:srgbClr val="3ECF8E"/>
                </a:solidFill>
                <a:latin typeface="Poppins" pitchFamily="34" charset="0"/>
                <a:ea typeface="Poppins" pitchFamily="34" charset="-122"/>
                <a:cs typeface="Poppins" pitchFamily="34" charset="-120"/>
              </a:rPr>
              <a:t>SPI 0,91</a:t>
            </a:r>
            <a:endParaRPr lang="en-US" sz="3300" dirty="0"/>
          </a:p>
        </p:txBody>
      </p:sp>
      <p:sp>
        <p:nvSpPr>
          <p:cNvPr id="8" name="Text 6"/>
          <p:cNvSpPr txBox="1"/>
          <p:nvPr/>
        </p:nvSpPr>
        <p:spPr>
          <a:xfrm>
            <a:off x="984225" y="2610975"/>
            <a:ext cx="3112573" cy="197143"/>
          </a:xfrm>
          <a:prstGeom prst="rect">
            <a:avLst/>
          </a:prstGeom>
          <a:noFill/>
          <a:ln/>
        </p:spPr>
        <p:txBody>
          <a:bodyPr wrap="square" lIns="0" tIns="0" rIns="0" bIns="0" rtlCol="0" anchor="t"/>
          <a:lstStyle/>
          <a:p>
            <a:pPr algn="l" indent="0" marL="0">
              <a:lnSpc>
                <a:spcPct val="115385"/>
              </a:lnSpc>
              <a:buNone/>
            </a:pPr>
            <a:r>
              <a:rPr lang="en-US" sz="1150" dirty="0">
                <a:solidFill>
                  <a:srgbClr val="A3A6B4"/>
                </a:solidFill>
                <a:latin typeface="Poppins" pitchFamily="34" charset="0"/>
                <a:ea typeface="Poppins" pitchFamily="34" charset="-122"/>
                <a:cs typeface="Poppins" pitchFamily="34" charset="-120"/>
              </a:rPr>
              <a:t>a regra diz ok</a:t>
            </a:r>
            <a:endParaRPr lang="en-US" sz="1150" dirty="0"/>
          </a:p>
        </p:txBody>
      </p:sp>
      <p:sp>
        <p:nvSpPr>
          <p:cNvPr id="9" name="Shape 7"/>
          <p:cNvSpPr/>
          <p:nvPr/>
        </p:nvSpPr>
        <p:spPr>
          <a:xfrm>
            <a:off x="4377124" y="1582301"/>
            <a:ext cx="3437348" cy="1816948"/>
          </a:xfrm>
          <a:prstGeom prst="roundRect">
            <a:avLst>
              <a:gd name="adj" fmla="val 8387"/>
            </a:avLst>
          </a:prstGeom>
          <a:solidFill>
            <a:srgbClr val="0059DB"/>
          </a:solidFill>
          <a:ln/>
        </p:spPr>
      </p:sp>
      <p:sp>
        <p:nvSpPr>
          <p:cNvPr id="10" name="Shape 8"/>
          <p:cNvSpPr/>
          <p:nvPr/>
        </p:nvSpPr>
        <p:spPr>
          <a:xfrm>
            <a:off x="4599369" y="1779146"/>
            <a:ext cx="740153" cy="247644"/>
          </a:xfrm>
          <a:prstGeom prst="roundRect">
            <a:avLst>
              <a:gd name="adj" fmla="val 50000"/>
            </a:avLst>
          </a:prstGeom>
          <a:solidFill>
            <a:srgbClr val="FFFFFF">
              <a:alpha val="16000"/>
            </a:srgbClr>
          </a:solidFill>
          <a:ln/>
        </p:spPr>
      </p:sp>
      <p:sp>
        <p:nvSpPr>
          <p:cNvPr id="11" name="Text 9"/>
          <p:cNvSpPr txBox="1"/>
          <p:nvPr/>
        </p:nvSpPr>
        <p:spPr>
          <a:xfrm>
            <a:off x="4688266" y="1817245"/>
            <a:ext cx="584852"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O modelo</a:t>
            </a:r>
            <a:endParaRPr lang="en-US" sz="900" dirty="0"/>
          </a:p>
        </p:txBody>
      </p:sp>
      <p:sp>
        <p:nvSpPr>
          <p:cNvPr id="12" name="Text 10"/>
          <p:cNvSpPr txBox="1"/>
          <p:nvPr/>
        </p:nvSpPr>
        <p:spPr>
          <a:xfrm>
            <a:off x="4599369" y="2115688"/>
            <a:ext cx="3112573" cy="419090"/>
          </a:xfrm>
          <a:prstGeom prst="rect">
            <a:avLst/>
          </a:prstGeom>
          <a:noFill/>
          <a:ln/>
        </p:spPr>
        <p:txBody>
          <a:bodyPr wrap="square" lIns="0" tIns="0" rIns="0" bIns="0" rtlCol="0" anchor="t"/>
          <a:lstStyle/>
          <a:p>
            <a:pPr algn="l" indent="0" marL="0">
              <a:lnSpc>
                <a:spcPct val="85470"/>
              </a:lnSpc>
              <a:buNone/>
            </a:pPr>
            <a:r>
              <a:rPr lang="en-US" sz="3300" b="1" spc="-66" kern="0" dirty="0">
                <a:solidFill>
                  <a:srgbClr val="F5F6FC"/>
                </a:solidFill>
                <a:latin typeface="Poppins" pitchFamily="34" charset="0"/>
                <a:ea typeface="Poppins" pitchFamily="34" charset="-122"/>
                <a:cs typeface="Poppins" pitchFamily="34" charset="-120"/>
              </a:rPr>
              <a:t>46%</a:t>
            </a:r>
            <a:endParaRPr lang="en-US" sz="3300" dirty="0"/>
          </a:p>
        </p:txBody>
      </p:sp>
      <p:sp>
        <p:nvSpPr>
          <p:cNvPr id="13" name="Text 11"/>
          <p:cNvSpPr txBox="1"/>
          <p:nvPr/>
        </p:nvSpPr>
        <p:spPr>
          <a:xfrm>
            <a:off x="4599369" y="2610975"/>
            <a:ext cx="3112573" cy="197143"/>
          </a:xfrm>
          <a:prstGeom prst="rect">
            <a:avLst/>
          </a:prstGeom>
          <a:noFill/>
          <a:ln/>
        </p:spPr>
        <p:txBody>
          <a:bodyPr wrap="square" lIns="0" tIns="0" rIns="0" bIns="0" rtlCol="0" anchor="t"/>
          <a:lstStyle/>
          <a:p>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de cruzar 0,9 nos próximos 30 dias</a:t>
            </a:r>
            <a:endParaRPr lang="en-US" sz="1150" dirty="0"/>
          </a:p>
        </p:txBody>
      </p:sp>
      <p:sp>
        <p:nvSpPr>
          <p:cNvPr id="14" name="Shape 12"/>
          <p:cNvSpPr/>
          <p:nvPr/>
        </p:nvSpPr>
        <p:spPr>
          <a:xfrm>
            <a:off x="7992267" y="1582301"/>
            <a:ext cx="3437348" cy="1816948"/>
          </a:xfrm>
          <a:prstGeom prst="roundRect">
            <a:avLst>
              <a:gd name="adj" fmla="val 8387"/>
            </a:avLst>
          </a:prstGeom>
          <a:solidFill>
            <a:srgbClr val="1E1E24"/>
          </a:solidFill>
          <a:ln w="6350">
            <a:solidFill>
              <a:srgbClr val="2F2F39"/>
            </a:solidFill>
            <a:prstDash val="solid"/>
          </a:ln>
        </p:spPr>
      </p:sp>
      <p:sp>
        <p:nvSpPr>
          <p:cNvPr id="15" name="Shape 13"/>
          <p:cNvSpPr/>
          <p:nvPr/>
        </p:nvSpPr>
        <p:spPr>
          <a:xfrm>
            <a:off x="8214512" y="1779146"/>
            <a:ext cx="924795" cy="247644"/>
          </a:xfrm>
          <a:prstGeom prst="roundRect">
            <a:avLst>
              <a:gd name="adj" fmla="val 50000"/>
            </a:avLst>
          </a:prstGeom>
          <a:solidFill>
            <a:srgbClr val="22C2F4">
              <a:alpha val="14000"/>
            </a:srgbClr>
          </a:solidFill>
          <a:ln/>
        </p:spPr>
      </p:sp>
      <p:sp>
        <p:nvSpPr>
          <p:cNvPr id="16" name="Text 14"/>
          <p:cNvSpPr txBox="1"/>
          <p:nvPr/>
        </p:nvSpPr>
        <p:spPr>
          <a:xfrm>
            <a:off x="8303410" y="1817245"/>
            <a:ext cx="776879"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O calendário</a:t>
            </a:r>
            <a:endParaRPr lang="en-US" sz="900" dirty="0"/>
          </a:p>
        </p:txBody>
      </p:sp>
      <p:sp>
        <p:nvSpPr>
          <p:cNvPr id="17" name="Text 15"/>
          <p:cNvSpPr txBox="1"/>
          <p:nvPr/>
        </p:nvSpPr>
        <p:spPr>
          <a:xfrm>
            <a:off x="8214512" y="2115688"/>
            <a:ext cx="3112573" cy="419090"/>
          </a:xfrm>
          <a:prstGeom prst="rect">
            <a:avLst/>
          </a:prstGeom>
          <a:noFill/>
          <a:ln/>
        </p:spPr>
        <p:txBody>
          <a:bodyPr wrap="square" lIns="0" tIns="0" rIns="0" bIns="0" rtlCol="0" anchor="t"/>
          <a:lstStyle/>
          <a:p>
            <a:pPr algn="l" indent="0" marL="0">
              <a:lnSpc>
                <a:spcPct val="85470"/>
              </a:lnSpc>
              <a:buNone/>
            </a:pPr>
            <a:r>
              <a:rPr lang="en-US" sz="3300" b="1" spc="-66" kern="0" dirty="0">
                <a:solidFill>
                  <a:srgbClr val="F6C344"/>
                </a:solidFill>
                <a:latin typeface="Poppins" pitchFamily="34" charset="0"/>
                <a:ea typeface="Poppins" pitchFamily="34" charset="-122"/>
                <a:cs typeface="Poppins" pitchFamily="34" charset="-120"/>
              </a:rPr>
              <a:t>01/11</a:t>
            </a:r>
            <a:endParaRPr lang="en-US" sz="3300" dirty="0"/>
          </a:p>
        </p:txBody>
      </p:sp>
      <p:sp>
        <p:nvSpPr>
          <p:cNvPr id="18" name="Text 16"/>
          <p:cNvSpPr txBox="1"/>
          <p:nvPr/>
        </p:nvSpPr>
        <p:spPr>
          <a:xfrm>
            <a:off x="8214512" y="2610975"/>
            <a:ext cx="3112573" cy="591428"/>
          </a:xfrm>
          <a:prstGeom prst="rect">
            <a:avLst/>
          </a:prstGeom>
          <a:noFill/>
          <a:ln/>
        </p:spPr>
        <p:txBody>
          <a:bodyPr wrap="square" lIns="0" tIns="0" rIns="0" bIns="0" rtlCol="0" anchor="t"/>
          <a:lstStyle/>
          <a:p>
            <a:pPr algn="l" indent="0" marL="0">
              <a:lnSpc>
                <a:spcPct val="115385"/>
              </a:lnSpc>
              <a:buNone/>
            </a:pPr>
            <a:r>
              <a:rPr lang="en-US" sz="1150" dirty="0">
                <a:solidFill>
                  <a:srgbClr val="A3A6B4"/>
                </a:solidFill>
                <a:latin typeface="Poppins" pitchFamily="34" charset="0"/>
                <a:ea typeface="Poppins" pitchFamily="34" charset="-122"/>
                <a:cs typeface="Poppins" pitchFamily="34" charset="-120"/>
              </a:rPr>
              <a:t>começa o change freeze da Black Friday: marketplace sem deploy até 10/01</a:t>
            </a:r>
            <a:endParaRPr lang="en-US" sz="1150" dirty="0"/>
          </a:p>
        </p:txBody>
      </p:sp>
      <p:sp>
        <p:nvSpPr>
          <p:cNvPr id="19" name="Shape 17"/>
          <p:cNvSpPr/>
          <p:nvPr/>
        </p:nvSpPr>
        <p:spPr>
          <a:xfrm>
            <a:off x="761981" y="3589744"/>
            <a:ext cx="10667733" cy="1252109"/>
          </a:xfrm>
          <a:prstGeom prst="roundRect">
            <a:avLst>
              <a:gd name="adj" fmla="val 12171"/>
            </a:avLst>
          </a:prstGeom>
          <a:solidFill>
            <a:srgbClr val="1E1E24"/>
          </a:solidFill>
          <a:ln w="6350">
            <a:solidFill>
              <a:srgbClr val="2F2F39"/>
            </a:solidFill>
            <a:prstDash val="solid"/>
          </a:ln>
        </p:spPr>
      </p:sp>
      <p:sp>
        <p:nvSpPr>
          <p:cNvPr id="20" name="Shape 18"/>
          <p:cNvSpPr/>
          <p:nvPr/>
        </p:nvSpPr>
        <p:spPr>
          <a:xfrm>
            <a:off x="984225" y="3786589"/>
            <a:ext cx="1968352" cy="247644"/>
          </a:xfrm>
          <a:prstGeom prst="roundRect">
            <a:avLst>
              <a:gd name="adj" fmla="val 50000"/>
            </a:avLst>
          </a:prstGeom>
          <a:solidFill>
            <a:srgbClr val="22C2F4">
              <a:alpha val="14000"/>
            </a:srgbClr>
          </a:solidFill>
          <a:ln/>
        </p:spPr>
      </p:sp>
      <p:sp>
        <p:nvSpPr>
          <p:cNvPr id="21" name="Text 19"/>
          <p:cNvSpPr txBox="1"/>
          <p:nvPr/>
        </p:nvSpPr>
        <p:spPr>
          <a:xfrm>
            <a:off x="1073123" y="3824688"/>
            <a:ext cx="1862178"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E a lição de qualidade: PRJ-013</a:t>
            </a:r>
            <a:endParaRPr lang="en-US" sz="900" dirty="0"/>
          </a:p>
        </p:txBody>
      </p:sp>
      <p:sp>
        <p:nvSpPr>
          <p:cNvPr id="22" name="Text 20"/>
          <p:cNvSpPr txBox="1"/>
          <p:nvPr/>
        </p:nvSpPr>
        <p:spPr>
          <a:xfrm>
            <a:off x="984225" y="4199329"/>
            <a:ext cx="10632174" cy="445679"/>
          </a:xfrm>
          <a:prstGeom prst="rect">
            <a:avLst/>
          </a:prstGeom>
          <a:noFill/>
          <a:ln/>
        </p:spPr>
        <p:txBody>
          <a:bodyPr wrap="square" lIns="0" tIns="0" rIns="0" bIns="0" rtlCol="0" anchor="t"/>
          <a:lstStyle/>
          <a:p>
            <a:pPr algn="l" indent="0" marL="0">
              <a:lnSpc>
                <a:spcPct val="115385"/>
              </a:lnSpc>
              <a:buNone/>
            </a:pPr>
            <a:r>
              <a:rPr lang="en-US" sz="1300" dirty="0">
                <a:solidFill>
                  <a:srgbClr val="FFFFFF"/>
                </a:solidFill>
                <a:latin typeface="Poppins" pitchFamily="34" charset="0"/>
                <a:ea typeface="Poppins" pitchFamily="34" charset="-122"/>
                <a:cs typeface="Poppins" pitchFamily="34" charset="-120"/>
              </a:rPr>
              <a:t>O status de sexta diz 43%; a planilha diz 45%. O modelo usa o boletim e vê índice 0,90; a ferramenta diz 0,94. Quando as fontes não batem, o modelo avisa antes de o número "melhorar" no papel.</a:t>
            </a:r>
            <a:endParaRPr lang="en-US" sz="1300" dirty="0"/>
          </a:p>
        </p:txBody>
      </p:sp>
      <p:pic>
        <p:nvPicPr>
          <p:cNvPr id="23"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24" name="Text 21"/>
          <p:cNvSpPr txBox="1"/>
          <p:nvPr/>
        </p:nvSpPr>
        <p:spPr>
          <a:xfrm>
            <a:off x="10932641" y="6387940"/>
            <a:ext cx="516956"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116 / 133</a:t>
            </a:r>
            <a:endParaRPr lang="en-US" sz="10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2169165"/>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4 · QUINTA, 22/10 · ENGENHEIRO DE IA</a:t>
            </a:r>
            <a:endParaRPr lang="en-US" sz="1200" dirty="0"/>
          </a:p>
        </p:txBody>
      </p:sp>
      <p:sp>
        <p:nvSpPr>
          <p:cNvPr id="3" name="Text 1"/>
          <p:cNvSpPr txBox="1"/>
          <p:nvPr/>
        </p:nvSpPr>
        <p:spPr>
          <a:xfrm>
            <a:off x="761981" y="2493007"/>
            <a:ext cx="11094443" cy="1554322"/>
          </a:xfrm>
          <a:prstGeom prst="rect">
            <a:avLst/>
          </a:prstGeom>
          <a:noFill/>
          <a:ln/>
        </p:spPr>
        <p:txBody>
          <a:bodyPr wrap="square" lIns="0" tIns="0" rIns="0" bIns="0" rtlCol="0" anchor="t"/>
          <a:lstStyle/>
          <a:p>
            <a:pPr algn="l" indent="0" marL="0">
              <a:lnSpc>
                <a:spcPct val="87179"/>
              </a:lnSpc>
              <a:buNone/>
            </a:pPr>
            <a:r>
              <a:rPr lang="en-US" sz="6000" b="1" spc="-120" kern="0" dirty="0">
                <a:solidFill>
                  <a:srgbClr val="F5F6FC"/>
                </a:solidFill>
                <a:latin typeface="Poppins" pitchFamily="34" charset="0"/>
                <a:ea typeface="Poppins" pitchFamily="34" charset="-122"/>
                <a:cs typeface="Poppins" pitchFamily="34" charset="-120"/>
              </a:rPr>
              <a:t>Do dado</a:t>
            </a:r>
            <a:endParaRPr lang="en-US" sz="6000" dirty="0"/>
          </a:p>
          <a:p>
            <a:pPr algn="l" indent="0" marL="0">
              <a:lnSpc>
                <a:spcPct val="87179"/>
              </a:lnSpc>
              <a:buNone/>
            </a:pPr>
            <a:r>
              <a:rPr lang="en-US" sz="6000" b="1" spc="-120" kern="0" dirty="0">
                <a:solidFill>
                  <a:srgbClr val="22C2F4"/>
                </a:solidFill>
                <a:latin typeface="Poppins" pitchFamily="34" charset="0"/>
                <a:ea typeface="Poppins" pitchFamily="34" charset="-122"/>
                <a:cs typeface="Poppins" pitchFamily="34" charset="-120"/>
              </a:rPr>
              <a:t>à decisão do dono</a:t>
            </a:r>
            <a:endParaRPr lang="en-US" sz="6000" dirty="0"/>
          </a:p>
        </p:txBody>
      </p:sp>
      <p:sp>
        <p:nvSpPr>
          <p:cNvPr id="4" name="Text 2"/>
          <p:cNvSpPr txBox="1"/>
          <p:nvPr/>
        </p:nvSpPr>
        <p:spPr>
          <a:xfrm>
            <a:off x="761981" y="4237825"/>
            <a:ext cx="11094443" cy="323842"/>
          </a:xfrm>
          <a:prstGeom prst="rect">
            <a:avLst/>
          </a:prstGeom>
          <a:noFill/>
          <a:ln/>
        </p:spPr>
        <p:txBody>
          <a:bodyPr wrap="square" lIns="0" tIns="0" rIns="0" bIns="0" rtlCol="0" anchor="t"/>
          <a:lstStyle/>
          <a:p>
            <a:pPr algn="l" indent="0" marL="0">
              <a:lnSpc>
                <a:spcPct val="106838"/>
              </a:lnSpc>
              <a:buNone/>
            </a:pPr>
            <a:r>
              <a:rPr lang="en-US" sz="1700" dirty="0">
                <a:solidFill>
                  <a:srgbClr val="A3A6B4"/>
                </a:solidFill>
                <a:latin typeface="Poppins" pitchFamily="34" charset="0"/>
                <a:ea typeface="Poppins" pitchFamily="34" charset="-122"/>
                <a:cs typeface="Poppins" pitchFamily="34" charset="-120"/>
              </a:rPr>
              <a:t>A IA lê os contratos em PDF, a Torre vira um app, e a decisão fica gravada com nome e hora.</a:t>
            </a:r>
            <a:endParaRPr lang="en-US" sz="1700" dirty="0"/>
          </a:p>
        </p:txBody>
      </p:sp>
      <p:pic>
        <p:nvPicPr>
          <p:cNvPr id="5" name="Image 0" descr="preencoded.png">    </p:cNvPr>
          <p:cNvPicPr>
            <a:picLocks noChangeAspect="1"/>
          </p:cNvPicPr>
          <p:nvPr/>
        </p:nvPicPr>
        <p:blipFill>
          <a:blip r:embed="rId2"/>
          <a:stretch>
            <a:fillRect/>
          </a:stretch>
        </p:blipFill>
        <p:spPr>
          <a:xfrm>
            <a:off x="761981" y="6299043"/>
            <a:ext cx="3021135" cy="279393"/>
          </a:xfrm>
          <a:prstGeom prst="rect">
            <a:avLst/>
          </a:prstGeom>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4 · COMO RODAR</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Três prompts e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um script que sobe tudo</a:t>
            </a:r>
            <a:endParaRPr lang="en-US" sz="3100" dirty="0"/>
          </a:p>
        </p:txBody>
      </p:sp>
      <p:sp>
        <p:nvSpPr>
          <p:cNvPr id="4" name="Text 2"/>
          <p:cNvSpPr txBox="1"/>
          <p:nvPr/>
        </p:nvSpPr>
        <p:spPr>
          <a:xfrm>
            <a:off x="876278" y="1582301"/>
            <a:ext cx="2038418" cy="171446"/>
          </a:xfrm>
          <a:prstGeom prst="rect">
            <a:avLst/>
          </a:prstGeom>
          <a:noFill/>
          <a:ln/>
        </p:spPr>
        <p:txBody>
          <a:bodyPr wrap="square" lIns="0" tIns="0" rIns="0" bIns="0" rtlCol="0" anchor="t"/>
          <a:lstStyle/>
          <a:p>
            <a:pPr algn="l"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PROMPT</a:t>
            </a:r>
            <a:endParaRPr lang="en-US" sz="900" dirty="0"/>
          </a:p>
        </p:txBody>
      </p:sp>
      <p:sp>
        <p:nvSpPr>
          <p:cNvPr id="5" name="Text 3"/>
          <p:cNvSpPr txBox="1"/>
          <p:nvPr/>
        </p:nvSpPr>
        <p:spPr>
          <a:xfrm>
            <a:off x="3064890" y="1582301"/>
            <a:ext cx="8580548" cy="171446"/>
          </a:xfrm>
          <a:prstGeom prst="rect">
            <a:avLst/>
          </a:prstGeom>
          <a:noFill/>
          <a:ln/>
        </p:spPr>
        <p:txBody>
          <a:bodyPr wrap="square" lIns="0" tIns="0" rIns="0" bIns="0" rtlCol="0" anchor="t"/>
          <a:lstStyle/>
          <a:p>
            <a:pPr algn="l"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O QUE NASCE</a:t>
            </a:r>
            <a:endParaRPr lang="en-US" sz="900" dirty="0"/>
          </a:p>
        </p:txBody>
      </p:sp>
      <p:sp>
        <p:nvSpPr>
          <p:cNvPr id="6" name="Shape 4"/>
          <p:cNvSpPr/>
          <p:nvPr/>
        </p:nvSpPr>
        <p:spPr>
          <a:xfrm>
            <a:off x="761981" y="1880744"/>
            <a:ext cx="2188612" cy="384761"/>
          </a:xfrm>
          <a:prstGeom prst="rect">
            <a:avLst/>
          </a:prstGeom>
          <a:solidFill>
            <a:srgbClr val="1E1E24"/>
          </a:solidFill>
          <a:ln/>
        </p:spPr>
      </p:sp>
      <p:sp>
        <p:nvSpPr>
          <p:cNvPr id="7" name="Text 5"/>
          <p:cNvSpPr txBox="1"/>
          <p:nvPr/>
        </p:nvSpPr>
        <p:spPr>
          <a:xfrm>
            <a:off x="876278" y="1982341"/>
            <a:ext cx="2038418" cy="181566"/>
          </a:xfrm>
          <a:prstGeom prst="rect">
            <a:avLst/>
          </a:prstGeom>
          <a:noFill/>
          <a:ln/>
        </p:spPr>
        <p:txBody>
          <a:bodyPr wrap="square" lIns="0" tIns="0" rIns="0" bIns="0" rtlCol="0" anchor="t"/>
          <a:lstStyle/>
          <a:p>
            <a:pPr algn="l" indent="0" marL="0">
              <a:lnSpc>
                <a:spcPct val="111111"/>
              </a:lnSpc>
              <a:buNone/>
            </a:pPr>
            <a:r>
              <a:rPr lang="en-US" sz="1100" b="1" dirty="0">
                <a:solidFill>
                  <a:srgbClr val="F5F6FC"/>
                </a:solidFill>
                <a:latin typeface="Poppins" pitchFamily="34" charset="0"/>
                <a:ea typeface="Poppins" pitchFamily="34" charset="-122"/>
                <a:cs typeface="Poppins" pitchFamily="34" charset="-120"/>
              </a:rPr>
              <a:t>1 · agente de contratos</a:t>
            </a:r>
            <a:endParaRPr lang="en-US" sz="1100" dirty="0"/>
          </a:p>
        </p:txBody>
      </p:sp>
      <p:sp>
        <p:nvSpPr>
          <p:cNvPr id="8" name="Shape 6"/>
          <p:cNvSpPr/>
          <p:nvPr/>
        </p:nvSpPr>
        <p:spPr>
          <a:xfrm>
            <a:off x="2950593" y="1880744"/>
            <a:ext cx="8479122" cy="384761"/>
          </a:xfrm>
          <a:prstGeom prst="rect">
            <a:avLst/>
          </a:prstGeom>
          <a:solidFill>
            <a:srgbClr val="1E1E24"/>
          </a:solidFill>
          <a:ln/>
        </p:spPr>
      </p:sp>
      <p:sp>
        <p:nvSpPr>
          <p:cNvPr id="9" name="Text 7"/>
          <p:cNvSpPr txBox="1"/>
          <p:nvPr/>
        </p:nvSpPr>
        <p:spPr>
          <a:xfrm>
            <a:off x="3064890" y="1982341"/>
            <a:ext cx="8580548"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ai_parse_document + ai_extract nos 8 PDFs → </a:t>
            </a:r>
            <a:pPr algn="l" indent="0" marL="0">
              <a:lnSpc>
                <a:spcPct val="111111"/>
              </a:lnSpc>
              <a:buNone/>
            </a:pPr>
            <a:r>
              <a:rPr lang="en-US" sz="1100" b="1" dirty="0">
                <a:solidFill>
                  <a:srgbClr val="FFFFFF"/>
                </a:solidFill>
                <a:latin typeface="Poppins" pitchFamily="34" charset="0"/>
                <a:ea typeface="Poppins" pitchFamily="34" charset="-122"/>
                <a:cs typeface="Poppins" pitchFamily="34" charset="-120"/>
              </a:rPr>
              <a:t>gold.contratos</a:t>
            </a:r>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 Genie "Farol · Diretoria + Contratos"</a:t>
            </a:r>
            <a:endParaRPr lang="en-US" sz="1100" dirty="0"/>
          </a:p>
        </p:txBody>
      </p:sp>
      <p:sp>
        <p:nvSpPr>
          <p:cNvPr id="10" name="Shape 8"/>
          <p:cNvSpPr/>
          <p:nvPr/>
        </p:nvSpPr>
        <p:spPr>
          <a:xfrm>
            <a:off x="761981" y="2316303"/>
            <a:ext cx="2188612" cy="384761"/>
          </a:xfrm>
          <a:prstGeom prst="rect">
            <a:avLst/>
          </a:prstGeom>
          <a:solidFill>
            <a:srgbClr val="1E1E24"/>
          </a:solidFill>
          <a:ln/>
        </p:spPr>
      </p:sp>
      <p:sp>
        <p:nvSpPr>
          <p:cNvPr id="11" name="Text 9"/>
          <p:cNvSpPr txBox="1"/>
          <p:nvPr/>
        </p:nvSpPr>
        <p:spPr>
          <a:xfrm>
            <a:off x="876278" y="2417900"/>
            <a:ext cx="2038418" cy="181566"/>
          </a:xfrm>
          <a:prstGeom prst="rect">
            <a:avLst/>
          </a:prstGeom>
          <a:noFill/>
          <a:ln/>
        </p:spPr>
        <p:txBody>
          <a:bodyPr wrap="square" lIns="0" tIns="0" rIns="0" bIns="0" rtlCol="0" anchor="t"/>
          <a:lstStyle/>
          <a:p>
            <a:pPr algn="l" indent="0" marL="0">
              <a:lnSpc>
                <a:spcPct val="111111"/>
              </a:lnSpc>
              <a:buNone/>
            </a:pPr>
            <a:r>
              <a:rPr lang="en-US" sz="1100" b="1" dirty="0">
                <a:solidFill>
                  <a:srgbClr val="F5F6FC"/>
                </a:solidFill>
                <a:latin typeface="Poppins" pitchFamily="34" charset="0"/>
                <a:ea typeface="Poppins" pitchFamily="34" charset="-122"/>
                <a:cs typeface="Poppins" pitchFamily="34" charset="-120"/>
              </a:rPr>
              <a:t>2 · o app</a:t>
            </a:r>
            <a:endParaRPr lang="en-US" sz="1100" dirty="0"/>
          </a:p>
        </p:txBody>
      </p:sp>
      <p:sp>
        <p:nvSpPr>
          <p:cNvPr id="12" name="Shape 10"/>
          <p:cNvSpPr/>
          <p:nvPr/>
        </p:nvSpPr>
        <p:spPr>
          <a:xfrm>
            <a:off x="2950593" y="2316303"/>
            <a:ext cx="8479122" cy="384761"/>
          </a:xfrm>
          <a:prstGeom prst="rect">
            <a:avLst/>
          </a:prstGeom>
          <a:solidFill>
            <a:srgbClr val="1E1E24"/>
          </a:solidFill>
          <a:ln/>
        </p:spPr>
      </p:sp>
      <p:sp>
        <p:nvSpPr>
          <p:cNvPr id="13" name="Text 11"/>
          <p:cNvSpPr txBox="1"/>
          <p:nvPr/>
        </p:nvSpPr>
        <p:spPr>
          <a:xfrm>
            <a:off x="3064890" y="2417900"/>
            <a:ext cx="8580548" cy="181566"/>
          </a:xfrm>
          <a:prstGeom prst="rect">
            <a:avLst/>
          </a:prstGeom>
          <a:noFill/>
          <a:ln/>
        </p:spPr>
        <p:txBody>
          <a:bodyPr wrap="square" lIns="0" tIns="0" rIns="0" bIns="0" rtlCol="0" anchor="t"/>
          <a:lstStyle/>
          <a:p>
            <a:pPr algn="l" indent="0" marL="0">
              <a:lnSpc>
                <a:spcPct val="111111"/>
              </a:lnSpc>
              <a:buNone/>
            </a:pPr>
            <a:r>
              <a:rPr lang="en-US" sz="1100" b="1" dirty="0">
                <a:solidFill>
                  <a:srgbClr val="FFFFFF"/>
                </a:solidFill>
                <a:latin typeface="Poppins" pitchFamily="34" charset="0"/>
                <a:ea typeface="Poppins" pitchFamily="34" charset="-122"/>
                <a:cs typeface="Poppins" pitchFamily="34" charset="-120"/>
              </a:rPr>
              <a:t>farol-torre</a:t>
            </a:r>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 (AppKit): Projetos em risco, Simulador, Perguntar</a:t>
            </a:r>
            <a:endParaRPr lang="en-US" sz="1100" dirty="0"/>
          </a:p>
        </p:txBody>
      </p:sp>
      <p:sp>
        <p:nvSpPr>
          <p:cNvPr id="14" name="Shape 12"/>
          <p:cNvSpPr/>
          <p:nvPr/>
        </p:nvSpPr>
        <p:spPr>
          <a:xfrm>
            <a:off x="761981" y="2751862"/>
            <a:ext cx="2188612" cy="384761"/>
          </a:xfrm>
          <a:prstGeom prst="rect">
            <a:avLst/>
          </a:prstGeom>
          <a:solidFill>
            <a:srgbClr val="1E1E24"/>
          </a:solidFill>
          <a:ln/>
        </p:spPr>
      </p:sp>
      <p:sp>
        <p:nvSpPr>
          <p:cNvPr id="15" name="Text 13"/>
          <p:cNvSpPr txBox="1"/>
          <p:nvPr/>
        </p:nvSpPr>
        <p:spPr>
          <a:xfrm>
            <a:off x="876278" y="2853460"/>
            <a:ext cx="2038418" cy="181566"/>
          </a:xfrm>
          <a:prstGeom prst="rect">
            <a:avLst/>
          </a:prstGeom>
          <a:noFill/>
          <a:ln/>
        </p:spPr>
        <p:txBody>
          <a:bodyPr wrap="square" lIns="0" tIns="0" rIns="0" bIns="0" rtlCol="0" anchor="t"/>
          <a:lstStyle/>
          <a:p>
            <a:pPr algn="l" indent="0" marL="0">
              <a:lnSpc>
                <a:spcPct val="111111"/>
              </a:lnSpc>
              <a:buNone/>
            </a:pPr>
            <a:r>
              <a:rPr lang="en-US" sz="1100" b="1" dirty="0">
                <a:solidFill>
                  <a:srgbClr val="F5F6FC"/>
                </a:solidFill>
                <a:latin typeface="Poppins" pitchFamily="34" charset="0"/>
                <a:ea typeface="Poppins" pitchFamily="34" charset="-122"/>
                <a:cs typeface="Poppins" pitchFamily="34" charset="-120"/>
              </a:rPr>
              <a:t>3 · aprovação</a:t>
            </a:r>
            <a:endParaRPr lang="en-US" sz="1100" dirty="0"/>
          </a:p>
        </p:txBody>
      </p:sp>
      <p:sp>
        <p:nvSpPr>
          <p:cNvPr id="16" name="Shape 14"/>
          <p:cNvSpPr/>
          <p:nvPr/>
        </p:nvSpPr>
        <p:spPr>
          <a:xfrm>
            <a:off x="2950593" y="2751862"/>
            <a:ext cx="8479122" cy="384761"/>
          </a:xfrm>
          <a:prstGeom prst="rect">
            <a:avLst/>
          </a:prstGeom>
          <a:solidFill>
            <a:srgbClr val="1E1E24"/>
          </a:solidFill>
          <a:ln/>
        </p:spPr>
      </p:sp>
      <p:sp>
        <p:nvSpPr>
          <p:cNvPr id="17" name="Text 15"/>
          <p:cNvSpPr txBox="1"/>
          <p:nvPr/>
        </p:nvSpPr>
        <p:spPr>
          <a:xfrm>
            <a:off x="3064890" y="2853460"/>
            <a:ext cx="8580548" cy="181566"/>
          </a:xfrm>
          <a:prstGeom prst="rect">
            <a:avLst/>
          </a:prstGeom>
          <a:noFill/>
          <a:ln/>
        </p:spPr>
        <p:txBody>
          <a:bodyPr wrap="square" lIns="0" tIns="0" rIns="0" bIns="0" rtlCol="0" anchor="t"/>
          <a:lstStyle/>
          <a:p>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a aba Decisões, gravando no </a:t>
            </a:r>
            <a:pPr algn="l" indent="0" marL="0">
              <a:lnSpc>
                <a:spcPct val="111111"/>
              </a:lnSpc>
              <a:buNone/>
            </a:pPr>
            <a:r>
              <a:rPr lang="en-US" sz="1100" b="1" dirty="0">
                <a:solidFill>
                  <a:srgbClr val="FFFFFF"/>
                </a:solidFill>
                <a:latin typeface="Poppins" pitchFamily="34" charset="0"/>
                <a:ea typeface="Poppins" pitchFamily="34" charset="-122"/>
                <a:cs typeface="Poppins" pitchFamily="34" charset="-120"/>
              </a:rPr>
              <a:t>Lakebase</a:t>
            </a:r>
            <a:pPr algn="l" indent="0" marL="0">
              <a:lnSpc>
                <a:spcPct val="111111"/>
              </a:lnSpc>
              <a:buNone/>
            </a:pPr>
            <a:r>
              <a:rPr lang="en-US" sz="1100" dirty="0">
                <a:solidFill>
                  <a:srgbClr val="F5F6FC"/>
                </a:solidFill>
                <a:latin typeface="Poppins" pitchFamily="34" charset="0"/>
                <a:ea typeface="Poppins" pitchFamily="34" charset="-122"/>
                <a:cs typeface="Poppins" pitchFamily="34" charset="-120"/>
              </a:rPr>
              <a:t> (Postgres) com o usuário e o horário</a:t>
            </a:r>
            <a:endParaRPr lang="en-US" sz="1100" dirty="0"/>
          </a:p>
        </p:txBody>
      </p:sp>
      <p:sp>
        <p:nvSpPr>
          <p:cNvPr id="18" name="Shape 16"/>
          <p:cNvSpPr/>
          <p:nvPr/>
        </p:nvSpPr>
        <p:spPr>
          <a:xfrm>
            <a:off x="761981" y="3301719"/>
            <a:ext cx="10667733" cy="711182"/>
          </a:xfrm>
          <a:prstGeom prst="roundRect">
            <a:avLst>
              <a:gd name="adj" fmla="val 16071"/>
            </a:avLst>
          </a:prstGeom>
          <a:solidFill>
            <a:srgbClr val="0C0C10"/>
          </a:solidFill>
          <a:ln w="6350">
            <a:solidFill>
              <a:srgbClr val="2F2F39"/>
            </a:solidFill>
            <a:prstDash val="solid"/>
          </a:ln>
        </p:spPr>
      </p:sp>
      <p:sp>
        <p:nvSpPr>
          <p:cNvPr id="19" name="Text 17"/>
          <p:cNvSpPr txBox="1"/>
          <p:nvPr/>
        </p:nvSpPr>
        <p:spPr>
          <a:xfrm>
            <a:off x="958826" y="3473165"/>
            <a:ext cx="10691609" cy="374641"/>
          </a:xfrm>
          <a:prstGeom prst="rect">
            <a:avLst/>
          </a:prstGeom>
          <a:noFill/>
          <a:ln/>
        </p:spPr>
        <p:txBody>
          <a:bodyPr wrap="square" lIns="0" tIns="0" rIns="0" bIns="0" rtlCol="0" anchor="t"/>
          <a:lstStyle/>
          <a:p>
            <a:pPr algn="l" indent="0" marL="0">
              <a:lnSpc>
                <a:spcPct val="123932"/>
              </a:lnSpc>
              <a:buNone/>
            </a:pPr>
            <a:r>
              <a:rPr lang="en-US" sz="1000" dirty="0">
                <a:solidFill>
                  <a:srgbClr val="6E7180"/>
                </a:solidFill>
                <a:latin typeface="Courier New" pitchFamily="34" charset="0"/>
                <a:ea typeface="Courier New" pitchFamily="34" charset="-122"/>
                <a:cs typeface="Courier New" pitchFamily="34" charset="-120"/>
              </a:rPr>
              <a:t># do zero, na ordem que funciona: Lakebase → contratos → Genie → app</a:t>
            </a:r>
            <a:pPr algn="l" indent="0" marL="0">
              <a:lnSpc>
                <a:spcPct val="123932"/>
              </a:lnSpc>
              <a:buNone/>
            </a:pPr>
            <a:endParaRPr lang="en-US" sz="1000" dirty="0"/>
          </a:p>
          <a:p>
            <a:pPr algn="l" indent="0" marL="0">
              <a:lnSpc>
                <a:spcPct val="123932"/>
              </a:lnSpc>
              <a:buNone/>
            </a:pPr>
            <a:r>
              <a:rPr lang="en-US" sz="1000" dirty="0">
                <a:solidFill>
                  <a:srgbClr val="E6E8F2"/>
                </a:solidFill>
                <a:latin typeface="Courier New" pitchFamily="34" charset="0"/>
                <a:ea typeface="Courier New" pitchFamily="34" charset="-122"/>
                <a:cs typeface="Courier New" pitchFamily="34" charset="-120"/>
              </a:rPr>
              <a:t>bash aulas/aula-04-engenheiro-ia/torre-app/scripts/subir-tudo.sh SEU-PERFIL</a:t>
            </a:r>
            <a:endParaRPr lang="en-US" sz="1000" dirty="0"/>
          </a:p>
        </p:txBody>
      </p:sp>
      <p:sp>
        <p:nvSpPr>
          <p:cNvPr id="20" name="Shape 18"/>
          <p:cNvSpPr/>
          <p:nvPr/>
        </p:nvSpPr>
        <p:spPr>
          <a:xfrm>
            <a:off x="761981" y="4139898"/>
            <a:ext cx="25399" cy="495288"/>
          </a:xfrm>
          <a:prstGeom prst="rect">
            <a:avLst/>
          </a:prstGeom>
          <a:solidFill>
            <a:srgbClr val="22C2F4"/>
          </a:solidFill>
          <a:ln/>
        </p:spPr>
      </p:sp>
      <p:sp>
        <p:nvSpPr>
          <p:cNvPr id="21" name="Text 19"/>
          <p:cNvSpPr txBox="1"/>
          <p:nvPr/>
        </p:nvSpPr>
        <p:spPr>
          <a:xfrm>
            <a:off x="914377" y="4177997"/>
            <a:ext cx="10935951" cy="419090"/>
          </a:xfrm>
          <a:prstGeom prst="rect">
            <a:avLst/>
          </a:prstGeom>
          <a:noFill/>
          <a:ln/>
        </p:spPr>
        <p:txBody>
          <a:bodyPr wrap="square" lIns="0" tIns="0" rIns="0" bIns="0" rtlCol="0" anchor="t"/>
          <a:lstStyle/>
          <a:p>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O app é um usuário do Unity Catalog: </a:t>
            </a:r>
            <a:pPr algn="l" indent="0" marL="0">
              <a:lnSpc>
                <a:spcPct val="106838"/>
              </a:lnSpc>
              <a:buNone/>
            </a:pPr>
            <a:r>
              <a:rPr lang="en-US" sz="1100" b="1" dirty="0">
                <a:solidFill>
                  <a:srgbClr val="FFFFFF"/>
                </a:solidFill>
                <a:latin typeface="Poppins" pitchFamily="34" charset="0"/>
                <a:ea typeface="Poppins" pitchFamily="34" charset="-122"/>
                <a:cs typeface="Poppins" pitchFamily="34" charset="-120"/>
              </a:rPr>
              <a:t>conceder-acesso.sh</a:t>
            </a:r>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 dá USE e SELECT na gold e na silver antes do build. O primeiro acesso pede "Authorize", feito por uma pessoa.</a:t>
            </a:r>
            <a:endParaRPr lang="en-US" sz="1100" dirty="0"/>
          </a:p>
        </p:txBody>
      </p:sp>
      <p:pic>
        <p:nvPicPr>
          <p:cNvPr id="22"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23" name="Text 20"/>
          <p:cNvSpPr txBox="1"/>
          <p:nvPr/>
        </p:nvSpPr>
        <p:spPr>
          <a:xfrm>
            <a:off x="10933137" y="6387940"/>
            <a:ext cx="516441"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118 / 133</a:t>
            </a:r>
            <a:endParaRPr lang="en-US" sz="10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4 · O AGENTE QUE LÊ CONTRATO</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8 PDFs,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uma tabela na gold</a:t>
            </a:r>
            <a:endParaRPr lang="en-US" sz="3100" dirty="0"/>
          </a:p>
        </p:txBody>
      </p:sp>
      <p:sp>
        <p:nvSpPr>
          <p:cNvPr id="4" name="Shape 2"/>
          <p:cNvSpPr/>
          <p:nvPr/>
        </p:nvSpPr>
        <p:spPr>
          <a:xfrm>
            <a:off x="761981" y="1582301"/>
            <a:ext cx="10667733" cy="4577045"/>
          </a:xfrm>
          <a:prstGeom prst="roundRect">
            <a:avLst>
              <a:gd name="adj" fmla="val 3052"/>
            </a:avLst>
          </a:prstGeom>
          <a:solidFill>
            <a:srgbClr val="101016"/>
          </a:solidFill>
          <a:ln w="6350">
            <a:solidFill>
              <a:srgbClr val="2F2F39"/>
            </a:solidFill>
            <a:prstDash val="solid"/>
          </a:ln>
        </p:spPr>
      </p:sp>
      <p:pic>
        <p:nvPicPr>
          <p:cNvPr id="5" name="Image 0" descr="preencoded.png">    </p:cNvPr>
          <p:cNvPicPr>
            <a:picLocks noChangeAspect="1"/>
          </p:cNvPicPr>
          <p:nvPr/>
        </p:nvPicPr>
        <p:blipFill>
          <a:blip r:embed="rId2"/>
          <a:stretch>
            <a:fillRect/>
          </a:stretch>
        </p:blipFill>
        <p:spPr>
          <a:xfrm>
            <a:off x="908027" y="1728347"/>
            <a:ext cx="10375641" cy="4284952"/>
          </a:xfrm>
          <a:prstGeom prst="rect">
            <a:avLst/>
          </a:prstGeom>
        </p:spPr>
      </p:pic>
      <p:pic>
        <p:nvPicPr>
          <p:cNvPr id="6" name="Image 1" descr="preencoded.png">    </p:cNvPr>
          <p:cNvPicPr>
            <a:picLocks noChangeAspect="1"/>
          </p:cNvPicPr>
          <p:nvPr/>
        </p:nvPicPr>
        <p:blipFill>
          <a:blip r:embed="rId3"/>
          <a:stretch>
            <a:fillRect/>
          </a:stretch>
        </p:blipFill>
        <p:spPr>
          <a:xfrm>
            <a:off x="761981" y="6387940"/>
            <a:ext cx="2059928" cy="190495"/>
          </a:xfrm>
          <a:prstGeom prst="rect">
            <a:avLst/>
          </a:prstGeom>
        </p:spPr>
      </p:pic>
      <p:sp>
        <p:nvSpPr>
          <p:cNvPr id="7" name="Text 3"/>
          <p:cNvSpPr txBox="1"/>
          <p:nvPr/>
        </p:nvSpPr>
        <p:spPr>
          <a:xfrm>
            <a:off x="10933534" y="6387940"/>
            <a:ext cx="516028"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119 / 133</a:t>
            </a:r>
            <a:endParaRPr lang="en-US" sz="10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4 · A LIÇÃO DO AI_EXTRACT</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Sem schema, texto.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Com schema, dado.</a:t>
            </a:r>
            <a:endParaRPr lang="en-US" sz="3100" dirty="0"/>
          </a:p>
        </p:txBody>
      </p:sp>
      <p:sp>
        <p:nvSpPr>
          <p:cNvPr id="4" name="Shape 2"/>
          <p:cNvSpPr/>
          <p:nvPr/>
        </p:nvSpPr>
        <p:spPr>
          <a:xfrm>
            <a:off x="761981" y="1582301"/>
            <a:ext cx="5238619" cy="2174920"/>
          </a:xfrm>
          <a:prstGeom prst="roundRect">
            <a:avLst>
              <a:gd name="adj" fmla="val 7007"/>
            </a:avLst>
          </a:prstGeom>
          <a:solidFill>
            <a:srgbClr val="1E1E24"/>
          </a:solidFill>
          <a:ln w="6350">
            <a:solidFill>
              <a:srgbClr val="2F2F39"/>
            </a:solidFill>
            <a:prstDash val="solid"/>
          </a:ln>
        </p:spPr>
      </p:sp>
      <p:sp>
        <p:nvSpPr>
          <p:cNvPr id="5" name="Shape 3"/>
          <p:cNvSpPr/>
          <p:nvPr/>
        </p:nvSpPr>
        <p:spPr>
          <a:xfrm>
            <a:off x="984225" y="1779146"/>
            <a:ext cx="939380" cy="247644"/>
          </a:xfrm>
          <a:prstGeom prst="roundRect">
            <a:avLst>
              <a:gd name="adj" fmla="val 50000"/>
            </a:avLst>
          </a:prstGeom>
          <a:solidFill>
            <a:srgbClr val="22C2F4">
              <a:alpha val="14000"/>
            </a:srgbClr>
          </a:solidFill>
          <a:ln/>
        </p:spPr>
      </p:sp>
      <p:sp>
        <p:nvSpPr>
          <p:cNvPr id="6" name="Text 4"/>
          <p:cNvSpPr txBox="1"/>
          <p:nvPr/>
        </p:nvSpPr>
        <p:spPr>
          <a:xfrm>
            <a:off x="1073123" y="1817245"/>
            <a:ext cx="792047"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Sem schema</a:t>
            </a:r>
            <a:endParaRPr lang="en-US" sz="900" dirty="0"/>
          </a:p>
        </p:txBody>
      </p:sp>
      <p:sp>
        <p:nvSpPr>
          <p:cNvPr id="7" name="Shape 5"/>
          <p:cNvSpPr/>
          <p:nvPr/>
        </p:nvSpPr>
        <p:spPr>
          <a:xfrm>
            <a:off x="984225" y="2115688"/>
            <a:ext cx="4794130" cy="1005656"/>
          </a:xfrm>
          <a:prstGeom prst="roundRect">
            <a:avLst>
              <a:gd name="adj" fmla="val 11365"/>
            </a:avLst>
          </a:prstGeom>
          <a:solidFill>
            <a:srgbClr val="0C0C10"/>
          </a:solidFill>
          <a:ln w="6350">
            <a:solidFill>
              <a:srgbClr val="2F2F39"/>
            </a:solidFill>
            <a:prstDash val="solid"/>
          </a:ln>
        </p:spPr>
      </p:sp>
      <p:sp>
        <p:nvSpPr>
          <p:cNvPr id="8" name="Text 6"/>
          <p:cNvSpPr txBox="1"/>
          <p:nvPr/>
        </p:nvSpPr>
        <p:spPr>
          <a:xfrm>
            <a:off x="1181070" y="2287133"/>
            <a:ext cx="4583061" cy="669115"/>
          </a:xfrm>
          <a:prstGeom prst="rect">
            <a:avLst/>
          </a:prstGeom>
          <a:noFill/>
          <a:ln/>
        </p:spPr>
        <p:txBody>
          <a:bodyPr wrap="square" lIns="0" tIns="0" rIns="0" bIns="0" rtlCol="0" anchor="t"/>
          <a:lstStyle/>
          <a:p>
            <a:pPr algn="l" indent="0" marL="0">
              <a:lnSpc>
                <a:spcPct val="123932"/>
              </a:lnSpc>
              <a:buNone/>
            </a:pPr>
            <a:r>
              <a:rPr lang="en-US" sz="900" dirty="0">
                <a:solidFill>
                  <a:srgbClr val="E6E8F2"/>
                </a:solidFill>
                <a:latin typeface="Courier New" pitchFamily="34" charset="0"/>
                <a:ea typeface="Courier New" pitchFamily="34" charset="-122"/>
                <a:cs typeface="Courier New" pitchFamily="34" charset="-120"/>
              </a:rPr>
              <a:t>{"multa_atraso": "0,2% do valor da entrega</a:t>
            </a:r>
            <a:endParaRPr lang="en-US" sz="900" dirty="0"/>
          </a:p>
          <a:p>
            <a:pPr algn="l" indent="0" marL="0">
              <a:lnSpc>
                <a:spcPct val="123932"/>
              </a:lnSpc>
              <a:buNone/>
            </a:pPr>
            <a:r>
              <a:rPr lang="en-US" sz="900" dirty="0">
                <a:solidFill>
                  <a:srgbClr val="E6E8F2"/>
                </a:solidFill>
                <a:latin typeface="Courier New" pitchFamily="34" charset="0"/>
                <a:ea typeface="Courier New" pitchFamily="34" charset="-122"/>
                <a:cs typeface="Courier New" pitchFamily="34" charset="-120"/>
              </a:rPr>
              <a:t>  atrasada por dia corrido, limitada a 5%",</a:t>
            </a:r>
            <a:endParaRPr lang="en-US" sz="900" dirty="0"/>
          </a:p>
          <a:p>
            <a:pPr algn="l" indent="0" marL="0">
              <a:lnSpc>
                <a:spcPct val="123932"/>
              </a:lnSpc>
              <a:buNone/>
            </a:pPr>
            <a:r>
              <a:rPr lang="en-US" sz="900" dirty="0">
                <a:solidFill>
                  <a:srgbClr val="E6E8F2"/>
                </a:solidFill>
                <a:latin typeface="Courier New" pitchFamily="34" charset="0"/>
                <a:ea typeface="Courier New" pitchFamily="34" charset="-122"/>
                <a:cs typeface="Courier New" pitchFamily="34" charset="-120"/>
              </a:rPr>
              <a:t> "renovacao_automatica": "renovado</a:t>
            </a:r>
            <a:endParaRPr lang="en-US" sz="900" dirty="0"/>
          </a:p>
          <a:p>
            <a:pPr algn="l" indent="0" marL="0">
              <a:lnSpc>
                <a:spcPct val="123932"/>
              </a:lnSpc>
              <a:buNone/>
            </a:pPr>
            <a:r>
              <a:rPr lang="en-US" sz="900" dirty="0">
                <a:solidFill>
                  <a:srgbClr val="E6E8F2"/>
                </a:solidFill>
                <a:latin typeface="Courier New" pitchFamily="34" charset="0"/>
                <a:ea typeface="Courier New" pitchFamily="34" charset="-122"/>
                <a:cs typeface="Courier New" pitchFamily="34" charset="-120"/>
              </a:rPr>
              <a:t>  automaticamente por mais 12 meses"}</a:t>
            </a:r>
            <a:endParaRPr lang="en-US" sz="900" dirty="0"/>
          </a:p>
        </p:txBody>
      </p:sp>
      <p:sp>
        <p:nvSpPr>
          <p:cNvPr id="9" name="Text 7"/>
          <p:cNvSpPr txBox="1"/>
          <p:nvPr/>
        </p:nvSpPr>
        <p:spPr>
          <a:xfrm>
            <a:off x="984225" y="3197542"/>
            <a:ext cx="4985895" cy="197143"/>
          </a:xfrm>
          <a:prstGeom prst="rect">
            <a:avLst/>
          </a:prstGeom>
          <a:noFill/>
          <a:ln/>
        </p:spPr>
        <p:txBody>
          <a:bodyPr wrap="square" lIns="0" tIns="0" rIns="0" bIns="0" rtlCol="0" anchor="t"/>
          <a:lstStyle/>
          <a:p>
            <a:pPr algn="l" indent="0" marL="0">
              <a:lnSpc>
                <a:spcPct val="115385"/>
              </a:lnSpc>
              <a:buNone/>
            </a:pPr>
            <a:r>
              <a:rPr lang="en-US" sz="1150" dirty="0">
                <a:solidFill>
                  <a:srgbClr val="A3A6B4"/>
                </a:solidFill>
                <a:latin typeface="Poppins" pitchFamily="34" charset="0"/>
                <a:ea typeface="Poppins" pitchFamily="34" charset="-122"/>
                <a:cs typeface="Poppins" pitchFamily="34" charset="-120"/>
              </a:rPr>
              <a:t>Não dá para somar nem comparar.</a:t>
            </a:r>
            <a:endParaRPr lang="en-US" sz="1150" dirty="0"/>
          </a:p>
        </p:txBody>
      </p:sp>
      <p:sp>
        <p:nvSpPr>
          <p:cNvPr id="10" name="Shape 8"/>
          <p:cNvSpPr/>
          <p:nvPr/>
        </p:nvSpPr>
        <p:spPr>
          <a:xfrm>
            <a:off x="6191095" y="1582301"/>
            <a:ext cx="5238619" cy="2174920"/>
          </a:xfrm>
          <a:prstGeom prst="roundRect">
            <a:avLst>
              <a:gd name="adj" fmla="val 7007"/>
            </a:avLst>
          </a:prstGeom>
          <a:solidFill>
            <a:srgbClr val="0059DB"/>
          </a:solidFill>
          <a:ln/>
        </p:spPr>
      </p:sp>
      <p:sp>
        <p:nvSpPr>
          <p:cNvPr id="11" name="Shape 9"/>
          <p:cNvSpPr/>
          <p:nvPr/>
        </p:nvSpPr>
        <p:spPr>
          <a:xfrm>
            <a:off x="6413340" y="1779146"/>
            <a:ext cx="1704436" cy="247644"/>
          </a:xfrm>
          <a:prstGeom prst="roundRect">
            <a:avLst>
              <a:gd name="adj" fmla="val 50000"/>
            </a:avLst>
          </a:prstGeom>
          <a:solidFill>
            <a:srgbClr val="FFFFFF">
              <a:alpha val="16000"/>
            </a:srgbClr>
          </a:solidFill>
          <a:ln/>
        </p:spPr>
      </p:sp>
      <p:sp>
        <p:nvSpPr>
          <p:cNvPr id="12" name="Text 10"/>
          <p:cNvSpPr txBox="1"/>
          <p:nvPr/>
        </p:nvSpPr>
        <p:spPr>
          <a:xfrm>
            <a:off x="6502237" y="1817245"/>
            <a:ext cx="1587706"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Com JSON schema tipado</a:t>
            </a:r>
            <a:endParaRPr lang="en-US" sz="900" dirty="0"/>
          </a:p>
        </p:txBody>
      </p:sp>
      <p:sp>
        <p:nvSpPr>
          <p:cNvPr id="13" name="Shape 11"/>
          <p:cNvSpPr/>
          <p:nvPr/>
        </p:nvSpPr>
        <p:spPr>
          <a:xfrm>
            <a:off x="6413340" y="2115688"/>
            <a:ext cx="4794130" cy="1171347"/>
          </a:xfrm>
          <a:prstGeom prst="roundRect">
            <a:avLst>
              <a:gd name="adj" fmla="val 9758"/>
            </a:avLst>
          </a:prstGeom>
          <a:solidFill>
            <a:srgbClr val="0C0C10"/>
          </a:solidFill>
          <a:ln w="6350">
            <a:solidFill>
              <a:srgbClr val="2F2F39"/>
            </a:solidFill>
            <a:prstDash val="solid"/>
          </a:ln>
        </p:spPr>
      </p:sp>
      <p:sp>
        <p:nvSpPr>
          <p:cNvPr id="14" name="Text 12"/>
          <p:cNvSpPr txBox="1"/>
          <p:nvPr/>
        </p:nvSpPr>
        <p:spPr>
          <a:xfrm>
            <a:off x="6610185" y="2287133"/>
            <a:ext cx="4583061" cy="834806"/>
          </a:xfrm>
          <a:prstGeom prst="rect">
            <a:avLst/>
          </a:prstGeom>
          <a:noFill/>
          <a:ln/>
        </p:spPr>
        <p:txBody>
          <a:bodyPr wrap="square" lIns="0" tIns="0" rIns="0" bIns="0" rtlCol="0" anchor="t"/>
          <a:lstStyle/>
          <a:p>
            <a:pPr algn="l" indent="0" marL="0">
              <a:lnSpc>
                <a:spcPct val="123932"/>
              </a:lnSpc>
              <a:buNone/>
            </a:pPr>
            <a:r>
              <a:rPr lang="en-US" sz="900" dirty="0">
                <a:solidFill>
                  <a:srgbClr val="E6E8F2"/>
                </a:solidFill>
                <a:latin typeface="Courier New" pitchFamily="34" charset="0"/>
                <a:ea typeface="Courier New" pitchFamily="34" charset="-122"/>
                <a:cs typeface="Courier New" pitchFamily="34" charset="-120"/>
              </a:rPr>
              <a:t>multa_atraso_pct_dia  0.5     (number)</a:t>
            </a:r>
            <a:endParaRPr lang="en-US" sz="900" dirty="0"/>
          </a:p>
          <a:p>
            <a:pPr algn="l" indent="0" marL="0">
              <a:lnSpc>
                <a:spcPct val="123932"/>
              </a:lnSpc>
              <a:buNone/>
            </a:pPr>
            <a:r>
              <a:rPr lang="en-US" sz="900" dirty="0">
                <a:solidFill>
                  <a:srgbClr val="E6E8F2"/>
                </a:solidFill>
                <a:latin typeface="Courier New" pitchFamily="34" charset="0"/>
                <a:ea typeface="Courier New" pitchFamily="34" charset="-122"/>
                <a:cs typeface="Courier New" pitchFamily="34" charset="-120"/>
              </a:rPr>
              <a:t>teto_multa_pct        10.0    (number)</a:t>
            </a:r>
            <a:endParaRPr lang="en-US" sz="900" dirty="0"/>
          </a:p>
          <a:p>
            <a:pPr algn="l" indent="0" marL="0">
              <a:lnSpc>
                <a:spcPct val="123932"/>
              </a:lnSpc>
              <a:buNone/>
            </a:pPr>
            <a:r>
              <a:rPr lang="en-US" sz="900" dirty="0">
                <a:solidFill>
                  <a:srgbClr val="E6E8F2"/>
                </a:solidFill>
                <a:latin typeface="Courier New" pitchFamily="34" charset="0"/>
                <a:ea typeface="Courier New" pitchFamily="34" charset="-122"/>
                <a:cs typeface="Courier New" pitchFamily="34" charset="-120"/>
              </a:rPr>
              <a:t>renovacao_automatica  true    (boolean)</a:t>
            </a:r>
            <a:endParaRPr lang="en-US" sz="900" dirty="0"/>
          </a:p>
          <a:p>
            <a:pPr algn="l" indent="0" marL="0">
              <a:lnSpc>
                <a:spcPct val="123932"/>
              </a:lnSpc>
              <a:buNone/>
            </a:pPr>
            <a:r>
              <a:rPr lang="en-US" sz="900" dirty="0">
                <a:solidFill>
                  <a:srgbClr val="E6E8F2"/>
                </a:solidFill>
                <a:latin typeface="Courier New" pitchFamily="34" charset="0"/>
                <a:ea typeface="Courier New" pitchFamily="34" charset="-122"/>
                <a:cs typeface="Courier New" pitchFamily="34" charset="-120"/>
              </a:rPr>
              <a:t>aviso_previo_dias     90      (integer)</a:t>
            </a:r>
            <a:endParaRPr lang="en-US" sz="900" dirty="0"/>
          </a:p>
          <a:p>
            <a:pPr algn="l" indent="0" marL="0">
              <a:lnSpc>
                <a:spcPct val="123932"/>
              </a:lnSpc>
              <a:buNone/>
            </a:pPr>
            <a:r>
              <a:rPr lang="en-US" sz="900" dirty="0">
                <a:solidFill>
                  <a:srgbClr val="E6E8F2"/>
                </a:solidFill>
                <a:latin typeface="Courier New" pitchFamily="34" charset="0"/>
                <a:ea typeface="Courier New" pitchFamily="34" charset="-122"/>
                <a:cs typeface="Courier New" pitchFamily="34" charset="-120"/>
              </a:rPr>
              <a:t>data_fim_vigencia     2026-12-31</a:t>
            </a:r>
            <a:endParaRPr lang="en-US" sz="900" dirty="0"/>
          </a:p>
        </p:txBody>
      </p:sp>
      <p:sp>
        <p:nvSpPr>
          <p:cNvPr id="15" name="Text 13"/>
          <p:cNvSpPr txBox="1"/>
          <p:nvPr/>
        </p:nvSpPr>
        <p:spPr>
          <a:xfrm>
            <a:off x="6413340" y="3363233"/>
            <a:ext cx="4985895" cy="197143"/>
          </a:xfrm>
          <a:prstGeom prst="rect">
            <a:avLst/>
          </a:prstGeom>
          <a:noFill/>
          <a:ln/>
        </p:spPr>
        <p:txBody>
          <a:bodyPr wrap="square" lIns="0" tIns="0" rIns="0" bIns="0" rtlCol="0" anchor="t"/>
          <a:lstStyle/>
          <a:p>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Vira coluna: filtra, soma, cruza com as entregas.</a:t>
            </a:r>
            <a:endParaRPr lang="en-US" sz="1150" dirty="0"/>
          </a:p>
        </p:txBody>
      </p:sp>
      <p:pic>
        <p:nvPicPr>
          <p:cNvPr id="16"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17" name="Text 14"/>
          <p:cNvSpPr txBox="1"/>
          <p:nvPr/>
        </p:nvSpPr>
        <p:spPr>
          <a:xfrm>
            <a:off x="10903868" y="6387940"/>
            <a:ext cx="546880"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120 / 133</a:t>
            </a:r>
            <a:endParaRPr lang="en-US" sz="100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4 · GOLD.CONTRATOS NO CATÁLOGO</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O PDF virou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linha e coluna</a:t>
            </a:r>
            <a:endParaRPr lang="en-US" sz="3100" dirty="0"/>
          </a:p>
        </p:txBody>
      </p:sp>
      <p:pic>
        <p:nvPicPr>
          <p:cNvPr id="4" name="Image 0" descr="preencoded.png">    </p:cNvPr>
          <p:cNvPicPr>
            <a:picLocks noChangeAspect="1"/>
          </p:cNvPicPr>
          <p:nvPr/>
        </p:nvPicPr>
        <p:blipFill>
          <a:blip r:embed="rId2"/>
          <a:stretch>
            <a:fillRect/>
          </a:stretch>
        </p:blipFill>
        <p:spPr>
          <a:xfrm>
            <a:off x="761981" y="2000994"/>
            <a:ext cx="5257669" cy="2464532"/>
          </a:xfrm>
          <a:prstGeom prst="rect">
            <a:avLst/>
          </a:prstGeom>
        </p:spPr>
      </p:pic>
      <p:sp>
        <p:nvSpPr>
          <p:cNvPr id="5" name="Text 2"/>
          <p:cNvSpPr txBox="1"/>
          <p:nvPr/>
        </p:nvSpPr>
        <p:spPr>
          <a:xfrm>
            <a:off x="761981" y="5062014"/>
            <a:ext cx="5467975" cy="190495"/>
          </a:xfrm>
          <a:prstGeom prst="rect">
            <a:avLst/>
          </a:prstGeom>
          <a:noFill/>
          <a:ln/>
        </p:spPr>
        <p:txBody>
          <a:bodyPr wrap="square" lIns="0" tIns="0" rIns="0" bIns="0" rtlCol="0" anchor="t"/>
          <a:lstStyle/>
          <a:p>
            <a:pPr algn="l" indent="0" marL="0">
              <a:lnSpc>
                <a:spcPct val="106838"/>
              </a:lnSpc>
              <a:buNone/>
            </a:pPr>
            <a:r>
              <a:rPr lang="en-US" sz="1000" dirty="0">
                <a:solidFill>
                  <a:srgbClr val="A3A6B4"/>
                </a:solidFill>
                <a:latin typeface="Poppins" pitchFamily="34" charset="0"/>
                <a:ea typeface="Poppins" pitchFamily="34" charset="-122"/>
                <a:cs typeface="Poppins" pitchFamily="34" charset="-120"/>
              </a:rPr>
              <a:t>Um contrato por linha: fornecedor e objeto, lidos do PDF.</a:t>
            </a:r>
            <a:endParaRPr lang="en-US" sz="1000" dirty="0"/>
          </a:p>
        </p:txBody>
      </p:sp>
      <p:pic>
        <p:nvPicPr>
          <p:cNvPr id="6" name="Image 1" descr="preencoded.png">    </p:cNvPr>
          <p:cNvPicPr>
            <a:picLocks noChangeAspect="1"/>
          </p:cNvPicPr>
          <p:nvPr/>
        </p:nvPicPr>
        <p:blipFill>
          <a:blip r:embed="rId3"/>
          <a:stretch>
            <a:fillRect/>
          </a:stretch>
        </p:blipFill>
        <p:spPr>
          <a:xfrm>
            <a:off x="6172046" y="1995964"/>
            <a:ext cx="5257669" cy="2474591"/>
          </a:xfrm>
          <a:prstGeom prst="rect">
            <a:avLst/>
          </a:prstGeom>
        </p:spPr>
      </p:pic>
      <p:sp>
        <p:nvSpPr>
          <p:cNvPr id="7" name="Text 3"/>
          <p:cNvSpPr txBox="1"/>
          <p:nvPr/>
        </p:nvSpPr>
        <p:spPr>
          <a:xfrm>
            <a:off x="6172046" y="5062014"/>
            <a:ext cx="5467975" cy="380990"/>
          </a:xfrm>
          <a:prstGeom prst="rect">
            <a:avLst/>
          </a:prstGeom>
          <a:noFill/>
          <a:ln/>
        </p:spPr>
        <p:txBody>
          <a:bodyPr wrap="square" lIns="0" tIns="0" rIns="0" bIns="0" rtlCol="0" anchor="t"/>
          <a:lstStyle/>
          <a:p>
            <a:pPr algn="l" indent="0" marL="0">
              <a:lnSpc>
                <a:spcPct val="106838"/>
              </a:lnSpc>
              <a:buNone/>
            </a:pPr>
            <a:r>
              <a:rPr lang="en-US" sz="1000" dirty="0">
                <a:solidFill>
                  <a:srgbClr val="A3A6B4"/>
                </a:solidFill>
                <a:latin typeface="Poppins" pitchFamily="34" charset="0"/>
                <a:ea typeface="Poppins" pitchFamily="34" charset="-122"/>
                <a:cs typeface="Poppins" pitchFamily="34" charset="-120"/>
              </a:rPr>
              <a:t>As colunas tipadas: data, booleano, inteiro e decimal. null = contrato sem multa por atraso.</a:t>
            </a:r>
            <a:endParaRPr lang="en-US" sz="1000" dirty="0"/>
          </a:p>
        </p:txBody>
      </p:sp>
      <p:pic>
        <p:nvPicPr>
          <p:cNvPr id="8" name="Image 2" descr="preencoded.png">    </p:cNvPr>
          <p:cNvPicPr>
            <a:picLocks noChangeAspect="1"/>
          </p:cNvPicPr>
          <p:nvPr/>
        </p:nvPicPr>
        <p:blipFill>
          <a:blip r:embed="rId4"/>
          <a:stretch>
            <a:fillRect/>
          </a:stretch>
        </p:blipFill>
        <p:spPr>
          <a:xfrm>
            <a:off x="761981" y="6387940"/>
            <a:ext cx="2059928" cy="190495"/>
          </a:xfrm>
          <a:prstGeom prst="rect">
            <a:avLst/>
          </a:prstGeom>
        </p:spPr>
      </p:pic>
      <p:sp>
        <p:nvSpPr>
          <p:cNvPr id="9" name="Text 4"/>
          <p:cNvSpPr txBox="1"/>
          <p:nvPr/>
        </p:nvSpPr>
        <p:spPr>
          <a:xfrm>
            <a:off x="10940876" y="6387940"/>
            <a:ext cx="508392"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121 / 133</a:t>
            </a:r>
            <a:endParaRPr lang="en-US" sz="10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4 · GOLD.CONTRATOS · O QUE O CONTRATO DIZ</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Dinheiro na mesa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e prazo vencendo</a:t>
            </a:r>
            <a:endParaRPr lang="en-US" sz="3100" dirty="0"/>
          </a:p>
        </p:txBody>
      </p:sp>
      <p:sp>
        <p:nvSpPr>
          <p:cNvPr id="4" name="Shape 2"/>
          <p:cNvSpPr/>
          <p:nvPr/>
        </p:nvSpPr>
        <p:spPr>
          <a:xfrm>
            <a:off x="761981" y="1582301"/>
            <a:ext cx="5238619" cy="2629132"/>
          </a:xfrm>
          <a:prstGeom prst="roundRect">
            <a:avLst>
              <a:gd name="adj" fmla="val 5796"/>
            </a:avLst>
          </a:prstGeom>
          <a:solidFill>
            <a:srgbClr val="0059DB"/>
          </a:solidFill>
          <a:ln/>
        </p:spPr>
      </p:sp>
      <p:sp>
        <p:nvSpPr>
          <p:cNvPr id="5" name="Shape 3"/>
          <p:cNvSpPr/>
          <p:nvPr/>
        </p:nvSpPr>
        <p:spPr>
          <a:xfrm>
            <a:off x="984225" y="1779146"/>
            <a:ext cx="1896420" cy="247644"/>
          </a:xfrm>
          <a:prstGeom prst="roundRect">
            <a:avLst>
              <a:gd name="adj" fmla="val 50000"/>
            </a:avLst>
          </a:prstGeom>
          <a:solidFill>
            <a:srgbClr val="FFFFFF">
              <a:alpha val="16000"/>
            </a:srgbClr>
          </a:solidFill>
          <a:ln/>
        </p:spPr>
      </p:sp>
      <p:sp>
        <p:nvSpPr>
          <p:cNvPr id="6" name="Text 4"/>
          <p:cNvSpPr txBox="1"/>
          <p:nvPr/>
        </p:nvSpPr>
        <p:spPr>
          <a:xfrm>
            <a:off x="1073123" y="1817245"/>
            <a:ext cx="1787369"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Multa cobrável da CodeForge</a:t>
            </a:r>
            <a:endParaRPr lang="en-US" sz="900" dirty="0"/>
          </a:p>
        </p:txBody>
      </p:sp>
      <p:sp>
        <p:nvSpPr>
          <p:cNvPr id="7" name="Text 5"/>
          <p:cNvSpPr txBox="1"/>
          <p:nvPr/>
        </p:nvSpPr>
        <p:spPr>
          <a:xfrm>
            <a:off x="984225" y="2115688"/>
            <a:ext cx="4985895" cy="419090"/>
          </a:xfrm>
          <a:prstGeom prst="rect">
            <a:avLst/>
          </a:prstGeom>
          <a:noFill/>
          <a:ln/>
        </p:spPr>
        <p:txBody>
          <a:bodyPr wrap="square" lIns="0" tIns="0" rIns="0" bIns="0" rtlCol="0" anchor="t"/>
          <a:lstStyle/>
          <a:p>
            <a:pPr algn="l" indent="0" marL="0">
              <a:lnSpc>
                <a:spcPct val="85470"/>
              </a:lnSpc>
              <a:buNone/>
            </a:pPr>
            <a:r>
              <a:rPr lang="en-US" sz="3300" b="1" spc="-66" kern="0" dirty="0">
                <a:solidFill>
                  <a:srgbClr val="F5F6FC"/>
                </a:solidFill>
                <a:latin typeface="Poppins" pitchFamily="34" charset="0"/>
                <a:ea typeface="Poppins" pitchFamily="34" charset="-122"/>
                <a:cs typeface="Poppins" pitchFamily="34" charset="-120"/>
              </a:rPr>
              <a:t>R$ 1,12 mi</a:t>
            </a:r>
            <a:endParaRPr lang="en-US" sz="3300" dirty="0"/>
          </a:p>
        </p:txBody>
      </p:sp>
      <p:sp>
        <p:nvSpPr>
          <p:cNvPr id="8" name="Text 6"/>
          <p:cNvSpPr txBox="1"/>
          <p:nvPr/>
        </p:nvSpPr>
        <p:spPr>
          <a:xfrm>
            <a:off x="984225" y="2610975"/>
            <a:ext cx="4985895" cy="591428"/>
          </a:xfrm>
          <a:prstGeom prst="rect">
            <a:avLst/>
          </a:prstGeom>
          <a:noFill/>
          <a:ln/>
        </p:spPr>
        <p:txBody>
          <a:bodyPr wrap="square" lIns="0" tIns="0" rIns="0" bIns="0" rtlCol="0" anchor="t"/>
          <a:lstStyle/>
          <a:p>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120 entregas atrasadas na vigência atual × 0,5% ao dia, com teto de 10% por entrega (cláusula 6). Dá para descontar das próximas faturas.</a:t>
            </a:r>
            <a:endParaRPr lang="en-US" sz="1150" dirty="0"/>
          </a:p>
        </p:txBody>
      </p:sp>
      <p:sp>
        <p:nvSpPr>
          <p:cNvPr id="9" name="Shape 7"/>
          <p:cNvSpPr/>
          <p:nvPr/>
        </p:nvSpPr>
        <p:spPr>
          <a:xfrm>
            <a:off x="6191095" y="1582301"/>
            <a:ext cx="5238619" cy="2629132"/>
          </a:xfrm>
          <a:prstGeom prst="roundRect">
            <a:avLst>
              <a:gd name="adj" fmla="val 5796"/>
            </a:avLst>
          </a:prstGeom>
          <a:solidFill>
            <a:srgbClr val="1E1E24"/>
          </a:solidFill>
          <a:ln w="6350">
            <a:solidFill>
              <a:srgbClr val="2F2F39"/>
            </a:solidFill>
            <a:prstDash val="solid"/>
          </a:ln>
        </p:spPr>
      </p:sp>
      <p:sp>
        <p:nvSpPr>
          <p:cNvPr id="10" name="Shape 8"/>
          <p:cNvSpPr/>
          <p:nvPr/>
        </p:nvSpPr>
        <p:spPr>
          <a:xfrm>
            <a:off x="6413340" y="1779146"/>
            <a:ext cx="889672" cy="247644"/>
          </a:xfrm>
          <a:prstGeom prst="roundRect">
            <a:avLst>
              <a:gd name="adj" fmla="val 50000"/>
            </a:avLst>
          </a:prstGeom>
          <a:solidFill>
            <a:srgbClr val="22C2F4">
              <a:alpha val="14000"/>
            </a:srgbClr>
          </a:solidFill>
          <a:ln/>
        </p:spPr>
      </p:sp>
      <p:sp>
        <p:nvSpPr>
          <p:cNvPr id="11" name="Text 9"/>
          <p:cNvSpPr txBox="1"/>
          <p:nvPr/>
        </p:nvSpPr>
        <p:spPr>
          <a:xfrm>
            <a:off x="6502237" y="1817245"/>
            <a:ext cx="740352"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Aviso prévio</a:t>
            </a:r>
            <a:endParaRPr lang="en-US" sz="900" dirty="0"/>
          </a:p>
        </p:txBody>
      </p:sp>
      <p:sp>
        <p:nvSpPr>
          <p:cNvPr id="12" name="Shape 10"/>
          <p:cNvSpPr/>
          <p:nvPr/>
        </p:nvSpPr>
        <p:spPr>
          <a:xfrm>
            <a:off x="6413340" y="2115688"/>
            <a:ext cx="2071437" cy="368291"/>
          </a:xfrm>
          <a:prstGeom prst="rect">
            <a:avLst/>
          </a:prstGeom>
          <a:solidFill>
            <a:srgbClr val="1E1E24"/>
          </a:solidFill>
          <a:ln/>
        </p:spPr>
      </p:sp>
      <p:sp>
        <p:nvSpPr>
          <p:cNvPr id="13" name="Text 11"/>
          <p:cNvSpPr txBox="1"/>
          <p:nvPr/>
        </p:nvSpPr>
        <p:spPr>
          <a:xfrm>
            <a:off x="6527637" y="2217285"/>
            <a:ext cx="1916557" cy="165096"/>
          </a:xfrm>
          <a:prstGeom prst="rect">
            <a:avLst/>
          </a:prstGeom>
          <a:noFill/>
          <a:ln/>
        </p:spPr>
        <p:txBody>
          <a:bodyPr wrap="square" lIns="0" tIns="0" rIns="0" bIns="0" rtlCol="0" anchor="t"/>
          <a:lstStyle/>
          <a:p>
            <a:pPr algn="l" indent="0" marL="0">
              <a:lnSpc>
                <a:spcPct val="111111"/>
              </a:lnSpc>
              <a:buNone/>
            </a:pPr>
            <a:r>
              <a:rPr lang="en-US" sz="1000" b="1" dirty="0">
                <a:solidFill>
                  <a:srgbClr val="F5F6FC"/>
                </a:solidFill>
                <a:latin typeface="Poppins" pitchFamily="34" charset="0"/>
                <a:ea typeface="Poppins" pitchFamily="34" charset="-122"/>
                <a:cs typeface="Poppins" pitchFamily="34" charset="-120"/>
              </a:rPr>
              <a:t>NuvemSul Cloud</a:t>
            </a:r>
            <a:endParaRPr lang="en-US" sz="1000" dirty="0"/>
          </a:p>
        </p:txBody>
      </p:sp>
      <p:sp>
        <p:nvSpPr>
          <p:cNvPr id="14" name="Shape 12"/>
          <p:cNvSpPr/>
          <p:nvPr/>
        </p:nvSpPr>
        <p:spPr>
          <a:xfrm>
            <a:off x="8484777" y="2115688"/>
            <a:ext cx="2722693" cy="368291"/>
          </a:xfrm>
          <a:prstGeom prst="rect">
            <a:avLst/>
          </a:prstGeom>
          <a:solidFill>
            <a:srgbClr val="1E1E24"/>
          </a:solidFill>
          <a:ln/>
        </p:spPr>
      </p:sp>
      <p:sp>
        <p:nvSpPr>
          <p:cNvPr id="15" name="Text 13"/>
          <p:cNvSpPr txBox="1"/>
          <p:nvPr/>
        </p:nvSpPr>
        <p:spPr>
          <a:xfrm>
            <a:off x="8599074" y="2217285"/>
            <a:ext cx="2593863" cy="165096"/>
          </a:xfrm>
          <a:prstGeom prst="rect">
            <a:avLst/>
          </a:prstGeom>
          <a:noFill/>
          <a:ln/>
        </p:spPr>
        <p:txBody>
          <a:bodyPr wrap="square" lIns="0" tIns="0" rIns="0" bIns="0" rtlCol="0" anchor="t"/>
          <a:lstStyle/>
          <a:p>
            <a:pPr algn="l" indent="0" marL="0">
              <a:lnSpc>
                <a:spcPct val="111111"/>
              </a:lnSpc>
              <a:buNone/>
            </a:pPr>
            <a:r>
              <a:rPr lang="en-US" sz="1000" b="1" dirty="0">
                <a:solidFill>
                  <a:srgbClr val="FF6B6B"/>
                </a:solidFill>
                <a:latin typeface="Poppins" pitchFamily="34" charset="0"/>
                <a:ea typeface="Poppins" pitchFamily="34" charset="-122"/>
                <a:cs typeface="Poppins" pitchFamily="34" charset="-120"/>
              </a:rPr>
              <a:t>venceu há 14 dias</a:t>
            </a:r>
            <a:endParaRPr lang="en-US" sz="1000" dirty="0"/>
          </a:p>
        </p:txBody>
      </p:sp>
      <p:sp>
        <p:nvSpPr>
          <p:cNvPr id="16" name="Shape 14"/>
          <p:cNvSpPr/>
          <p:nvPr/>
        </p:nvSpPr>
        <p:spPr>
          <a:xfrm>
            <a:off x="6413340" y="2534777"/>
            <a:ext cx="2071437" cy="368291"/>
          </a:xfrm>
          <a:prstGeom prst="rect">
            <a:avLst/>
          </a:prstGeom>
          <a:solidFill>
            <a:srgbClr val="1E1E24"/>
          </a:solidFill>
          <a:ln/>
        </p:spPr>
      </p:sp>
      <p:sp>
        <p:nvSpPr>
          <p:cNvPr id="17" name="Text 15"/>
          <p:cNvSpPr txBox="1"/>
          <p:nvPr/>
        </p:nvSpPr>
        <p:spPr>
          <a:xfrm>
            <a:off x="6527637" y="2636375"/>
            <a:ext cx="1916557" cy="165096"/>
          </a:xfrm>
          <a:prstGeom prst="rect">
            <a:avLst/>
          </a:prstGeom>
          <a:noFill/>
          <a:ln/>
        </p:spPr>
        <p:txBody>
          <a:bodyPr wrap="square" lIns="0" tIns="0" rIns="0" bIns="0" rtlCol="0" anchor="t"/>
          <a:lstStyle/>
          <a:p>
            <a:pPr algn="l" indent="0" marL="0">
              <a:lnSpc>
                <a:spcPct val="111111"/>
              </a:lnSpc>
              <a:buNone/>
            </a:pPr>
            <a:r>
              <a:rPr lang="en-US" sz="1000" b="1" dirty="0">
                <a:solidFill>
                  <a:srgbClr val="F5F6FC"/>
                </a:solidFill>
                <a:latin typeface="Poppins" pitchFamily="34" charset="0"/>
                <a:ea typeface="Poppins" pitchFamily="34" charset="-122"/>
                <a:cs typeface="Poppins" pitchFamily="34" charset="-120"/>
              </a:rPr>
              <a:t>DataPrime Analytics</a:t>
            </a:r>
            <a:endParaRPr lang="en-US" sz="1000" dirty="0"/>
          </a:p>
        </p:txBody>
      </p:sp>
      <p:sp>
        <p:nvSpPr>
          <p:cNvPr id="18" name="Shape 16"/>
          <p:cNvSpPr/>
          <p:nvPr/>
        </p:nvSpPr>
        <p:spPr>
          <a:xfrm>
            <a:off x="8484777" y="2534777"/>
            <a:ext cx="2722693" cy="368291"/>
          </a:xfrm>
          <a:prstGeom prst="rect">
            <a:avLst/>
          </a:prstGeom>
          <a:solidFill>
            <a:srgbClr val="1E1E24"/>
          </a:solidFill>
          <a:ln/>
        </p:spPr>
      </p:sp>
      <p:sp>
        <p:nvSpPr>
          <p:cNvPr id="19" name="Text 17"/>
          <p:cNvSpPr txBox="1"/>
          <p:nvPr/>
        </p:nvSpPr>
        <p:spPr>
          <a:xfrm>
            <a:off x="8599074" y="2636375"/>
            <a:ext cx="2593863" cy="165096"/>
          </a:xfrm>
          <a:prstGeom prst="rect">
            <a:avLst/>
          </a:prstGeom>
          <a:noFill/>
          <a:ln/>
        </p:spPr>
        <p:txBody>
          <a:bodyPr wrap="square" lIns="0" tIns="0" rIns="0" bIns="0" rtlCol="0" anchor="t"/>
          <a:lstStyle/>
          <a:p>
            <a:pPr algn="l" indent="0" marL="0">
              <a:lnSpc>
                <a:spcPct val="111111"/>
              </a:lnSpc>
              <a:buNone/>
            </a:pPr>
            <a:r>
              <a:rPr lang="en-US" sz="1000" b="1" dirty="0">
                <a:solidFill>
                  <a:srgbClr val="FF6B6B"/>
                </a:solidFill>
                <a:latin typeface="Poppins" pitchFamily="34" charset="0"/>
                <a:ea typeface="Poppins" pitchFamily="34" charset="-122"/>
                <a:cs typeface="Poppins" pitchFamily="34" charset="-120"/>
              </a:rPr>
              <a:t>venceu há 15 dias</a:t>
            </a:r>
            <a:endParaRPr lang="en-US" sz="1000" dirty="0"/>
          </a:p>
        </p:txBody>
      </p:sp>
      <p:sp>
        <p:nvSpPr>
          <p:cNvPr id="20" name="Shape 18"/>
          <p:cNvSpPr/>
          <p:nvPr/>
        </p:nvSpPr>
        <p:spPr>
          <a:xfrm>
            <a:off x="6413340" y="2953867"/>
            <a:ext cx="2071437" cy="368291"/>
          </a:xfrm>
          <a:prstGeom prst="rect">
            <a:avLst/>
          </a:prstGeom>
          <a:solidFill>
            <a:srgbClr val="1E1E24"/>
          </a:solidFill>
          <a:ln/>
        </p:spPr>
      </p:sp>
      <p:sp>
        <p:nvSpPr>
          <p:cNvPr id="21" name="Text 19"/>
          <p:cNvSpPr txBox="1"/>
          <p:nvPr/>
        </p:nvSpPr>
        <p:spPr>
          <a:xfrm>
            <a:off x="6527637" y="3055464"/>
            <a:ext cx="1916557" cy="165096"/>
          </a:xfrm>
          <a:prstGeom prst="rect">
            <a:avLst/>
          </a:prstGeom>
          <a:noFill/>
          <a:ln/>
        </p:spPr>
        <p:txBody>
          <a:bodyPr wrap="square" lIns="0" tIns="0" rIns="0" bIns="0" rtlCol="0" anchor="t"/>
          <a:lstStyle/>
          <a:p>
            <a:pPr algn="l" indent="0" marL="0">
              <a:lnSpc>
                <a:spcPct val="111111"/>
              </a:lnSpc>
              <a:buNone/>
            </a:pPr>
            <a:r>
              <a:rPr lang="en-US" sz="1000" b="1" dirty="0">
                <a:solidFill>
                  <a:srgbClr val="F5F6FC"/>
                </a:solidFill>
                <a:latin typeface="Poppins" pitchFamily="34" charset="0"/>
                <a:ea typeface="Poppins" pitchFamily="34" charset="-122"/>
                <a:cs typeface="Poppins" pitchFamily="34" charset="-120"/>
              </a:rPr>
              <a:t>Observa360</a:t>
            </a:r>
            <a:endParaRPr lang="en-US" sz="1000" dirty="0"/>
          </a:p>
        </p:txBody>
      </p:sp>
      <p:sp>
        <p:nvSpPr>
          <p:cNvPr id="22" name="Shape 20"/>
          <p:cNvSpPr/>
          <p:nvPr/>
        </p:nvSpPr>
        <p:spPr>
          <a:xfrm>
            <a:off x="8484777" y="2953867"/>
            <a:ext cx="2722693" cy="368291"/>
          </a:xfrm>
          <a:prstGeom prst="rect">
            <a:avLst/>
          </a:prstGeom>
          <a:solidFill>
            <a:srgbClr val="1E1E24"/>
          </a:solidFill>
          <a:ln/>
        </p:spPr>
      </p:sp>
      <p:sp>
        <p:nvSpPr>
          <p:cNvPr id="23" name="Text 21"/>
          <p:cNvSpPr txBox="1"/>
          <p:nvPr/>
        </p:nvSpPr>
        <p:spPr>
          <a:xfrm>
            <a:off x="8599074" y="3055464"/>
            <a:ext cx="2593863" cy="165096"/>
          </a:xfrm>
          <a:prstGeom prst="rect">
            <a:avLst/>
          </a:prstGeom>
          <a:noFill/>
          <a:ln/>
        </p:spPr>
        <p:txBody>
          <a:bodyPr wrap="square" lIns="0" tIns="0" rIns="0" bIns="0" rtlCol="0" anchor="t"/>
          <a:lstStyle/>
          <a:p>
            <a:pPr algn="l" indent="0" marL="0">
              <a:lnSpc>
                <a:spcPct val="111111"/>
              </a:lnSpc>
              <a:buNone/>
            </a:pPr>
            <a:r>
              <a:rPr lang="en-US" sz="1000" b="1" dirty="0">
                <a:solidFill>
                  <a:srgbClr val="F6C344"/>
                </a:solidFill>
                <a:latin typeface="Poppins" pitchFamily="34" charset="0"/>
                <a:ea typeface="Poppins" pitchFamily="34" charset="-122"/>
                <a:cs typeface="Poppins" pitchFamily="34" charset="-120"/>
              </a:rPr>
              <a:t>vence em 15 dias</a:t>
            </a:r>
            <a:endParaRPr lang="en-US" sz="1000" dirty="0"/>
          </a:p>
        </p:txBody>
      </p:sp>
      <p:sp>
        <p:nvSpPr>
          <p:cNvPr id="24" name="Shape 22"/>
          <p:cNvSpPr/>
          <p:nvPr/>
        </p:nvSpPr>
        <p:spPr>
          <a:xfrm>
            <a:off x="6413340" y="3372956"/>
            <a:ext cx="2071437" cy="368291"/>
          </a:xfrm>
          <a:prstGeom prst="rect">
            <a:avLst/>
          </a:prstGeom>
          <a:solidFill>
            <a:srgbClr val="1E1E24"/>
          </a:solidFill>
          <a:ln/>
        </p:spPr>
      </p:sp>
      <p:sp>
        <p:nvSpPr>
          <p:cNvPr id="25" name="Text 23"/>
          <p:cNvSpPr txBox="1"/>
          <p:nvPr/>
        </p:nvSpPr>
        <p:spPr>
          <a:xfrm>
            <a:off x="6527637" y="3474554"/>
            <a:ext cx="1916557" cy="165096"/>
          </a:xfrm>
          <a:prstGeom prst="rect">
            <a:avLst/>
          </a:prstGeom>
          <a:noFill/>
          <a:ln/>
        </p:spPr>
        <p:txBody>
          <a:bodyPr wrap="square" lIns="0" tIns="0" rIns="0" bIns="0" rtlCol="0" anchor="t"/>
          <a:lstStyle/>
          <a:p>
            <a:pPr algn="l" indent="0" marL="0">
              <a:lnSpc>
                <a:spcPct val="111111"/>
              </a:lnSpc>
              <a:buNone/>
            </a:pPr>
            <a:r>
              <a:rPr lang="en-US" sz="1000" b="1" dirty="0">
                <a:solidFill>
                  <a:srgbClr val="F5F6FC"/>
                </a:solidFill>
                <a:latin typeface="Poppins" pitchFamily="34" charset="0"/>
                <a:ea typeface="Poppins" pitchFamily="34" charset="-122"/>
                <a:cs typeface="Poppins" pitchFamily="34" charset="-120"/>
              </a:rPr>
              <a:t>QualiTest Brasil</a:t>
            </a:r>
            <a:endParaRPr lang="en-US" sz="1000" dirty="0"/>
          </a:p>
        </p:txBody>
      </p:sp>
      <p:sp>
        <p:nvSpPr>
          <p:cNvPr id="26" name="Shape 24"/>
          <p:cNvSpPr/>
          <p:nvPr/>
        </p:nvSpPr>
        <p:spPr>
          <a:xfrm>
            <a:off x="8484777" y="3372956"/>
            <a:ext cx="2722693" cy="368291"/>
          </a:xfrm>
          <a:prstGeom prst="rect">
            <a:avLst/>
          </a:prstGeom>
          <a:solidFill>
            <a:srgbClr val="1E1E24"/>
          </a:solidFill>
          <a:ln/>
        </p:spPr>
      </p:sp>
      <p:sp>
        <p:nvSpPr>
          <p:cNvPr id="27" name="Text 25"/>
          <p:cNvSpPr txBox="1"/>
          <p:nvPr/>
        </p:nvSpPr>
        <p:spPr>
          <a:xfrm>
            <a:off x="8599074" y="3474554"/>
            <a:ext cx="2593863" cy="165096"/>
          </a:xfrm>
          <a:prstGeom prst="rect">
            <a:avLst/>
          </a:prstGeom>
          <a:noFill/>
          <a:ln/>
        </p:spPr>
        <p:txBody>
          <a:bodyPr wrap="square" lIns="0" tIns="0" rIns="0" bIns="0" rtlCol="0" anchor="t"/>
          <a:lstStyle/>
          <a:p>
            <a:pPr algn="l" indent="0" marL="0">
              <a:lnSpc>
                <a:spcPct val="111111"/>
              </a:lnSpc>
              <a:buNone/>
            </a:pPr>
            <a:r>
              <a:rPr lang="en-US" sz="1000" b="1" dirty="0">
                <a:solidFill>
                  <a:srgbClr val="F6C344"/>
                </a:solidFill>
                <a:latin typeface="Poppins" pitchFamily="34" charset="0"/>
                <a:ea typeface="Poppins" pitchFamily="34" charset="-122"/>
                <a:cs typeface="Poppins" pitchFamily="34" charset="-120"/>
              </a:rPr>
              <a:t>46 dias · não renova sozinho</a:t>
            </a:r>
            <a:endParaRPr lang="en-US" sz="1000" dirty="0"/>
          </a:p>
        </p:txBody>
      </p:sp>
      <p:sp>
        <p:nvSpPr>
          <p:cNvPr id="28" name="Text 26"/>
          <p:cNvSpPr txBox="1"/>
          <p:nvPr/>
        </p:nvSpPr>
        <p:spPr>
          <a:xfrm>
            <a:off x="6413340" y="3817445"/>
            <a:ext cx="4985895" cy="197143"/>
          </a:xfrm>
          <a:prstGeom prst="rect">
            <a:avLst/>
          </a:prstGeom>
          <a:noFill/>
          <a:ln/>
        </p:spPr>
        <p:txBody>
          <a:bodyPr wrap="square" lIns="0" tIns="0" rIns="0" bIns="0" rtlCol="0" anchor="t"/>
          <a:lstStyle/>
          <a:p>
            <a:pPr algn="l" indent="0" marL="0">
              <a:lnSpc>
                <a:spcPct val="115385"/>
              </a:lnSpc>
              <a:buNone/>
            </a:pPr>
            <a:r>
              <a:rPr lang="en-US" sz="1150" dirty="0">
                <a:solidFill>
                  <a:srgbClr val="A3A6B4"/>
                </a:solidFill>
                <a:latin typeface="Poppins" pitchFamily="34" charset="0"/>
                <a:ea typeface="Poppins" pitchFamily="34" charset="-122"/>
                <a:cs typeface="Poppins" pitchFamily="34" charset="-120"/>
              </a:rPr>
              <a:t>NuvemSul e DataPrime renovaram sozinhos: </a:t>
            </a:r>
            <a:pPr algn="l" indent="0" marL="0">
              <a:lnSpc>
                <a:spcPct val="115385"/>
              </a:lnSpc>
              <a:buNone/>
            </a:pPr>
            <a:r>
              <a:rPr lang="en-US" sz="1150" b="1" dirty="0">
                <a:solidFill>
                  <a:srgbClr val="FFFFFF"/>
                </a:solidFill>
                <a:latin typeface="Poppins" pitchFamily="34" charset="0"/>
                <a:ea typeface="Poppins" pitchFamily="34" charset="-122"/>
                <a:cs typeface="Poppins" pitchFamily="34" charset="-120"/>
              </a:rPr>
              <a:t>R$ 21,4 mi/ano</a:t>
            </a:r>
            <a:pPr algn="l" indent="0" marL="0">
              <a:lnSpc>
                <a:spcPct val="115385"/>
              </a:lnSpc>
              <a:buNone/>
            </a:pPr>
            <a:r>
              <a:rPr lang="en-US" sz="1150" dirty="0">
                <a:solidFill>
                  <a:srgbClr val="A3A6B4"/>
                </a:solidFill>
                <a:latin typeface="Poppins" pitchFamily="34" charset="0"/>
                <a:ea typeface="Poppins" pitchFamily="34" charset="-122"/>
                <a:cs typeface="Poppins" pitchFamily="34" charset="-120"/>
              </a:rPr>
              <a:t>.</a:t>
            </a:r>
            <a:endParaRPr lang="en-US" sz="1150" dirty="0"/>
          </a:p>
        </p:txBody>
      </p:sp>
      <p:pic>
        <p:nvPicPr>
          <p:cNvPr id="29"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30" name="Text 27"/>
          <p:cNvSpPr txBox="1"/>
          <p:nvPr/>
        </p:nvSpPr>
        <p:spPr>
          <a:xfrm>
            <a:off x="10912004" y="6387940"/>
            <a:ext cx="538419"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122 / 133</a:t>
            </a:r>
            <a:endParaRPr lang="en-US" sz="100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380990"/>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RECURSO DO DATABRICKS · APPS</a:t>
            </a:r>
            <a:endParaRPr lang="en-US" sz="1200" dirty="0"/>
          </a:p>
        </p:txBody>
      </p:sp>
      <p:sp>
        <p:nvSpPr>
          <p:cNvPr id="3" name="Text 1"/>
          <p:cNvSpPr txBox="1"/>
          <p:nvPr/>
        </p:nvSpPr>
        <p:spPr>
          <a:xfrm>
            <a:off x="761981" y="704832"/>
            <a:ext cx="11094443" cy="363132"/>
          </a:xfrm>
          <a:prstGeom prst="rect">
            <a:avLst/>
          </a:prstGeom>
          <a:noFill/>
          <a:ln/>
        </p:spPr>
        <p:txBody>
          <a:bodyPr wrap="square" lIns="0" tIns="0" rIns="0" bIns="0" rtlCol="0" anchor="t"/>
          <a:lstStyle/>
          <a:p>
            <a:pPr algn="l" indent="0" marL="0">
              <a:lnSpc>
                <a:spcPct val="94017"/>
              </a:lnSpc>
              <a:buNone/>
            </a:pPr>
            <a:r>
              <a:rPr lang="en-US" sz="2600" b="1" spc="-26" kern="0" dirty="0">
                <a:solidFill>
                  <a:srgbClr val="F5F6FC"/>
                </a:solidFill>
                <a:latin typeface="Poppins" pitchFamily="34" charset="0"/>
                <a:ea typeface="Poppins" pitchFamily="34" charset="-122"/>
                <a:cs typeface="Poppins" pitchFamily="34" charset="-120"/>
              </a:rPr>
              <a:t>Databricks Apps</a:t>
            </a:r>
            <a:endParaRPr lang="en-US" sz="2600" dirty="0"/>
          </a:p>
        </p:txBody>
      </p:sp>
      <p:pic>
        <p:nvPicPr>
          <p:cNvPr id="4" name="Image 0" descr="preencoded.png">    </p:cNvPr>
          <p:cNvPicPr>
            <a:picLocks noChangeAspect="1"/>
          </p:cNvPicPr>
          <p:nvPr/>
        </p:nvPicPr>
        <p:blipFill>
          <a:blip r:embed="rId2"/>
          <a:stretch>
            <a:fillRect/>
          </a:stretch>
        </p:blipFill>
        <p:spPr>
          <a:xfrm>
            <a:off x="761981" y="1495404"/>
            <a:ext cx="6455308" cy="3437612"/>
          </a:xfrm>
          <a:prstGeom prst="rect">
            <a:avLst/>
          </a:prstGeom>
        </p:spPr>
      </p:pic>
      <p:sp>
        <p:nvSpPr>
          <p:cNvPr id="5" name="Shape 2"/>
          <p:cNvSpPr/>
          <p:nvPr/>
        </p:nvSpPr>
        <p:spPr>
          <a:xfrm>
            <a:off x="7395085" y="1182261"/>
            <a:ext cx="4034630" cy="4063898"/>
          </a:xfrm>
          <a:prstGeom prst="roundRect">
            <a:avLst>
              <a:gd name="adj" fmla="val 3777"/>
            </a:avLst>
          </a:prstGeom>
          <a:solidFill>
            <a:srgbClr val="0059DB"/>
          </a:solidFill>
          <a:ln/>
        </p:spPr>
      </p:sp>
      <p:sp>
        <p:nvSpPr>
          <p:cNvPr id="6" name="Shape 3"/>
          <p:cNvSpPr/>
          <p:nvPr/>
        </p:nvSpPr>
        <p:spPr>
          <a:xfrm>
            <a:off x="7617329" y="1379106"/>
            <a:ext cx="616034" cy="247644"/>
          </a:xfrm>
          <a:prstGeom prst="roundRect">
            <a:avLst>
              <a:gd name="adj" fmla="val 50000"/>
            </a:avLst>
          </a:prstGeom>
          <a:solidFill>
            <a:srgbClr val="FFFFFF">
              <a:alpha val="16000"/>
            </a:srgbClr>
          </a:solidFill>
          <a:ln/>
        </p:spPr>
      </p:sp>
      <p:sp>
        <p:nvSpPr>
          <p:cNvPr id="7" name="Text 4"/>
          <p:cNvSpPr txBox="1"/>
          <p:nvPr/>
        </p:nvSpPr>
        <p:spPr>
          <a:xfrm>
            <a:off x="7706227" y="1417205"/>
            <a:ext cx="455768"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O que é</a:t>
            </a:r>
            <a:endParaRPr lang="en-US" sz="900" dirty="0"/>
          </a:p>
        </p:txBody>
      </p:sp>
      <p:sp>
        <p:nvSpPr>
          <p:cNvPr id="8" name="Shape 5"/>
          <p:cNvSpPr/>
          <p:nvPr/>
        </p:nvSpPr>
        <p:spPr>
          <a:xfrm>
            <a:off x="7617329" y="1798196"/>
            <a:ext cx="76198" cy="76198"/>
          </a:xfrm>
          <a:prstGeom prst="roundRect">
            <a:avLst>
              <a:gd name="adj" fmla="val 25000"/>
            </a:avLst>
          </a:prstGeom>
          <a:solidFill>
            <a:srgbClr val="22C2F4"/>
          </a:solidFill>
          <a:ln/>
        </p:spPr>
      </p:sp>
      <p:sp>
        <p:nvSpPr>
          <p:cNvPr id="9" name="Text 6"/>
          <p:cNvSpPr txBox="1"/>
          <p:nvPr/>
        </p:nvSpPr>
        <p:spPr>
          <a:xfrm>
            <a:off x="7807824" y="1715648"/>
            <a:ext cx="3535631"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um site de verdade (React + Node) hospedado no workspace</a:t>
            </a:r>
            <a:endParaRPr lang="en-US" sz="1200" dirty="0"/>
          </a:p>
        </p:txBody>
      </p:sp>
      <p:sp>
        <p:nvSpPr>
          <p:cNvPr id="10" name="Shape 7"/>
          <p:cNvSpPr/>
          <p:nvPr/>
        </p:nvSpPr>
        <p:spPr>
          <a:xfrm>
            <a:off x="7617329" y="2285744"/>
            <a:ext cx="76198" cy="76198"/>
          </a:xfrm>
          <a:prstGeom prst="roundRect">
            <a:avLst>
              <a:gd name="adj" fmla="val 25000"/>
            </a:avLst>
          </a:prstGeom>
          <a:solidFill>
            <a:srgbClr val="22C2F4"/>
          </a:solidFill>
          <a:ln/>
        </p:spPr>
      </p:sp>
      <p:sp>
        <p:nvSpPr>
          <p:cNvPr id="11" name="Text 8"/>
          <p:cNvSpPr txBox="1"/>
          <p:nvPr/>
        </p:nvSpPr>
        <p:spPr>
          <a:xfrm>
            <a:off x="7807824" y="2203196"/>
            <a:ext cx="3535631"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lê do warehouse, grava no Lakebase, conversa com o Genie</a:t>
            </a:r>
            <a:endParaRPr lang="en-US" sz="1200" dirty="0"/>
          </a:p>
        </p:txBody>
      </p:sp>
      <p:sp>
        <p:nvSpPr>
          <p:cNvPr id="12" name="Shape 9"/>
          <p:cNvSpPr/>
          <p:nvPr/>
        </p:nvSpPr>
        <p:spPr>
          <a:xfrm>
            <a:off x="7617329" y="2773293"/>
            <a:ext cx="76198" cy="76198"/>
          </a:xfrm>
          <a:prstGeom prst="roundRect">
            <a:avLst>
              <a:gd name="adj" fmla="val 25000"/>
            </a:avLst>
          </a:prstGeom>
          <a:solidFill>
            <a:srgbClr val="22C2F4"/>
          </a:solidFill>
          <a:ln/>
        </p:spPr>
      </p:sp>
      <p:sp>
        <p:nvSpPr>
          <p:cNvPr id="13" name="Text 10"/>
          <p:cNvSpPr txBox="1"/>
          <p:nvPr/>
        </p:nvSpPr>
        <p:spPr>
          <a:xfrm>
            <a:off x="7807824" y="2690745"/>
            <a:ext cx="3535631"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no 1º acesso, cada pessoa clica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Authorize</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o app age em nome dela</a:t>
            </a:r>
            <a:endParaRPr lang="en-US" sz="1200" dirty="0"/>
          </a:p>
        </p:txBody>
      </p:sp>
      <p:sp>
        <p:nvSpPr>
          <p:cNvPr id="14" name="Shape 11"/>
          <p:cNvSpPr/>
          <p:nvPr/>
        </p:nvSpPr>
        <p:spPr>
          <a:xfrm>
            <a:off x="7617329" y="3241792"/>
            <a:ext cx="650958" cy="247644"/>
          </a:xfrm>
          <a:prstGeom prst="roundRect">
            <a:avLst>
              <a:gd name="adj" fmla="val 50000"/>
            </a:avLst>
          </a:prstGeom>
          <a:solidFill>
            <a:srgbClr val="FFFFFF">
              <a:alpha val="16000"/>
            </a:srgbClr>
          </a:solidFill>
          <a:ln/>
        </p:spPr>
      </p:sp>
      <p:sp>
        <p:nvSpPr>
          <p:cNvPr id="15" name="Text 12"/>
          <p:cNvSpPr txBox="1"/>
          <p:nvPr/>
        </p:nvSpPr>
        <p:spPr>
          <a:xfrm>
            <a:off x="7706227" y="3279891"/>
            <a:ext cx="492089"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No Farol</a:t>
            </a:r>
            <a:endParaRPr lang="en-US" sz="900" dirty="0"/>
          </a:p>
        </p:txBody>
      </p:sp>
      <p:sp>
        <p:nvSpPr>
          <p:cNvPr id="16" name="Text 13"/>
          <p:cNvSpPr txBox="1"/>
          <p:nvPr/>
        </p:nvSpPr>
        <p:spPr>
          <a:xfrm>
            <a:off x="7617329" y="3654532"/>
            <a:ext cx="3733746" cy="394285"/>
          </a:xfrm>
          <a:prstGeom prst="rect">
            <a:avLst/>
          </a:prstGeom>
          <a:noFill/>
          <a:ln/>
        </p:spPr>
        <p:txBody>
          <a:bodyPr wrap="square" lIns="0" tIns="0" rIns="0" bIns="0" rtlCol="0" anchor="t"/>
          <a:lstStyle/>
          <a:p>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noite 4: </a:t>
            </a:r>
            <a:pPr algn="l" indent="0" marL="0">
              <a:lnSpc>
                <a:spcPct val="115385"/>
              </a:lnSpc>
              <a:buNone/>
            </a:pPr>
            <a:r>
              <a:rPr lang="en-US" sz="1150" dirty="0">
                <a:solidFill>
                  <a:srgbClr val="DBE6FF"/>
                </a:solidFill>
                <a:latin typeface="Courier New" pitchFamily="34" charset="0"/>
                <a:ea typeface="Courier New" pitchFamily="34" charset="-122"/>
                <a:cs typeface="Courier New" pitchFamily="34" charset="-120"/>
              </a:rPr>
              <a:t>farol-torre</a:t>
            </a:r>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 com projetos em risco, o simulador COL0017 → PRJ-011 e o botão Aprovar</a:t>
            </a:r>
            <a:endParaRPr lang="en-US" sz="1150" dirty="0"/>
          </a:p>
        </p:txBody>
      </p:sp>
      <p:pic>
        <p:nvPicPr>
          <p:cNvPr id="17" name="Image 1" descr="preencoded.png">    </p:cNvPr>
          <p:cNvPicPr>
            <a:picLocks noChangeAspect="1"/>
          </p:cNvPicPr>
          <p:nvPr/>
        </p:nvPicPr>
        <p:blipFill>
          <a:blip r:embed="rId3"/>
          <a:stretch>
            <a:fillRect/>
          </a:stretch>
        </p:blipFill>
        <p:spPr>
          <a:xfrm>
            <a:off x="761981" y="6387940"/>
            <a:ext cx="2059928" cy="190495"/>
          </a:xfrm>
          <a:prstGeom prst="rect">
            <a:avLst/>
          </a:prstGeom>
        </p:spPr>
      </p:pic>
      <p:sp>
        <p:nvSpPr>
          <p:cNvPr id="18" name="Text 14"/>
          <p:cNvSpPr txBox="1"/>
          <p:nvPr/>
        </p:nvSpPr>
        <p:spPr>
          <a:xfrm>
            <a:off x="10909821" y="6387940"/>
            <a:ext cx="540689"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123 / 133</a:t>
            </a:r>
            <a:endParaRPr lang="en-US" sz="10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4 · APP FAROL-TORRE · ABA 1 DE 4</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Projetos em risco</a:t>
            </a:r>
            <a:endParaRPr lang="en-US" sz="3100" dirty="0"/>
          </a:p>
        </p:txBody>
      </p:sp>
      <p:pic>
        <p:nvPicPr>
          <p:cNvPr id="4" name="Image 0" descr="preencoded.png">    </p:cNvPr>
          <p:cNvPicPr>
            <a:picLocks noChangeAspect="1"/>
          </p:cNvPicPr>
          <p:nvPr/>
        </p:nvPicPr>
        <p:blipFill>
          <a:blip r:embed="rId2"/>
          <a:srcRect l="400" r="400" t="0" b="0"/>
          <a:stretch/>
        </p:blipFill>
        <p:spPr>
          <a:xfrm>
            <a:off x="761981" y="1455304"/>
            <a:ext cx="6447470" cy="4190895"/>
          </a:xfrm>
          <a:prstGeom prst="rect">
            <a:avLst/>
          </a:prstGeom>
        </p:spPr>
      </p:pic>
      <p:sp>
        <p:nvSpPr>
          <p:cNvPr id="5" name="Shape 2"/>
          <p:cNvSpPr/>
          <p:nvPr/>
        </p:nvSpPr>
        <p:spPr>
          <a:xfrm>
            <a:off x="7399946" y="1455304"/>
            <a:ext cx="4029768" cy="3302711"/>
          </a:xfrm>
          <a:prstGeom prst="roundRect">
            <a:avLst>
              <a:gd name="adj" fmla="val 4614"/>
            </a:avLst>
          </a:prstGeom>
          <a:solidFill>
            <a:srgbClr val="1E1E24"/>
          </a:solidFill>
          <a:ln w="6350">
            <a:solidFill>
              <a:srgbClr val="2F2F39"/>
            </a:solidFill>
            <a:prstDash val="solid"/>
          </a:ln>
        </p:spPr>
      </p:sp>
      <p:sp>
        <p:nvSpPr>
          <p:cNvPr id="6" name="Shape 3"/>
          <p:cNvSpPr/>
          <p:nvPr/>
        </p:nvSpPr>
        <p:spPr>
          <a:xfrm>
            <a:off x="7622191" y="1652149"/>
            <a:ext cx="968549" cy="247644"/>
          </a:xfrm>
          <a:prstGeom prst="roundRect">
            <a:avLst>
              <a:gd name="adj" fmla="val 50000"/>
            </a:avLst>
          </a:prstGeom>
          <a:solidFill>
            <a:srgbClr val="22C2F4">
              <a:alpha val="14000"/>
            </a:srgbClr>
          </a:solidFill>
          <a:ln/>
        </p:spPr>
      </p:sp>
      <p:sp>
        <p:nvSpPr>
          <p:cNvPr id="7" name="Text 4"/>
          <p:cNvSpPr txBox="1"/>
          <p:nvPr/>
        </p:nvSpPr>
        <p:spPr>
          <a:xfrm>
            <a:off x="7711088" y="1690248"/>
            <a:ext cx="822384"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O que mostra</a:t>
            </a:r>
            <a:endParaRPr lang="en-US" sz="900" dirty="0"/>
          </a:p>
        </p:txBody>
      </p:sp>
      <p:sp>
        <p:nvSpPr>
          <p:cNvPr id="8" name="Shape 5"/>
          <p:cNvSpPr/>
          <p:nvPr/>
        </p:nvSpPr>
        <p:spPr>
          <a:xfrm>
            <a:off x="7622191" y="2071239"/>
            <a:ext cx="76198" cy="76198"/>
          </a:xfrm>
          <a:prstGeom prst="roundRect">
            <a:avLst>
              <a:gd name="adj" fmla="val 25000"/>
            </a:avLst>
          </a:prstGeom>
          <a:solidFill>
            <a:srgbClr val="22C2F4"/>
          </a:solidFill>
          <a:ln/>
        </p:spPr>
      </p:sp>
      <p:sp>
        <p:nvSpPr>
          <p:cNvPr id="9" name="Text 6"/>
          <p:cNvSpPr txBox="1"/>
          <p:nvPr/>
        </p:nvSpPr>
        <p:spPr>
          <a:xfrm>
            <a:off x="7812686" y="1988691"/>
            <a:ext cx="3530575" cy="205675"/>
          </a:xfrm>
          <a:prstGeom prst="rect">
            <a:avLst/>
          </a:prstGeom>
          <a:noFill/>
          <a:ln/>
        </p:spPr>
        <p:txBody>
          <a:bodyPr wrap="square" lIns="0" tIns="0" rIns="0" bIns="0" rtlCol="0" anchor="t"/>
          <a:lstStyle/>
          <a:p>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17 de 41</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em risco (7 críticos, 4 melancias)</a:t>
            </a:r>
            <a:endParaRPr lang="en-US" sz="1200" dirty="0"/>
          </a:p>
        </p:txBody>
      </p:sp>
      <p:sp>
        <p:nvSpPr>
          <p:cNvPr id="10" name="Shape 7"/>
          <p:cNvSpPr/>
          <p:nvPr/>
        </p:nvSpPr>
        <p:spPr>
          <a:xfrm>
            <a:off x="7622191" y="2353112"/>
            <a:ext cx="76198" cy="76198"/>
          </a:xfrm>
          <a:prstGeom prst="roundRect">
            <a:avLst>
              <a:gd name="adj" fmla="val 25000"/>
            </a:avLst>
          </a:prstGeom>
          <a:solidFill>
            <a:srgbClr val="22C2F4"/>
          </a:solidFill>
          <a:ln/>
        </p:spPr>
      </p:sp>
      <p:sp>
        <p:nvSpPr>
          <p:cNvPr id="11" name="Text 8"/>
          <p:cNvSpPr txBox="1"/>
          <p:nvPr/>
        </p:nvSpPr>
        <p:spPr>
          <a:xfrm>
            <a:off x="7812686" y="2270564"/>
            <a:ext cx="3530575" cy="205675"/>
          </a:xfrm>
          <a:prstGeom prst="rect">
            <a:avLst/>
          </a:prstGeom>
          <a:noFill/>
          <a:ln/>
        </p:spPr>
        <p:txBody>
          <a:bodyPr wrap="square" lIns="0" tIns="0" rIns="0" bIns="0" rtlCol="0" anchor="t"/>
          <a:lstStyle/>
          <a:p>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R$ 6,5 mi</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de estouro previsto</a:t>
            </a:r>
            <a:endParaRPr lang="en-US" sz="1200" dirty="0"/>
          </a:p>
        </p:txBody>
      </p:sp>
      <p:sp>
        <p:nvSpPr>
          <p:cNvPr id="12" name="Shape 9"/>
          <p:cNvSpPr/>
          <p:nvPr/>
        </p:nvSpPr>
        <p:spPr>
          <a:xfrm>
            <a:off x="7622191" y="2634986"/>
            <a:ext cx="76198" cy="76198"/>
          </a:xfrm>
          <a:prstGeom prst="roundRect">
            <a:avLst>
              <a:gd name="adj" fmla="val 25000"/>
            </a:avLst>
          </a:prstGeom>
          <a:solidFill>
            <a:srgbClr val="22C2F4"/>
          </a:solidFill>
          <a:ln/>
        </p:spPr>
      </p:sp>
      <p:sp>
        <p:nvSpPr>
          <p:cNvPr id="13" name="Text 10"/>
          <p:cNvSpPr txBox="1"/>
          <p:nvPr/>
        </p:nvSpPr>
        <p:spPr>
          <a:xfrm>
            <a:off x="7812686" y="2552438"/>
            <a:ext cx="3530575" cy="205675"/>
          </a:xfrm>
          <a:prstGeom prst="rect">
            <a:avLst/>
          </a:prstGeom>
          <a:noFill/>
          <a:ln/>
        </p:spPr>
        <p:txBody>
          <a:bodyPr wrap="square" lIns="0" tIns="0" rIns="0" bIns="0" rtlCol="0" anchor="t"/>
          <a:lstStyle/>
          <a:p>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R$ 1,2 mi</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de multa a cobrar de fornecedor</a:t>
            </a:r>
            <a:endParaRPr lang="en-US" sz="1200" dirty="0"/>
          </a:p>
        </p:txBody>
      </p:sp>
      <p:sp>
        <p:nvSpPr>
          <p:cNvPr id="14" name="Shape 11"/>
          <p:cNvSpPr/>
          <p:nvPr/>
        </p:nvSpPr>
        <p:spPr>
          <a:xfrm>
            <a:off x="7622191" y="2916859"/>
            <a:ext cx="76198" cy="76198"/>
          </a:xfrm>
          <a:prstGeom prst="roundRect">
            <a:avLst>
              <a:gd name="adj" fmla="val 25000"/>
            </a:avLst>
          </a:prstGeom>
          <a:solidFill>
            <a:srgbClr val="22C2F4"/>
          </a:solidFill>
          <a:ln/>
        </p:spPr>
      </p:sp>
      <p:sp>
        <p:nvSpPr>
          <p:cNvPr id="15" name="Text 12"/>
          <p:cNvSpPr txBox="1"/>
          <p:nvPr/>
        </p:nvSpPr>
        <p:spPr>
          <a:xfrm>
            <a:off x="7812686" y="2834311"/>
            <a:ext cx="3530575" cy="411351"/>
          </a:xfrm>
          <a:prstGeom prst="rect">
            <a:avLst/>
          </a:prstGeom>
          <a:noFill/>
          <a:ln/>
        </p:spPr>
        <p:txBody>
          <a:bodyPr wrap="square" lIns="0" tIns="0" rIns="0" bIns="0" rtlCol="0" anchor="t"/>
          <a:lstStyle/>
          <a:p>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18</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com alto risco em 30 dias (modelo da noite 3)</a:t>
            </a:r>
            <a:endParaRPr lang="en-US" sz="1200" dirty="0"/>
          </a:p>
        </p:txBody>
      </p:sp>
      <p:sp>
        <p:nvSpPr>
          <p:cNvPr id="16" name="Shape 13"/>
          <p:cNvSpPr/>
          <p:nvPr/>
        </p:nvSpPr>
        <p:spPr>
          <a:xfrm>
            <a:off x="7622191" y="3404408"/>
            <a:ext cx="76198" cy="76198"/>
          </a:xfrm>
          <a:prstGeom prst="roundRect">
            <a:avLst>
              <a:gd name="adj" fmla="val 25000"/>
            </a:avLst>
          </a:prstGeom>
          <a:solidFill>
            <a:srgbClr val="22C2F4"/>
          </a:solidFill>
          <a:ln/>
        </p:spPr>
      </p:sp>
      <p:sp>
        <p:nvSpPr>
          <p:cNvPr id="17" name="Text 14"/>
          <p:cNvSpPr txBox="1"/>
          <p:nvPr/>
        </p:nvSpPr>
        <p:spPr>
          <a:xfrm>
            <a:off x="7812686" y="3321860"/>
            <a:ext cx="3530575" cy="617026"/>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cada projeto com SPI, CPI, farol, estouro, atraso, a causa que a IA leu e a probabilidade</a:t>
            </a:r>
            <a:endParaRPr lang="en-US" sz="1200" dirty="0"/>
          </a:p>
        </p:txBody>
      </p:sp>
      <p:sp>
        <p:nvSpPr>
          <p:cNvPr id="18" name="Shape 15"/>
          <p:cNvSpPr/>
          <p:nvPr/>
        </p:nvSpPr>
        <p:spPr>
          <a:xfrm>
            <a:off x="7622191" y="4065883"/>
            <a:ext cx="25399" cy="495288"/>
          </a:xfrm>
          <a:prstGeom prst="rect">
            <a:avLst/>
          </a:prstGeom>
          <a:solidFill>
            <a:srgbClr val="22C2F4"/>
          </a:solidFill>
          <a:ln/>
        </p:spPr>
      </p:sp>
      <p:sp>
        <p:nvSpPr>
          <p:cNvPr id="19" name="Text 16"/>
          <p:cNvSpPr txBox="1"/>
          <p:nvPr/>
        </p:nvSpPr>
        <p:spPr>
          <a:xfrm>
            <a:off x="7774587" y="4103982"/>
            <a:ext cx="3570198" cy="419090"/>
          </a:xfrm>
          <a:prstGeom prst="rect">
            <a:avLst/>
          </a:prstGeom>
          <a:noFill/>
          <a:ln/>
        </p:spPr>
        <p:txBody>
          <a:bodyPr wrap="square" lIns="0" tIns="0" rIns="0" bIns="0" rtlCol="0" anchor="t"/>
          <a:lstStyle/>
          <a:p>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Lê a gold pelo SQL warehouse: os mesmos números do dashboard e do Genie.</a:t>
            </a:r>
            <a:endParaRPr lang="en-US" sz="1100" dirty="0"/>
          </a:p>
        </p:txBody>
      </p:sp>
      <p:pic>
        <p:nvPicPr>
          <p:cNvPr id="20" name="Image 1" descr="preencoded.png">    </p:cNvPr>
          <p:cNvPicPr>
            <a:picLocks noChangeAspect="1"/>
          </p:cNvPicPr>
          <p:nvPr/>
        </p:nvPicPr>
        <p:blipFill>
          <a:blip r:embed="rId3"/>
          <a:stretch>
            <a:fillRect/>
          </a:stretch>
        </p:blipFill>
        <p:spPr>
          <a:xfrm>
            <a:off x="761981" y="6387940"/>
            <a:ext cx="2059928" cy="190495"/>
          </a:xfrm>
          <a:prstGeom prst="rect">
            <a:avLst/>
          </a:prstGeom>
        </p:spPr>
      </p:pic>
      <p:sp>
        <p:nvSpPr>
          <p:cNvPr id="21" name="Text 17"/>
          <p:cNvSpPr txBox="1"/>
          <p:nvPr/>
        </p:nvSpPr>
        <p:spPr>
          <a:xfrm>
            <a:off x="10903174" y="6387940"/>
            <a:ext cx="547602"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124 / 133</a:t>
            </a:r>
            <a:endParaRPr lang="en-US" sz="100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4 · APP FAROL-TORRE · ABA 2 DE 4</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Simulador: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e se eu mover essa pessoa?</a:t>
            </a:r>
            <a:endParaRPr lang="en-US" sz="3100" dirty="0"/>
          </a:p>
        </p:txBody>
      </p:sp>
      <p:pic>
        <p:nvPicPr>
          <p:cNvPr id="4" name="Image 0" descr="preencoded.png">    </p:cNvPr>
          <p:cNvPicPr>
            <a:picLocks noChangeAspect="1"/>
          </p:cNvPicPr>
          <p:nvPr/>
        </p:nvPicPr>
        <p:blipFill>
          <a:blip r:embed="rId2"/>
          <a:srcRect l="400" r="400" t="0" b="0"/>
          <a:stretch/>
        </p:blipFill>
        <p:spPr>
          <a:xfrm>
            <a:off x="761981" y="1455304"/>
            <a:ext cx="6447470" cy="4190895"/>
          </a:xfrm>
          <a:prstGeom prst="rect">
            <a:avLst/>
          </a:prstGeom>
        </p:spPr>
      </p:pic>
      <p:sp>
        <p:nvSpPr>
          <p:cNvPr id="5" name="Shape 2"/>
          <p:cNvSpPr/>
          <p:nvPr/>
        </p:nvSpPr>
        <p:spPr>
          <a:xfrm>
            <a:off x="7399946" y="1455304"/>
            <a:ext cx="4029768" cy="3302711"/>
          </a:xfrm>
          <a:prstGeom prst="roundRect">
            <a:avLst>
              <a:gd name="adj" fmla="val 4614"/>
            </a:avLst>
          </a:prstGeom>
          <a:solidFill>
            <a:srgbClr val="1E1E24"/>
          </a:solidFill>
          <a:ln w="6350">
            <a:solidFill>
              <a:srgbClr val="2F2F39"/>
            </a:solidFill>
            <a:prstDash val="solid"/>
          </a:ln>
        </p:spPr>
      </p:sp>
      <p:sp>
        <p:nvSpPr>
          <p:cNvPr id="6" name="Shape 3"/>
          <p:cNvSpPr/>
          <p:nvPr/>
        </p:nvSpPr>
        <p:spPr>
          <a:xfrm>
            <a:off x="7622191" y="1652149"/>
            <a:ext cx="1248637" cy="247644"/>
          </a:xfrm>
          <a:prstGeom prst="roundRect">
            <a:avLst>
              <a:gd name="adj" fmla="val 50000"/>
            </a:avLst>
          </a:prstGeom>
          <a:solidFill>
            <a:srgbClr val="22C2F4">
              <a:alpha val="14000"/>
            </a:srgbClr>
          </a:solidFill>
          <a:ln/>
        </p:spPr>
      </p:sp>
      <p:sp>
        <p:nvSpPr>
          <p:cNvPr id="7" name="Text 4"/>
          <p:cNvSpPr txBox="1"/>
          <p:nvPr/>
        </p:nvSpPr>
        <p:spPr>
          <a:xfrm>
            <a:off x="7711088" y="1690248"/>
            <a:ext cx="1113675"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COL0017 → PRJ-011</a:t>
            </a:r>
            <a:endParaRPr lang="en-US" sz="900" dirty="0"/>
          </a:p>
        </p:txBody>
      </p:sp>
      <p:sp>
        <p:nvSpPr>
          <p:cNvPr id="8" name="Shape 5"/>
          <p:cNvSpPr/>
          <p:nvPr/>
        </p:nvSpPr>
        <p:spPr>
          <a:xfrm>
            <a:off x="7622191" y="2071239"/>
            <a:ext cx="76198" cy="76198"/>
          </a:xfrm>
          <a:prstGeom prst="roundRect">
            <a:avLst>
              <a:gd name="adj" fmla="val 25000"/>
            </a:avLst>
          </a:prstGeom>
          <a:solidFill>
            <a:srgbClr val="22C2F4"/>
          </a:solidFill>
          <a:ln/>
        </p:spPr>
      </p:sp>
      <p:sp>
        <p:nvSpPr>
          <p:cNvPr id="9" name="Text 6"/>
          <p:cNvSpPr txBox="1"/>
          <p:nvPr/>
        </p:nvSpPr>
        <p:spPr>
          <a:xfrm>
            <a:off x="7812686" y="1988691"/>
            <a:ext cx="3530575"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SRE sênior a 6% no PRJ-007, que ainda está no discovery</a:t>
            </a:r>
            <a:endParaRPr lang="en-US" sz="1200" dirty="0"/>
          </a:p>
        </p:txBody>
      </p:sp>
      <p:sp>
        <p:nvSpPr>
          <p:cNvPr id="10" name="Shape 7"/>
          <p:cNvSpPr/>
          <p:nvPr/>
        </p:nvSpPr>
        <p:spPr>
          <a:xfrm>
            <a:off x="7622191" y="2558788"/>
            <a:ext cx="76198" cy="76198"/>
          </a:xfrm>
          <a:prstGeom prst="roundRect">
            <a:avLst>
              <a:gd name="adj" fmla="val 25000"/>
            </a:avLst>
          </a:prstGeom>
          <a:solidFill>
            <a:srgbClr val="22C2F4"/>
          </a:solidFill>
          <a:ln/>
        </p:spPr>
      </p:sp>
      <p:sp>
        <p:nvSpPr>
          <p:cNvPr id="11" name="Text 8"/>
          <p:cNvSpPr txBox="1"/>
          <p:nvPr/>
        </p:nvSpPr>
        <p:spPr>
          <a:xfrm>
            <a:off x="7812686" y="2476240"/>
            <a:ext cx="3530575" cy="205675"/>
          </a:xfrm>
          <a:prstGeom prst="rect">
            <a:avLst/>
          </a:prstGeom>
          <a:noFill/>
          <a:ln/>
        </p:spPr>
        <p:txBody>
          <a:bodyPr wrap="square" lIns="0" tIns="0" rIns="0" bIns="0" rtlCol="0" anchor="t"/>
          <a:lstStyle/>
          <a:p>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151 h</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paradas viram produção no mês</a:t>
            </a:r>
            <a:endParaRPr lang="en-US" sz="1200" dirty="0"/>
          </a:p>
        </p:txBody>
      </p:sp>
      <p:sp>
        <p:nvSpPr>
          <p:cNvPr id="12" name="Shape 9"/>
          <p:cNvSpPr/>
          <p:nvPr/>
        </p:nvSpPr>
        <p:spPr>
          <a:xfrm>
            <a:off x="7622191" y="2840661"/>
            <a:ext cx="76198" cy="76198"/>
          </a:xfrm>
          <a:prstGeom prst="roundRect">
            <a:avLst>
              <a:gd name="adj" fmla="val 25000"/>
            </a:avLst>
          </a:prstGeom>
          <a:solidFill>
            <a:srgbClr val="22C2F4"/>
          </a:solidFill>
          <a:ln/>
        </p:spPr>
      </p:sp>
      <p:sp>
        <p:nvSpPr>
          <p:cNvPr id="13" name="Text 10"/>
          <p:cNvSpPr txBox="1"/>
          <p:nvPr/>
        </p:nvSpPr>
        <p:spPr>
          <a:xfrm>
            <a:off x="7812686" y="2758113"/>
            <a:ext cx="3530575" cy="411351"/>
          </a:xfrm>
          <a:prstGeom prst="rect">
            <a:avLst/>
          </a:prstGeom>
          <a:noFill/>
          <a:ln/>
        </p:spPr>
        <p:txBody>
          <a:bodyPr wrap="square" lIns="0" tIns="0" rIns="0" bIns="0" rtlCol="0" anchor="t"/>
          <a:lstStyle/>
          <a:p>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19 dias</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de cronograma recuperados no PRJ-011</a:t>
            </a:r>
            <a:endParaRPr lang="en-US" sz="1200" dirty="0"/>
          </a:p>
        </p:txBody>
      </p:sp>
      <p:sp>
        <p:nvSpPr>
          <p:cNvPr id="14" name="Shape 11"/>
          <p:cNvSpPr/>
          <p:nvPr/>
        </p:nvSpPr>
        <p:spPr>
          <a:xfrm>
            <a:off x="7622191" y="3328210"/>
            <a:ext cx="76198" cy="76198"/>
          </a:xfrm>
          <a:prstGeom prst="roundRect">
            <a:avLst>
              <a:gd name="adj" fmla="val 25000"/>
            </a:avLst>
          </a:prstGeom>
          <a:solidFill>
            <a:srgbClr val="22C2F4"/>
          </a:solidFill>
          <a:ln/>
        </p:spPr>
      </p:sp>
      <p:sp>
        <p:nvSpPr>
          <p:cNvPr id="15" name="Text 12"/>
          <p:cNvSpPr txBox="1"/>
          <p:nvPr/>
        </p:nvSpPr>
        <p:spPr>
          <a:xfrm>
            <a:off x="7812686" y="3245662"/>
            <a:ext cx="3530575"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R$ 30.123 de ociosidade a menos − R$ 7.992 de mobilização</a:t>
            </a:r>
            <a:endParaRPr lang="en-US" sz="1200" dirty="0"/>
          </a:p>
        </p:txBody>
      </p:sp>
      <p:sp>
        <p:nvSpPr>
          <p:cNvPr id="16" name="Shape 13"/>
          <p:cNvSpPr/>
          <p:nvPr/>
        </p:nvSpPr>
        <p:spPr>
          <a:xfrm>
            <a:off x="7622191" y="3815759"/>
            <a:ext cx="76198" cy="76198"/>
          </a:xfrm>
          <a:prstGeom prst="roundRect">
            <a:avLst>
              <a:gd name="adj" fmla="val 25000"/>
            </a:avLst>
          </a:prstGeom>
          <a:solidFill>
            <a:srgbClr val="22C2F4"/>
          </a:solidFill>
          <a:ln/>
        </p:spPr>
      </p:sp>
      <p:sp>
        <p:nvSpPr>
          <p:cNvPr id="17" name="Text 14"/>
          <p:cNvSpPr txBox="1"/>
          <p:nvPr/>
        </p:nvSpPr>
        <p:spPr>
          <a:xfrm>
            <a:off x="7812686" y="3733211"/>
            <a:ext cx="3530575" cy="205675"/>
          </a:xfrm>
          <a:prstGeom prst="rect">
            <a:avLst/>
          </a:prstGeom>
          <a:noFill/>
          <a:ln/>
        </p:spPr>
        <p:txBody>
          <a:bodyPr wrap="square" lIns="0" tIns="0" rIns="0" bIns="0" rtlCol="0" anchor="t"/>
          <a:lstStyle/>
          <a:p>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saldo de R$ 22.131/mês</a:t>
            </a:r>
            <a:endParaRPr lang="en-US" sz="1200" dirty="0"/>
          </a:p>
        </p:txBody>
      </p:sp>
      <p:sp>
        <p:nvSpPr>
          <p:cNvPr id="18" name="Shape 15"/>
          <p:cNvSpPr/>
          <p:nvPr/>
        </p:nvSpPr>
        <p:spPr>
          <a:xfrm>
            <a:off x="7622191" y="4065883"/>
            <a:ext cx="25399" cy="495288"/>
          </a:xfrm>
          <a:prstGeom prst="rect">
            <a:avLst/>
          </a:prstGeom>
          <a:solidFill>
            <a:srgbClr val="22C2F4"/>
          </a:solidFill>
          <a:ln/>
        </p:spPr>
      </p:sp>
      <p:sp>
        <p:nvSpPr>
          <p:cNvPr id="19" name="Text 16"/>
          <p:cNvSpPr txBox="1"/>
          <p:nvPr/>
        </p:nvSpPr>
        <p:spPr>
          <a:xfrm>
            <a:off x="7774587" y="4103982"/>
            <a:ext cx="3570198" cy="419090"/>
          </a:xfrm>
          <a:prstGeom prst="rect">
            <a:avLst/>
          </a:prstGeom>
          <a:noFill/>
          <a:ln/>
        </p:spPr>
        <p:txBody>
          <a:bodyPr wrap="square" lIns="0" tIns="0" rIns="0" bIns="0" rtlCol="0" anchor="t"/>
          <a:lstStyle/>
          <a:p>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Os dias recuperados vêm do que a IA leu no status: 57 dias de impacto por falta de SRE.</a:t>
            </a:r>
            <a:endParaRPr lang="en-US" sz="1100" dirty="0"/>
          </a:p>
        </p:txBody>
      </p:sp>
      <p:pic>
        <p:nvPicPr>
          <p:cNvPr id="20" name="Image 1" descr="preencoded.png">    </p:cNvPr>
          <p:cNvPicPr>
            <a:picLocks noChangeAspect="1"/>
          </p:cNvPicPr>
          <p:nvPr/>
        </p:nvPicPr>
        <p:blipFill>
          <a:blip r:embed="rId3"/>
          <a:stretch>
            <a:fillRect/>
          </a:stretch>
        </p:blipFill>
        <p:spPr>
          <a:xfrm>
            <a:off x="761981" y="6387940"/>
            <a:ext cx="2059928" cy="190495"/>
          </a:xfrm>
          <a:prstGeom prst="rect">
            <a:avLst/>
          </a:prstGeom>
        </p:spPr>
      </p:pic>
      <p:sp>
        <p:nvSpPr>
          <p:cNvPr id="21" name="Text 17"/>
          <p:cNvSpPr txBox="1"/>
          <p:nvPr/>
        </p:nvSpPr>
        <p:spPr>
          <a:xfrm>
            <a:off x="10904166" y="6387940"/>
            <a:ext cx="546571"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125 / 133</a:t>
            </a:r>
            <a:endParaRPr lang="en-US" sz="100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380990"/>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RECURSO DO DATABRICKS · LAKEBASE</a:t>
            </a:r>
            <a:endParaRPr lang="en-US" sz="1200" dirty="0"/>
          </a:p>
        </p:txBody>
      </p:sp>
      <p:sp>
        <p:nvSpPr>
          <p:cNvPr id="3" name="Text 1"/>
          <p:cNvSpPr txBox="1"/>
          <p:nvPr/>
        </p:nvSpPr>
        <p:spPr>
          <a:xfrm>
            <a:off x="761981" y="704832"/>
            <a:ext cx="11094443" cy="363132"/>
          </a:xfrm>
          <a:prstGeom prst="rect">
            <a:avLst/>
          </a:prstGeom>
          <a:noFill/>
          <a:ln/>
        </p:spPr>
        <p:txBody>
          <a:bodyPr wrap="square" lIns="0" tIns="0" rIns="0" bIns="0" rtlCol="0" anchor="t"/>
          <a:lstStyle/>
          <a:p>
            <a:pPr algn="l" indent="0" marL="0">
              <a:lnSpc>
                <a:spcPct val="94017"/>
              </a:lnSpc>
              <a:buNone/>
            </a:pPr>
            <a:r>
              <a:rPr lang="en-US" sz="2600" b="1" spc="-26" kern="0" dirty="0">
                <a:solidFill>
                  <a:srgbClr val="F5F6FC"/>
                </a:solidFill>
                <a:latin typeface="Poppins" pitchFamily="34" charset="0"/>
                <a:ea typeface="Poppins" pitchFamily="34" charset="-122"/>
                <a:cs typeface="Poppins" pitchFamily="34" charset="-120"/>
              </a:rPr>
              <a:t>Lakebase: um Postgres dentro do Databricks</a:t>
            </a:r>
            <a:endParaRPr lang="en-US" sz="2600" dirty="0"/>
          </a:p>
        </p:txBody>
      </p:sp>
      <p:pic>
        <p:nvPicPr>
          <p:cNvPr id="4" name="Image 0" descr="preencoded.png">    </p:cNvPr>
          <p:cNvPicPr>
            <a:picLocks noChangeAspect="1"/>
          </p:cNvPicPr>
          <p:nvPr/>
        </p:nvPicPr>
        <p:blipFill>
          <a:blip r:embed="rId2"/>
          <a:srcRect l="10640" r="10640" t="0" b="0"/>
          <a:stretch/>
        </p:blipFill>
        <p:spPr>
          <a:xfrm>
            <a:off x="761981" y="1182261"/>
            <a:ext cx="5257669" cy="3555911"/>
          </a:xfrm>
          <a:prstGeom prst="rect">
            <a:avLst/>
          </a:prstGeom>
        </p:spPr>
      </p:pic>
      <p:sp>
        <p:nvSpPr>
          <p:cNvPr id="5" name="Text 2"/>
          <p:cNvSpPr txBox="1"/>
          <p:nvPr/>
        </p:nvSpPr>
        <p:spPr>
          <a:xfrm>
            <a:off x="761981" y="4788971"/>
            <a:ext cx="5467975" cy="190495"/>
          </a:xfrm>
          <a:prstGeom prst="rect">
            <a:avLst/>
          </a:prstGeom>
          <a:noFill/>
          <a:ln/>
        </p:spPr>
        <p:txBody>
          <a:bodyPr wrap="square" lIns="0" tIns="0" rIns="0" bIns="0" rtlCol="0" anchor="t"/>
          <a:lstStyle/>
          <a:p>
            <a:pPr algn="l" indent="0" marL="0">
              <a:lnSpc>
                <a:spcPct val="106838"/>
              </a:lnSpc>
              <a:buNone/>
            </a:pPr>
            <a:r>
              <a:rPr lang="en-US" sz="1000" dirty="0">
                <a:solidFill>
                  <a:srgbClr val="A3A6B4"/>
                </a:solidFill>
                <a:latin typeface="Poppins" pitchFamily="34" charset="0"/>
                <a:ea typeface="Poppins" pitchFamily="34" charset="-122"/>
                <a:cs typeface="Poppins" pitchFamily="34" charset="-120"/>
              </a:rPr>
              <a:t>o projeto </a:t>
            </a:r>
            <a:pPr algn="l" indent="0" marL="0">
              <a:lnSpc>
                <a:spcPct val="106838"/>
              </a:lnSpc>
              <a:buNone/>
            </a:pPr>
            <a:r>
              <a:rPr lang="en-US" sz="1000" dirty="0">
                <a:solidFill>
                  <a:srgbClr val="A3A6B4"/>
                </a:solidFill>
                <a:latin typeface="Courier New" pitchFamily="34" charset="0"/>
                <a:ea typeface="Courier New" pitchFamily="34" charset="-122"/>
                <a:cs typeface="Courier New" pitchFamily="34" charset="-120"/>
              </a:rPr>
              <a:t>farol-torre</a:t>
            </a:r>
            <a:pPr algn="l" indent="0" marL="0">
              <a:lnSpc>
                <a:spcPct val="106838"/>
              </a:lnSpc>
              <a:buNone/>
            </a:pPr>
            <a:r>
              <a:rPr lang="en-US" sz="1000" dirty="0">
                <a:solidFill>
                  <a:srgbClr val="A3A6B4"/>
                </a:solidFill>
                <a:latin typeface="Poppins" pitchFamily="34" charset="0"/>
                <a:ea typeface="Poppins" pitchFamily="34" charset="-122"/>
                <a:cs typeface="Poppins" pitchFamily="34" charset="-120"/>
              </a:rPr>
              <a:t>: Postgres 17, 1 CU, branch production</a:t>
            </a:r>
            <a:endParaRPr lang="en-US" sz="1000" dirty="0"/>
          </a:p>
        </p:txBody>
      </p:sp>
      <p:pic>
        <p:nvPicPr>
          <p:cNvPr id="6" name="Image 1" descr="preencoded.png">    </p:cNvPr>
          <p:cNvPicPr>
            <a:picLocks noChangeAspect="1"/>
          </p:cNvPicPr>
          <p:nvPr/>
        </p:nvPicPr>
        <p:blipFill>
          <a:blip r:embed="rId3"/>
          <a:srcRect l="10640" r="10640" t="0" b="0"/>
          <a:stretch/>
        </p:blipFill>
        <p:spPr>
          <a:xfrm>
            <a:off x="6172046" y="1182261"/>
            <a:ext cx="5257669" cy="3555911"/>
          </a:xfrm>
          <a:prstGeom prst="rect">
            <a:avLst/>
          </a:prstGeom>
        </p:spPr>
      </p:pic>
      <p:sp>
        <p:nvSpPr>
          <p:cNvPr id="7" name="Text 3"/>
          <p:cNvSpPr txBox="1"/>
          <p:nvPr/>
        </p:nvSpPr>
        <p:spPr>
          <a:xfrm>
            <a:off x="6172046" y="4788971"/>
            <a:ext cx="5467975" cy="190495"/>
          </a:xfrm>
          <a:prstGeom prst="rect">
            <a:avLst/>
          </a:prstGeom>
          <a:noFill/>
          <a:ln/>
        </p:spPr>
        <p:txBody>
          <a:bodyPr wrap="square" lIns="0" tIns="0" rIns="0" bIns="0" rtlCol="0" anchor="t"/>
          <a:lstStyle/>
          <a:p>
            <a:pPr algn="l" indent="0" marL="0">
              <a:lnSpc>
                <a:spcPct val="106838"/>
              </a:lnSpc>
              <a:buNone/>
            </a:pPr>
            <a:r>
              <a:rPr lang="en-US" sz="1000" dirty="0">
                <a:solidFill>
                  <a:srgbClr val="A3A6B4"/>
                </a:solidFill>
                <a:latin typeface="Poppins" pitchFamily="34" charset="0"/>
                <a:ea typeface="Poppins" pitchFamily="34" charset="-122"/>
                <a:cs typeface="Poppins" pitchFamily="34" charset="-120"/>
              </a:rPr>
              <a:t>a tabela </a:t>
            </a:r>
            <a:pPr algn="l" indent="0" marL="0">
              <a:lnSpc>
                <a:spcPct val="106838"/>
              </a:lnSpc>
              <a:buNone/>
            </a:pPr>
            <a:r>
              <a:rPr lang="en-US" sz="1000" dirty="0">
                <a:solidFill>
                  <a:srgbClr val="A3A6B4"/>
                </a:solidFill>
                <a:latin typeface="Courier New" pitchFamily="34" charset="0"/>
                <a:ea typeface="Courier New" pitchFamily="34" charset="-122"/>
                <a:cs typeface="Courier New" pitchFamily="34" charset="-120"/>
              </a:rPr>
              <a:t>torre.decisoes</a:t>
            </a:r>
            <a:pPr algn="l" indent="0" marL="0">
              <a:lnSpc>
                <a:spcPct val="106838"/>
              </a:lnSpc>
              <a:buNone/>
            </a:pPr>
            <a:r>
              <a:rPr lang="en-US" sz="1000" dirty="0">
                <a:solidFill>
                  <a:srgbClr val="A3A6B4"/>
                </a:solidFill>
                <a:latin typeface="Poppins" pitchFamily="34" charset="0"/>
                <a:ea typeface="Poppins" pitchFamily="34" charset="-122"/>
                <a:cs typeface="Poppins" pitchFamily="34" charset="-120"/>
              </a:rPr>
              <a:t>, onde o app grava cada aprovação</a:t>
            </a:r>
            <a:endParaRPr lang="en-US" sz="1000" dirty="0"/>
          </a:p>
        </p:txBody>
      </p:sp>
      <p:sp>
        <p:nvSpPr>
          <p:cNvPr id="8" name="Shape 4"/>
          <p:cNvSpPr/>
          <p:nvPr/>
        </p:nvSpPr>
        <p:spPr>
          <a:xfrm>
            <a:off x="761981" y="5093763"/>
            <a:ext cx="25399" cy="285743"/>
          </a:xfrm>
          <a:prstGeom prst="rect">
            <a:avLst/>
          </a:prstGeom>
          <a:solidFill>
            <a:srgbClr val="22C2F4"/>
          </a:solidFill>
          <a:ln/>
        </p:spPr>
      </p:sp>
      <p:sp>
        <p:nvSpPr>
          <p:cNvPr id="9" name="Text 5"/>
          <p:cNvSpPr txBox="1"/>
          <p:nvPr/>
        </p:nvSpPr>
        <p:spPr>
          <a:xfrm>
            <a:off x="914377" y="5131862"/>
            <a:ext cx="10935951" cy="209545"/>
          </a:xfrm>
          <a:prstGeom prst="rect">
            <a:avLst/>
          </a:prstGeom>
          <a:noFill/>
          <a:ln/>
        </p:spPr>
        <p:txBody>
          <a:bodyPr wrap="square" lIns="0" tIns="0" rIns="0" bIns="0" rtlCol="0" anchor="t"/>
          <a:lstStyle/>
          <a:p>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O lakehouse é ótimo para ler muito. O Lakebase é para </a:t>
            </a:r>
            <a:pPr algn="l" indent="0" marL="0">
              <a:lnSpc>
                <a:spcPct val="106838"/>
              </a:lnSpc>
              <a:buNone/>
            </a:pPr>
            <a:r>
              <a:rPr lang="en-US" sz="1100" b="1" dirty="0">
                <a:solidFill>
                  <a:srgbClr val="FFFFFF"/>
                </a:solidFill>
                <a:latin typeface="Poppins" pitchFamily="34" charset="0"/>
                <a:ea typeface="Poppins" pitchFamily="34" charset="-122"/>
                <a:cs typeface="Poppins" pitchFamily="34" charset="-120"/>
              </a:rPr>
              <a:t>gravar uma linha</a:t>
            </a:r>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 em milissegundos: a decisão do dono.</a:t>
            </a:r>
            <a:endParaRPr lang="en-US" sz="1100" dirty="0"/>
          </a:p>
        </p:txBody>
      </p:sp>
      <p:pic>
        <p:nvPicPr>
          <p:cNvPr id="10" name="Image 2" descr="preencoded.png">    </p:cNvPr>
          <p:cNvPicPr>
            <a:picLocks noChangeAspect="1"/>
          </p:cNvPicPr>
          <p:nvPr/>
        </p:nvPicPr>
        <p:blipFill>
          <a:blip r:embed="rId4"/>
          <a:stretch>
            <a:fillRect/>
          </a:stretch>
        </p:blipFill>
        <p:spPr>
          <a:xfrm>
            <a:off x="761981" y="6387940"/>
            <a:ext cx="2059928" cy="190495"/>
          </a:xfrm>
          <a:prstGeom prst="rect">
            <a:avLst/>
          </a:prstGeom>
        </p:spPr>
      </p:pic>
      <p:sp>
        <p:nvSpPr>
          <p:cNvPr id="11" name="Text 6"/>
          <p:cNvSpPr txBox="1"/>
          <p:nvPr/>
        </p:nvSpPr>
        <p:spPr>
          <a:xfrm>
            <a:off x="10903769" y="6387940"/>
            <a:ext cx="546983"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126 / 133</a:t>
            </a:r>
            <a:endParaRPr lang="en-US" sz="100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4 · APP FAROL-TORRE · ABA 3 DE 4</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Decisões: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gravadas no Lakebase</a:t>
            </a:r>
            <a:endParaRPr lang="en-US" sz="3100" dirty="0"/>
          </a:p>
        </p:txBody>
      </p:sp>
      <p:pic>
        <p:nvPicPr>
          <p:cNvPr id="4" name="Image 0" descr="preencoded.png">    </p:cNvPr>
          <p:cNvPicPr>
            <a:picLocks noChangeAspect="1"/>
          </p:cNvPicPr>
          <p:nvPr/>
        </p:nvPicPr>
        <p:blipFill>
          <a:blip r:embed="rId2"/>
          <a:stretch>
            <a:fillRect/>
          </a:stretch>
        </p:blipFill>
        <p:spPr>
          <a:xfrm>
            <a:off x="1314968" y="1455304"/>
            <a:ext cx="4132645" cy="2666933"/>
          </a:xfrm>
          <a:prstGeom prst="rect">
            <a:avLst/>
          </a:prstGeom>
        </p:spPr>
      </p:pic>
      <p:sp>
        <p:nvSpPr>
          <p:cNvPr id="5" name="Shape 2"/>
          <p:cNvSpPr/>
          <p:nvPr/>
        </p:nvSpPr>
        <p:spPr>
          <a:xfrm>
            <a:off x="6191095" y="1455304"/>
            <a:ext cx="5238619" cy="2604229"/>
          </a:xfrm>
          <a:prstGeom prst="roundRect">
            <a:avLst>
              <a:gd name="adj" fmla="val 5852"/>
            </a:avLst>
          </a:prstGeom>
          <a:solidFill>
            <a:srgbClr val="1E1E24"/>
          </a:solidFill>
          <a:ln w="6350">
            <a:solidFill>
              <a:srgbClr val="2F2F39"/>
            </a:solidFill>
            <a:prstDash val="solid"/>
          </a:ln>
        </p:spPr>
      </p:sp>
      <p:sp>
        <p:nvSpPr>
          <p:cNvPr id="6" name="Shape 3"/>
          <p:cNvSpPr/>
          <p:nvPr/>
        </p:nvSpPr>
        <p:spPr>
          <a:xfrm>
            <a:off x="6413340" y="1652149"/>
            <a:ext cx="1075504" cy="247644"/>
          </a:xfrm>
          <a:prstGeom prst="roundRect">
            <a:avLst>
              <a:gd name="adj" fmla="val 50000"/>
            </a:avLst>
          </a:prstGeom>
          <a:solidFill>
            <a:srgbClr val="22C2F4">
              <a:alpha val="14000"/>
            </a:srgbClr>
          </a:solidFill>
          <a:ln/>
        </p:spPr>
      </p:sp>
      <p:sp>
        <p:nvSpPr>
          <p:cNvPr id="7" name="Text 4"/>
          <p:cNvSpPr txBox="1"/>
          <p:nvPr/>
        </p:nvSpPr>
        <p:spPr>
          <a:xfrm>
            <a:off x="6502237" y="1690248"/>
            <a:ext cx="933617"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Como funciona</a:t>
            </a:r>
            <a:endParaRPr lang="en-US" sz="900" dirty="0"/>
          </a:p>
        </p:txBody>
      </p:sp>
      <p:sp>
        <p:nvSpPr>
          <p:cNvPr id="8" name="Shape 5"/>
          <p:cNvSpPr/>
          <p:nvPr/>
        </p:nvSpPr>
        <p:spPr>
          <a:xfrm>
            <a:off x="6413340" y="2071239"/>
            <a:ext cx="76198" cy="76198"/>
          </a:xfrm>
          <a:prstGeom prst="roundRect">
            <a:avLst>
              <a:gd name="adj" fmla="val 25000"/>
            </a:avLst>
          </a:prstGeom>
          <a:solidFill>
            <a:srgbClr val="22C2F4"/>
          </a:solidFill>
          <a:ln/>
        </p:spPr>
      </p:sp>
      <p:sp>
        <p:nvSpPr>
          <p:cNvPr id="9" name="Text 6"/>
          <p:cNvSpPr txBox="1"/>
          <p:nvPr/>
        </p:nvSpPr>
        <p:spPr>
          <a:xfrm>
            <a:off x="6603835" y="1988691"/>
            <a:ext cx="4787780"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no simulador, o dono escreve a justificativa e aprova ou recusa</a:t>
            </a:r>
            <a:endParaRPr lang="en-US" sz="1200" dirty="0"/>
          </a:p>
        </p:txBody>
      </p:sp>
      <p:sp>
        <p:nvSpPr>
          <p:cNvPr id="10" name="Shape 7"/>
          <p:cNvSpPr/>
          <p:nvPr/>
        </p:nvSpPr>
        <p:spPr>
          <a:xfrm>
            <a:off x="6413340" y="2558788"/>
            <a:ext cx="76198" cy="76198"/>
          </a:xfrm>
          <a:prstGeom prst="roundRect">
            <a:avLst>
              <a:gd name="adj" fmla="val 25000"/>
            </a:avLst>
          </a:prstGeom>
          <a:solidFill>
            <a:srgbClr val="22C2F4"/>
          </a:solidFill>
          <a:ln/>
        </p:spPr>
      </p:sp>
      <p:sp>
        <p:nvSpPr>
          <p:cNvPr id="11" name="Text 8"/>
          <p:cNvSpPr txBox="1"/>
          <p:nvPr/>
        </p:nvSpPr>
        <p:spPr>
          <a:xfrm>
            <a:off x="6603835" y="2476240"/>
            <a:ext cx="4787780"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a decisão vai para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torre.decisoes</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num Postgres do Lakebase, com o usuário do login e o horário</a:t>
            </a:r>
            <a:endParaRPr lang="en-US" sz="1200" dirty="0"/>
          </a:p>
        </p:txBody>
      </p:sp>
      <p:sp>
        <p:nvSpPr>
          <p:cNvPr id="12" name="Shape 9"/>
          <p:cNvSpPr/>
          <p:nvPr/>
        </p:nvSpPr>
        <p:spPr>
          <a:xfrm>
            <a:off x="6413340" y="3046336"/>
            <a:ext cx="76198" cy="76198"/>
          </a:xfrm>
          <a:prstGeom prst="roundRect">
            <a:avLst>
              <a:gd name="adj" fmla="val 25000"/>
            </a:avLst>
          </a:prstGeom>
          <a:solidFill>
            <a:srgbClr val="22C2F4"/>
          </a:solidFill>
          <a:ln/>
        </p:spPr>
      </p:sp>
      <p:sp>
        <p:nvSpPr>
          <p:cNvPr id="13" name="Text 10"/>
          <p:cNvSpPr txBox="1"/>
          <p:nvPr/>
        </p:nvSpPr>
        <p:spPr>
          <a:xfrm>
            <a:off x="6603835" y="2963788"/>
            <a:ext cx="4787780"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a aba lista o histórico: quem decidiu o quê, quando e por quê</a:t>
            </a:r>
            <a:endParaRPr lang="en-US" sz="1200" dirty="0"/>
          </a:p>
        </p:txBody>
      </p:sp>
      <p:sp>
        <p:nvSpPr>
          <p:cNvPr id="14" name="Shape 11"/>
          <p:cNvSpPr/>
          <p:nvPr/>
        </p:nvSpPr>
        <p:spPr>
          <a:xfrm>
            <a:off x="6413340" y="3533885"/>
            <a:ext cx="76198" cy="76198"/>
          </a:xfrm>
          <a:prstGeom prst="roundRect">
            <a:avLst>
              <a:gd name="adj" fmla="val 25000"/>
            </a:avLst>
          </a:prstGeom>
          <a:solidFill>
            <a:srgbClr val="22C2F4"/>
          </a:solidFill>
          <a:ln/>
        </p:spPr>
      </p:sp>
      <p:sp>
        <p:nvSpPr>
          <p:cNvPr id="15" name="Text 12"/>
          <p:cNvSpPr txBox="1"/>
          <p:nvPr/>
        </p:nvSpPr>
        <p:spPr>
          <a:xfrm>
            <a:off x="6603835" y="3451337"/>
            <a:ext cx="4787780"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analítico na gold (warehouse); transação no Lakebase (Postgres)</a:t>
            </a:r>
            <a:endParaRPr lang="en-US" sz="1200" dirty="0"/>
          </a:p>
        </p:txBody>
      </p:sp>
      <p:pic>
        <p:nvPicPr>
          <p:cNvPr id="16" name="Image 1" descr="preencoded.png">    </p:cNvPr>
          <p:cNvPicPr>
            <a:picLocks noChangeAspect="1"/>
          </p:cNvPicPr>
          <p:nvPr/>
        </p:nvPicPr>
        <p:blipFill>
          <a:blip r:embed="rId3"/>
          <a:stretch>
            <a:fillRect/>
          </a:stretch>
        </p:blipFill>
        <p:spPr>
          <a:xfrm>
            <a:off x="4605015" y="4274634"/>
            <a:ext cx="2981665" cy="1587460"/>
          </a:xfrm>
          <a:prstGeom prst="rect">
            <a:avLst/>
          </a:prstGeom>
        </p:spPr>
      </p:pic>
      <p:pic>
        <p:nvPicPr>
          <p:cNvPr id="17" name="Image 2" descr="preencoded.png">    </p:cNvPr>
          <p:cNvPicPr>
            <a:picLocks noChangeAspect="1"/>
          </p:cNvPicPr>
          <p:nvPr/>
        </p:nvPicPr>
        <p:blipFill>
          <a:blip r:embed="rId4"/>
          <a:stretch>
            <a:fillRect/>
          </a:stretch>
        </p:blipFill>
        <p:spPr>
          <a:xfrm>
            <a:off x="761981" y="6387940"/>
            <a:ext cx="2059928" cy="190495"/>
          </a:xfrm>
          <a:prstGeom prst="rect">
            <a:avLst/>
          </a:prstGeom>
        </p:spPr>
      </p:pic>
      <p:sp>
        <p:nvSpPr>
          <p:cNvPr id="18" name="Text 13"/>
          <p:cNvSpPr txBox="1"/>
          <p:nvPr/>
        </p:nvSpPr>
        <p:spPr>
          <a:xfrm>
            <a:off x="10914187" y="6387940"/>
            <a:ext cx="536149"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127 / 133</a:t>
            </a:r>
            <a:endParaRPr lang="en-US" sz="100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4 · APP FAROL-TORRE · ABA 4 DE 4</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Perguntar: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o Genie dentro da Torre</a:t>
            </a:r>
            <a:endParaRPr lang="en-US" sz="3100" dirty="0"/>
          </a:p>
        </p:txBody>
      </p:sp>
      <p:pic>
        <p:nvPicPr>
          <p:cNvPr id="4" name="Image 0" descr="preencoded.png">    </p:cNvPr>
          <p:cNvPicPr>
            <a:picLocks noChangeAspect="1"/>
          </p:cNvPicPr>
          <p:nvPr/>
        </p:nvPicPr>
        <p:blipFill>
          <a:blip r:embed="rId2"/>
          <a:srcRect l="400" r="400" t="0" b="0"/>
          <a:stretch/>
        </p:blipFill>
        <p:spPr>
          <a:xfrm>
            <a:off x="761981" y="1455304"/>
            <a:ext cx="6447470" cy="4190895"/>
          </a:xfrm>
          <a:prstGeom prst="rect">
            <a:avLst/>
          </a:prstGeom>
        </p:spPr>
      </p:pic>
      <p:sp>
        <p:nvSpPr>
          <p:cNvPr id="5" name="Shape 2"/>
          <p:cNvSpPr/>
          <p:nvPr/>
        </p:nvSpPr>
        <p:spPr>
          <a:xfrm>
            <a:off x="7399946" y="1455304"/>
            <a:ext cx="4029768" cy="2192878"/>
          </a:xfrm>
          <a:prstGeom prst="roundRect">
            <a:avLst>
              <a:gd name="adj" fmla="val 6950"/>
            </a:avLst>
          </a:prstGeom>
          <a:solidFill>
            <a:srgbClr val="1E1E24"/>
          </a:solidFill>
          <a:ln w="6350">
            <a:solidFill>
              <a:srgbClr val="2F2F39"/>
            </a:solidFill>
            <a:prstDash val="solid"/>
          </a:ln>
        </p:spPr>
      </p:sp>
      <p:sp>
        <p:nvSpPr>
          <p:cNvPr id="6" name="Shape 3"/>
          <p:cNvSpPr/>
          <p:nvPr/>
        </p:nvSpPr>
        <p:spPr>
          <a:xfrm>
            <a:off x="7622191" y="1652149"/>
            <a:ext cx="1853658" cy="247644"/>
          </a:xfrm>
          <a:prstGeom prst="roundRect">
            <a:avLst>
              <a:gd name="adj" fmla="val 50000"/>
            </a:avLst>
          </a:prstGeom>
          <a:solidFill>
            <a:srgbClr val="22C2F4">
              <a:alpha val="14000"/>
            </a:srgbClr>
          </a:solidFill>
          <a:ln/>
        </p:spPr>
      </p:sp>
      <p:sp>
        <p:nvSpPr>
          <p:cNvPr id="7" name="Text 4"/>
          <p:cNvSpPr txBox="1"/>
          <p:nvPr/>
        </p:nvSpPr>
        <p:spPr>
          <a:xfrm>
            <a:off x="7711088" y="1690248"/>
            <a:ext cx="1742896"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"Farol · Diretoria + Contratos"</a:t>
            </a:r>
            <a:endParaRPr lang="en-US" sz="900" dirty="0"/>
          </a:p>
        </p:txBody>
      </p:sp>
      <p:sp>
        <p:nvSpPr>
          <p:cNvPr id="8" name="Shape 5"/>
          <p:cNvSpPr/>
          <p:nvPr/>
        </p:nvSpPr>
        <p:spPr>
          <a:xfrm>
            <a:off x="7622191" y="2071239"/>
            <a:ext cx="76198" cy="76198"/>
          </a:xfrm>
          <a:prstGeom prst="roundRect">
            <a:avLst>
              <a:gd name="adj" fmla="val 25000"/>
            </a:avLst>
          </a:prstGeom>
          <a:solidFill>
            <a:srgbClr val="22C2F4"/>
          </a:solidFill>
          <a:ln/>
        </p:spPr>
      </p:sp>
      <p:sp>
        <p:nvSpPr>
          <p:cNvPr id="9" name="Text 6"/>
          <p:cNvSpPr txBox="1"/>
          <p:nvPr/>
        </p:nvSpPr>
        <p:spPr>
          <a:xfrm>
            <a:off x="7812686" y="1988691"/>
            <a:ext cx="3530575"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projetos, causa do atraso, gente parada, risco em 30 dias e o contrato</a:t>
            </a:r>
            <a:endParaRPr lang="en-US" sz="1200" dirty="0"/>
          </a:p>
        </p:txBody>
      </p:sp>
      <p:sp>
        <p:nvSpPr>
          <p:cNvPr id="10" name="Shape 7"/>
          <p:cNvSpPr/>
          <p:nvPr/>
        </p:nvSpPr>
        <p:spPr>
          <a:xfrm>
            <a:off x="7622191" y="2558788"/>
            <a:ext cx="76198" cy="76198"/>
          </a:xfrm>
          <a:prstGeom prst="roundRect">
            <a:avLst>
              <a:gd name="adj" fmla="val 25000"/>
            </a:avLst>
          </a:prstGeom>
          <a:solidFill>
            <a:srgbClr val="22C2F4"/>
          </a:solidFill>
          <a:ln/>
        </p:spPr>
      </p:sp>
      <p:sp>
        <p:nvSpPr>
          <p:cNvPr id="11" name="Text 8"/>
          <p:cNvSpPr txBox="1"/>
          <p:nvPr/>
        </p:nvSpPr>
        <p:spPr>
          <a:xfrm>
            <a:off x="7812686" y="2476240"/>
            <a:ext cx="3530575" cy="411351"/>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"Quanto dá para cobrar de multa da CodeForge?" →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R$ 1.122.967,66</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120 entregas</a:t>
            </a:r>
            <a:endParaRPr lang="en-US" sz="1200" dirty="0"/>
          </a:p>
        </p:txBody>
      </p:sp>
      <p:sp>
        <p:nvSpPr>
          <p:cNvPr id="12" name="Shape 9"/>
          <p:cNvSpPr/>
          <p:nvPr/>
        </p:nvSpPr>
        <p:spPr>
          <a:xfrm>
            <a:off x="7622191" y="3046336"/>
            <a:ext cx="76198" cy="76198"/>
          </a:xfrm>
          <a:prstGeom prst="roundRect">
            <a:avLst>
              <a:gd name="adj" fmla="val 25000"/>
            </a:avLst>
          </a:prstGeom>
          <a:solidFill>
            <a:srgbClr val="22C2F4"/>
          </a:solidFill>
          <a:ln/>
        </p:spPr>
      </p:sp>
      <p:sp>
        <p:nvSpPr>
          <p:cNvPr id="13" name="Text 10"/>
          <p:cNvSpPr txBox="1"/>
          <p:nvPr/>
        </p:nvSpPr>
        <p:spPr>
          <a:xfrm>
            <a:off x="7812686" y="2963788"/>
            <a:ext cx="3530575"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mostra a SQL que rodou: dá para conferir</a:t>
            </a:r>
            <a:endParaRPr lang="en-US" sz="1200" dirty="0"/>
          </a:p>
        </p:txBody>
      </p:sp>
      <p:sp>
        <p:nvSpPr>
          <p:cNvPr id="14" name="Shape 11"/>
          <p:cNvSpPr/>
          <p:nvPr/>
        </p:nvSpPr>
        <p:spPr>
          <a:xfrm>
            <a:off x="7622191" y="3328210"/>
            <a:ext cx="76198" cy="76198"/>
          </a:xfrm>
          <a:prstGeom prst="roundRect">
            <a:avLst>
              <a:gd name="adj" fmla="val 25000"/>
            </a:avLst>
          </a:prstGeom>
          <a:solidFill>
            <a:srgbClr val="22C2F4"/>
          </a:solidFill>
          <a:ln/>
        </p:spPr>
      </p:sp>
      <p:sp>
        <p:nvSpPr>
          <p:cNvPr id="15" name="Text 12"/>
          <p:cNvSpPr txBox="1"/>
          <p:nvPr/>
        </p:nvSpPr>
        <p:spPr>
          <a:xfrm>
            <a:off x="7812686" y="3245662"/>
            <a:ext cx="3530575"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benchmark: </a:t>
            </a:r>
            <a:pPr algn="l" indent="0" marL="0">
              <a:lnSpc>
                <a:spcPct val="115385"/>
              </a:lnSpc>
              <a:buNone/>
            </a:pPr>
            <a:r>
              <a:rPr lang="en-US" sz="1200" b="1" dirty="0">
                <a:solidFill>
                  <a:srgbClr val="FFFFFF"/>
                </a:solidFill>
                <a:latin typeface="Poppins" pitchFamily="34" charset="0"/>
                <a:ea typeface="Poppins" pitchFamily="34" charset="-122"/>
                <a:cs typeface="Poppins" pitchFamily="34" charset="-120"/>
              </a:rPr>
              <a:t>10 de 10</a:t>
            </a:r>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 certas</a:t>
            </a:r>
            <a:endParaRPr lang="en-US" sz="1200" dirty="0"/>
          </a:p>
        </p:txBody>
      </p:sp>
      <p:pic>
        <p:nvPicPr>
          <p:cNvPr id="16" name="Image 1" descr="preencoded.png">    </p:cNvPr>
          <p:cNvPicPr>
            <a:picLocks noChangeAspect="1"/>
          </p:cNvPicPr>
          <p:nvPr/>
        </p:nvPicPr>
        <p:blipFill>
          <a:blip r:embed="rId3"/>
          <a:stretch>
            <a:fillRect/>
          </a:stretch>
        </p:blipFill>
        <p:spPr>
          <a:xfrm>
            <a:off x="761981" y="6387940"/>
            <a:ext cx="2059928" cy="190495"/>
          </a:xfrm>
          <a:prstGeom prst="rect">
            <a:avLst/>
          </a:prstGeom>
        </p:spPr>
      </p:pic>
      <p:sp>
        <p:nvSpPr>
          <p:cNvPr id="17" name="Text 13"/>
          <p:cNvSpPr txBox="1"/>
          <p:nvPr/>
        </p:nvSpPr>
        <p:spPr>
          <a:xfrm>
            <a:off x="10904265" y="6387940"/>
            <a:ext cx="546467"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128 / 133</a:t>
            </a:r>
            <a:endParaRPr lang="en-US" sz="100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NOITE 4 · O PITCH</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Quanto a Torre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vale no ano 1</a:t>
            </a:r>
            <a:endParaRPr lang="en-US" sz="3100" dirty="0"/>
          </a:p>
        </p:txBody>
      </p:sp>
      <p:sp>
        <p:nvSpPr>
          <p:cNvPr id="4" name="Shape 2"/>
          <p:cNvSpPr/>
          <p:nvPr/>
        </p:nvSpPr>
        <p:spPr>
          <a:xfrm>
            <a:off x="761981" y="1582301"/>
            <a:ext cx="3437348" cy="1283263"/>
          </a:xfrm>
          <a:prstGeom prst="roundRect">
            <a:avLst>
              <a:gd name="adj" fmla="val 11876"/>
            </a:avLst>
          </a:prstGeom>
          <a:solidFill>
            <a:srgbClr val="0059DB"/>
          </a:solidFill>
          <a:ln/>
        </p:spPr>
      </p:sp>
      <p:sp>
        <p:nvSpPr>
          <p:cNvPr id="5" name="Text 3"/>
          <p:cNvSpPr txBox="1"/>
          <p:nvPr/>
        </p:nvSpPr>
        <p:spPr>
          <a:xfrm>
            <a:off x="984225" y="1779146"/>
            <a:ext cx="3112573" cy="419090"/>
          </a:xfrm>
          <a:prstGeom prst="rect">
            <a:avLst/>
          </a:prstGeom>
          <a:noFill/>
          <a:ln/>
        </p:spPr>
        <p:txBody>
          <a:bodyPr wrap="square" lIns="0" tIns="0" rIns="0" bIns="0" rtlCol="0" anchor="t"/>
          <a:lstStyle/>
          <a:p>
            <a:pPr algn="l" indent="0" marL="0">
              <a:lnSpc>
                <a:spcPct val="85470"/>
              </a:lnSpc>
              <a:buNone/>
            </a:pPr>
            <a:r>
              <a:rPr lang="en-US" sz="3300" b="1" spc="-66" kern="0" dirty="0">
                <a:solidFill>
                  <a:srgbClr val="F5F6FC"/>
                </a:solidFill>
                <a:latin typeface="Poppins" pitchFamily="34" charset="0"/>
                <a:ea typeface="Poppins" pitchFamily="34" charset="-122"/>
                <a:cs typeface="Poppins" pitchFamily="34" charset="-120"/>
              </a:rPr>
              <a:t>≈ R$ 3,0 mi</a:t>
            </a:r>
            <a:endParaRPr lang="en-US" sz="3300" dirty="0"/>
          </a:p>
        </p:txBody>
      </p:sp>
      <p:sp>
        <p:nvSpPr>
          <p:cNvPr id="6" name="Text 4"/>
          <p:cNvSpPr txBox="1"/>
          <p:nvPr/>
        </p:nvSpPr>
        <p:spPr>
          <a:xfrm>
            <a:off x="984225" y="2274434"/>
            <a:ext cx="3112573" cy="394285"/>
          </a:xfrm>
          <a:prstGeom prst="rect">
            <a:avLst/>
          </a:prstGeom>
          <a:noFill/>
          <a:ln/>
        </p:spPr>
        <p:txBody>
          <a:bodyPr wrap="square" lIns="0" tIns="0" rIns="0" bIns="0" rtlCol="0" anchor="t"/>
          <a:lstStyle/>
          <a:p>
            <a:pPr algn="l" indent="0" marL="0">
              <a:lnSpc>
                <a:spcPct val="115385"/>
              </a:lnSpc>
              <a:buNone/>
            </a:pPr>
            <a:r>
              <a:rPr lang="en-US" sz="1150" dirty="0">
                <a:solidFill>
                  <a:srgbClr val="DBE6FF"/>
                </a:solidFill>
                <a:latin typeface="Poppins" pitchFamily="34" charset="0"/>
                <a:ea typeface="Poppins" pitchFamily="34" charset="-122"/>
                <a:cs typeface="Poppins" pitchFamily="34" charset="-120"/>
              </a:rPr>
              <a:t>de valor no ano 1: multa cobrada, atraso evitado, gente realocada</a:t>
            </a:r>
            <a:endParaRPr lang="en-US" sz="1150" dirty="0"/>
          </a:p>
        </p:txBody>
      </p:sp>
      <p:sp>
        <p:nvSpPr>
          <p:cNvPr id="7" name="Shape 5"/>
          <p:cNvSpPr/>
          <p:nvPr/>
        </p:nvSpPr>
        <p:spPr>
          <a:xfrm>
            <a:off x="4377124" y="1582301"/>
            <a:ext cx="3437348" cy="1283263"/>
          </a:xfrm>
          <a:prstGeom prst="roundRect">
            <a:avLst>
              <a:gd name="adj" fmla="val 11876"/>
            </a:avLst>
          </a:prstGeom>
          <a:solidFill>
            <a:srgbClr val="1E1E24"/>
          </a:solidFill>
          <a:ln w="6350">
            <a:solidFill>
              <a:srgbClr val="2F2F39"/>
            </a:solidFill>
            <a:prstDash val="solid"/>
          </a:ln>
        </p:spPr>
      </p:sp>
      <p:sp>
        <p:nvSpPr>
          <p:cNvPr id="8" name="Text 6"/>
          <p:cNvSpPr txBox="1"/>
          <p:nvPr/>
        </p:nvSpPr>
        <p:spPr>
          <a:xfrm>
            <a:off x="4599369" y="1779146"/>
            <a:ext cx="3112573" cy="419090"/>
          </a:xfrm>
          <a:prstGeom prst="rect">
            <a:avLst/>
          </a:prstGeom>
          <a:noFill/>
          <a:ln/>
        </p:spPr>
        <p:txBody>
          <a:bodyPr wrap="square" lIns="0" tIns="0" rIns="0" bIns="0" rtlCol="0" anchor="t"/>
          <a:lstStyle/>
          <a:p>
            <a:pPr algn="l" indent="0" marL="0">
              <a:lnSpc>
                <a:spcPct val="85470"/>
              </a:lnSpc>
              <a:buNone/>
            </a:pPr>
            <a:r>
              <a:rPr lang="en-US" sz="3300" b="1" spc="-66" kern="0" dirty="0">
                <a:solidFill>
                  <a:srgbClr val="F5F6FC"/>
                </a:solidFill>
                <a:latin typeface="Poppins" pitchFamily="34" charset="0"/>
                <a:ea typeface="Poppins" pitchFamily="34" charset="-122"/>
                <a:cs typeface="Poppins" pitchFamily="34" charset="-120"/>
              </a:rPr>
              <a:t>R$ 0,4 mi</a:t>
            </a:r>
            <a:endParaRPr lang="en-US" sz="3300" dirty="0"/>
          </a:p>
        </p:txBody>
      </p:sp>
      <p:sp>
        <p:nvSpPr>
          <p:cNvPr id="9" name="Text 7"/>
          <p:cNvSpPr txBox="1"/>
          <p:nvPr/>
        </p:nvSpPr>
        <p:spPr>
          <a:xfrm>
            <a:off x="4599369" y="2274434"/>
            <a:ext cx="3112573" cy="197143"/>
          </a:xfrm>
          <a:prstGeom prst="rect">
            <a:avLst/>
          </a:prstGeom>
          <a:noFill/>
          <a:ln/>
        </p:spPr>
        <p:txBody>
          <a:bodyPr wrap="square" lIns="0" tIns="0" rIns="0" bIns="0" rtlCol="0" anchor="t"/>
          <a:lstStyle/>
          <a:p>
            <a:pPr algn="l" indent="0" marL="0">
              <a:lnSpc>
                <a:spcPct val="115385"/>
              </a:lnSpc>
              <a:buNone/>
            </a:pPr>
            <a:r>
              <a:rPr lang="en-US" sz="1150" dirty="0">
                <a:solidFill>
                  <a:srgbClr val="A3A6B4"/>
                </a:solidFill>
                <a:latin typeface="Poppins" pitchFamily="34" charset="0"/>
                <a:ea typeface="Poppins" pitchFamily="34" charset="-122"/>
                <a:cs typeface="Poppins" pitchFamily="34" charset="-120"/>
              </a:rPr>
              <a:t>de custo para construir e manter</a:t>
            </a:r>
            <a:endParaRPr lang="en-US" sz="1150" dirty="0"/>
          </a:p>
        </p:txBody>
      </p:sp>
      <p:sp>
        <p:nvSpPr>
          <p:cNvPr id="10" name="Shape 8"/>
          <p:cNvSpPr/>
          <p:nvPr/>
        </p:nvSpPr>
        <p:spPr>
          <a:xfrm>
            <a:off x="7992267" y="1582301"/>
            <a:ext cx="3437348" cy="1283263"/>
          </a:xfrm>
          <a:prstGeom prst="roundRect">
            <a:avLst>
              <a:gd name="adj" fmla="val 11876"/>
            </a:avLst>
          </a:prstGeom>
          <a:solidFill>
            <a:srgbClr val="1E1E24"/>
          </a:solidFill>
          <a:ln w="6350">
            <a:solidFill>
              <a:srgbClr val="2F2F39"/>
            </a:solidFill>
            <a:prstDash val="solid"/>
          </a:ln>
        </p:spPr>
      </p:sp>
      <p:sp>
        <p:nvSpPr>
          <p:cNvPr id="11" name="Text 9"/>
          <p:cNvSpPr txBox="1"/>
          <p:nvPr/>
        </p:nvSpPr>
        <p:spPr>
          <a:xfrm>
            <a:off x="8214512" y="1779146"/>
            <a:ext cx="3112573" cy="419090"/>
          </a:xfrm>
          <a:prstGeom prst="rect">
            <a:avLst/>
          </a:prstGeom>
          <a:noFill/>
          <a:ln/>
        </p:spPr>
        <p:txBody>
          <a:bodyPr wrap="square" lIns="0" tIns="0" rIns="0" bIns="0" rtlCol="0" anchor="t"/>
          <a:lstStyle/>
          <a:p>
            <a:pPr algn="l" indent="0" marL="0">
              <a:lnSpc>
                <a:spcPct val="85470"/>
              </a:lnSpc>
              <a:buNone/>
            </a:pPr>
            <a:r>
              <a:rPr lang="en-US" sz="3300" b="1" spc="-66" kern="0" dirty="0">
                <a:solidFill>
                  <a:srgbClr val="F5F6FC"/>
                </a:solidFill>
                <a:latin typeface="Poppins" pitchFamily="34" charset="0"/>
                <a:ea typeface="Poppins" pitchFamily="34" charset="-122"/>
                <a:cs typeface="Poppins" pitchFamily="34" charset="-120"/>
              </a:rPr>
              <a:t>4 noites</a:t>
            </a:r>
            <a:endParaRPr lang="en-US" sz="3300" dirty="0"/>
          </a:p>
        </p:txBody>
      </p:sp>
      <p:sp>
        <p:nvSpPr>
          <p:cNvPr id="12" name="Text 10"/>
          <p:cNvSpPr txBox="1"/>
          <p:nvPr/>
        </p:nvSpPr>
        <p:spPr>
          <a:xfrm>
            <a:off x="8214512" y="2274434"/>
            <a:ext cx="3112573" cy="197143"/>
          </a:xfrm>
          <a:prstGeom prst="rect">
            <a:avLst/>
          </a:prstGeom>
          <a:noFill/>
          <a:ln/>
        </p:spPr>
        <p:txBody>
          <a:bodyPr wrap="square" lIns="0" tIns="0" rIns="0" bIns="0" rtlCol="0" anchor="t"/>
          <a:lstStyle/>
          <a:p>
            <a:pPr algn="l" indent="0" marL="0">
              <a:lnSpc>
                <a:spcPct val="115385"/>
              </a:lnSpc>
              <a:buNone/>
            </a:pPr>
            <a:r>
              <a:rPr lang="en-US" sz="1150" dirty="0">
                <a:solidFill>
                  <a:srgbClr val="A3A6B4"/>
                </a:solidFill>
                <a:latin typeface="Poppins" pitchFamily="34" charset="0"/>
                <a:ea typeface="Poppins" pitchFamily="34" charset="-122"/>
                <a:cs typeface="Poppins" pitchFamily="34" charset="-120"/>
              </a:rPr>
              <a:t>do Excel espalhado à decisão gravada</a:t>
            </a:r>
            <a:endParaRPr lang="en-US" sz="1150" dirty="0"/>
          </a:p>
        </p:txBody>
      </p:sp>
      <p:sp>
        <p:nvSpPr>
          <p:cNvPr id="13" name="Shape 11"/>
          <p:cNvSpPr/>
          <p:nvPr/>
        </p:nvSpPr>
        <p:spPr>
          <a:xfrm>
            <a:off x="761981" y="3056060"/>
            <a:ext cx="10667733" cy="1499654"/>
          </a:xfrm>
          <a:prstGeom prst="roundRect">
            <a:avLst>
              <a:gd name="adj" fmla="val 10162"/>
            </a:avLst>
          </a:prstGeom>
          <a:solidFill>
            <a:srgbClr val="1E1E24"/>
          </a:solidFill>
          <a:ln w="6350">
            <a:solidFill>
              <a:srgbClr val="2F2F39"/>
            </a:solidFill>
            <a:prstDash val="solid"/>
          </a:ln>
        </p:spPr>
      </p:sp>
      <p:sp>
        <p:nvSpPr>
          <p:cNvPr id="14" name="Shape 12"/>
          <p:cNvSpPr/>
          <p:nvPr/>
        </p:nvSpPr>
        <p:spPr>
          <a:xfrm>
            <a:off x="984225" y="3252905"/>
            <a:ext cx="1426333" cy="247644"/>
          </a:xfrm>
          <a:prstGeom prst="roundRect">
            <a:avLst>
              <a:gd name="adj" fmla="val 50000"/>
            </a:avLst>
          </a:prstGeom>
          <a:solidFill>
            <a:srgbClr val="22C2F4">
              <a:alpha val="14000"/>
            </a:srgbClr>
          </a:solidFill>
          <a:ln/>
        </p:spPr>
      </p:sp>
      <p:sp>
        <p:nvSpPr>
          <p:cNvPr id="15" name="Text 13"/>
          <p:cNvSpPr txBox="1"/>
          <p:nvPr/>
        </p:nvSpPr>
        <p:spPr>
          <a:xfrm>
            <a:off x="1073123" y="3291004"/>
            <a:ext cx="1298479"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O que o dono ganhou</a:t>
            </a:r>
            <a:endParaRPr lang="en-US" sz="900" dirty="0"/>
          </a:p>
        </p:txBody>
      </p:sp>
      <p:sp>
        <p:nvSpPr>
          <p:cNvPr id="16" name="Shape 14"/>
          <p:cNvSpPr/>
          <p:nvPr/>
        </p:nvSpPr>
        <p:spPr>
          <a:xfrm>
            <a:off x="984225" y="3671994"/>
            <a:ext cx="76198" cy="76198"/>
          </a:xfrm>
          <a:prstGeom prst="roundRect">
            <a:avLst>
              <a:gd name="adj" fmla="val 25000"/>
            </a:avLst>
          </a:prstGeom>
          <a:solidFill>
            <a:srgbClr val="22C2F4"/>
          </a:solidFill>
          <a:ln/>
        </p:spPr>
      </p:sp>
      <p:sp>
        <p:nvSpPr>
          <p:cNvPr id="17" name="Text 15"/>
          <p:cNvSpPr txBox="1"/>
          <p:nvPr/>
        </p:nvSpPr>
        <p:spPr>
          <a:xfrm>
            <a:off x="1174721" y="3589446"/>
            <a:ext cx="10434059"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toda segunda: quem atrasa, quanto custa, quem está parado, o que vem aí</a:t>
            </a:r>
            <a:endParaRPr lang="en-US" sz="1200" dirty="0"/>
          </a:p>
        </p:txBody>
      </p:sp>
      <p:sp>
        <p:nvSpPr>
          <p:cNvPr id="18" name="Shape 16"/>
          <p:cNvSpPr/>
          <p:nvPr/>
        </p:nvSpPr>
        <p:spPr>
          <a:xfrm>
            <a:off x="984225" y="3953868"/>
            <a:ext cx="76198" cy="76198"/>
          </a:xfrm>
          <a:prstGeom prst="roundRect">
            <a:avLst>
              <a:gd name="adj" fmla="val 25000"/>
            </a:avLst>
          </a:prstGeom>
          <a:solidFill>
            <a:srgbClr val="22C2F4"/>
          </a:solidFill>
          <a:ln/>
        </p:spPr>
      </p:sp>
      <p:sp>
        <p:nvSpPr>
          <p:cNvPr id="19" name="Text 17"/>
          <p:cNvSpPr txBox="1"/>
          <p:nvPr/>
        </p:nvSpPr>
        <p:spPr>
          <a:xfrm>
            <a:off x="1174721" y="3871320"/>
            <a:ext cx="10434059"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um farol que segue o número, não a percepção do gerente</a:t>
            </a:r>
            <a:endParaRPr lang="en-US" sz="1200" dirty="0"/>
          </a:p>
        </p:txBody>
      </p:sp>
      <p:sp>
        <p:nvSpPr>
          <p:cNvPr id="20" name="Shape 18"/>
          <p:cNvSpPr/>
          <p:nvPr/>
        </p:nvSpPr>
        <p:spPr>
          <a:xfrm>
            <a:off x="984225" y="4235741"/>
            <a:ext cx="76198" cy="76198"/>
          </a:xfrm>
          <a:prstGeom prst="roundRect">
            <a:avLst>
              <a:gd name="adj" fmla="val 25000"/>
            </a:avLst>
          </a:prstGeom>
          <a:solidFill>
            <a:srgbClr val="22C2F4"/>
          </a:solidFill>
          <a:ln/>
        </p:spPr>
      </p:sp>
      <p:sp>
        <p:nvSpPr>
          <p:cNvPr id="21" name="Text 19"/>
          <p:cNvSpPr txBox="1"/>
          <p:nvPr/>
        </p:nvSpPr>
        <p:spPr>
          <a:xfrm>
            <a:off x="1174721" y="4153193"/>
            <a:ext cx="10434059" cy="205675"/>
          </a:xfrm>
          <a:prstGeom prst="rect">
            <a:avLst/>
          </a:prstGeom>
          <a:noFill/>
          <a:ln/>
        </p:spPr>
        <p:txBody>
          <a:bodyPr wrap="square" lIns="0" tIns="0" rIns="0" bIns="0" rtlCol="0" anchor="t"/>
          <a:lstStyle/>
          <a:p>
            <a:pPr algn="l" indent="0" marL="0">
              <a:lnSpc>
                <a:spcPct val="115385"/>
              </a:lnSpc>
              <a:buNone/>
            </a:pPr>
            <a:r>
              <a:rPr lang="en-US" sz="1200" dirty="0">
                <a:solidFill>
                  <a:srgbClr val="E6E8F2"/>
                </a:solidFill>
                <a:latin typeface="Poppins" pitchFamily="34" charset="0"/>
                <a:ea typeface="Poppins" pitchFamily="34" charset="-122"/>
                <a:cs typeface="Poppins" pitchFamily="34" charset="-120"/>
              </a:rPr>
              <a:t>o contrato na conversa: multa cobrada e renovação decidida, não automática</a:t>
            </a:r>
            <a:endParaRPr lang="en-US" sz="1200" dirty="0"/>
          </a:p>
        </p:txBody>
      </p:sp>
      <p:pic>
        <p:nvPicPr>
          <p:cNvPr id="22"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23" name="Text 20"/>
          <p:cNvSpPr txBox="1"/>
          <p:nvPr/>
        </p:nvSpPr>
        <p:spPr>
          <a:xfrm>
            <a:off x="10904662" y="6387940"/>
            <a:ext cx="546055"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129 / 133</a:t>
            </a:r>
            <a:endParaRPr lang="en-US" sz="100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TODOS OS ENTREGÁVEIS</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O que existe no workspace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no fim da quinta</a:t>
            </a:r>
            <a:endParaRPr lang="en-US" sz="3100" dirty="0"/>
          </a:p>
        </p:txBody>
      </p:sp>
      <p:sp>
        <p:nvSpPr>
          <p:cNvPr id="4" name="Text 2"/>
          <p:cNvSpPr txBox="1"/>
          <p:nvPr/>
        </p:nvSpPr>
        <p:spPr>
          <a:xfrm>
            <a:off x="876278" y="1582301"/>
            <a:ext cx="1227075" cy="171446"/>
          </a:xfrm>
          <a:prstGeom prst="rect">
            <a:avLst/>
          </a:prstGeom>
          <a:noFill/>
          <a:ln/>
        </p:spPr>
        <p:txBody>
          <a:bodyPr wrap="square" lIns="0" tIns="0" rIns="0" bIns="0" rtlCol="0" anchor="t"/>
          <a:lstStyle/>
          <a:p>
            <a:pPr algn="l"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NOITE</a:t>
            </a:r>
            <a:endParaRPr lang="en-US" sz="900" dirty="0"/>
          </a:p>
        </p:txBody>
      </p:sp>
      <p:sp>
        <p:nvSpPr>
          <p:cNvPr id="5" name="Text 3"/>
          <p:cNvSpPr txBox="1"/>
          <p:nvPr/>
        </p:nvSpPr>
        <p:spPr>
          <a:xfrm>
            <a:off x="2284752" y="1582301"/>
            <a:ext cx="9391891" cy="171446"/>
          </a:xfrm>
          <a:prstGeom prst="rect">
            <a:avLst/>
          </a:prstGeom>
          <a:noFill/>
          <a:ln/>
        </p:spPr>
        <p:txBody>
          <a:bodyPr wrap="square" lIns="0" tIns="0" rIns="0" bIns="0" rtlCol="0" anchor="t"/>
          <a:lstStyle/>
          <a:p>
            <a:pPr algn="l" indent="0" marL="0">
              <a:lnSpc>
                <a:spcPct val="106838"/>
              </a:lnSpc>
              <a:buNone/>
            </a:pPr>
            <a:r>
              <a:rPr lang="en-US" sz="900" b="1" spc="72" kern="0" dirty="0">
                <a:solidFill>
                  <a:srgbClr val="A3A6B4"/>
                </a:solidFill>
                <a:latin typeface="Poppins" pitchFamily="34" charset="0"/>
                <a:ea typeface="Poppins" pitchFamily="34" charset="-122"/>
                <a:cs typeface="Poppins" pitchFamily="34" charset="-120"/>
              </a:rPr>
              <a:t>ENTREGÁVEIS</a:t>
            </a:r>
            <a:endParaRPr lang="en-US" sz="900" dirty="0"/>
          </a:p>
        </p:txBody>
      </p:sp>
      <p:sp>
        <p:nvSpPr>
          <p:cNvPr id="6" name="Shape 4"/>
          <p:cNvSpPr/>
          <p:nvPr/>
        </p:nvSpPr>
        <p:spPr>
          <a:xfrm>
            <a:off x="761981" y="1880744"/>
            <a:ext cx="1408474" cy="549857"/>
          </a:xfrm>
          <a:prstGeom prst="rect">
            <a:avLst/>
          </a:prstGeom>
          <a:solidFill>
            <a:srgbClr val="1E1E24"/>
          </a:solidFill>
          <a:ln/>
        </p:spPr>
      </p:sp>
      <p:sp>
        <p:nvSpPr>
          <p:cNvPr id="7" name="Text 5"/>
          <p:cNvSpPr txBox="1"/>
          <p:nvPr/>
        </p:nvSpPr>
        <p:spPr>
          <a:xfrm>
            <a:off x="876278" y="1982341"/>
            <a:ext cx="1227075" cy="346662"/>
          </a:xfrm>
          <a:prstGeom prst="rect">
            <a:avLst/>
          </a:prstGeom>
          <a:noFill/>
          <a:ln/>
        </p:spPr>
        <p:txBody>
          <a:bodyPr wrap="square" lIns="0" tIns="0" rIns="0" bIns="0" rtlCol="0" anchor="t"/>
          <a:lstStyle/>
          <a:p>
            <a:pPr algn="l" indent="0" marL="0">
              <a:lnSpc>
                <a:spcPct val="111111"/>
              </a:lnSpc>
              <a:buNone/>
            </a:pPr>
            <a:r>
              <a:rPr lang="en-US" sz="1050" b="1" dirty="0">
                <a:solidFill>
                  <a:srgbClr val="F5F6FC"/>
                </a:solidFill>
                <a:latin typeface="Poppins" pitchFamily="34" charset="0"/>
                <a:ea typeface="Poppins" pitchFamily="34" charset="-122"/>
                <a:cs typeface="Poppins" pitchFamily="34" charset="-120"/>
              </a:rPr>
              <a:t>1 · analista</a:t>
            </a:r>
            <a:endParaRPr lang="en-US" sz="1050" dirty="0"/>
          </a:p>
        </p:txBody>
      </p:sp>
      <p:sp>
        <p:nvSpPr>
          <p:cNvPr id="8" name="Shape 6"/>
          <p:cNvSpPr/>
          <p:nvPr/>
        </p:nvSpPr>
        <p:spPr>
          <a:xfrm>
            <a:off x="2170455" y="1880744"/>
            <a:ext cx="9259259" cy="549857"/>
          </a:xfrm>
          <a:prstGeom prst="rect">
            <a:avLst/>
          </a:prstGeom>
          <a:solidFill>
            <a:srgbClr val="1E1E24"/>
          </a:solidFill>
          <a:ln/>
        </p:spPr>
      </p:sp>
      <p:sp>
        <p:nvSpPr>
          <p:cNvPr id="9" name="Text 7"/>
          <p:cNvSpPr txBox="1"/>
          <p:nvPr/>
        </p:nvSpPr>
        <p:spPr>
          <a:xfrm>
            <a:off x="2284752" y="1982341"/>
            <a:ext cx="9391891" cy="346662"/>
          </a:xfrm>
          <a:prstGeom prst="rect">
            <a:avLst/>
          </a:prstGeom>
          <a:noFill/>
          <a:ln/>
        </p:spPr>
        <p:txBody>
          <a:bodyPr wrap="square" lIns="0" tIns="0" rIns="0" bIns="0" rtlCol="0" anchor="t"/>
          <a:lstStyle/>
          <a:p>
            <a:pPr algn="l" indent="0" marL="0">
              <a:lnSpc>
                <a:spcPct val="111111"/>
              </a:lnSpc>
              <a:buNone/>
            </a:pPr>
            <a:r>
              <a:rPr lang="en-US" sz="1050" dirty="0">
                <a:solidFill>
                  <a:srgbClr val="F5F6FC"/>
                </a:solidFill>
                <a:latin typeface="Poppins" pitchFamily="34" charset="0"/>
                <a:ea typeface="Poppins" pitchFamily="34" charset="-122"/>
                <a:cs typeface="Poppins" pitchFamily="34" charset="-120"/>
              </a:rPr>
              <a:t>catálogo e volume · 9 tabelas na bronze · 6 exemplos SQL · dashboard "Projeto Farol · Noite 1 (bronze)" · Genie "Farol · Noite 1 (bronze, sem curadoria)"</a:t>
            </a:r>
            <a:endParaRPr lang="en-US" sz="1050" dirty="0"/>
          </a:p>
        </p:txBody>
      </p:sp>
      <p:sp>
        <p:nvSpPr>
          <p:cNvPr id="10" name="Shape 8"/>
          <p:cNvSpPr/>
          <p:nvPr/>
        </p:nvSpPr>
        <p:spPr>
          <a:xfrm>
            <a:off x="761981" y="2481399"/>
            <a:ext cx="1408474" cy="549857"/>
          </a:xfrm>
          <a:prstGeom prst="rect">
            <a:avLst/>
          </a:prstGeom>
          <a:solidFill>
            <a:srgbClr val="1E1E24"/>
          </a:solidFill>
          <a:ln/>
        </p:spPr>
      </p:sp>
      <p:sp>
        <p:nvSpPr>
          <p:cNvPr id="11" name="Text 9"/>
          <p:cNvSpPr txBox="1"/>
          <p:nvPr/>
        </p:nvSpPr>
        <p:spPr>
          <a:xfrm>
            <a:off x="876278" y="2582996"/>
            <a:ext cx="1227075" cy="346662"/>
          </a:xfrm>
          <a:prstGeom prst="rect">
            <a:avLst/>
          </a:prstGeom>
          <a:noFill/>
          <a:ln/>
        </p:spPr>
        <p:txBody>
          <a:bodyPr wrap="square" lIns="0" tIns="0" rIns="0" bIns="0" rtlCol="0" anchor="t"/>
          <a:lstStyle/>
          <a:p>
            <a:pPr algn="l" indent="0" marL="0">
              <a:lnSpc>
                <a:spcPct val="111111"/>
              </a:lnSpc>
              <a:buNone/>
            </a:pPr>
            <a:r>
              <a:rPr lang="en-US" sz="1050" b="1" dirty="0">
                <a:solidFill>
                  <a:srgbClr val="F5F6FC"/>
                </a:solidFill>
                <a:latin typeface="Poppins" pitchFamily="34" charset="0"/>
                <a:ea typeface="Poppins" pitchFamily="34" charset="-122"/>
                <a:cs typeface="Poppins" pitchFamily="34" charset="-120"/>
              </a:rPr>
              <a:t>2 · engenheiro</a:t>
            </a:r>
            <a:endParaRPr lang="en-US" sz="1050" dirty="0"/>
          </a:p>
        </p:txBody>
      </p:sp>
      <p:sp>
        <p:nvSpPr>
          <p:cNvPr id="12" name="Shape 10"/>
          <p:cNvSpPr/>
          <p:nvPr/>
        </p:nvSpPr>
        <p:spPr>
          <a:xfrm>
            <a:off x="2170455" y="2481399"/>
            <a:ext cx="9259259" cy="549857"/>
          </a:xfrm>
          <a:prstGeom prst="rect">
            <a:avLst/>
          </a:prstGeom>
          <a:solidFill>
            <a:srgbClr val="1E1E24"/>
          </a:solidFill>
          <a:ln/>
        </p:spPr>
      </p:sp>
      <p:sp>
        <p:nvSpPr>
          <p:cNvPr id="13" name="Text 11"/>
          <p:cNvSpPr txBox="1"/>
          <p:nvPr/>
        </p:nvSpPr>
        <p:spPr>
          <a:xfrm>
            <a:off x="2284752" y="2582996"/>
            <a:ext cx="9391891" cy="346662"/>
          </a:xfrm>
          <a:prstGeom prst="rect">
            <a:avLst/>
          </a:prstGeom>
          <a:noFill/>
          <a:ln/>
        </p:spPr>
        <p:txBody>
          <a:bodyPr wrap="square" lIns="0" tIns="0" rIns="0" bIns="0" rtlCol="0" anchor="t"/>
          <a:lstStyle/>
          <a:p>
            <a:pPr algn="l" indent="0" marL="0">
              <a:lnSpc>
                <a:spcPct val="111111"/>
              </a:lnSpc>
              <a:buNone/>
            </a:pPr>
            <a:r>
              <a:rPr lang="en-US" sz="1050" dirty="0">
                <a:solidFill>
                  <a:srgbClr val="F5F6FC"/>
                </a:solidFill>
                <a:latin typeface="Poppins" pitchFamily="34" charset="0"/>
                <a:ea typeface="Poppins" pitchFamily="34" charset="-122"/>
                <a:cs typeface="Poppins" pitchFamily="34" charset="-120"/>
              </a:rPr>
              <a:t>bundle vertice · job vertice_farol · pipeline vertice_medalhao · silver (7) · gold (5) · IA nos status · mv_projetos · 10 testes · dashboard "Projeto Farol · Portfólio" · Genie "Farol · Diretoria"</a:t>
            </a:r>
            <a:endParaRPr lang="en-US" sz="1050" dirty="0"/>
          </a:p>
        </p:txBody>
      </p:sp>
      <p:sp>
        <p:nvSpPr>
          <p:cNvPr id="14" name="Shape 12"/>
          <p:cNvSpPr/>
          <p:nvPr/>
        </p:nvSpPr>
        <p:spPr>
          <a:xfrm>
            <a:off x="761981" y="3082054"/>
            <a:ext cx="1408474" cy="376526"/>
          </a:xfrm>
          <a:prstGeom prst="rect">
            <a:avLst/>
          </a:prstGeom>
          <a:solidFill>
            <a:srgbClr val="1E1E24"/>
          </a:solidFill>
          <a:ln/>
        </p:spPr>
      </p:sp>
      <p:sp>
        <p:nvSpPr>
          <p:cNvPr id="15" name="Text 13"/>
          <p:cNvSpPr txBox="1"/>
          <p:nvPr/>
        </p:nvSpPr>
        <p:spPr>
          <a:xfrm>
            <a:off x="876278" y="3183652"/>
            <a:ext cx="1227075" cy="173331"/>
          </a:xfrm>
          <a:prstGeom prst="rect">
            <a:avLst/>
          </a:prstGeom>
          <a:noFill/>
          <a:ln/>
        </p:spPr>
        <p:txBody>
          <a:bodyPr wrap="square" lIns="0" tIns="0" rIns="0" bIns="0" rtlCol="0" anchor="t"/>
          <a:lstStyle/>
          <a:p>
            <a:pPr algn="l" indent="0" marL="0">
              <a:lnSpc>
                <a:spcPct val="111111"/>
              </a:lnSpc>
              <a:buNone/>
            </a:pPr>
            <a:r>
              <a:rPr lang="en-US" sz="1050" b="1" dirty="0">
                <a:solidFill>
                  <a:srgbClr val="F5F6FC"/>
                </a:solidFill>
                <a:latin typeface="Poppins" pitchFamily="34" charset="0"/>
                <a:ea typeface="Poppins" pitchFamily="34" charset="-122"/>
                <a:cs typeface="Poppins" pitchFamily="34" charset="-120"/>
              </a:rPr>
              <a:t>3 · cientista</a:t>
            </a:r>
            <a:endParaRPr lang="en-US" sz="1050" dirty="0"/>
          </a:p>
        </p:txBody>
      </p:sp>
      <p:sp>
        <p:nvSpPr>
          <p:cNvPr id="16" name="Shape 14"/>
          <p:cNvSpPr/>
          <p:nvPr/>
        </p:nvSpPr>
        <p:spPr>
          <a:xfrm>
            <a:off x="2170455" y="3082054"/>
            <a:ext cx="9259259" cy="376526"/>
          </a:xfrm>
          <a:prstGeom prst="rect">
            <a:avLst/>
          </a:prstGeom>
          <a:solidFill>
            <a:srgbClr val="1E1E24"/>
          </a:solidFill>
          <a:ln/>
        </p:spPr>
      </p:sp>
      <p:sp>
        <p:nvSpPr>
          <p:cNvPr id="17" name="Text 15"/>
          <p:cNvSpPr txBox="1"/>
          <p:nvPr/>
        </p:nvSpPr>
        <p:spPr>
          <a:xfrm>
            <a:off x="2284752" y="3183652"/>
            <a:ext cx="9391891" cy="173331"/>
          </a:xfrm>
          <a:prstGeom prst="rect">
            <a:avLst/>
          </a:prstGeom>
          <a:noFill/>
          <a:ln/>
        </p:spPr>
        <p:txBody>
          <a:bodyPr wrap="square" lIns="0" tIns="0" rIns="0" bIns="0" rtlCol="0" anchor="t"/>
          <a:lstStyle/>
          <a:p>
            <a:pPr algn="l" indent="0" marL="0">
              <a:lnSpc>
                <a:spcPct val="111111"/>
              </a:lnSpc>
              <a:buNone/>
            </a:pPr>
            <a:r>
              <a:rPr lang="en-US" sz="1050" dirty="0">
                <a:solidFill>
                  <a:srgbClr val="F5F6FC"/>
                </a:solidFill>
                <a:latin typeface="Poppins" pitchFamily="34" charset="0"/>
                <a:ea typeface="Poppins" pitchFamily="34" charset="-122"/>
                <a:cs typeface="Poppins" pitchFamily="34" charset="-120"/>
              </a:rPr>
              <a:t>ml.features_projeto_semana · experimento MLflow · modelo ml.modelo_estouro_30d @prod · gold.score_estouro_30d</a:t>
            </a:r>
            <a:endParaRPr lang="en-US" sz="1050" dirty="0"/>
          </a:p>
        </p:txBody>
      </p:sp>
      <p:sp>
        <p:nvSpPr>
          <p:cNvPr id="18" name="Shape 16"/>
          <p:cNvSpPr/>
          <p:nvPr/>
        </p:nvSpPr>
        <p:spPr>
          <a:xfrm>
            <a:off x="761981" y="3509379"/>
            <a:ext cx="1408474" cy="549857"/>
          </a:xfrm>
          <a:prstGeom prst="rect">
            <a:avLst/>
          </a:prstGeom>
          <a:solidFill>
            <a:srgbClr val="1E1E24"/>
          </a:solidFill>
          <a:ln/>
        </p:spPr>
      </p:sp>
      <p:sp>
        <p:nvSpPr>
          <p:cNvPr id="19" name="Text 17"/>
          <p:cNvSpPr txBox="1"/>
          <p:nvPr/>
        </p:nvSpPr>
        <p:spPr>
          <a:xfrm>
            <a:off x="876278" y="3610976"/>
            <a:ext cx="1227075" cy="346662"/>
          </a:xfrm>
          <a:prstGeom prst="rect">
            <a:avLst/>
          </a:prstGeom>
          <a:noFill/>
          <a:ln/>
        </p:spPr>
        <p:txBody>
          <a:bodyPr wrap="square" lIns="0" tIns="0" rIns="0" bIns="0" rtlCol="0" anchor="t"/>
          <a:lstStyle/>
          <a:p>
            <a:pPr algn="l" indent="0" marL="0">
              <a:lnSpc>
                <a:spcPct val="111111"/>
              </a:lnSpc>
              <a:buNone/>
            </a:pPr>
            <a:r>
              <a:rPr lang="en-US" sz="1050" b="1" dirty="0">
                <a:solidFill>
                  <a:srgbClr val="F5F6FC"/>
                </a:solidFill>
                <a:latin typeface="Poppins" pitchFamily="34" charset="0"/>
                <a:ea typeface="Poppins" pitchFamily="34" charset="-122"/>
                <a:cs typeface="Poppins" pitchFamily="34" charset="-120"/>
              </a:rPr>
              <a:t>4 · engenheiro de IA</a:t>
            </a:r>
            <a:endParaRPr lang="en-US" sz="1050" dirty="0"/>
          </a:p>
        </p:txBody>
      </p:sp>
      <p:sp>
        <p:nvSpPr>
          <p:cNvPr id="20" name="Shape 18"/>
          <p:cNvSpPr/>
          <p:nvPr/>
        </p:nvSpPr>
        <p:spPr>
          <a:xfrm>
            <a:off x="2170455" y="3509379"/>
            <a:ext cx="9259259" cy="549857"/>
          </a:xfrm>
          <a:prstGeom prst="rect">
            <a:avLst/>
          </a:prstGeom>
          <a:solidFill>
            <a:srgbClr val="1E1E24"/>
          </a:solidFill>
          <a:ln/>
        </p:spPr>
      </p:sp>
      <p:sp>
        <p:nvSpPr>
          <p:cNvPr id="21" name="Text 19"/>
          <p:cNvSpPr txBox="1"/>
          <p:nvPr/>
        </p:nvSpPr>
        <p:spPr>
          <a:xfrm>
            <a:off x="2284752" y="3610976"/>
            <a:ext cx="9391891" cy="346662"/>
          </a:xfrm>
          <a:prstGeom prst="rect">
            <a:avLst/>
          </a:prstGeom>
          <a:noFill/>
          <a:ln/>
        </p:spPr>
        <p:txBody>
          <a:bodyPr wrap="square" lIns="0" tIns="0" rIns="0" bIns="0" rtlCol="0" anchor="t"/>
          <a:lstStyle/>
          <a:p>
            <a:pPr algn="l" indent="0" marL="0">
              <a:lnSpc>
                <a:spcPct val="111111"/>
              </a:lnSpc>
              <a:buNone/>
            </a:pPr>
            <a:r>
              <a:rPr lang="en-US" sz="1050" dirty="0">
                <a:solidFill>
                  <a:srgbClr val="F5F6FC"/>
                </a:solidFill>
                <a:latin typeface="Poppins" pitchFamily="34" charset="0"/>
                <a:ea typeface="Poppins" pitchFamily="34" charset="-122"/>
                <a:cs typeface="Poppins" pitchFamily="34" charset="-120"/>
              </a:rPr>
              <a:t>job farol_contratos · gold.contratos · Genie "Farol · Diretoria + Contratos" · app farol-torre (4 abas) · Lakebase farol-torre · pitch</a:t>
            </a:r>
            <a:endParaRPr lang="en-US" sz="1050" dirty="0"/>
          </a:p>
        </p:txBody>
      </p:sp>
      <p:pic>
        <p:nvPicPr>
          <p:cNvPr id="22"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23" name="Text 20"/>
          <p:cNvSpPr txBox="1"/>
          <p:nvPr/>
        </p:nvSpPr>
        <p:spPr>
          <a:xfrm>
            <a:off x="10901784" y="6387940"/>
            <a:ext cx="549047"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130 / 133</a:t>
            </a:r>
            <a:endParaRPr lang="en-US" sz="100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NÚMEROS DE REFERÊNCIA</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Se o seu número bateu,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você chegou</a:t>
            </a:r>
            <a:endParaRPr lang="en-US" sz="3100" dirty="0"/>
          </a:p>
        </p:txBody>
      </p:sp>
      <p:sp>
        <p:nvSpPr>
          <p:cNvPr id="4" name="Shape 2"/>
          <p:cNvSpPr/>
          <p:nvPr/>
        </p:nvSpPr>
        <p:spPr>
          <a:xfrm>
            <a:off x="761981" y="1582301"/>
            <a:ext cx="2571686" cy="1728050"/>
          </a:xfrm>
          <a:prstGeom prst="roundRect">
            <a:avLst>
              <a:gd name="adj" fmla="val 8819"/>
            </a:avLst>
          </a:prstGeom>
          <a:solidFill>
            <a:srgbClr val="1E1E24"/>
          </a:solidFill>
          <a:ln w="6350">
            <a:solidFill>
              <a:srgbClr val="2F2F39"/>
            </a:solidFill>
            <a:prstDash val="solid"/>
          </a:ln>
        </p:spPr>
      </p:sp>
      <p:sp>
        <p:nvSpPr>
          <p:cNvPr id="5" name="Shape 3"/>
          <p:cNvSpPr/>
          <p:nvPr/>
        </p:nvSpPr>
        <p:spPr>
          <a:xfrm>
            <a:off x="984225" y="1779146"/>
            <a:ext cx="541522" cy="247644"/>
          </a:xfrm>
          <a:prstGeom prst="roundRect">
            <a:avLst>
              <a:gd name="adj" fmla="val 50000"/>
            </a:avLst>
          </a:prstGeom>
          <a:solidFill>
            <a:srgbClr val="22C2F4">
              <a:alpha val="14000"/>
            </a:srgbClr>
          </a:solidFill>
          <a:ln/>
        </p:spPr>
      </p:sp>
      <p:sp>
        <p:nvSpPr>
          <p:cNvPr id="6" name="Text 4"/>
          <p:cNvSpPr txBox="1"/>
          <p:nvPr/>
        </p:nvSpPr>
        <p:spPr>
          <a:xfrm>
            <a:off x="1073123" y="1817245"/>
            <a:ext cx="378276"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noite 1</a:t>
            </a:r>
            <a:endParaRPr lang="en-US" sz="900" dirty="0"/>
          </a:p>
        </p:txBody>
      </p:sp>
      <p:sp>
        <p:nvSpPr>
          <p:cNvPr id="7" name="Text 5"/>
          <p:cNvSpPr txBox="1"/>
          <p:nvPr/>
        </p:nvSpPr>
        <p:spPr>
          <a:xfrm>
            <a:off x="984225" y="2115688"/>
            <a:ext cx="2212285" cy="330192"/>
          </a:xfrm>
          <a:prstGeom prst="rect">
            <a:avLst/>
          </a:prstGeom>
          <a:noFill/>
          <a:ln/>
        </p:spPr>
        <p:txBody>
          <a:bodyPr wrap="square" lIns="0" tIns="0" rIns="0" bIns="0" rtlCol="0" anchor="t"/>
          <a:lstStyle/>
          <a:p>
            <a:pPr algn="l" indent="0" marL="0">
              <a:lnSpc>
                <a:spcPct val="85470"/>
              </a:lnSpc>
              <a:buNone/>
            </a:pPr>
            <a:r>
              <a:rPr lang="en-US" sz="2600" b="1" spc="-52" kern="0" dirty="0">
                <a:solidFill>
                  <a:srgbClr val="F5F6FC"/>
                </a:solidFill>
                <a:latin typeface="Poppins" pitchFamily="34" charset="0"/>
                <a:ea typeface="Poppins" pitchFamily="34" charset="-122"/>
                <a:cs typeface="Poppins" pitchFamily="34" charset="-120"/>
              </a:rPr>
              <a:t>18/18</a:t>
            </a:r>
            <a:endParaRPr lang="en-US" sz="2600" dirty="0"/>
          </a:p>
        </p:txBody>
      </p:sp>
      <p:sp>
        <p:nvSpPr>
          <p:cNvPr id="8" name="Text 6"/>
          <p:cNvSpPr txBox="1"/>
          <p:nvPr/>
        </p:nvSpPr>
        <p:spPr>
          <a:xfrm>
            <a:off x="984225" y="2522078"/>
            <a:ext cx="2212285" cy="394285"/>
          </a:xfrm>
          <a:prstGeom prst="rect">
            <a:avLst/>
          </a:prstGeom>
          <a:noFill/>
          <a:ln/>
        </p:spPr>
        <p:txBody>
          <a:bodyPr wrap="square" lIns="0" tIns="0" rIns="0" bIns="0" rtlCol="0" anchor="t"/>
          <a:lstStyle/>
          <a:p>
            <a:pPr algn="l" indent="0" marL="0">
              <a:lnSpc>
                <a:spcPct val="115385"/>
              </a:lnSpc>
              <a:buNone/>
            </a:pPr>
            <a:r>
              <a:rPr lang="en-US" sz="1150" dirty="0">
                <a:solidFill>
                  <a:srgbClr val="A3A6B4"/>
                </a:solidFill>
                <a:latin typeface="Poppins" pitchFamily="34" charset="0"/>
                <a:ea typeface="Poppins" pitchFamily="34" charset="-122"/>
                <a:cs typeface="Poppins" pitchFamily="34" charset="-120"/>
              </a:rPr>
              <a:t>verificação · R$ 6,47 mi · 7 críticos · 4 melancias</a:t>
            </a:r>
            <a:endParaRPr lang="en-US" sz="1150" dirty="0"/>
          </a:p>
        </p:txBody>
      </p:sp>
      <p:sp>
        <p:nvSpPr>
          <p:cNvPr id="9" name="Shape 7"/>
          <p:cNvSpPr/>
          <p:nvPr/>
        </p:nvSpPr>
        <p:spPr>
          <a:xfrm>
            <a:off x="3460663" y="1582301"/>
            <a:ext cx="2571686" cy="1728050"/>
          </a:xfrm>
          <a:prstGeom prst="roundRect">
            <a:avLst>
              <a:gd name="adj" fmla="val 8819"/>
            </a:avLst>
          </a:prstGeom>
          <a:solidFill>
            <a:srgbClr val="1E1E24"/>
          </a:solidFill>
          <a:ln w="6350">
            <a:solidFill>
              <a:srgbClr val="2F2F39"/>
            </a:solidFill>
            <a:prstDash val="solid"/>
          </a:ln>
        </p:spPr>
      </p:sp>
      <p:sp>
        <p:nvSpPr>
          <p:cNvPr id="10" name="Shape 8"/>
          <p:cNvSpPr/>
          <p:nvPr/>
        </p:nvSpPr>
        <p:spPr>
          <a:xfrm>
            <a:off x="3682908" y="1779146"/>
            <a:ext cx="565731" cy="247644"/>
          </a:xfrm>
          <a:prstGeom prst="roundRect">
            <a:avLst>
              <a:gd name="adj" fmla="val 50000"/>
            </a:avLst>
          </a:prstGeom>
          <a:solidFill>
            <a:srgbClr val="22C2F4">
              <a:alpha val="14000"/>
            </a:srgbClr>
          </a:solidFill>
          <a:ln/>
        </p:spPr>
      </p:sp>
      <p:sp>
        <p:nvSpPr>
          <p:cNvPr id="11" name="Text 9"/>
          <p:cNvSpPr txBox="1"/>
          <p:nvPr/>
        </p:nvSpPr>
        <p:spPr>
          <a:xfrm>
            <a:off x="3771806" y="1817245"/>
            <a:ext cx="403453"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noite 2</a:t>
            </a:r>
            <a:endParaRPr lang="en-US" sz="900" dirty="0"/>
          </a:p>
        </p:txBody>
      </p:sp>
      <p:sp>
        <p:nvSpPr>
          <p:cNvPr id="12" name="Text 10"/>
          <p:cNvSpPr txBox="1"/>
          <p:nvPr/>
        </p:nvSpPr>
        <p:spPr>
          <a:xfrm>
            <a:off x="3682908" y="2115688"/>
            <a:ext cx="2212285" cy="330192"/>
          </a:xfrm>
          <a:prstGeom prst="rect">
            <a:avLst/>
          </a:prstGeom>
          <a:noFill/>
          <a:ln/>
        </p:spPr>
        <p:txBody>
          <a:bodyPr wrap="square" lIns="0" tIns="0" rIns="0" bIns="0" rtlCol="0" anchor="t"/>
          <a:lstStyle/>
          <a:p>
            <a:pPr algn="l" indent="0" marL="0">
              <a:lnSpc>
                <a:spcPct val="85470"/>
              </a:lnSpc>
              <a:buNone/>
            </a:pPr>
            <a:r>
              <a:rPr lang="en-US" sz="2600" b="1" spc="-52" kern="0" dirty="0">
                <a:solidFill>
                  <a:srgbClr val="F5F6FC"/>
                </a:solidFill>
                <a:latin typeface="Poppins" pitchFamily="34" charset="0"/>
                <a:ea typeface="Poppins" pitchFamily="34" charset="-122"/>
                <a:cs typeface="Poppins" pitchFamily="34" charset="-120"/>
              </a:rPr>
              <a:t>20/20</a:t>
            </a:r>
            <a:endParaRPr lang="en-US" sz="2600" dirty="0"/>
          </a:p>
        </p:txBody>
      </p:sp>
      <p:sp>
        <p:nvSpPr>
          <p:cNvPr id="13" name="Text 11"/>
          <p:cNvSpPr txBox="1"/>
          <p:nvPr/>
        </p:nvSpPr>
        <p:spPr>
          <a:xfrm>
            <a:off x="3682908" y="2522078"/>
            <a:ext cx="2212285" cy="591428"/>
          </a:xfrm>
          <a:prstGeom prst="rect">
            <a:avLst/>
          </a:prstGeom>
          <a:noFill/>
          <a:ln/>
        </p:spPr>
        <p:txBody>
          <a:bodyPr wrap="square" lIns="0" tIns="0" rIns="0" bIns="0" rtlCol="0" anchor="t"/>
          <a:lstStyle/>
          <a:p>
            <a:pPr algn="l" indent="0" marL="0">
              <a:lnSpc>
                <a:spcPct val="115385"/>
              </a:lnSpc>
              <a:buNone/>
            </a:pPr>
            <a:r>
              <a:rPr lang="en-US" sz="1150" dirty="0">
                <a:solidFill>
                  <a:srgbClr val="A3A6B4"/>
                </a:solidFill>
                <a:latin typeface="Poppins" pitchFamily="34" charset="0"/>
                <a:ea typeface="Poppins" pitchFamily="34" charset="-122"/>
                <a:cs typeface="Poppins" pitchFamily="34" charset="-120"/>
              </a:rPr>
              <a:t>verificação · 4.917 tarefas · 163 status com IA · CodeForge ×1,41</a:t>
            </a:r>
            <a:endParaRPr lang="en-US" sz="1150" dirty="0"/>
          </a:p>
        </p:txBody>
      </p:sp>
      <p:sp>
        <p:nvSpPr>
          <p:cNvPr id="14" name="Shape 12"/>
          <p:cNvSpPr/>
          <p:nvPr/>
        </p:nvSpPr>
        <p:spPr>
          <a:xfrm>
            <a:off x="6159346" y="1582301"/>
            <a:ext cx="2571686" cy="1728050"/>
          </a:xfrm>
          <a:prstGeom prst="roundRect">
            <a:avLst>
              <a:gd name="adj" fmla="val 8819"/>
            </a:avLst>
          </a:prstGeom>
          <a:solidFill>
            <a:srgbClr val="1E1E24"/>
          </a:solidFill>
          <a:ln w="6350">
            <a:solidFill>
              <a:srgbClr val="2F2F39"/>
            </a:solidFill>
            <a:prstDash val="solid"/>
          </a:ln>
        </p:spPr>
      </p:sp>
      <p:sp>
        <p:nvSpPr>
          <p:cNvPr id="15" name="Shape 13"/>
          <p:cNvSpPr/>
          <p:nvPr/>
        </p:nvSpPr>
        <p:spPr>
          <a:xfrm>
            <a:off x="6381590" y="1779146"/>
            <a:ext cx="568608" cy="247644"/>
          </a:xfrm>
          <a:prstGeom prst="roundRect">
            <a:avLst>
              <a:gd name="adj" fmla="val 50000"/>
            </a:avLst>
          </a:prstGeom>
          <a:solidFill>
            <a:srgbClr val="22C2F4">
              <a:alpha val="14000"/>
            </a:srgbClr>
          </a:solidFill>
          <a:ln/>
        </p:spPr>
      </p:sp>
      <p:sp>
        <p:nvSpPr>
          <p:cNvPr id="16" name="Text 14"/>
          <p:cNvSpPr txBox="1"/>
          <p:nvPr/>
        </p:nvSpPr>
        <p:spPr>
          <a:xfrm>
            <a:off x="6470488" y="1817245"/>
            <a:ext cx="406445"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noite 3</a:t>
            </a:r>
            <a:endParaRPr lang="en-US" sz="900" dirty="0"/>
          </a:p>
        </p:txBody>
      </p:sp>
      <p:sp>
        <p:nvSpPr>
          <p:cNvPr id="17" name="Text 15"/>
          <p:cNvSpPr txBox="1"/>
          <p:nvPr/>
        </p:nvSpPr>
        <p:spPr>
          <a:xfrm>
            <a:off x="6381590" y="2115688"/>
            <a:ext cx="2212285" cy="330192"/>
          </a:xfrm>
          <a:prstGeom prst="rect">
            <a:avLst/>
          </a:prstGeom>
          <a:noFill/>
          <a:ln/>
        </p:spPr>
        <p:txBody>
          <a:bodyPr wrap="square" lIns="0" tIns="0" rIns="0" bIns="0" rtlCol="0" anchor="t"/>
          <a:lstStyle/>
          <a:p>
            <a:pPr algn="l" indent="0" marL="0">
              <a:lnSpc>
                <a:spcPct val="85470"/>
              </a:lnSpc>
              <a:buNone/>
            </a:pPr>
            <a:r>
              <a:rPr lang="en-US" sz="2600" b="1" spc="-52" kern="0" dirty="0">
                <a:solidFill>
                  <a:srgbClr val="F5F6FC"/>
                </a:solidFill>
                <a:latin typeface="Poppins" pitchFamily="34" charset="0"/>
                <a:ea typeface="Poppins" pitchFamily="34" charset="-122"/>
                <a:cs typeface="Poppins" pitchFamily="34" charset="-120"/>
              </a:rPr>
              <a:t>0,92</a:t>
            </a:r>
            <a:endParaRPr lang="en-US" sz="2600" dirty="0"/>
          </a:p>
        </p:txBody>
      </p:sp>
      <p:sp>
        <p:nvSpPr>
          <p:cNvPr id="18" name="Text 16"/>
          <p:cNvSpPr txBox="1"/>
          <p:nvPr/>
        </p:nvSpPr>
        <p:spPr>
          <a:xfrm>
            <a:off x="6381590" y="2522078"/>
            <a:ext cx="2212285" cy="394285"/>
          </a:xfrm>
          <a:prstGeom prst="rect">
            <a:avLst/>
          </a:prstGeom>
          <a:noFill/>
          <a:ln/>
        </p:spPr>
        <p:txBody>
          <a:bodyPr wrap="square" lIns="0" tIns="0" rIns="0" bIns="0" rtlCol="0" anchor="t"/>
          <a:lstStyle/>
          <a:p>
            <a:pPr algn="l" indent="0" marL="0">
              <a:lnSpc>
                <a:spcPct val="115385"/>
              </a:lnSpc>
              <a:buNone/>
            </a:pPr>
            <a:r>
              <a:rPr lang="en-US" sz="1150" dirty="0">
                <a:solidFill>
                  <a:srgbClr val="A3A6B4"/>
                </a:solidFill>
                <a:latin typeface="Poppins" pitchFamily="34" charset="0"/>
                <a:ea typeface="Poppins" pitchFamily="34" charset="-122"/>
                <a:cs typeface="Poppins" pitchFamily="34" charset="-120"/>
              </a:rPr>
              <a:t>AUC · 9 de 10 avisados · 41 dias antes · PRJ-024 em 46%</a:t>
            </a:r>
            <a:endParaRPr lang="en-US" sz="1150" dirty="0"/>
          </a:p>
        </p:txBody>
      </p:sp>
      <p:sp>
        <p:nvSpPr>
          <p:cNvPr id="19" name="Shape 17"/>
          <p:cNvSpPr/>
          <p:nvPr/>
        </p:nvSpPr>
        <p:spPr>
          <a:xfrm>
            <a:off x="8858029" y="1582301"/>
            <a:ext cx="2571686" cy="1728050"/>
          </a:xfrm>
          <a:prstGeom prst="roundRect">
            <a:avLst>
              <a:gd name="adj" fmla="val 8819"/>
            </a:avLst>
          </a:prstGeom>
          <a:solidFill>
            <a:srgbClr val="1E1E24"/>
          </a:solidFill>
          <a:ln w="6350">
            <a:solidFill>
              <a:srgbClr val="2F2F39"/>
            </a:solidFill>
            <a:prstDash val="solid"/>
          </a:ln>
        </p:spPr>
      </p:sp>
      <p:sp>
        <p:nvSpPr>
          <p:cNvPr id="20" name="Shape 18"/>
          <p:cNvSpPr/>
          <p:nvPr/>
        </p:nvSpPr>
        <p:spPr>
          <a:xfrm>
            <a:off x="9080273" y="1779146"/>
            <a:ext cx="575752" cy="247644"/>
          </a:xfrm>
          <a:prstGeom prst="roundRect">
            <a:avLst>
              <a:gd name="adj" fmla="val 50000"/>
            </a:avLst>
          </a:prstGeom>
          <a:solidFill>
            <a:srgbClr val="22C2F4">
              <a:alpha val="14000"/>
            </a:srgbClr>
          </a:solidFill>
          <a:ln/>
        </p:spPr>
      </p:sp>
      <p:sp>
        <p:nvSpPr>
          <p:cNvPr id="21" name="Text 19"/>
          <p:cNvSpPr txBox="1"/>
          <p:nvPr/>
        </p:nvSpPr>
        <p:spPr>
          <a:xfrm>
            <a:off x="9169171" y="1817245"/>
            <a:ext cx="413875"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noite 4</a:t>
            </a:r>
            <a:endParaRPr lang="en-US" sz="900" dirty="0"/>
          </a:p>
        </p:txBody>
      </p:sp>
      <p:sp>
        <p:nvSpPr>
          <p:cNvPr id="22" name="Text 20"/>
          <p:cNvSpPr txBox="1"/>
          <p:nvPr/>
        </p:nvSpPr>
        <p:spPr>
          <a:xfrm>
            <a:off x="9080273" y="2115688"/>
            <a:ext cx="2212285" cy="330192"/>
          </a:xfrm>
          <a:prstGeom prst="rect">
            <a:avLst/>
          </a:prstGeom>
          <a:noFill/>
          <a:ln/>
        </p:spPr>
        <p:txBody>
          <a:bodyPr wrap="square" lIns="0" tIns="0" rIns="0" bIns="0" rtlCol="0" anchor="t"/>
          <a:lstStyle/>
          <a:p>
            <a:pPr algn="l" indent="0" marL="0">
              <a:lnSpc>
                <a:spcPct val="85470"/>
              </a:lnSpc>
              <a:buNone/>
            </a:pPr>
            <a:r>
              <a:rPr lang="en-US" sz="2600" b="1" spc="-52" kern="0" dirty="0">
                <a:solidFill>
                  <a:srgbClr val="F5F6FC"/>
                </a:solidFill>
                <a:latin typeface="Poppins" pitchFamily="34" charset="0"/>
                <a:ea typeface="Poppins" pitchFamily="34" charset="-122"/>
                <a:cs typeface="Poppins" pitchFamily="34" charset="-120"/>
              </a:rPr>
              <a:t>10/10</a:t>
            </a:r>
            <a:endParaRPr lang="en-US" sz="2600" dirty="0"/>
          </a:p>
        </p:txBody>
      </p:sp>
      <p:sp>
        <p:nvSpPr>
          <p:cNvPr id="23" name="Text 21"/>
          <p:cNvSpPr txBox="1"/>
          <p:nvPr/>
        </p:nvSpPr>
        <p:spPr>
          <a:xfrm>
            <a:off x="9080273" y="2522078"/>
            <a:ext cx="2212285" cy="591428"/>
          </a:xfrm>
          <a:prstGeom prst="rect">
            <a:avLst/>
          </a:prstGeom>
          <a:noFill/>
          <a:ln/>
        </p:spPr>
        <p:txBody>
          <a:bodyPr wrap="square" lIns="0" tIns="0" rIns="0" bIns="0" rtlCol="0" anchor="t"/>
          <a:lstStyle/>
          <a:p>
            <a:pPr algn="l" indent="0" marL="0">
              <a:lnSpc>
                <a:spcPct val="115385"/>
              </a:lnSpc>
              <a:buNone/>
            </a:pPr>
            <a:r>
              <a:rPr lang="en-US" sz="1150" dirty="0">
                <a:solidFill>
                  <a:srgbClr val="A3A6B4"/>
                </a:solidFill>
                <a:latin typeface="Poppins" pitchFamily="34" charset="0"/>
                <a:ea typeface="Poppins" pitchFamily="34" charset="-122"/>
                <a:cs typeface="Poppins" pitchFamily="34" charset="-120"/>
              </a:rPr>
              <a:t>Genie · R$ 1,12 mi de multa · 19 dias e R$ 22,1 mil/mês no simulador</a:t>
            </a:r>
            <a:endParaRPr lang="en-US" sz="1150" dirty="0"/>
          </a:p>
        </p:txBody>
      </p:sp>
      <p:sp>
        <p:nvSpPr>
          <p:cNvPr id="24" name="Shape 22"/>
          <p:cNvSpPr/>
          <p:nvPr/>
        </p:nvSpPr>
        <p:spPr>
          <a:xfrm>
            <a:off x="761981" y="3500846"/>
            <a:ext cx="25399" cy="495288"/>
          </a:xfrm>
          <a:prstGeom prst="rect">
            <a:avLst/>
          </a:prstGeom>
          <a:solidFill>
            <a:srgbClr val="22C2F4"/>
          </a:solidFill>
          <a:ln/>
        </p:spPr>
      </p:sp>
      <p:sp>
        <p:nvSpPr>
          <p:cNvPr id="25" name="Text 23"/>
          <p:cNvSpPr txBox="1"/>
          <p:nvPr/>
        </p:nvSpPr>
        <p:spPr>
          <a:xfrm>
            <a:off x="914377" y="3538945"/>
            <a:ext cx="10935951" cy="419090"/>
          </a:xfrm>
          <a:prstGeom prst="rect">
            <a:avLst/>
          </a:prstGeom>
          <a:noFill/>
          <a:ln/>
        </p:spPr>
        <p:txBody>
          <a:bodyPr wrap="square" lIns="0" tIns="0" rIns="0" bIns="0" rtlCol="0" anchor="t"/>
          <a:lstStyle/>
          <a:p>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Cada noite tem um </a:t>
            </a:r>
            <a:pPr algn="l" indent="0" marL="0">
              <a:lnSpc>
                <a:spcPct val="106838"/>
              </a:lnSpc>
              <a:buNone/>
            </a:pPr>
            <a:r>
              <a:rPr lang="en-US" sz="1100" b="1" dirty="0">
                <a:solidFill>
                  <a:srgbClr val="FFFFFF"/>
                </a:solidFill>
                <a:latin typeface="Poppins" pitchFamily="34" charset="0"/>
                <a:ea typeface="Poppins" pitchFamily="34" charset="-122"/>
                <a:cs typeface="Poppins" pitchFamily="34" charset="-120"/>
              </a:rPr>
              <a:t>99-verificacao.sql</a:t>
            </a:r>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 com esperado × obtido. "CONFIRA" quer dizer que o problema está na carga ou na query, não no dado: a seed é fixa.</a:t>
            </a:r>
            <a:endParaRPr lang="en-US" sz="1100" dirty="0"/>
          </a:p>
        </p:txBody>
      </p:sp>
      <p:pic>
        <p:nvPicPr>
          <p:cNvPr id="26"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27" name="Text 24"/>
          <p:cNvSpPr txBox="1"/>
          <p:nvPr/>
        </p:nvSpPr>
        <p:spPr>
          <a:xfrm>
            <a:off x="10938693" y="6387940"/>
            <a:ext cx="510662"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131 / 133</a:t>
            </a:r>
            <a:endParaRPr lang="en-US" sz="100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571486"/>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O MAPA</a:t>
            </a:r>
            <a:endParaRPr lang="en-US" sz="1200" dirty="0"/>
          </a:p>
        </p:txBody>
      </p:sp>
      <p:sp>
        <p:nvSpPr>
          <p:cNvPr id="3" name="Text 1"/>
          <p:cNvSpPr txBox="1"/>
          <p:nvPr/>
        </p:nvSpPr>
        <p:spPr>
          <a:xfrm>
            <a:off x="761981" y="895328"/>
            <a:ext cx="11094443" cy="432980"/>
          </a:xfrm>
          <a:prstGeom prst="rect">
            <a:avLst/>
          </a:prstGeom>
          <a:noFill/>
          <a:ln/>
        </p:spPr>
        <p:txBody>
          <a:bodyPr wrap="square" lIns="0" tIns="0" rIns="0" bIns="0" rtlCol="0" anchor="t"/>
          <a:lstStyle/>
          <a:p>
            <a:pPr algn="l" indent="0" marL="0">
              <a:lnSpc>
                <a:spcPct val="94017"/>
              </a:lnSpc>
              <a:buNone/>
            </a:pPr>
            <a:r>
              <a:rPr lang="en-US" sz="3100" b="1" spc="-31" kern="0" dirty="0">
                <a:solidFill>
                  <a:srgbClr val="F5F6FC"/>
                </a:solidFill>
                <a:latin typeface="Poppins" pitchFamily="34" charset="0"/>
                <a:ea typeface="Poppins" pitchFamily="34" charset="-122"/>
                <a:cs typeface="Poppins" pitchFamily="34" charset="-120"/>
              </a:rPr>
              <a:t>Um workspace, </a:t>
            </a:r>
            <a:pPr algn="l" indent="0" marL="0">
              <a:lnSpc>
                <a:spcPct val="94017"/>
              </a:lnSpc>
              <a:buNone/>
            </a:pPr>
            <a:r>
              <a:rPr lang="en-US" sz="3100" b="1" spc="-31" kern="0" dirty="0">
                <a:solidFill>
                  <a:srgbClr val="22C2F4"/>
                </a:solidFill>
                <a:latin typeface="Poppins" pitchFamily="34" charset="0"/>
                <a:ea typeface="Poppins" pitchFamily="34" charset="-122"/>
                <a:cs typeface="Poppins" pitchFamily="34" charset="-120"/>
              </a:rPr>
              <a:t>seis blocos</a:t>
            </a:r>
            <a:endParaRPr lang="en-US" sz="3100" dirty="0"/>
          </a:p>
        </p:txBody>
      </p:sp>
      <p:sp>
        <p:nvSpPr>
          <p:cNvPr id="4" name="Shape 2"/>
          <p:cNvSpPr/>
          <p:nvPr/>
        </p:nvSpPr>
        <p:spPr>
          <a:xfrm>
            <a:off x="761981" y="1582301"/>
            <a:ext cx="3462747" cy="1200715"/>
          </a:xfrm>
          <a:prstGeom prst="roundRect">
            <a:avLst>
              <a:gd name="adj" fmla="val 12692"/>
            </a:avLst>
          </a:prstGeom>
          <a:solidFill>
            <a:srgbClr val="0059DB"/>
          </a:solidFill>
          <a:ln/>
        </p:spPr>
      </p:sp>
      <p:sp>
        <p:nvSpPr>
          <p:cNvPr id="5" name="Shape 3"/>
          <p:cNvSpPr/>
          <p:nvPr/>
        </p:nvSpPr>
        <p:spPr>
          <a:xfrm>
            <a:off x="984225" y="1779146"/>
            <a:ext cx="1363430" cy="247644"/>
          </a:xfrm>
          <a:prstGeom prst="roundRect">
            <a:avLst>
              <a:gd name="adj" fmla="val 50000"/>
            </a:avLst>
          </a:prstGeom>
          <a:solidFill>
            <a:srgbClr val="FFFFFF">
              <a:alpha val="16000"/>
            </a:srgbClr>
          </a:solidFill>
          <a:ln/>
        </p:spPr>
      </p:sp>
      <p:sp>
        <p:nvSpPr>
          <p:cNvPr id="6" name="Text 4"/>
          <p:cNvSpPr txBox="1"/>
          <p:nvPr/>
        </p:nvSpPr>
        <p:spPr>
          <a:xfrm>
            <a:off x="1073123" y="1817245"/>
            <a:ext cx="1233060"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Onde mora o código</a:t>
            </a:r>
            <a:endParaRPr lang="en-US" sz="900" dirty="0"/>
          </a:p>
        </p:txBody>
      </p:sp>
      <p:sp>
        <p:nvSpPr>
          <p:cNvPr id="7" name="Text 5"/>
          <p:cNvSpPr txBox="1"/>
          <p:nvPr/>
        </p:nvSpPr>
        <p:spPr>
          <a:xfrm>
            <a:off x="984225" y="2191886"/>
            <a:ext cx="3138988" cy="394285"/>
          </a:xfrm>
          <a:prstGeom prst="rect">
            <a:avLst/>
          </a:prstGeom>
          <a:noFill/>
          <a:ln/>
        </p:spPr>
        <p:txBody>
          <a:bodyPr wrap="square" lIns="0" tIns="0" rIns="0" bIns="0" rtlCol="0" anchor="t"/>
          <a:lstStyle/>
          <a:p>
            <a:pPr algn="l" indent="0" marL="0">
              <a:lnSpc>
                <a:spcPct val="115385"/>
              </a:lnSpc>
              <a:buNone/>
            </a:pPr>
            <a:r>
              <a:rPr lang="en-US" sz="1150" dirty="0">
                <a:solidFill>
                  <a:srgbClr val="FFFFFF"/>
                </a:solidFill>
                <a:latin typeface="Poppins" pitchFamily="34" charset="0"/>
                <a:ea typeface="Poppins" pitchFamily="34" charset="-122"/>
                <a:cs typeface="Poppins" pitchFamily="34" charset="-120"/>
              </a:rPr>
              <a:t>Workspace · Git folder · bundle · notebooks</a:t>
            </a:r>
            <a:endParaRPr lang="en-US" sz="1150" dirty="0"/>
          </a:p>
        </p:txBody>
      </p:sp>
      <p:sp>
        <p:nvSpPr>
          <p:cNvPr id="8" name="Shape 6"/>
          <p:cNvSpPr/>
          <p:nvPr/>
        </p:nvSpPr>
        <p:spPr>
          <a:xfrm>
            <a:off x="4364424" y="1582301"/>
            <a:ext cx="3462747" cy="1200715"/>
          </a:xfrm>
          <a:prstGeom prst="roundRect">
            <a:avLst>
              <a:gd name="adj" fmla="val 12692"/>
            </a:avLst>
          </a:prstGeom>
          <a:solidFill>
            <a:srgbClr val="0059DB"/>
          </a:solidFill>
          <a:ln/>
        </p:spPr>
      </p:sp>
      <p:sp>
        <p:nvSpPr>
          <p:cNvPr id="9" name="Shape 7"/>
          <p:cNvSpPr/>
          <p:nvPr/>
        </p:nvSpPr>
        <p:spPr>
          <a:xfrm>
            <a:off x="4586669" y="1779146"/>
            <a:ext cx="1098820" cy="247644"/>
          </a:xfrm>
          <a:prstGeom prst="roundRect">
            <a:avLst>
              <a:gd name="adj" fmla="val 50000"/>
            </a:avLst>
          </a:prstGeom>
          <a:solidFill>
            <a:srgbClr val="FFFFFF">
              <a:alpha val="16000"/>
            </a:srgbClr>
          </a:solidFill>
          <a:ln/>
        </p:spPr>
      </p:sp>
      <p:sp>
        <p:nvSpPr>
          <p:cNvPr id="10" name="Text 8"/>
          <p:cNvSpPr txBox="1"/>
          <p:nvPr/>
        </p:nvSpPr>
        <p:spPr>
          <a:xfrm>
            <a:off x="4675567" y="1817245"/>
            <a:ext cx="957866"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Quem processa</a:t>
            </a:r>
            <a:endParaRPr lang="en-US" sz="900" dirty="0"/>
          </a:p>
        </p:txBody>
      </p:sp>
      <p:sp>
        <p:nvSpPr>
          <p:cNvPr id="11" name="Text 9"/>
          <p:cNvSpPr txBox="1"/>
          <p:nvPr/>
        </p:nvSpPr>
        <p:spPr>
          <a:xfrm>
            <a:off x="4586669" y="2191886"/>
            <a:ext cx="3138988" cy="197143"/>
          </a:xfrm>
          <a:prstGeom prst="rect">
            <a:avLst/>
          </a:prstGeom>
          <a:noFill/>
          <a:ln/>
        </p:spPr>
        <p:txBody>
          <a:bodyPr wrap="square" lIns="0" tIns="0" rIns="0" bIns="0" rtlCol="0" anchor="t"/>
          <a:lstStyle/>
          <a:p>
            <a:pPr algn="l" indent="0" marL="0">
              <a:lnSpc>
                <a:spcPct val="115385"/>
              </a:lnSpc>
              <a:buNone/>
            </a:pPr>
            <a:r>
              <a:rPr lang="en-US" sz="1150" dirty="0">
                <a:solidFill>
                  <a:srgbClr val="FFFFFF"/>
                </a:solidFill>
                <a:latin typeface="Poppins" pitchFamily="34" charset="0"/>
                <a:ea typeface="Poppins" pitchFamily="34" charset="-122"/>
                <a:cs typeface="Poppins" pitchFamily="34" charset="-120"/>
              </a:rPr>
              <a:t>Serverless · SQL Warehouse</a:t>
            </a:r>
            <a:endParaRPr lang="en-US" sz="1150" dirty="0"/>
          </a:p>
        </p:txBody>
      </p:sp>
      <p:sp>
        <p:nvSpPr>
          <p:cNvPr id="12" name="Shape 10"/>
          <p:cNvSpPr/>
          <p:nvPr/>
        </p:nvSpPr>
        <p:spPr>
          <a:xfrm>
            <a:off x="7966868" y="1582301"/>
            <a:ext cx="3462747" cy="1200715"/>
          </a:xfrm>
          <a:prstGeom prst="roundRect">
            <a:avLst>
              <a:gd name="adj" fmla="val 12692"/>
            </a:avLst>
          </a:prstGeom>
          <a:solidFill>
            <a:srgbClr val="0059DB"/>
          </a:solidFill>
          <a:ln/>
        </p:spPr>
      </p:sp>
      <p:sp>
        <p:nvSpPr>
          <p:cNvPr id="13" name="Shape 11"/>
          <p:cNvSpPr/>
          <p:nvPr/>
        </p:nvSpPr>
        <p:spPr>
          <a:xfrm>
            <a:off x="8189112" y="1779146"/>
            <a:ext cx="1267488" cy="247644"/>
          </a:xfrm>
          <a:prstGeom prst="roundRect">
            <a:avLst>
              <a:gd name="adj" fmla="val 50000"/>
            </a:avLst>
          </a:prstGeom>
          <a:solidFill>
            <a:srgbClr val="FFFFFF">
              <a:alpha val="16000"/>
            </a:srgbClr>
          </a:solidFill>
          <a:ln/>
        </p:spPr>
      </p:sp>
      <p:sp>
        <p:nvSpPr>
          <p:cNvPr id="14" name="Text 12"/>
          <p:cNvSpPr txBox="1"/>
          <p:nvPr/>
        </p:nvSpPr>
        <p:spPr>
          <a:xfrm>
            <a:off x="8278010" y="1817245"/>
            <a:ext cx="1133280" cy="171446"/>
          </a:xfrm>
          <a:prstGeom prst="rect">
            <a:avLst/>
          </a:prstGeom>
          <a:noFill/>
          <a:ln/>
        </p:spPr>
        <p:txBody>
          <a:bodyPr wrap="square" lIns="0" tIns="0" rIns="0" bIns="0" rtlCol="0" anchor="t"/>
          <a:lstStyle/>
          <a:p>
            <a:pPr algn="l" indent="0" marL="0">
              <a:lnSpc>
                <a:spcPct val="106838"/>
              </a:lnSpc>
              <a:buNone/>
            </a:pPr>
            <a:r>
              <a:rPr lang="en-US" sz="900" b="1" dirty="0">
                <a:solidFill>
                  <a:srgbClr val="FFFFFF"/>
                </a:solidFill>
                <a:latin typeface="Poppins" pitchFamily="34" charset="0"/>
                <a:ea typeface="Poppins" pitchFamily="34" charset="-122"/>
                <a:cs typeface="Poppins" pitchFamily="34" charset="-120"/>
              </a:rPr>
              <a:t>Onde mora o dado</a:t>
            </a:r>
            <a:endParaRPr lang="en-US" sz="900" dirty="0"/>
          </a:p>
        </p:txBody>
      </p:sp>
      <p:sp>
        <p:nvSpPr>
          <p:cNvPr id="15" name="Text 13"/>
          <p:cNvSpPr txBox="1"/>
          <p:nvPr/>
        </p:nvSpPr>
        <p:spPr>
          <a:xfrm>
            <a:off x="8189112" y="2191886"/>
            <a:ext cx="3138988" cy="394285"/>
          </a:xfrm>
          <a:prstGeom prst="rect">
            <a:avLst/>
          </a:prstGeom>
          <a:noFill/>
          <a:ln/>
        </p:spPr>
        <p:txBody>
          <a:bodyPr wrap="square" lIns="0" tIns="0" rIns="0" bIns="0" rtlCol="0" anchor="t"/>
          <a:lstStyle/>
          <a:p>
            <a:pPr algn="l" indent="0" marL="0">
              <a:lnSpc>
                <a:spcPct val="115385"/>
              </a:lnSpc>
              <a:buNone/>
            </a:pPr>
            <a:r>
              <a:rPr lang="en-US" sz="1150" dirty="0">
                <a:solidFill>
                  <a:srgbClr val="FFFFFF"/>
                </a:solidFill>
                <a:latin typeface="Poppins" pitchFamily="34" charset="0"/>
                <a:ea typeface="Poppins" pitchFamily="34" charset="-122"/>
                <a:cs typeface="Poppins" pitchFamily="34" charset="-120"/>
              </a:rPr>
              <a:t>Unity Catalog · schemas · tabelas · volumes · lineage · metric views</a:t>
            </a:r>
            <a:endParaRPr lang="en-US" sz="1150" dirty="0"/>
          </a:p>
        </p:txBody>
      </p:sp>
      <p:sp>
        <p:nvSpPr>
          <p:cNvPr id="16" name="Shape 14"/>
          <p:cNvSpPr/>
          <p:nvPr/>
        </p:nvSpPr>
        <p:spPr>
          <a:xfrm>
            <a:off x="761981" y="2922713"/>
            <a:ext cx="3462747" cy="1200715"/>
          </a:xfrm>
          <a:prstGeom prst="roundRect">
            <a:avLst>
              <a:gd name="adj" fmla="val 12692"/>
            </a:avLst>
          </a:prstGeom>
          <a:solidFill>
            <a:srgbClr val="1E1E24"/>
          </a:solidFill>
          <a:ln w="6350">
            <a:solidFill>
              <a:srgbClr val="2F2F39"/>
            </a:solidFill>
            <a:prstDash val="solid"/>
          </a:ln>
        </p:spPr>
      </p:sp>
      <p:sp>
        <p:nvSpPr>
          <p:cNvPr id="17" name="Shape 15"/>
          <p:cNvSpPr/>
          <p:nvPr/>
        </p:nvSpPr>
        <p:spPr>
          <a:xfrm>
            <a:off x="984225" y="3119558"/>
            <a:ext cx="1325232" cy="247644"/>
          </a:xfrm>
          <a:prstGeom prst="roundRect">
            <a:avLst>
              <a:gd name="adj" fmla="val 50000"/>
            </a:avLst>
          </a:prstGeom>
          <a:solidFill>
            <a:srgbClr val="22C2F4">
              <a:alpha val="14000"/>
            </a:srgbClr>
          </a:solidFill>
          <a:ln/>
        </p:spPr>
      </p:sp>
      <p:sp>
        <p:nvSpPr>
          <p:cNvPr id="18" name="Text 16"/>
          <p:cNvSpPr txBox="1"/>
          <p:nvPr/>
        </p:nvSpPr>
        <p:spPr>
          <a:xfrm>
            <a:off x="1073123" y="3157657"/>
            <a:ext cx="1193334"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Quem move o dado</a:t>
            </a:r>
            <a:endParaRPr lang="en-US" sz="900" dirty="0"/>
          </a:p>
        </p:txBody>
      </p:sp>
      <p:sp>
        <p:nvSpPr>
          <p:cNvPr id="19" name="Text 17"/>
          <p:cNvSpPr txBox="1"/>
          <p:nvPr/>
        </p:nvSpPr>
        <p:spPr>
          <a:xfrm>
            <a:off x="984225" y="3532298"/>
            <a:ext cx="3138988" cy="197143"/>
          </a:xfrm>
          <a:prstGeom prst="rect">
            <a:avLst/>
          </a:prstGeom>
          <a:noFill/>
          <a:ln/>
        </p:spPr>
        <p:txBody>
          <a:bodyPr wrap="square" lIns="0" tIns="0" rIns="0" bIns="0" rtlCol="0" anchor="t"/>
          <a:lstStyle/>
          <a:p>
            <a:pPr algn="l" indent="0" marL="0">
              <a:lnSpc>
                <a:spcPct val="115385"/>
              </a:lnSpc>
              <a:buNone/>
            </a:pPr>
            <a:r>
              <a:rPr lang="en-US" sz="1150" dirty="0">
                <a:solidFill>
                  <a:srgbClr val="A3A6B4"/>
                </a:solidFill>
                <a:latin typeface="Poppins" pitchFamily="34" charset="0"/>
                <a:ea typeface="Poppins" pitchFamily="34" charset="-122"/>
                <a:cs typeface="Poppins" pitchFamily="34" charset="-120"/>
              </a:rPr>
              <a:t>Data Ingestion · Lakeflow pipeline · Jobs</a:t>
            </a:r>
            <a:endParaRPr lang="en-US" sz="1150" dirty="0"/>
          </a:p>
        </p:txBody>
      </p:sp>
      <p:sp>
        <p:nvSpPr>
          <p:cNvPr id="20" name="Shape 18"/>
          <p:cNvSpPr/>
          <p:nvPr/>
        </p:nvSpPr>
        <p:spPr>
          <a:xfrm>
            <a:off x="4364424" y="2922713"/>
            <a:ext cx="3462747" cy="1200715"/>
          </a:xfrm>
          <a:prstGeom prst="roundRect">
            <a:avLst>
              <a:gd name="adj" fmla="val 12692"/>
            </a:avLst>
          </a:prstGeom>
          <a:solidFill>
            <a:srgbClr val="1E1E24"/>
          </a:solidFill>
          <a:ln w="6350">
            <a:solidFill>
              <a:srgbClr val="2F2F39"/>
            </a:solidFill>
            <a:prstDash val="solid"/>
          </a:ln>
        </p:spPr>
      </p:sp>
      <p:sp>
        <p:nvSpPr>
          <p:cNvPr id="21" name="Shape 19"/>
          <p:cNvSpPr/>
          <p:nvPr/>
        </p:nvSpPr>
        <p:spPr>
          <a:xfrm>
            <a:off x="4586669" y="3119558"/>
            <a:ext cx="1105468" cy="247644"/>
          </a:xfrm>
          <a:prstGeom prst="roundRect">
            <a:avLst>
              <a:gd name="adj" fmla="val 50000"/>
            </a:avLst>
          </a:prstGeom>
          <a:solidFill>
            <a:srgbClr val="22C2F4">
              <a:alpha val="14000"/>
            </a:srgbClr>
          </a:solidFill>
          <a:ln/>
        </p:spPr>
      </p:sp>
      <p:sp>
        <p:nvSpPr>
          <p:cNvPr id="22" name="Text 20"/>
          <p:cNvSpPr txBox="1"/>
          <p:nvPr/>
        </p:nvSpPr>
        <p:spPr>
          <a:xfrm>
            <a:off x="4675567" y="3157657"/>
            <a:ext cx="964779"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Quem pergunta</a:t>
            </a:r>
            <a:endParaRPr lang="en-US" sz="900" dirty="0"/>
          </a:p>
        </p:txBody>
      </p:sp>
      <p:sp>
        <p:nvSpPr>
          <p:cNvPr id="23" name="Text 21"/>
          <p:cNvSpPr txBox="1"/>
          <p:nvPr/>
        </p:nvSpPr>
        <p:spPr>
          <a:xfrm>
            <a:off x="4586669" y="3532298"/>
            <a:ext cx="3138988" cy="394285"/>
          </a:xfrm>
          <a:prstGeom prst="rect">
            <a:avLst/>
          </a:prstGeom>
          <a:noFill/>
          <a:ln/>
        </p:spPr>
        <p:txBody>
          <a:bodyPr wrap="square" lIns="0" tIns="0" rIns="0" bIns="0" rtlCol="0" anchor="t"/>
          <a:lstStyle/>
          <a:p>
            <a:pPr algn="l" indent="0" marL="0">
              <a:lnSpc>
                <a:spcPct val="115385"/>
              </a:lnSpc>
              <a:buNone/>
            </a:pPr>
            <a:r>
              <a:rPr lang="en-US" sz="1150" dirty="0">
                <a:solidFill>
                  <a:srgbClr val="A3A6B4"/>
                </a:solidFill>
                <a:latin typeface="Poppins" pitchFamily="34" charset="0"/>
                <a:ea typeface="Poppins" pitchFamily="34" charset="-122"/>
                <a:cs typeface="Poppins" pitchFamily="34" charset="-120"/>
              </a:rPr>
              <a:t>SQL Editor · Query History · AI/BI Dashboard · Genie · funções de IA</a:t>
            </a:r>
            <a:endParaRPr lang="en-US" sz="1150" dirty="0"/>
          </a:p>
        </p:txBody>
      </p:sp>
      <p:sp>
        <p:nvSpPr>
          <p:cNvPr id="24" name="Shape 22"/>
          <p:cNvSpPr/>
          <p:nvPr/>
        </p:nvSpPr>
        <p:spPr>
          <a:xfrm>
            <a:off x="7966868" y="2922713"/>
            <a:ext cx="3462747" cy="1200715"/>
          </a:xfrm>
          <a:prstGeom prst="roundRect">
            <a:avLst>
              <a:gd name="adj" fmla="val 12692"/>
            </a:avLst>
          </a:prstGeom>
          <a:solidFill>
            <a:srgbClr val="1E1E24"/>
          </a:solidFill>
          <a:ln w="6350">
            <a:solidFill>
              <a:srgbClr val="2F2F39"/>
            </a:solidFill>
            <a:prstDash val="solid"/>
          </a:ln>
        </p:spPr>
      </p:sp>
      <p:sp>
        <p:nvSpPr>
          <p:cNvPr id="25" name="Shape 23"/>
          <p:cNvSpPr/>
          <p:nvPr/>
        </p:nvSpPr>
        <p:spPr>
          <a:xfrm>
            <a:off x="8189112" y="3119558"/>
            <a:ext cx="957437" cy="247644"/>
          </a:xfrm>
          <a:prstGeom prst="roundRect">
            <a:avLst>
              <a:gd name="adj" fmla="val 50000"/>
            </a:avLst>
          </a:prstGeom>
          <a:solidFill>
            <a:srgbClr val="22C2F4">
              <a:alpha val="14000"/>
            </a:srgbClr>
          </a:solidFill>
          <a:ln/>
        </p:spPr>
      </p:sp>
      <p:sp>
        <p:nvSpPr>
          <p:cNvPr id="26" name="Text 24"/>
          <p:cNvSpPr txBox="1"/>
          <p:nvPr/>
        </p:nvSpPr>
        <p:spPr>
          <a:xfrm>
            <a:off x="8278010" y="3157657"/>
            <a:ext cx="810827" cy="171446"/>
          </a:xfrm>
          <a:prstGeom prst="rect">
            <a:avLst/>
          </a:prstGeom>
          <a:noFill/>
          <a:ln/>
        </p:spPr>
        <p:txBody>
          <a:bodyPr wrap="square" lIns="0" tIns="0" rIns="0" bIns="0" rtlCol="0" anchor="t"/>
          <a:lstStyle/>
          <a:p>
            <a:pPr algn="l" indent="0" marL="0">
              <a:lnSpc>
                <a:spcPct val="106838"/>
              </a:lnSpc>
              <a:buNone/>
            </a:pPr>
            <a:r>
              <a:rPr lang="en-US" sz="900" b="1" dirty="0">
                <a:solidFill>
                  <a:srgbClr val="22C2F4"/>
                </a:solidFill>
                <a:latin typeface="Poppins" pitchFamily="34" charset="0"/>
                <a:ea typeface="Poppins" pitchFamily="34" charset="-122"/>
                <a:cs typeface="Poppins" pitchFamily="34" charset="-120"/>
              </a:rPr>
              <a:t>Quem decide</a:t>
            </a:r>
            <a:endParaRPr lang="en-US" sz="900" dirty="0"/>
          </a:p>
        </p:txBody>
      </p:sp>
      <p:sp>
        <p:nvSpPr>
          <p:cNvPr id="27" name="Text 25"/>
          <p:cNvSpPr txBox="1"/>
          <p:nvPr/>
        </p:nvSpPr>
        <p:spPr>
          <a:xfrm>
            <a:off x="8189112" y="3532298"/>
            <a:ext cx="3138988" cy="394285"/>
          </a:xfrm>
          <a:prstGeom prst="rect">
            <a:avLst/>
          </a:prstGeom>
          <a:noFill/>
          <a:ln/>
        </p:spPr>
        <p:txBody>
          <a:bodyPr wrap="square" lIns="0" tIns="0" rIns="0" bIns="0" rtlCol="0" anchor="t"/>
          <a:lstStyle/>
          <a:p>
            <a:pPr algn="l" indent="0" marL="0">
              <a:lnSpc>
                <a:spcPct val="115385"/>
              </a:lnSpc>
              <a:buNone/>
            </a:pPr>
            <a:r>
              <a:rPr lang="en-US" sz="1150" dirty="0">
                <a:solidFill>
                  <a:srgbClr val="A3A6B4"/>
                </a:solidFill>
                <a:latin typeface="Poppins" pitchFamily="34" charset="0"/>
                <a:ea typeface="Poppins" pitchFamily="34" charset="-122"/>
                <a:cs typeface="Poppins" pitchFamily="34" charset="-120"/>
              </a:rPr>
              <a:t>MLflow · modelo no Unity Catalog · Lakebase · Apps</a:t>
            </a:r>
            <a:endParaRPr lang="en-US" sz="1150" dirty="0"/>
          </a:p>
        </p:txBody>
      </p:sp>
      <p:sp>
        <p:nvSpPr>
          <p:cNvPr id="28" name="Shape 26"/>
          <p:cNvSpPr/>
          <p:nvPr/>
        </p:nvSpPr>
        <p:spPr>
          <a:xfrm>
            <a:off x="761981" y="4288524"/>
            <a:ext cx="25399" cy="285743"/>
          </a:xfrm>
          <a:prstGeom prst="rect">
            <a:avLst/>
          </a:prstGeom>
          <a:solidFill>
            <a:srgbClr val="22C2F4"/>
          </a:solidFill>
          <a:ln/>
        </p:spPr>
      </p:sp>
      <p:sp>
        <p:nvSpPr>
          <p:cNvPr id="29" name="Text 27"/>
          <p:cNvSpPr txBox="1"/>
          <p:nvPr/>
        </p:nvSpPr>
        <p:spPr>
          <a:xfrm>
            <a:off x="914377" y="4326623"/>
            <a:ext cx="10935951" cy="209545"/>
          </a:xfrm>
          <a:prstGeom prst="rect">
            <a:avLst/>
          </a:prstGeom>
          <a:noFill/>
          <a:ln/>
        </p:spPr>
        <p:txBody>
          <a:bodyPr wrap="square" lIns="0" tIns="0" rIns="0" bIns="0" rtlCol="0" anchor="t"/>
          <a:lstStyle/>
          <a:p>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Tudo isto existe no </a:t>
            </a:r>
            <a:pPr algn="l" indent="0" marL="0">
              <a:lnSpc>
                <a:spcPct val="106838"/>
              </a:lnSpc>
              <a:buNone/>
            </a:pPr>
            <a:r>
              <a:rPr lang="en-US" sz="1100" b="1" dirty="0">
                <a:solidFill>
                  <a:srgbClr val="FFFFFF"/>
                </a:solidFill>
                <a:latin typeface="Poppins" pitchFamily="34" charset="0"/>
                <a:ea typeface="Poppins" pitchFamily="34" charset="-122"/>
                <a:cs typeface="Poppins" pitchFamily="34" charset="-120"/>
              </a:rPr>
              <a:t>Free Edition</a:t>
            </a:r>
            <a:pPr algn="l" indent="0" marL="0">
              <a:lnSpc>
                <a:spcPct val="106838"/>
              </a:lnSpc>
              <a:buNone/>
            </a:pPr>
            <a:r>
              <a:rPr lang="en-US" sz="1100" dirty="0">
                <a:solidFill>
                  <a:srgbClr val="A3A6B4"/>
                </a:solidFill>
                <a:latin typeface="Poppins" pitchFamily="34" charset="0"/>
                <a:ea typeface="Poppins" pitchFamily="34" charset="-122"/>
                <a:cs typeface="Poppins" pitchFamily="34" charset="-120"/>
              </a:rPr>
              <a:t>, sem cartão de crédito. O que não existe está no último slide.</a:t>
            </a:r>
            <a:endParaRPr lang="en-US" sz="1100" dirty="0"/>
          </a:p>
        </p:txBody>
      </p:sp>
      <p:pic>
        <p:nvPicPr>
          <p:cNvPr id="30" name="Image 0" descr="preencoded.png">    </p:cNvPr>
          <p:cNvPicPr>
            <a:picLocks noChangeAspect="1"/>
          </p:cNvPicPr>
          <p:nvPr/>
        </p:nvPicPr>
        <p:blipFill>
          <a:blip r:embed="rId2"/>
          <a:stretch>
            <a:fillRect/>
          </a:stretch>
        </p:blipFill>
        <p:spPr>
          <a:xfrm>
            <a:off x="761981" y="6387940"/>
            <a:ext cx="2059928" cy="190495"/>
          </a:xfrm>
          <a:prstGeom prst="rect">
            <a:avLst/>
          </a:prstGeom>
        </p:spPr>
      </p:pic>
      <p:sp>
        <p:nvSpPr>
          <p:cNvPr id="31" name="Text 28"/>
          <p:cNvSpPr txBox="1"/>
          <p:nvPr/>
        </p:nvSpPr>
        <p:spPr>
          <a:xfrm>
            <a:off x="10909821" y="6387940"/>
            <a:ext cx="540689" cy="190495"/>
          </a:xfrm>
          <a:prstGeom prst="rect">
            <a:avLst/>
          </a:prstGeom>
          <a:noFill/>
          <a:ln/>
        </p:spPr>
        <p:txBody>
          <a:bodyPr wrap="square" lIns="0" tIns="0" rIns="0" bIns="0" rtlCol="0" anchor="t"/>
          <a:lstStyle/>
          <a:p>
            <a:pPr algn="l" indent="0" marL="0">
              <a:lnSpc>
                <a:spcPct val="106838"/>
              </a:lnSpc>
              <a:buNone/>
            </a:pPr>
            <a:r>
              <a:rPr lang="en-US" sz="1000" dirty="0">
                <a:solidFill>
                  <a:srgbClr val="6E7180"/>
                </a:solidFill>
                <a:latin typeface="Poppins" pitchFamily="34" charset="0"/>
                <a:ea typeface="Poppins" pitchFamily="34" charset="-122"/>
                <a:cs typeface="Poppins" pitchFamily="34" charset="-120"/>
              </a:rPr>
              <a:t>132 / 133</a:t>
            </a:r>
            <a:endParaRPr lang="en-US" sz="100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1981" y="2395775"/>
            <a:ext cx="11094443" cy="222244"/>
          </a:xfrm>
          <a:prstGeom prst="rect">
            <a:avLst/>
          </a:prstGeom>
          <a:noFill/>
          <a:ln/>
        </p:spPr>
        <p:txBody>
          <a:bodyPr wrap="square" lIns="0" tIns="0" rIns="0" bIns="0" rtlCol="0" anchor="t"/>
          <a:lstStyle/>
          <a:p>
            <a:pPr algn="l" indent="0" marL="0">
              <a:lnSpc>
                <a:spcPct val="106838"/>
              </a:lnSpc>
              <a:buNone/>
            </a:pPr>
            <a:r>
              <a:rPr lang="en-US" sz="1200" b="1" spc="168" kern="0" dirty="0">
                <a:solidFill>
                  <a:srgbClr val="22C2F4"/>
                </a:solidFill>
                <a:latin typeface="Poppins" pitchFamily="34" charset="0"/>
                <a:ea typeface="Poppins" pitchFamily="34" charset="-122"/>
                <a:cs typeface="Poppins" pitchFamily="34" charset="-120"/>
              </a:rPr>
              <a:t>PROJETO FAROL</a:t>
            </a:r>
            <a:endParaRPr lang="en-US" sz="1200" dirty="0"/>
          </a:p>
        </p:txBody>
      </p:sp>
      <p:sp>
        <p:nvSpPr>
          <p:cNvPr id="3" name="Text 1"/>
          <p:cNvSpPr txBox="1"/>
          <p:nvPr/>
        </p:nvSpPr>
        <p:spPr>
          <a:xfrm>
            <a:off x="761981" y="2719617"/>
            <a:ext cx="11094443" cy="777161"/>
          </a:xfrm>
          <a:prstGeom prst="rect">
            <a:avLst/>
          </a:prstGeom>
          <a:noFill/>
          <a:ln/>
        </p:spPr>
        <p:txBody>
          <a:bodyPr wrap="square" lIns="0" tIns="0" rIns="0" bIns="0" rtlCol="0" anchor="t"/>
          <a:lstStyle/>
          <a:p>
            <a:pPr algn="l" indent="0" marL="0">
              <a:lnSpc>
                <a:spcPct val="87179"/>
              </a:lnSpc>
              <a:buNone/>
            </a:pPr>
            <a:r>
              <a:rPr lang="en-US" sz="6000" b="1" spc="-120" kern="0" dirty="0">
                <a:solidFill>
                  <a:srgbClr val="F5F6FC"/>
                </a:solidFill>
                <a:latin typeface="Poppins" pitchFamily="34" charset="0"/>
                <a:ea typeface="Poppins" pitchFamily="34" charset="-122"/>
                <a:cs typeface="Poppins" pitchFamily="34" charset="-120"/>
              </a:rPr>
              <a:t>Bora </a:t>
            </a:r>
            <a:pPr algn="l" indent="0" marL="0">
              <a:lnSpc>
                <a:spcPct val="87179"/>
              </a:lnSpc>
              <a:buNone/>
            </a:pPr>
            <a:r>
              <a:rPr lang="en-US" sz="6000" b="1" spc="-120" kern="0" dirty="0">
                <a:solidFill>
                  <a:srgbClr val="22C2F4"/>
                </a:solidFill>
                <a:latin typeface="Poppins" pitchFamily="34" charset="0"/>
                <a:ea typeface="Poppins" pitchFamily="34" charset="-122"/>
                <a:cs typeface="Poppins" pitchFamily="34" charset="-120"/>
              </a:rPr>
              <a:t>construir</a:t>
            </a:r>
            <a:endParaRPr lang="en-US" sz="6000" dirty="0"/>
          </a:p>
        </p:txBody>
      </p:sp>
      <p:sp>
        <p:nvSpPr>
          <p:cNvPr id="4" name="Text 2"/>
          <p:cNvSpPr txBox="1"/>
          <p:nvPr/>
        </p:nvSpPr>
        <p:spPr>
          <a:xfrm>
            <a:off x="761981" y="3687273"/>
            <a:ext cx="11094443" cy="647684"/>
          </a:xfrm>
          <a:prstGeom prst="rect">
            <a:avLst/>
          </a:prstGeom>
          <a:noFill/>
          <a:ln/>
        </p:spPr>
        <p:txBody>
          <a:bodyPr wrap="square" lIns="0" tIns="0" rIns="0" bIns="0" rtlCol="0" anchor="t"/>
          <a:lstStyle/>
          <a:p>
            <a:pPr algn="l" indent="0" marL="0">
              <a:lnSpc>
                <a:spcPct val="106838"/>
              </a:lnSpc>
              <a:buNone/>
            </a:pPr>
            <a:r>
              <a:rPr lang="en-US" sz="1700" dirty="0">
                <a:solidFill>
                  <a:srgbClr val="A3A6B4"/>
                </a:solidFill>
                <a:latin typeface="Poppins" pitchFamily="34" charset="0"/>
                <a:ea typeface="Poppins" pitchFamily="34" charset="-122"/>
                <a:cs typeface="Poppins" pitchFamily="34" charset="-120"/>
              </a:rPr>
              <a:t>github.com/lvgalvao/ImersaoControlTower · uma pasta por noite, com README, roteiro e verificação.</a:t>
            </a:r>
            <a:endParaRPr lang="en-US" sz="1700" dirty="0"/>
          </a:p>
        </p:txBody>
      </p:sp>
      <p:pic>
        <p:nvPicPr>
          <p:cNvPr id="5" name="Image 0" descr="preencoded.png">    </p:cNvPr>
          <p:cNvPicPr>
            <a:picLocks noChangeAspect="1"/>
          </p:cNvPicPr>
          <p:nvPr/>
        </p:nvPicPr>
        <p:blipFill>
          <a:blip r:embed="rId2"/>
          <a:stretch>
            <a:fillRect/>
          </a:stretch>
        </p:blipFill>
        <p:spPr>
          <a:xfrm>
            <a:off x="761981" y="6299043"/>
            <a:ext cx="3021135" cy="27939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133</Slides>
  <Notes>133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133</vt:i4>
      </vt:variant>
    </vt:vector>
  </HeadingPairs>
  <TitlesOfParts>
    <vt:vector size="1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Projeto Farol · Imersão Databricks + Claude Code</dc:title>
  <dc:subject>PptxGenJS Presentation</dc:subject>
  <dc:creator>PptxGenJS</dc:creator>
  <cp:lastModifiedBy>PptxGenJS</cp:lastModifiedBy>
  <cp:revision>1</cp:revision>
  <dcterms:created xsi:type="dcterms:W3CDTF">2026-10-19T21:33:50Z</dcterms:created>
  <dcterms:modified xsi:type="dcterms:W3CDTF">2026-10-19T21:33:50Z</dcterms:modified>
</cp:coreProperties>
</file>